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1" d="100"/>
          <a:sy n="141" d="100"/>
        </p:scale>
        <p:origin x="66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814400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731520" y="914400"/>
            <a:ext cx="7680960" cy="365760"/>
          </a:xfrm>
          <a:prstGeom prst="rect">
            <a:avLst/>
          </a:prstGeom>
          <a:noFill/>
          <a:ln/>
        </p:spPr>
        <p:txBody>
          <a:bodyPr wrap="square" rtlCol="0" anchor="ctr"/>
          <a:lstStyle/>
          <a:p>
            <a:pPr marL="0" indent="0" algn="ctr">
              <a:buNone/>
            </a:pPr>
            <a:r>
              <a:rPr lang="en-US" sz="1400" b="1" dirty="0">
                <a:solidFill>
                  <a:srgbClr val="C8962E"/>
                </a:solidFill>
                <a:latin typeface="맑은 고딕" pitchFamily="34" charset="0"/>
                <a:ea typeface="맑은 고딕" pitchFamily="34" charset="-122"/>
                <a:cs typeface="맑은 고딕" pitchFamily="34" charset="-120"/>
              </a:rPr>
              <a:t>컨설팅 특급보고서</a:t>
            </a:r>
            <a:endParaRPr lang="en-US" sz="1400" dirty="0"/>
          </a:p>
        </p:txBody>
      </p:sp>
      <p:sp>
        <p:nvSpPr>
          <p:cNvPr id="3" name="Text 1"/>
          <p:cNvSpPr/>
          <p:nvPr/>
        </p:nvSpPr>
        <p:spPr>
          <a:xfrm>
            <a:off x="731520" y="1371600"/>
            <a:ext cx="7680960" cy="1097280"/>
          </a:xfrm>
          <a:prstGeom prst="rect">
            <a:avLst/>
          </a:prstGeom>
          <a:noFill/>
          <a:ln/>
        </p:spPr>
        <p:txBody>
          <a:bodyPr wrap="square" rtlCol="0" anchor="ctr"/>
          <a:lstStyle/>
          <a:p>
            <a:pPr marL="0" indent="0" algn="ctr">
              <a:buNone/>
            </a:pPr>
            <a:r>
              <a:rPr lang="en-US" sz="3200" b="1" dirty="0">
                <a:solidFill>
                  <a:srgbClr val="C8962E"/>
                </a:solidFill>
                <a:latin typeface="맑은 고딕" pitchFamily="34" charset="0"/>
                <a:ea typeface="맑은 고딕" pitchFamily="34" charset="-122"/>
                <a:cs typeface="맑은 고딕" pitchFamily="34" charset="-120"/>
              </a:rPr>
              <a:t>CEO 자산보호를 위한 신탁 활용전략</a:t>
            </a:r>
            <a:endParaRPr lang="en-US" sz="3200" dirty="0"/>
          </a:p>
        </p:txBody>
      </p:sp>
      <p:sp>
        <p:nvSpPr>
          <p:cNvPr id="4" name="Text 2"/>
          <p:cNvSpPr/>
          <p:nvPr/>
        </p:nvSpPr>
        <p:spPr>
          <a:xfrm>
            <a:off x="731520" y="2651760"/>
            <a:ext cx="7680960" cy="731520"/>
          </a:xfrm>
          <a:prstGeom prst="rect">
            <a:avLst/>
          </a:prstGeom>
          <a:noFill/>
          <a:ln/>
        </p:spPr>
        <p:txBody>
          <a:bodyPr wrap="square" rtlCol="0" anchor="ctr"/>
          <a:lstStyle/>
          <a:p>
            <a:pPr marL="0" indent="0" algn="ctr">
              <a:buNone/>
            </a:pPr>
            <a:r>
              <a:rPr lang="en-US" sz="1600" dirty="0">
                <a:solidFill>
                  <a:srgbClr val="CBD5E1"/>
                </a:solidFill>
                <a:latin typeface="맑은 고딕" pitchFamily="34" charset="0"/>
                <a:ea typeface="맑은 고딕" pitchFamily="34" charset="-122"/>
                <a:cs typeface="맑은 고딕" pitchFamily="34" charset="-120"/>
              </a:rPr>
              <a:t>경영 리스크 차단과 사후 통제권을 동시에 설계하는</a:t>
            </a:r>
            <a:endParaRPr lang="en-US" sz="1600" dirty="0"/>
          </a:p>
          <a:p>
            <a:pPr marL="0" indent="0" algn="ctr">
              <a:buNone/>
            </a:pPr>
            <a:r>
              <a:rPr lang="en-US" sz="1600" dirty="0">
                <a:solidFill>
                  <a:srgbClr val="CBD5E1"/>
                </a:solidFill>
                <a:latin typeface="맑은 고딕" pitchFamily="34" charset="0"/>
                <a:ea typeface="맑은 고딕" pitchFamily="34" charset="-122"/>
                <a:cs typeface="맑은 고딕" pitchFamily="34" charset="-120"/>
              </a:rPr>
              <a:t>자산 방화벽(Asset Firewall) 전략</a:t>
            </a:r>
            <a:endParaRPr lang="en-US" sz="1600" dirty="0"/>
          </a:p>
        </p:txBody>
      </p:sp>
      <p:sp>
        <p:nvSpPr>
          <p:cNvPr id="5" name="Shape 3"/>
          <p:cNvSpPr/>
          <p:nvPr/>
        </p:nvSpPr>
        <p:spPr>
          <a:xfrm>
            <a:off x="2286000" y="3749040"/>
            <a:ext cx="4572000" cy="0"/>
          </a:xfrm>
          <a:prstGeom prst="line">
            <a:avLst/>
          </a:prstGeom>
          <a:noFill/>
          <a:ln w="12700">
            <a:solidFill>
              <a:srgbClr val="C8962E"/>
            </a:solidFill>
            <a:prstDash val="solid"/>
          </a:ln>
        </p:spPr>
        <p:txBody>
          <a:bodyPr/>
          <a:lstStyle/>
          <a:p>
            <a:endParaRPr lang="ko-KR" altLang="en-US"/>
          </a:p>
        </p:txBody>
      </p:sp>
      <p:sp>
        <p:nvSpPr>
          <p:cNvPr id="6" name="Text 4"/>
          <p:cNvSpPr/>
          <p:nvPr/>
        </p:nvSpPr>
        <p:spPr>
          <a:xfrm>
            <a:off x="731520" y="3931920"/>
            <a:ext cx="7680960" cy="365760"/>
          </a:xfrm>
          <a:prstGeom prst="rect">
            <a:avLst/>
          </a:prstGeom>
          <a:noFill/>
          <a:ln/>
        </p:spPr>
        <p:txBody>
          <a:bodyPr wrap="square" rtlCol="0" anchor="ctr"/>
          <a:lstStyle/>
          <a:p>
            <a:pPr marL="0" indent="0" algn="ctr">
              <a:buNone/>
            </a:pPr>
            <a:r>
              <a:rPr lang="en-US" sz="1300" dirty="0">
                <a:solidFill>
                  <a:srgbClr val="AABBCC"/>
                </a:solidFill>
                <a:latin typeface="맑은 고딕" pitchFamily="34" charset="0"/>
                <a:ea typeface="맑은 고딕" pitchFamily="34" charset="-122"/>
                <a:cs typeface="맑은 고딕" pitchFamily="34" charset="-120"/>
              </a:rPr>
              <a:t>㈜한국FP센터 KFPC Co., Ltd.</a:t>
            </a:r>
            <a:endParaRPr lang="en-US" sz="1300" dirty="0"/>
          </a:p>
        </p:txBody>
      </p:sp>
      <p:sp>
        <p:nvSpPr>
          <p:cNvPr id="7" name="Text 5"/>
          <p:cNvSpPr/>
          <p:nvPr/>
        </p:nvSpPr>
        <p:spPr>
          <a:xfrm>
            <a:off x="731520" y="4709160"/>
            <a:ext cx="7680960" cy="274320"/>
          </a:xfrm>
          <a:prstGeom prst="rect">
            <a:avLst/>
          </a:prstGeom>
          <a:noFill/>
          <a:ln/>
        </p:spPr>
        <p:txBody>
          <a:bodyPr wrap="square" lIns="0" tIns="0" rIns="0" bIns="0" rtlCol="0" anchor="ctr"/>
          <a:lstStyle/>
          <a:p>
            <a:pPr marL="0" indent="0" algn="ctr">
              <a:buNone/>
            </a:pPr>
            <a:r>
              <a:rPr lang="en-US" sz="750" i="1" dirty="0">
                <a:solidFill>
                  <a:srgbClr val="64748B"/>
                </a:solidFill>
              </a:rPr>
              <a:t>본 자료는 AI 보조 도구를 활용하여 생성되었습니다. 실제 적용 전 전문가 확인이 필요합니다.</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02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자료 읽기에 앞서</a:t>
            </a:r>
            <a:endParaRPr lang="en-US" sz="1600" dirty="0"/>
          </a:p>
        </p:txBody>
      </p:sp>
      <p:sp>
        <p:nvSpPr>
          <p:cNvPr id="5" name="Shape 3"/>
          <p:cNvSpPr/>
          <p:nvPr/>
        </p:nvSpPr>
        <p:spPr>
          <a:xfrm>
            <a:off x="457200" y="685800"/>
            <a:ext cx="8229600" cy="15087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800"/>
            <a:ext cx="54864" cy="1508760"/>
          </a:xfrm>
          <a:prstGeom prst="rect">
            <a:avLst/>
          </a:prstGeom>
          <a:solidFill>
            <a:srgbClr val="C8962E"/>
          </a:solidFill>
          <a:ln/>
        </p:spPr>
        <p:txBody>
          <a:bodyPr/>
          <a:lstStyle/>
          <a:p>
            <a:endParaRPr lang="ko-KR" altLang="en-US"/>
          </a:p>
        </p:txBody>
      </p:sp>
      <p:sp>
        <p:nvSpPr>
          <p:cNvPr id="7" name="Text 5"/>
          <p:cNvSpPr/>
          <p:nvPr/>
        </p:nvSpPr>
        <p:spPr>
          <a:xfrm>
            <a:off x="640080" y="758952"/>
            <a:ext cx="7863840" cy="27432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자료 읽기에 앞서</a:t>
            </a:r>
            <a:endParaRPr lang="en-US" sz="1200" dirty="0"/>
          </a:p>
        </p:txBody>
      </p:sp>
      <p:sp>
        <p:nvSpPr>
          <p:cNvPr id="8" name="Text 6"/>
          <p:cNvSpPr/>
          <p:nvPr/>
        </p:nvSpPr>
        <p:spPr>
          <a:xfrm>
            <a:off x="640080" y="1033272"/>
            <a:ext cx="7863840" cy="50292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본 보고서는 현장의 컨설턴트가 CEO와의 상담 시 '세무적 절세'를 넘어 '법률적 보호와 승계의 통제권'이라는 고차원적인 니즈를 건드려 고액 신탁 및 보험 계약으로 연결할 수 있도록 기획되었습니다.</a:t>
            </a:r>
            <a:endParaRPr lang="en-US" sz="1000" dirty="0"/>
          </a:p>
        </p:txBody>
      </p:sp>
      <p:sp>
        <p:nvSpPr>
          <p:cNvPr id="9" name="Text 7"/>
          <p:cNvSpPr/>
          <p:nvPr/>
        </p:nvSpPr>
        <p:spPr>
          <a:xfrm>
            <a:off x="640080" y="1536192"/>
            <a:ext cx="7863840" cy="54864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신탁은 자산의 소유권 명의가 신탁사로 이전되지만, 실제 운용권은 계약 설계에 따라 위탁자(CEO)가 보유할 수 있는 독특한 구조를 가집니다. 이 과정에서 발생하는 '강제집행 제한' 효과와 그 예외 및 한계를 함께 설명하십시오.</a:t>
            </a:r>
            <a:endParaRPr lang="en-US" sz="1000" dirty="0"/>
          </a:p>
        </p:txBody>
      </p:sp>
      <p:sp>
        <p:nvSpPr>
          <p:cNvPr id="10" name="Shape 8"/>
          <p:cNvSpPr/>
          <p:nvPr/>
        </p:nvSpPr>
        <p:spPr>
          <a:xfrm>
            <a:off x="457200" y="2423160"/>
            <a:ext cx="8229600" cy="1005840"/>
          </a:xfrm>
          <a:prstGeom prst="rect">
            <a:avLst/>
          </a:prstGeom>
          <a:solidFill>
            <a:srgbClr val="FFF8F0"/>
          </a:solidFill>
          <a:ln/>
        </p:spPr>
        <p:txBody>
          <a:bodyPr/>
          <a:lstStyle/>
          <a:p>
            <a:endParaRPr lang="ko-KR" altLang="en-US"/>
          </a:p>
        </p:txBody>
      </p:sp>
      <p:sp>
        <p:nvSpPr>
          <p:cNvPr id="11" name="Shape 9"/>
          <p:cNvSpPr/>
          <p:nvPr/>
        </p:nvSpPr>
        <p:spPr>
          <a:xfrm>
            <a:off x="457200" y="2423160"/>
            <a:ext cx="54864" cy="1005840"/>
          </a:xfrm>
          <a:prstGeom prst="rect">
            <a:avLst/>
          </a:prstGeom>
          <a:solidFill>
            <a:srgbClr val="E67E22"/>
          </a:solidFill>
          <a:ln/>
        </p:spPr>
        <p:txBody>
          <a:bodyPr/>
          <a:lstStyle/>
          <a:p>
            <a:endParaRPr lang="ko-KR" altLang="en-US"/>
          </a:p>
        </p:txBody>
      </p:sp>
      <p:sp>
        <p:nvSpPr>
          <p:cNvPr id="12" name="Text 10"/>
          <p:cNvSpPr/>
          <p:nvPr/>
        </p:nvSpPr>
        <p:spPr>
          <a:xfrm>
            <a:off x="640080" y="2496312"/>
            <a:ext cx="7863840" cy="228600"/>
          </a:xfrm>
          <a:prstGeom prst="rect">
            <a:avLst/>
          </a:prstGeom>
          <a:noFill/>
          <a:ln/>
        </p:spPr>
        <p:txBody>
          <a:bodyPr wrap="square" lIns="0" tIns="0" rIns="0" bIns="0" rtlCol="0" anchor="t"/>
          <a:lstStyle/>
          <a:p>
            <a:pPr marL="0" indent="0">
              <a:buNone/>
            </a:pPr>
            <a:r>
              <a:rPr lang="en-US" sz="1100" b="1" dirty="0">
                <a:solidFill>
                  <a:srgbClr val="C45500"/>
                </a:solidFill>
                <a:latin typeface="맑은 고딕" pitchFamily="34" charset="0"/>
                <a:ea typeface="맑은 고딕" pitchFamily="34" charset="-122"/>
                <a:cs typeface="맑은 고딕" pitchFamily="34" charset="-120"/>
              </a:rPr>
              <a:t>컨설턴트 유의사항</a:t>
            </a:r>
            <a:endParaRPr lang="en-US" sz="1100" dirty="0"/>
          </a:p>
        </p:txBody>
      </p:sp>
      <p:sp>
        <p:nvSpPr>
          <p:cNvPr id="13" name="Text 11"/>
          <p:cNvSpPr/>
          <p:nvPr/>
        </p:nvSpPr>
        <p:spPr>
          <a:xfrm>
            <a:off x="640080" y="2743200"/>
            <a:ext cx="7863840" cy="59436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고객 상담 시 '100% 보호', '완벽한 차단', '절대적 효과' 등의 표현은 사용하지 마시고, 항상 '가능성을 높임', '위험을 낮춤', '전문가 협의 필요' 등 조건부 표현을 사용하시기 바랍니다.</a:t>
            </a:r>
            <a:endParaRPr lang="en-US" sz="10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 / 27</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03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서론</a:t>
            </a:r>
            <a:endParaRPr lang="en-US" sz="1600" dirty="0"/>
          </a:p>
        </p:txBody>
      </p:sp>
      <p:sp>
        <p:nvSpPr>
          <p:cNvPr id="5" name="Text 3"/>
          <p:cNvSpPr/>
          <p:nvPr/>
        </p:nvSpPr>
        <p:spPr>
          <a:xfrm>
            <a:off x="457200" y="685800"/>
            <a:ext cx="8229600" cy="914400"/>
          </a:xfrm>
          <a:prstGeom prst="rect">
            <a:avLst/>
          </a:prstGeom>
          <a:noFill/>
          <a:ln/>
        </p:spPr>
        <p:txBody>
          <a:bodyPr wrap="square" lIns="0" tIns="0" rIns="0" bIns="0" rtlCol="0" anchor="t"/>
          <a:lstStyle/>
          <a:p>
            <a:pPr marL="0" indent="0">
              <a:buNone/>
            </a:pPr>
            <a:r>
              <a:rPr lang="en-US" sz="1100" dirty="0">
                <a:solidFill>
                  <a:srgbClr val="2B2B2B"/>
                </a:solidFill>
                <a:latin typeface="맑은 고딕" pitchFamily="34" charset="0"/>
                <a:ea typeface="맑은 고딕" pitchFamily="34" charset="-122"/>
                <a:cs typeface="맑은 고딕" pitchFamily="34" charset="-120"/>
              </a:rPr>
              <a:t>대한민국 경영자들에게 자산관리는 단순히 '수익률'의 문제가 아니라, 평생 일궈온 가업과 가문의 자산을 어떻게 '온전히 지키느냐'의 생존 문제입니다. 최근 중대재해처벌법 강화, 예상치 못한 경영상의 소송, 그리고 가업 승계 과정에서의 유류분 분쟁 등 CEO의 자산을 위협하는 대내외적 변수는 갈수록 복잡해지고 있습니다.</a:t>
            </a:r>
            <a:endParaRPr lang="en-US" sz="1100" dirty="0"/>
          </a:p>
        </p:txBody>
      </p:sp>
      <p:sp>
        <p:nvSpPr>
          <p:cNvPr id="6" name="Text 4"/>
          <p:cNvSpPr/>
          <p:nvPr/>
        </p:nvSpPr>
        <p:spPr>
          <a:xfrm>
            <a:off x="457200" y="1691640"/>
            <a:ext cx="8229600" cy="731520"/>
          </a:xfrm>
          <a:prstGeom prst="rect">
            <a:avLst/>
          </a:prstGeom>
          <a:noFill/>
          <a:ln/>
        </p:spPr>
        <p:txBody>
          <a:bodyPr wrap="square" lIns="0" tIns="0" rIns="0" bIns="0" rtlCol="0" anchor="t"/>
          <a:lstStyle/>
          <a:p>
            <a:pPr marL="0" indent="0">
              <a:buNone/>
            </a:pPr>
            <a:r>
              <a:rPr lang="en-US" sz="1100" dirty="0">
                <a:solidFill>
                  <a:srgbClr val="2B2B2B"/>
                </a:solidFill>
                <a:latin typeface="맑은 고딕" pitchFamily="34" charset="0"/>
                <a:ea typeface="맑은 고딕" pitchFamily="34" charset="-122"/>
                <a:cs typeface="맑은 고딕" pitchFamily="34" charset="-120"/>
              </a:rPr>
              <a:t>본 보고서는 이러한 리스크로부터 CEO의 개인 자산을 효과적으로 격리하는 '법적 방화벽'을 구축하고, 사후에도 본인의 의지대로 자산이 관리·배분되도록 하는 '통제권의 연속성' 확보 전략을 담고 있습니다.</a:t>
            </a:r>
            <a:endParaRPr lang="en-US" sz="1100" dirty="0"/>
          </a:p>
        </p:txBody>
      </p:sp>
      <p:sp>
        <p:nvSpPr>
          <p:cNvPr id="7" name="Text 5"/>
          <p:cNvSpPr/>
          <p:nvPr/>
        </p:nvSpPr>
        <p:spPr>
          <a:xfrm>
            <a:off x="457200" y="2514600"/>
            <a:ext cx="8229600" cy="822960"/>
          </a:xfrm>
          <a:prstGeom prst="rect">
            <a:avLst/>
          </a:prstGeom>
          <a:noFill/>
          <a:ln/>
        </p:spPr>
        <p:txBody>
          <a:bodyPr wrap="square" lIns="0" tIns="0" rIns="0" bIns="0" rtlCol="0" anchor="t"/>
          <a:lstStyle/>
          <a:p>
            <a:pPr marL="0" indent="0">
              <a:buNone/>
            </a:pPr>
            <a:r>
              <a:rPr lang="en-US" sz="1100" dirty="0">
                <a:solidFill>
                  <a:srgbClr val="2B2B2B"/>
                </a:solidFill>
                <a:latin typeface="맑은 고딕" pitchFamily="34" charset="0"/>
                <a:ea typeface="맑은 고딕" pitchFamily="34" charset="-122"/>
                <a:cs typeface="맑은 고딕" pitchFamily="34" charset="-120"/>
              </a:rPr>
              <a:t>신탁법상 '재산의 독립성'을 활용한 자산 보호 기술과 유언 대비 집행 프로세스가 단순하고 설계 유연성이 큰 '유언대용신탁'을 통해, 경영 리스크가 가계로 전이되는 것을 상당 부분 낮추고 분쟁 가능성을 최소화하는 부의 이전을 실현하는 것이 본 컨설팅의 핵심 방향입니다.</a:t>
            </a:r>
            <a:endParaRPr lang="en-US" sz="1100" dirty="0"/>
          </a:p>
        </p:txBody>
      </p:sp>
      <p:sp>
        <p:nvSpPr>
          <p:cNvPr id="8" name="Shape 6"/>
          <p:cNvSpPr/>
          <p:nvPr/>
        </p:nvSpPr>
        <p:spPr>
          <a:xfrm>
            <a:off x="457200" y="3474720"/>
            <a:ext cx="8229600" cy="777240"/>
          </a:xfrm>
          <a:prstGeom prst="rect">
            <a:avLst/>
          </a:prstGeom>
          <a:solidFill>
            <a:srgbClr val="F0F5FF"/>
          </a:solidFill>
          <a:ln/>
        </p:spPr>
        <p:txBody>
          <a:bodyPr/>
          <a:lstStyle/>
          <a:p>
            <a:endParaRPr lang="ko-KR" altLang="en-US"/>
          </a:p>
        </p:txBody>
      </p:sp>
      <p:sp>
        <p:nvSpPr>
          <p:cNvPr id="9" name="Shape 7"/>
          <p:cNvSpPr/>
          <p:nvPr/>
        </p:nvSpPr>
        <p:spPr>
          <a:xfrm>
            <a:off x="457200" y="3474720"/>
            <a:ext cx="54864" cy="777240"/>
          </a:xfrm>
          <a:prstGeom prst="rect">
            <a:avLst/>
          </a:prstGeom>
          <a:solidFill>
            <a:srgbClr val="3366CC"/>
          </a:solidFill>
          <a:ln/>
        </p:spPr>
        <p:txBody>
          <a:bodyPr/>
          <a:lstStyle/>
          <a:p>
            <a:endParaRPr lang="ko-KR" altLang="en-US"/>
          </a:p>
        </p:txBody>
      </p:sp>
      <p:sp>
        <p:nvSpPr>
          <p:cNvPr id="10" name="Text 8"/>
          <p:cNvSpPr/>
          <p:nvPr/>
        </p:nvSpPr>
        <p:spPr>
          <a:xfrm>
            <a:off x="640080" y="3520440"/>
            <a:ext cx="7863840" cy="201168"/>
          </a:xfrm>
          <a:prstGeom prst="rect">
            <a:avLst/>
          </a:prstGeom>
          <a:noFill/>
          <a:ln/>
        </p:spPr>
        <p:txBody>
          <a:bodyPr wrap="square" lIns="0" tIns="0" rIns="0" bIns="0" rtlCol="0" anchor="t"/>
          <a:lstStyle/>
          <a:p>
            <a:pPr marL="0" indent="0">
              <a:buNone/>
            </a:pPr>
            <a:r>
              <a:rPr lang="en-US" sz="1000" b="1" dirty="0">
                <a:solidFill>
                  <a:srgbClr val="2952A3"/>
                </a:solidFill>
                <a:latin typeface="맑은 고딕" pitchFamily="34" charset="0"/>
                <a:ea typeface="맑은 고딕" pitchFamily="34" charset="-122"/>
                <a:cs typeface="맑은 고딕" pitchFamily="34" charset="-120"/>
              </a:rPr>
              <a:t>유의사항</a:t>
            </a:r>
            <a:endParaRPr lang="en-US" sz="1000" dirty="0"/>
          </a:p>
        </p:txBody>
      </p:sp>
      <p:sp>
        <p:nvSpPr>
          <p:cNvPr id="11" name="Text 9"/>
          <p:cNvSpPr/>
          <p:nvPr/>
        </p:nvSpPr>
        <p:spPr>
          <a:xfrm>
            <a:off x="640080" y="3730752"/>
            <a:ext cx="7863840" cy="45720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본 보고서에서 제시하는 전략은 '가능성'과 '방향성'을 제시하는 것이며, 개별 사안의 구체적 적용은 법률·세무 전문가와의 협의를 통해 확정하시기 바랍니다.</a:t>
            </a:r>
            <a:endParaRPr lang="en-US" sz="1000" dirty="0"/>
          </a:p>
        </p:txBody>
      </p:sp>
      <p:sp>
        <p:nvSpPr>
          <p:cNvPr id="12" name="Text 10"/>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3" name="Text 11"/>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3 / 27</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04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Ⅰ. 기업개요</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법인 기본 정보</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1828800"/>
        </p:xfrm>
        <a:graphic>
          <a:graphicData uri="http://schemas.openxmlformats.org/drawingml/2006/table">
            <a:tbl>
              <a:tblPr/>
              <a:tblGrid>
                <a:gridCol w="201168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36576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법인명</a:t>
                      </a:r>
                      <a:endParaRPr lang="en-US" sz="1000" dirty="0">
                        <a:latin typeface="맑은 고딕" charset="0"/>
                        <a:ea typeface="맑은 고딕" charset="0"/>
                        <a:cs typeface="맑은 고딕" charset="0"/>
                      </a:endParaRPr>
                    </a:p>
                  </a:txBody>
                  <a:tcPr marL="101600" marR="1016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(주)미래정밀테크 (가상 기업)</a:t>
                      </a:r>
                      <a:endParaRPr lang="en-US" sz="1000" dirty="0">
                        <a:latin typeface="맑은 고딕" charset="0"/>
                        <a:ea typeface="맑은 고딕" charset="0"/>
                        <a:cs typeface="맑은 고딕" charset="0"/>
                      </a:endParaRPr>
                    </a:p>
                  </a:txBody>
                  <a:tcPr marL="101600" marR="1016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576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업종</a:t>
                      </a:r>
                      <a:endParaRPr lang="en-US" sz="1000" dirty="0">
                        <a:latin typeface="맑은 고딕" charset="0"/>
                        <a:ea typeface="맑은 고딕" charset="0"/>
                        <a:cs typeface="맑은 고딕" charset="0"/>
                      </a:endParaRPr>
                    </a:p>
                  </a:txBody>
                  <a:tcPr marL="101600" marR="1016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자동차 정밀 부품 제조업 (수출 비중 60%)</a:t>
                      </a:r>
                      <a:endParaRPr lang="en-US" sz="1000" dirty="0">
                        <a:latin typeface="맑은 고딕" charset="0"/>
                        <a:ea typeface="맑은 고딕" charset="0"/>
                        <a:cs typeface="맑은 고딕" charset="0"/>
                      </a:endParaRPr>
                    </a:p>
                  </a:txBody>
                  <a:tcPr marL="101600" marR="1016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36576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설립 및 연혁</a:t>
                      </a:r>
                      <a:endParaRPr lang="en-US" sz="1000" dirty="0">
                        <a:latin typeface="맑은 고딕" charset="0"/>
                        <a:ea typeface="맑은 고딕" charset="0"/>
                        <a:cs typeface="맑은 고딕" charset="0"/>
                      </a:endParaRPr>
                    </a:p>
                  </a:txBody>
                  <a:tcPr marL="101600" marR="1016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2002년 설립 (23년 차 업력의 우량 중견기업)</a:t>
                      </a:r>
                      <a:endParaRPr lang="en-US" sz="1000" dirty="0">
                        <a:latin typeface="맑은 고딕" charset="0"/>
                        <a:ea typeface="맑은 고딕" charset="0"/>
                        <a:cs typeface="맑은 고딕" charset="0"/>
                      </a:endParaRPr>
                    </a:p>
                  </a:txBody>
                  <a:tcPr marL="101600" marR="1016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주주 구성</a:t>
                      </a:r>
                      <a:endParaRPr lang="en-US" sz="1000" dirty="0">
                        <a:latin typeface="맑은 고딕" charset="0"/>
                        <a:ea typeface="맑은 고딕" charset="0"/>
                        <a:cs typeface="맑은 고딕" charset="0"/>
                      </a:endParaRPr>
                    </a:p>
                  </a:txBody>
                  <a:tcPr marL="101600" marR="1016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김진태 대표이사(70%), 배우자(15%), 장남(15% - 가업 승계 준비 중)</a:t>
                      </a:r>
                      <a:endParaRPr lang="en-US" sz="1000" dirty="0">
                        <a:latin typeface="맑은 고딕" charset="0"/>
                        <a:ea typeface="맑은 고딕" charset="0"/>
                        <a:cs typeface="맑은 고딕" charset="0"/>
                      </a:endParaRPr>
                    </a:p>
                  </a:txBody>
                  <a:tcPr marL="101600" marR="1016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3"/>
                  </a:ext>
                </a:extLst>
              </a:tr>
              <a:tr h="36576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매출 규모</a:t>
                      </a:r>
                      <a:endParaRPr lang="en-US" sz="1000" dirty="0">
                        <a:latin typeface="맑은 고딕" charset="0"/>
                        <a:ea typeface="맑은 고딕" charset="0"/>
                        <a:cs typeface="맑은 고딕" charset="0"/>
                      </a:endParaRPr>
                    </a:p>
                  </a:txBody>
                  <a:tcPr marL="101600" marR="1016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280억 원 (2024년 기준)</a:t>
                      </a:r>
                      <a:endParaRPr lang="en-US" sz="1000" dirty="0">
                        <a:latin typeface="맑은 고딕" charset="0"/>
                        <a:ea typeface="맑은 고딕" charset="0"/>
                        <a:cs typeface="맑은 고딕" charset="0"/>
                      </a:endParaRPr>
                    </a:p>
                  </a:txBody>
                  <a:tcPr marL="101600" marR="1016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ext 4"/>
          <p:cNvSpPr/>
          <p:nvPr/>
        </p:nvSpPr>
        <p:spPr>
          <a:xfrm>
            <a:off x="457200" y="3063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사업 영역 및 핵심 경쟁력 분석</a:t>
            </a:r>
            <a:endParaRPr lang="en-US" sz="1400" dirty="0"/>
          </a:p>
        </p:txBody>
      </p:sp>
      <p:sp>
        <p:nvSpPr>
          <p:cNvPr id="8" name="Text 5"/>
          <p:cNvSpPr/>
          <p:nvPr/>
        </p:nvSpPr>
        <p:spPr>
          <a:xfrm>
            <a:off x="457200" y="3429000"/>
            <a:ext cx="8229600" cy="548640"/>
          </a:xfrm>
          <a:prstGeom prst="rect">
            <a:avLst/>
          </a:prstGeom>
          <a:noFill/>
          <a:ln/>
        </p:spPr>
        <p:txBody>
          <a:bodyPr wrap="square" lIns="0" tIns="0" rIns="0" bIns="0" rtlCol="0" anchor="t"/>
          <a:lstStyle/>
          <a:p>
            <a:pPr marL="0" indent="0">
              <a:buNone/>
            </a:pPr>
            <a:r>
              <a:rPr lang="en-US" sz="1100" dirty="0">
                <a:solidFill>
                  <a:srgbClr val="2B2B2B"/>
                </a:solidFill>
                <a:latin typeface="맑은 고딕" pitchFamily="34" charset="0"/>
                <a:ea typeface="맑은 고딕" pitchFamily="34" charset="-122"/>
                <a:cs typeface="맑은 고딕" pitchFamily="34" charset="-120"/>
              </a:rPr>
              <a:t>(주)미래정밀테크는 전기차용 초정밀 금형 분야에서 독보적인 기술력을 보유하고 있으며, 최근 글로벌 완성차 업체와의 장기 공급 계약을 통해 매출이 급상승 중입니다.</a:t>
            </a:r>
            <a:endParaRPr lang="en-US" sz="1100" dirty="0"/>
          </a:p>
        </p:txBody>
      </p:sp>
      <p:sp>
        <p:nvSpPr>
          <p:cNvPr id="9" name="Text 6"/>
          <p:cNvSpPr/>
          <p:nvPr/>
        </p:nvSpPr>
        <p:spPr>
          <a:xfrm>
            <a:off x="457200" y="4023360"/>
            <a:ext cx="8229600" cy="548640"/>
          </a:xfrm>
          <a:prstGeom prst="rect">
            <a:avLst/>
          </a:prstGeom>
          <a:noFill/>
          <a:ln/>
        </p:spPr>
        <p:txBody>
          <a:bodyPr wrap="square" lIns="0" tIns="0" rIns="0" bIns="0" rtlCol="0" anchor="t"/>
          <a:lstStyle/>
          <a:p>
            <a:pPr marL="0" indent="0">
              <a:buNone/>
            </a:pPr>
            <a:r>
              <a:rPr lang="en-US" sz="1100" dirty="0">
                <a:solidFill>
                  <a:srgbClr val="2B2B2B"/>
                </a:solidFill>
                <a:latin typeface="맑은 고딕" pitchFamily="34" charset="0"/>
                <a:ea typeface="맑은 고딕" pitchFamily="34" charset="-122"/>
                <a:cs typeface="맑은 고딕" pitchFamily="34" charset="-120"/>
              </a:rPr>
              <a:t>하지만 사업 확장에 따른 대규모 시설 투자와 개인 연대보증, 그리고 강화된 산업안전 관련 법적 리스크에 노출되어 있어 CEO 개인 자산의 안전한 격리가 절실한 시점입니다.</a:t>
            </a:r>
            <a:endParaRPr lang="en-US" sz="1100" dirty="0"/>
          </a:p>
        </p:txBody>
      </p:sp>
      <p:sp>
        <p:nvSpPr>
          <p:cNvPr id="10"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1"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4 / 27</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05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Ⅱ. Executive Summary (경영자를 위한 핵심 요약) (1/2)</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컨설팅 배경 및 목적</a:t>
            </a:r>
            <a:endParaRPr lang="en-US" sz="1400" dirty="0"/>
          </a:p>
        </p:txBody>
      </p:sp>
      <p:sp>
        <p:nvSpPr>
          <p:cNvPr id="6" name="Text 4"/>
          <p:cNvSpPr/>
          <p:nvPr/>
        </p:nvSpPr>
        <p:spPr>
          <a:xfrm>
            <a:off x="457200" y="1051560"/>
            <a:ext cx="8229600" cy="548640"/>
          </a:xfrm>
          <a:prstGeom prst="rect">
            <a:avLst/>
          </a:prstGeom>
          <a:noFill/>
          <a:ln/>
        </p:spPr>
        <p:txBody>
          <a:bodyPr wrap="square" lIns="0" tIns="0" rIns="0" bIns="0" rtlCol="0" anchor="t"/>
          <a:lstStyle/>
          <a:p>
            <a:pPr marL="0" indent="0">
              <a:buNone/>
            </a:pPr>
            <a:r>
              <a:rPr lang="en-US" sz="1100" dirty="0">
                <a:solidFill>
                  <a:srgbClr val="2B2B2B"/>
                </a:solidFill>
                <a:latin typeface="맑은 고딕" pitchFamily="34" charset="0"/>
                <a:ea typeface="맑은 고딕" pitchFamily="34" charset="-122"/>
                <a:cs typeface="맑은 고딕" pitchFamily="34" charset="-120"/>
              </a:rPr>
              <a:t>CEO 개인 자산과 기업 경영 리스크의 분리를 통해 우발적 채무로부터 가족을 보호하고, 사후 분쟁 가능성을 낮추는 체계적인 부의 이전(Legacy Planning) 시스템 구축.</a:t>
            </a:r>
            <a:endParaRPr lang="en-US" sz="1100" dirty="0"/>
          </a:p>
        </p:txBody>
      </p:sp>
      <p:sp>
        <p:nvSpPr>
          <p:cNvPr id="7" name="Text 5"/>
          <p:cNvSpPr/>
          <p:nvPr/>
        </p:nvSpPr>
        <p:spPr>
          <a:xfrm>
            <a:off x="457200" y="16916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현황 진단 핵심 요약 (As-Is)</a:t>
            </a:r>
            <a:endParaRPr lang="en-US" sz="1400" dirty="0"/>
          </a:p>
        </p:txBody>
      </p:sp>
      <p:sp>
        <p:nvSpPr>
          <p:cNvPr id="8" name="Shape 6"/>
          <p:cNvSpPr/>
          <p:nvPr/>
        </p:nvSpPr>
        <p:spPr>
          <a:xfrm>
            <a:off x="457200" y="2057400"/>
            <a:ext cx="3931920" cy="9144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457200" y="2057400"/>
            <a:ext cx="54864" cy="914400"/>
          </a:xfrm>
          <a:prstGeom prst="rect">
            <a:avLst/>
          </a:prstGeom>
          <a:solidFill>
            <a:srgbClr val="D4382C"/>
          </a:solidFill>
          <a:ln/>
        </p:spPr>
        <p:txBody>
          <a:bodyPr/>
          <a:lstStyle/>
          <a:p>
            <a:endParaRPr lang="ko-KR" altLang="en-US"/>
          </a:p>
        </p:txBody>
      </p:sp>
      <p:sp>
        <p:nvSpPr>
          <p:cNvPr id="10" name="Text 8"/>
          <p:cNvSpPr/>
          <p:nvPr/>
        </p:nvSpPr>
        <p:spPr>
          <a:xfrm>
            <a:off x="640080" y="2103120"/>
            <a:ext cx="3566160" cy="228600"/>
          </a:xfrm>
          <a:prstGeom prst="rect">
            <a:avLst/>
          </a:prstGeom>
          <a:noFill/>
          <a:ln/>
        </p:spPr>
        <p:txBody>
          <a:bodyPr wrap="square" lIns="0" tIns="0" rIns="0" bIns="0" rtlCol="0" anchor="t"/>
          <a:lstStyle/>
          <a:p>
            <a:pPr marL="0" indent="0">
              <a:buNone/>
            </a:pPr>
            <a:r>
              <a:rPr lang="en-US" sz="1100" b="1" dirty="0">
                <a:solidFill>
                  <a:srgbClr val="D4382C"/>
                </a:solidFill>
                <a:latin typeface="맑은 고딕" pitchFamily="34" charset="0"/>
                <a:ea typeface="맑은 고딕" pitchFamily="34" charset="-122"/>
                <a:cs typeface="맑은 고딕" pitchFamily="34" charset="-120"/>
              </a:rPr>
              <a:t>재무 리스크</a:t>
            </a:r>
            <a:endParaRPr lang="en-US" sz="1100" dirty="0"/>
          </a:p>
        </p:txBody>
      </p:sp>
      <p:sp>
        <p:nvSpPr>
          <p:cNvPr id="11" name="Text 9"/>
          <p:cNvSpPr/>
          <p:nvPr/>
        </p:nvSpPr>
        <p:spPr>
          <a:xfrm>
            <a:off x="640080" y="2331720"/>
            <a:ext cx="3566160" cy="548640"/>
          </a:xfrm>
          <a:prstGeom prst="rect">
            <a:avLst/>
          </a:prstGeom>
          <a:noFill/>
          <a:ln/>
        </p:spPr>
        <p:txBody>
          <a:bodyPr wrap="square" lIns="0" tIns="0" rIns="0" bIns="0" rtlCol="0" anchor="t"/>
          <a:lstStyle/>
          <a:p>
            <a:pPr marL="0" indent="0">
              <a:buNone/>
            </a:pPr>
            <a:r>
              <a:rPr lang="en-US" sz="950" dirty="0">
                <a:solidFill>
                  <a:srgbClr val="2B2B2B"/>
                </a:solidFill>
                <a:latin typeface="맑은 고딕" pitchFamily="34" charset="0"/>
                <a:ea typeface="맑은 고딕" pitchFamily="34" charset="-122"/>
                <a:cs typeface="맑은 고딕" pitchFamily="34" charset="-120"/>
              </a:rPr>
              <a:t>대표이사 명의 강남 빌딩(약 120억) 및 예금 자산이 경영상의 소송이나 연대보증 채무 발생 시 압류 대상에 직접 노출됨.</a:t>
            </a:r>
            <a:endParaRPr lang="en-US" sz="950" dirty="0"/>
          </a:p>
        </p:txBody>
      </p:sp>
      <p:sp>
        <p:nvSpPr>
          <p:cNvPr id="12" name="Shape 10"/>
          <p:cNvSpPr/>
          <p:nvPr/>
        </p:nvSpPr>
        <p:spPr>
          <a:xfrm>
            <a:off x="4754880" y="2057400"/>
            <a:ext cx="3931920" cy="9144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754880" y="2057400"/>
            <a:ext cx="54864" cy="914400"/>
          </a:xfrm>
          <a:prstGeom prst="rect">
            <a:avLst/>
          </a:prstGeom>
          <a:solidFill>
            <a:srgbClr val="D4382C"/>
          </a:solidFill>
          <a:ln/>
        </p:spPr>
        <p:txBody>
          <a:bodyPr/>
          <a:lstStyle/>
          <a:p>
            <a:endParaRPr lang="ko-KR" altLang="en-US"/>
          </a:p>
        </p:txBody>
      </p:sp>
      <p:sp>
        <p:nvSpPr>
          <p:cNvPr id="14" name="Text 12"/>
          <p:cNvSpPr/>
          <p:nvPr/>
        </p:nvSpPr>
        <p:spPr>
          <a:xfrm>
            <a:off x="4937760" y="2103120"/>
            <a:ext cx="3566160" cy="228600"/>
          </a:xfrm>
          <a:prstGeom prst="rect">
            <a:avLst/>
          </a:prstGeom>
          <a:noFill/>
          <a:ln/>
        </p:spPr>
        <p:txBody>
          <a:bodyPr wrap="square" lIns="0" tIns="0" rIns="0" bIns="0" rtlCol="0" anchor="t"/>
          <a:lstStyle/>
          <a:p>
            <a:pPr marL="0" indent="0">
              <a:buNone/>
            </a:pPr>
            <a:r>
              <a:rPr lang="en-US" sz="1100" b="1" dirty="0">
                <a:solidFill>
                  <a:srgbClr val="D4382C"/>
                </a:solidFill>
                <a:latin typeface="맑은 고딕" pitchFamily="34" charset="0"/>
                <a:ea typeface="맑은 고딕" pitchFamily="34" charset="-122"/>
                <a:cs typeface="맑은 고딕" pitchFamily="34" charset="-120"/>
              </a:rPr>
              <a:t>승계 리스크</a:t>
            </a:r>
            <a:endParaRPr lang="en-US" sz="1100" dirty="0"/>
          </a:p>
        </p:txBody>
      </p:sp>
      <p:sp>
        <p:nvSpPr>
          <p:cNvPr id="15" name="Text 13"/>
          <p:cNvSpPr/>
          <p:nvPr/>
        </p:nvSpPr>
        <p:spPr>
          <a:xfrm>
            <a:off x="4937760" y="2331720"/>
            <a:ext cx="3566160" cy="548640"/>
          </a:xfrm>
          <a:prstGeom prst="rect">
            <a:avLst/>
          </a:prstGeom>
          <a:noFill/>
          <a:ln/>
        </p:spPr>
        <p:txBody>
          <a:bodyPr wrap="square" lIns="0" tIns="0" rIns="0" bIns="0" rtlCol="0" anchor="t"/>
          <a:lstStyle/>
          <a:p>
            <a:pPr marL="0" indent="0">
              <a:buNone/>
            </a:pPr>
            <a:r>
              <a:rPr lang="en-US" sz="950" dirty="0">
                <a:solidFill>
                  <a:srgbClr val="2B2B2B"/>
                </a:solidFill>
                <a:latin typeface="맑은 고딕" pitchFamily="34" charset="0"/>
                <a:ea typeface="맑은 고딕" pitchFamily="34" charset="-122"/>
                <a:cs typeface="맑은 고딕" pitchFamily="34" charset="-120"/>
              </a:rPr>
              <a:t>단순 유언장 방식은 분쟁 발생 시 집행이 지연될 수 있으며, 상속인들이 자산을 일시에 수령할 경우 관리 소홀로 인한 자산 낭비 우려.</a:t>
            </a:r>
            <a:endParaRPr lang="en-US" sz="950" dirty="0"/>
          </a:p>
        </p:txBody>
      </p:sp>
      <p:sp>
        <p:nvSpPr>
          <p:cNvPr id="16" name="Text 14"/>
          <p:cNvSpPr/>
          <p:nvPr/>
        </p:nvSpPr>
        <p:spPr>
          <a:xfrm>
            <a:off x="457200" y="315468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솔루션 제안 핵심 요약 (To-Be)</a:t>
            </a:r>
            <a:endParaRPr lang="en-US" sz="1400" dirty="0"/>
          </a:p>
        </p:txBody>
      </p:sp>
      <p:sp>
        <p:nvSpPr>
          <p:cNvPr id="17" name="Shape 15"/>
          <p:cNvSpPr/>
          <p:nvPr/>
        </p:nvSpPr>
        <p:spPr>
          <a:xfrm>
            <a:off x="457200" y="3520440"/>
            <a:ext cx="3931920" cy="1051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8" name="Shape 16"/>
          <p:cNvSpPr/>
          <p:nvPr/>
        </p:nvSpPr>
        <p:spPr>
          <a:xfrm>
            <a:off x="457200" y="3520440"/>
            <a:ext cx="54864" cy="1051560"/>
          </a:xfrm>
          <a:prstGeom prst="rect">
            <a:avLst/>
          </a:prstGeom>
          <a:solidFill>
            <a:srgbClr val="1A6B4A"/>
          </a:solidFill>
          <a:ln/>
        </p:spPr>
        <p:txBody>
          <a:bodyPr/>
          <a:lstStyle/>
          <a:p>
            <a:endParaRPr lang="ko-KR" altLang="en-US"/>
          </a:p>
        </p:txBody>
      </p:sp>
      <p:sp>
        <p:nvSpPr>
          <p:cNvPr id="19" name="Text 17"/>
          <p:cNvSpPr/>
          <p:nvPr/>
        </p:nvSpPr>
        <p:spPr>
          <a:xfrm>
            <a:off x="640080" y="3566160"/>
            <a:ext cx="3566160" cy="228600"/>
          </a:xfrm>
          <a:prstGeom prst="rect">
            <a:avLst/>
          </a:prstGeom>
          <a:noFill/>
          <a:ln/>
        </p:spPr>
        <p:txBody>
          <a:bodyPr wrap="square" lIns="0" tIns="0" rIns="0" bIns="0" rtlCol="0" anchor="t"/>
          <a:lstStyle/>
          <a:p>
            <a:pPr marL="0" indent="0">
              <a:buNone/>
            </a:pPr>
            <a:r>
              <a:rPr lang="en-US" sz="1100" b="1" dirty="0">
                <a:solidFill>
                  <a:srgbClr val="1A6B4A"/>
                </a:solidFill>
                <a:latin typeface="맑은 고딕" pitchFamily="34" charset="0"/>
                <a:ea typeface="맑은 고딕" pitchFamily="34" charset="-122"/>
                <a:cs typeface="맑은 고딕" pitchFamily="34" charset="-120"/>
              </a:rPr>
              <a:t>자산 보호 신탁</a:t>
            </a:r>
            <a:endParaRPr lang="en-US" sz="1100" dirty="0"/>
          </a:p>
        </p:txBody>
      </p:sp>
      <p:sp>
        <p:nvSpPr>
          <p:cNvPr id="20" name="Text 18"/>
          <p:cNvSpPr/>
          <p:nvPr/>
        </p:nvSpPr>
        <p:spPr>
          <a:xfrm>
            <a:off x="640080" y="3794760"/>
            <a:ext cx="3566160" cy="411480"/>
          </a:xfrm>
          <a:prstGeom prst="rect">
            <a:avLst/>
          </a:prstGeom>
          <a:noFill/>
          <a:ln/>
        </p:spPr>
        <p:txBody>
          <a:bodyPr wrap="square" lIns="0" tIns="0" rIns="0" bIns="0" rtlCol="0" anchor="t"/>
          <a:lstStyle/>
          <a:p>
            <a:pPr marL="0" indent="0">
              <a:buNone/>
            </a:pPr>
            <a:r>
              <a:rPr lang="en-US" sz="950" dirty="0">
                <a:solidFill>
                  <a:srgbClr val="2B2B2B"/>
                </a:solidFill>
                <a:latin typeface="맑은 고딕" pitchFamily="34" charset="0"/>
                <a:ea typeface="맑은 고딕" pitchFamily="34" charset="-122"/>
                <a:cs typeface="맑은 고딕" pitchFamily="34" charset="-120"/>
              </a:rPr>
              <a:t>주요 부동산 및 현금 자산을 신탁 설정하여 대부분의 일반 채권자로부터 집행 위험을 상당히 낮추는 '보호막' 형성.</a:t>
            </a:r>
            <a:endParaRPr lang="en-US" sz="950" dirty="0"/>
          </a:p>
        </p:txBody>
      </p:sp>
      <p:sp>
        <p:nvSpPr>
          <p:cNvPr id="21" name="Text 19"/>
          <p:cNvSpPr/>
          <p:nvPr/>
        </p:nvSpPr>
        <p:spPr>
          <a:xfrm>
            <a:off x="640080" y="4233672"/>
            <a:ext cx="3566160" cy="274320"/>
          </a:xfrm>
          <a:prstGeom prst="rect">
            <a:avLst/>
          </a:prstGeom>
          <a:noFill/>
          <a:ln/>
        </p:spPr>
        <p:txBody>
          <a:bodyPr wrap="square" lIns="0" tIns="0" rIns="0" bIns="0" rtlCol="0" anchor="t"/>
          <a:lstStyle/>
          <a:p>
            <a:pPr marL="0" indent="0">
              <a:buNone/>
            </a:pPr>
            <a:r>
              <a:rPr lang="en-US" sz="800" i="1" dirty="0">
                <a:solidFill>
                  <a:srgbClr val="D4382C"/>
                </a:solidFill>
                <a:latin typeface="맑은 고딕" pitchFamily="34" charset="0"/>
                <a:ea typeface="맑은 고딕" pitchFamily="34" charset="-122"/>
                <a:cs typeface="맑은 고딕" pitchFamily="34" charset="-120"/>
              </a:rPr>
              <a:t>※ 신탁 전 원인 채권, 사해신탁 취소 등 예외 존재</a:t>
            </a:r>
            <a:endParaRPr lang="en-US" sz="800" dirty="0"/>
          </a:p>
        </p:txBody>
      </p:sp>
      <p:sp>
        <p:nvSpPr>
          <p:cNvPr id="22" name="Shape 20"/>
          <p:cNvSpPr/>
          <p:nvPr/>
        </p:nvSpPr>
        <p:spPr>
          <a:xfrm>
            <a:off x="4754880" y="3520440"/>
            <a:ext cx="3931920" cy="1051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3" name="Shape 21"/>
          <p:cNvSpPr/>
          <p:nvPr/>
        </p:nvSpPr>
        <p:spPr>
          <a:xfrm>
            <a:off x="4754880" y="3520440"/>
            <a:ext cx="54864" cy="1051560"/>
          </a:xfrm>
          <a:prstGeom prst="rect">
            <a:avLst/>
          </a:prstGeom>
          <a:solidFill>
            <a:srgbClr val="1A6B4A"/>
          </a:solidFill>
          <a:ln/>
        </p:spPr>
        <p:txBody>
          <a:bodyPr/>
          <a:lstStyle/>
          <a:p>
            <a:endParaRPr lang="ko-KR" altLang="en-US"/>
          </a:p>
        </p:txBody>
      </p:sp>
      <p:sp>
        <p:nvSpPr>
          <p:cNvPr id="24" name="Text 22"/>
          <p:cNvSpPr/>
          <p:nvPr/>
        </p:nvSpPr>
        <p:spPr>
          <a:xfrm>
            <a:off x="4937760" y="3566160"/>
            <a:ext cx="3566160" cy="228600"/>
          </a:xfrm>
          <a:prstGeom prst="rect">
            <a:avLst/>
          </a:prstGeom>
          <a:noFill/>
          <a:ln/>
        </p:spPr>
        <p:txBody>
          <a:bodyPr wrap="square" lIns="0" tIns="0" rIns="0" bIns="0" rtlCol="0" anchor="t"/>
          <a:lstStyle/>
          <a:p>
            <a:pPr marL="0" indent="0">
              <a:buNone/>
            </a:pPr>
            <a:r>
              <a:rPr lang="en-US" sz="1100" b="1" dirty="0">
                <a:solidFill>
                  <a:srgbClr val="1A6B4A"/>
                </a:solidFill>
                <a:latin typeface="맑은 고딕" pitchFamily="34" charset="0"/>
                <a:ea typeface="맑은 고딕" pitchFamily="34" charset="-122"/>
                <a:cs typeface="맑은 고딕" pitchFamily="34" charset="-120"/>
              </a:rPr>
              <a:t>유언대용신탁 설계</a:t>
            </a:r>
            <a:endParaRPr lang="en-US" sz="1100" dirty="0"/>
          </a:p>
        </p:txBody>
      </p:sp>
      <p:sp>
        <p:nvSpPr>
          <p:cNvPr id="25" name="Text 23"/>
          <p:cNvSpPr/>
          <p:nvPr/>
        </p:nvSpPr>
        <p:spPr>
          <a:xfrm>
            <a:off x="4937760" y="3794760"/>
            <a:ext cx="3566160" cy="685800"/>
          </a:xfrm>
          <a:prstGeom prst="rect">
            <a:avLst/>
          </a:prstGeom>
          <a:noFill/>
          <a:ln/>
        </p:spPr>
        <p:txBody>
          <a:bodyPr wrap="square" lIns="0" tIns="0" rIns="0" bIns="0" rtlCol="0" anchor="t"/>
          <a:lstStyle/>
          <a:p>
            <a:pPr marL="0" indent="0">
              <a:buNone/>
            </a:pPr>
            <a:r>
              <a:rPr lang="en-US" sz="950" dirty="0">
                <a:solidFill>
                  <a:srgbClr val="2B2B2B"/>
                </a:solidFill>
                <a:latin typeface="맑은 고딕" pitchFamily="34" charset="0"/>
                <a:ea typeface="맑은 고딕" pitchFamily="34" charset="-122"/>
                <a:cs typeface="맑은 고딕" pitchFamily="34" charset="-120"/>
              </a:rPr>
              <a:t>생전에는 대표님이 수익을 누리고, 사후에는 자녀의 연령/사회적 성취에 따라 단계별로 자산을 지급하는 조건부 승계 구조 확립.</a:t>
            </a:r>
            <a:endParaRPr lang="en-US" sz="950" dirty="0"/>
          </a:p>
        </p:txBody>
      </p:sp>
      <p:sp>
        <p:nvSpPr>
          <p:cNvPr id="26" name="Text 2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27" name="Text 2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5 / 27</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06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Ⅱ. Executive Summary (경영자를 위한 핵심 요약) (2/2)</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4. 기대효과 핵심 요약</a:t>
            </a:r>
            <a:endParaRPr lang="en-US" sz="1400" dirty="0"/>
          </a:p>
        </p:txBody>
      </p:sp>
      <p:sp>
        <p:nvSpPr>
          <p:cNvPr id="6" name="Shape 4"/>
          <p:cNvSpPr/>
          <p:nvPr/>
        </p:nvSpPr>
        <p:spPr>
          <a:xfrm>
            <a:off x="457200" y="1143000"/>
            <a:ext cx="3931920" cy="2011680"/>
          </a:xfrm>
          <a:prstGeom prst="rect">
            <a:avLst/>
          </a:prstGeom>
          <a:solidFill>
            <a:srgbClr val="1B2A4A"/>
          </a:solidFill>
          <a:ln/>
          <a:effectLst>
            <a:outerShdw blurRad="50800" dist="25400" dir="8100000" algn="bl" rotWithShape="0">
              <a:srgbClr val="000000">
                <a:alpha val="10000"/>
              </a:srgbClr>
            </a:outerShdw>
          </a:effectLst>
        </p:spPr>
        <p:txBody>
          <a:bodyPr/>
          <a:lstStyle/>
          <a:p>
            <a:endParaRPr lang="ko-KR" altLang="en-US"/>
          </a:p>
        </p:txBody>
      </p:sp>
      <p:sp>
        <p:nvSpPr>
          <p:cNvPr id="7" name="Text 5"/>
          <p:cNvSpPr/>
          <p:nvPr/>
        </p:nvSpPr>
        <p:spPr>
          <a:xfrm>
            <a:off x="457200" y="1234440"/>
            <a:ext cx="3931920" cy="320040"/>
          </a:xfrm>
          <a:prstGeom prst="rect">
            <a:avLst/>
          </a:prstGeom>
          <a:noFill/>
          <a:ln/>
        </p:spPr>
        <p:txBody>
          <a:bodyPr wrap="square" lIns="0" tIns="0" rIns="0" bIns="0" rtlCol="0" anchor="ctr"/>
          <a:lstStyle/>
          <a:p>
            <a:pPr marL="0" indent="0" algn="ctr">
              <a:buNone/>
            </a:pPr>
            <a:r>
              <a:rPr lang="en-US" sz="1300" b="1" dirty="0">
                <a:solidFill>
                  <a:srgbClr val="C8962E"/>
                </a:solidFill>
                <a:latin typeface="맑은 고딕" pitchFamily="34" charset="0"/>
                <a:ea typeface="맑은 고딕" pitchFamily="34" charset="-122"/>
                <a:cs typeface="맑은 고딕" pitchFamily="34" charset="-120"/>
              </a:rPr>
              <a:t>자산 보호</a:t>
            </a:r>
            <a:endParaRPr lang="en-US" sz="1300" dirty="0"/>
          </a:p>
        </p:txBody>
      </p:sp>
      <p:sp>
        <p:nvSpPr>
          <p:cNvPr id="8" name="Text 6"/>
          <p:cNvSpPr/>
          <p:nvPr/>
        </p:nvSpPr>
        <p:spPr>
          <a:xfrm>
            <a:off x="731520" y="1645920"/>
            <a:ext cx="3383280" cy="1371600"/>
          </a:xfrm>
          <a:prstGeom prst="rect">
            <a:avLst/>
          </a:prstGeom>
          <a:noFill/>
          <a:ln/>
        </p:spPr>
        <p:txBody>
          <a:bodyPr wrap="square" lIns="0" tIns="0" rIns="0" bIns="0" rtlCol="0" anchor="t"/>
          <a:lstStyle/>
          <a:p>
            <a:pPr marL="342900" indent="-342900">
              <a:buSzPct val="100000"/>
              <a:buChar char="•"/>
            </a:pPr>
            <a:r>
              <a:rPr lang="en-US" sz="1100" dirty="0">
                <a:solidFill>
                  <a:srgbClr val="FFFFFF"/>
                </a:solidFill>
                <a:latin typeface="맑은 고딕" pitchFamily="34" charset="0"/>
                <a:ea typeface="맑은 고딕" pitchFamily="34" charset="-122"/>
                <a:cs typeface="맑은 고딕" pitchFamily="34" charset="-120"/>
              </a:rPr>
              <a:t>약 150억 규모의 가계 자산에 대한 법적 방화벽 구축</a:t>
            </a:r>
            <a:endParaRPr lang="en-US" sz="1100" dirty="0"/>
          </a:p>
          <a:p>
            <a:pPr marL="342900" indent="-342900">
              <a:buSzPct val="100000"/>
              <a:buChar char="•"/>
            </a:pPr>
            <a:r>
              <a:rPr lang="en-US" sz="1100" dirty="0">
                <a:solidFill>
                  <a:srgbClr val="FFFFFF"/>
                </a:solidFill>
                <a:latin typeface="맑은 고딕" pitchFamily="34" charset="0"/>
                <a:ea typeface="맑은 고딕" pitchFamily="34" charset="-122"/>
                <a:cs typeface="맑은 고딕" pitchFamily="34" charset="-120"/>
              </a:rPr>
              <a:t>일반 채권자의 강제집행 위험 상당 부분 감소 (단, 예외 존재)</a:t>
            </a:r>
            <a:endParaRPr lang="en-US" sz="1100" dirty="0"/>
          </a:p>
        </p:txBody>
      </p:sp>
      <p:sp>
        <p:nvSpPr>
          <p:cNvPr id="9" name="Shape 7"/>
          <p:cNvSpPr/>
          <p:nvPr/>
        </p:nvSpPr>
        <p:spPr>
          <a:xfrm>
            <a:off x="4754880" y="1143000"/>
            <a:ext cx="3931920" cy="2011680"/>
          </a:xfrm>
          <a:prstGeom prst="rect">
            <a:avLst/>
          </a:prstGeom>
          <a:solidFill>
            <a:srgbClr val="1B2A4A"/>
          </a:solidFill>
          <a:ln/>
          <a:effectLst>
            <a:outerShdw blurRad="50800" dist="25400" dir="8100000" algn="bl" rotWithShape="0">
              <a:srgbClr val="000000">
                <a:alpha val="10000"/>
              </a:srgbClr>
            </a:outerShdw>
          </a:effectLst>
        </p:spPr>
        <p:txBody>
          <a:bodyPr/>
          <a:lstStyle/>
          <a:p>
            <a:endParaRPr lang="ko-KR" altLang="en-US"/>
          </a:p>
        </p:txBody>
      </p:sp>
      <p:sp>
        <p:nvSpPr>
          <p:cNvPr id="10" name="Text 8"/>
          <p:cNvSpPr/>
          <p:nvPr/>
        </p:nvSpPr>
        <p:spPr>
          <a:xfrm>
            <a:off x="4754880" y="1234440"/>
            <a:ext cx="3931920" cy="320040"/>
          </a:xfrm>
          <a:prstGeom prst="rect">
            <a:avLst/>
          </a:prstGeom>
          <a:noFill/>
          <a:ln/>
        </p:spPr>
        <p:txBody>
          <a:bodyPr wrap="square" lIns="0" tIns="0" rIns="0" bIns="0" rtlCol="0" anchor="ctr"/>
          <a:lstStyle/>
          <a:p>
            <a:pPr marL="0" indent="0" algn="ctr">
              <a:buNone/>
            </a:pPr>
            <a:r>
              <a:rPr lang="en-US" sz="1300" b="1" dirty="0">
                <a:solidFill>
                  <a:srgbClr val="C8962E"/>
                </a:solidFill>
                <a:latin typeface="맑은 고딕" pitchFamily="34" charset="0"/>
                <a:ea typeface="맑은 고딕" pitchFamily="34" charset="-122"/>
                <a:cs typeface="맑은 고딕" pitchFamily="34" charset="-120"/>
              </a:rPr>
              <a:t>분쟁 관리</a:t>
            </a:r>
            <a:endParaRPr lang="en-US" sz="1300" dirty="0"/>
          </a:p>
        </p:txBody>
      </p:sp>
      <p:sp>
        <p:nvSpPr>
          <p:cNvPr id="11" name="Text 9"/>
          <p:cNvSpPr/>
          <p:nvPr/>
        </p:nvSpPr>
        <p:spPr>
          <a:xfrm>
            <a:off x="5029200" y="1645920"/>
            <a:ext cx="3383280" cy="1371600"/>
          </a:xfrm>
          <a:prstGeom prst="rect">
            <a:avLst/>
          </a:prstGeom>
          <a:noFill/>
          <a:ln/>
        </p:spPr>
        <p:txBody>
          <a:bodyPr wrap="square" lIns="0" tIns="0" rIns="0" bIns="0" rtlCol="0" anchor="t"/>
          <a:lstStyle/>
          <a:p>
            <a:pPr marL="342900" indent="-342900">
              <a:buSzPct val="100000"/>
              <a:buChar char="•"/>
            </a:pPr>
            <a:r>
              <a:rPr lang="en-US" sz="1100" dirty="0">
                <a:solidFill>
                  <a:srgbClr val="FFFFFF"/>
                </a:solidFill>
                <a:latin typeface="맑은 고딕" pitchFamily="34" charset="0"/>
                <a:ea typeface="맑은 고딕" pitchFamily="34" charset="-122"/>
                <a:cs typeface="맑은 고딕" pitchFamily="34" charset="-120"/>
              </a:rPr>
              <a:t>사후 상속 분쟁 가능성 저감</a:t>
            </a:r>
            <a:endParaRPr lang="en-US" sz="1100" dirty="0"/>
          </a:p>
          <a:p>
            <a:pPr marL="342900" indent="-342900">
              <a:buSzPct val="100000"/>
              <a:buChar char="•"/>
            </a:pPr>
            <a:r>
              <a:rPr lang="en-US" sz="1100" dirty="0">
                <a:solidFill>
                  <a:srgbClr val="FFFFFF"/>
                </a:solidFill>
                <a:latin typeface="맑은 고딕" pitchFamily="34" charset="0"/>
                <a:ea typeface="맑은 고딕" pitchFamily="34" charset="-122"/>
                <a:cs typeface="맑은 고딕" pitchFamily="34" charset="-120"/>
              </a:rPr>
              <a:t>가문의 자산 가치 보존에 기여</a:t>
            </a:r>
            <a:endParaRPr lang="en-US" sz="1100" dirty="0"/>
          </a:p>
        </p:txBody>
      </p:sp>
      <p:sp>
        <p:nvSpPr>
          <p:cNvPr id="12" name="Text 10"/>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3" name="Text 11"/>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6 / 27</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07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Ⅲ. 기업 현황 및 CEO Needs 심층 진단</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재무구조 정밀 분석</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809948270"/>
              </p:ext>
            </p:extLst>
          </p:nvPr>
        </p:nvGraphicFramePr>
        <p:xfrm>
          <a:off x="457200" y="1051560"/>
          <a:ext cx="8229600" cy="165100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3020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항목</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2022년</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2023년</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2024년</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업계 평균</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3020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자산총계</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180억</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210억</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250억</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200억</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부채총계</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90억</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110억</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140억</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120억</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3020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이익잉여금</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75억</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88억</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102억</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60억</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20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부채비율</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100%</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110%</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b="1" dirty="0">
                          <a:solidFill>
                            <a:srgbClr val="D4382C"/>
                          </a:solidFill>
                          <a:latin typeface="맑은 고딕" pitchFamily="34" charset="0"/>
                          <a:ea typeface="맑은 고딕" pitchFamily="34" charset="-122"/>
                          <a:cs typeface="맑은 고딕" pitchFamily="34" charset="-120"/>
                        </a:rPr>
                        <a:t>127%</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150% 이하</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bl>
          </a:graphicData>
        </a:graphic>
      </p:graphicFrame>
      <p:sp>
        <p:nvSpPr>
          <p:cNvPr id="7" name="Shape 4"/>
          <p:cNvSpPr/>
          <p:nvPr/>
        </p:nvSpPr>
        <p:spPr>
          <a:xfrm>
            <a:off x="457200" y="2875280"/>
            <a:ext cx="8229600" cy="511387"/>
          </a:xfrm>
          <a:prstGeom prst="rect">
            <a:avLst/>
          </a:prstGeom>
          <a:solidFill>
            <a:srgbClr val="F0F5FF"/>
          </a:solidFill>
          <a:ln/>
        </p:spPr>
        <p:txBody>
          <a:bodyPr/>
          <a:lstStyle/>
          <a:p>
            <a:endParaRPr lang="ko-KR" altLang="en-US"/>
          </a:p>
        </p:txBody>
      </p:sp>
      <p:sp>
        <p:nvSpPr>
          <p:cNvPr id="6" name="Shape 5"/>
          <p:cNvSpPr/>
          <p:nvPr/>
        </p:nvSpPr>
        <p:spPr>
          <a:xfrm>
            <a:off x="457200" y="2875280"/>
            <a:ext cx="54864" cy="511387"/>
          </a:xfrm>
          <a:prstGeom prst="rect">
            <a:avLst/>
          </a:prstGeom>
          <a:solidFill>
            <a:srgbClr val="3366CC"/>
          </a:solidFill>
          <a:ln/>
        </p:spPr>
        <p:txBody>
          <a:bodyPr/>
          <a:lstStyle/>
          <a:p>
            <a:endParaRPr lang="ko-KR" altLang="en-US"/>
          </a:p>
        </p:txBody>
      </p:sp>
      <p:sp>
        <p:nvSpPr>
          <p:cNvPr id="9" name="Text 6"/>
          <p:cNvSpPr/>
          <p:nvPr/>
        </p:nvSpPr>
        <p:spPr>
          <a:xfrm>
            <a:off x="640080" y="2954865"/>
            <a:ext cx="7863840" cy="201168"/>
          </a:xfrm>
          <a:prstGeom prst="rect">
            <a:avLst/>
          </a:prstGeom>
          <a:noFill/>
          <a:ln/>
        </p:spPr>
        <p:txBody>
          <a:bodyPr wrap="square" lIns="0" tIns="0" rIns="0" bIns="0" rtlCol="0" anchor="t"/>
          <a:lstStyle/>
          <a:p>
            <a:pPr marL="0" indent="0">
              <a:buNone/>
            </a:pPr>
            <a:r>
              <a:rPr lang="en-US" sz="1000" b="1" dirty="0">
                <a:solidFill>
                  <a:srgbClr val="2952A3"/>
                </a:solidFill>
                <a:latin typeface="맑은 고딕" pitchFamily="34" charset="0"/>
                <a:ea typeface="맑은 고딕" pitchFamily="34" charset="-122"/>
                <a:cs typeface="맑은 고딕" pitchFamily="34" charset="-120"/>
              </a:rPr>
              <a:t>전문가 분석</a:t>
            </a:r>
            <a:endParaRPr lang="en-US" sz="1000" dirty="0"/>
          </a:p>
        </p:txBody>
      </p:sp>
      <p:sp>
        <p:nvSpPr>
          <p:cNvPr id="10" name="Text 7"/>
          <p:cNvSpPr/>
          <p:nvPr/>
        </p:nvSpPr>
        <p:spPr>
          <a:xfrm>
            <a:off x="640080" y="3165177"/>
            <a:ext cx="7863840" cy="32004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성장성에 따른 차입금 증가로 부채비율이 상승 중이며, 이는 CEO의 개인 연대보증 리스크 확대로 이어지고 있음.</a:t>
            </a:r>
            <a:endParaRPr lang="en-US" sz="1000" dirty="0"/>
          </a:p>
        </p:txBody>
      </p:sp>
      <p:sp>
        <p:nvSpPr>
          <p:cNvPr id="11" name="Text 8"/>
          <p:cNvSpPr/>
          <p:nvPr/>
        </p:nvSpPr>
        <p:spPr>
          <a:xfrm>
            <a:off x="457200" y="3482171"/>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CEO Needs 및 경영 목표 분석</a:t>
            </a:r>
            <a:endParaRPr lang="en-US" sz="1400" dirty="0"/>
          </a:p>
        </p:txBody>
      </p:sp>
      <p:sp>
        <p:nvSpPr>
          <p:cNvPr id="12" name="Text 9"/>
          <p:cNvSpPr/>
          <p:nvPr/>
        </p:nvSpPr>
        <p:spPr>
          <a:xfrm>
            <a:off x="457200" y="3874007"/>
            <a:ext cx="8229600" cy="1097280"/>
          </a:xfrm>
          <a:prstGeom prst="rect">
            <a:avLst/>
          </a:prstGeom>
          <a:noFill/>
          <a:ln/>
        </p:spPr>
        <p:txBody>
          <a:bodyPr wrap="square" lIns="0" tIns="0" rIns="0" bIns="0" rtlCol="0" anchor="t"/>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개인 재무 목표: </a:t>
            </a:r>
            <a:endParaRPr lang="en-US" sz="1000" dirty="0"/>
          </a:p>
          <a:p>
            <a:pPr marL="171450" indent="-171450">
              <a:buSzPct val="100000"/>
              <a:buFont typeface="Arial" panose="020B0604020202020204" pitchFamily="34" charset="0"/>
              <a:buChar char="•"/>
            </a:pPr>
            <a:r>
              <a:rPr lang="en-US" sz="1000" dirty="0" err="1">
                <a:solidFill>
                  <a:srgbClr val="2B2B2B"/>
                </a:solidFill>
                <a:latin typeface="맑은 고딕" pitchFamily="34" charset="0"/>
                <a:ea typeface="맑은 고딕" pitchFamily="34" charset="-122"/>
                <a:cs typeface="맑은 고딕" pitchFamily="34" charset="-120"/>
              </a:rPr>
              <a:t>경영</a:t>
            </a:r>
            <a:r>
              <a:rPr lang="en-US" sz="1000" dirty="0">
                <a:solidFill>
                  <a:srgbClr val="2B2B2B"/>
                </a:solidFill>
                <a:latin typeface="맑은 고딕" pitchFamily="34" charset="0"/>
                <a:ea typeface="맑은 고딕" pitchFamily="34" charset="-122"/>
                <a:cs typeface="맑은 고딕" pitchFamily="34" charset="-120"/>
              </a:rPr>
              <a:t> 리스크로부터 내 집과 노후 자금을 효과적으로 </a:t>
            </a:r>
            <a:r>
              <a:rPr lang="en-US" sz="1000" dirty="0" err="1">
                <a:solidFill>
                  <a:srgbClr val="2B2B2B"/>
                </a:solidFill>
                <a:latin typeface="맑은 고딕" pitchFamily="34" charset="0"/>
                <a:ea typeface="맑은 고딕" pitchFamily="34" charset="-122"/>
                <a:cs typeface="맑은 고딕" pitchFamily="34" charset="-120"/>
              </a:rPr>
              <a:t>보호하고</a:t>
            </a:r>
            <a:r>
              <a:rPr lang="en-US" sz="1000" dirty="0">
                <a:solidFill>
                  <a:srgbClr val="2B2B2B"/>
                </a:solidFill>
                <a:latin typeface="맑은 고딕" pitchFamily="34" charset="0"/>
                <a:ea typeface="맑은 고딕" pitchFamily="34" charset="-122"/>
                <a:cs typeface="맑은 고딕" pitchFamily="34" charset="-120"/>
              </a:rPr>
              <a:t> </a:t>
            </a:r>
            <a:r>
              <a:rPr lang="en-US" sz="1000" dirty="0" err="1">
                <a:solidFill>
                  <a:srgbClr val="2B2B2B"/>
                </a:solidFill>
                <a:latin typeface="맑은 고딕" pitchFamily="34" charset="0"/>
                <a:ea typeface="맑은 고딕" pitchFamily="34" charset="-122"/>
                <a:cs typeface="맑은 고딕" pitchFamily="34" charset="-120"/>
              </a:rPr>
              <a:t>싶음</a:t>
            </a:r>
            <a:endParaRPr lang="en-US" sz="1000" dirty="0">
              <a:solidFill>
                <a:srgbClr val="2B2B2B"/>
              </a:solidFill>
              <a:latin typeface="맑은 고딕" pitchFamily="34" charset="0"/>
              <a:ea typeface="맑은 고딕" pitchFamily="34" charset="-122"/>
              <a:cs typeface="맑은 고딕" pitchFamily="34" charset="-120"/>
            </a:endParaRPr>
          </a:p>
          <a:p>
            <a:pPr>
              <a:buSzPct val="100000"/>
            </a:pPr>
            <a:r>
              <a:rPr lang="en-US" sz="1000" b="1" dirty="0" err="1">
                <a:solidFill>
                  <a:srgbClr val="2B2B2B"/>
                </a:solidFill>
                <a:latin typeface="맑은 고딕" pitchFamily="34" charset="0"/>
                <a:ea typeface="맑은 고딕" pitchFamily="34" charset="-122"/>
                <a:cs typeface="맑은 고딕" pitchFamily="34" charset="-120"/>
              </a:rPr>
              <a:t>승계</a:t>
            </a:r>
            <a:r>
              <a:rPr lang="en-US" sz="1000" b="1" dirty="0">
                <a:solidFill>
                  <a:srgbClr val="2B2B2B"/>
                </a:solidFill>
                <a:latin typeface="맑은 고딕" pitchFamily="34" charset="0"/>
                <a:ea typeface="맑은 고딕" pitchFamily="34" charset="-122"/>
                <a:cs typeface="맑은 고딕" pitchFamily="34" charset="-120"/>
              </a:rPr>
              <a:t> 목표: </a:t>
            </a:r>
            <a:endParaRPr lang="en-US" sz="1000" dirty="0"/>
          </a:p>
          <a:p>
            <a:pPr marL="171450" indent="-171450">
              <a:buSzPct val="100000"/>
              <a:buFont typeface="Arial" panose="020B0604020202020204" pitchFamily="34" charset="0"/>
              <a:buChar char="•"/>
            </a:pPr>
            <a:r>
              <a:rPr lang="en-US" sz="1000" dirty="0" err="1">
                <a:solidFill>
                  <a:srgbClr val="2B2B2B"/>
                </a:solidFill>
                <a:latin typeface="맑은 고딕" pitchFamily="34" charset="0"/>
                <a:ea typeface="맑은 고딕" pitchFamily="34" charset="-122"/>
                <a:cs typeface="맑은 고딕" pitchFamily="34" charset="-120"/>
              </a:rPr>
              <a:t>경영</a:t>
            </a:r>
            <a:r>
              <a:rPr lang="en-US" sz="1000" dirty="0">
                <a:solidFill>
                  <a:srgbClr val="2B2B2B"/>
                </a:solidFill>
                <a:latin typeface="맑은 고딕" pitchFamily="34" charset="0"/>
                <a:ea typeface="맑은 고딕" pitchFamily="34" charset="-122"/>
                <a:cs typeface="맑은 고딕" pitchFamily="34" charset="-120"/>
              </a:rPr>
              <a:t> 능력이 검증되지 않은 차녀(해외 거주)에게 자산을 주되, 일시에 탕진하지 않도록 관리 장치를 </a:t>
            </a:r>
            <a:r>
              <a:rPr lang="en-US" sz="1000" dirty="0" err="1">
                <a:solidFill>
                  <a:srgbClr val="2B2B2B"/>
                </a:solidFill>
                <a:latin typeface="맑은 고딕" pitchFamily="34" charset="0"/>
                <a:ea typeface="맑은 고딕" pitchFamily="34" charset="-122"/>
                <a:cs typeface="맑은 고딕" pitchFamily="34" charset="-120"/>
              </a:rPr>
              <a:t>두고</a:t>
            </a:r>
            <a:r>
              <a:rPr lang="en-US" sz="1000" dirty="0">
                <a:solidFill>
                  <a:srgbClr val="2B2B2B"/>
                </a:solidFill>
                <a:latin typeface="맑은 고딕" pitchFamily="34" charset="0"/>
                <a:ea typeface="맑은 고딕" pitchFamily="34" charset="-122"/>
                <a:cs typeface="맑은 고딕" pitchFamily="34" charset="-120"/>
              </a:rPr>
              <a:t> </a:t>
            </a:r>
            <a:r>
              <a:rPr lang="en-US" sz="1000" dirty="0" err="1">
                <a:solidFill>
                  <a:srgbClr val="2B2B2B"/>
                </a:solidFill>
                <a:latin typeface="맑은 고딕" pitchFamily="34" charset="0"/>
                <a:ea typeface="맑은 고딕" pitchFamily="34" charset="-122"/>
                <a:cs typeface="맑은 고딕" pitchFamily="34" charset="-120"/>
              </a:rPr>
              <a:t>싶음</a:t>
            </a:r>
            <a:endParaRPr lang="en-US" sz="1000" dirty="0">
              <a:solidFill>
                <a:srgbClr val="2B2B2B"/>
              </a:solidFill>
              <a:latin typeface="맑은 고딕" pitchFamily="34" charset="0"/>
              <a:ea typeface="맑은 고딕" pitchFamily="34" charset="-122"/>
              <a:cs typeface="맑은 고딕" pitchFamily="34" charset="-120"/>
            </a:endParaRPr>
          </a:p>
          <a:p>
            <a:pPr>
              <a:buSzPct val="100000"/>
            </a:pPr>
            <a:r>
              <a:rPr lang="en-US" sz="1000" b="1" dirty="0" err="1">
                <a:solidFill>
                  <a:srgbClr val="2B2B2B"/>
                </a:solidFill>
                <a:latin typeface="맑은 고딕" pitchFamily="34" charset="0"/>
                <a:ea typeface="맑은 고딕" pitchFamily="34" charset="-122"/>
                <a:cs typeface="맑은 고딕" pitchFamily="34" charset="-120"/>
              </a:rPr>
              <a:t>현재</a:t>
            </a:r>
            <a:r>
              <a:rPr lang="en-US" sz="1000" b="1" dirty="0">
                <a:solidFill>
                  <a:srgbClr val="2B2B2B"/>
                </a:solidFill>
                <a:latin typeface="맑은 고딕" pitchFamily="34" charset="0"/>
                <a:ea typeface="맑은 고딕" pitchFamily="34" charset="-122"/>
                <a:cs typeface="맑은 고딕" pitchFamily="34" charset="-120"/>
              </a:rPr>
              <a:t> 애로사항: </a:t>
            </a:r>
            <a:endParaRPr lang="en-US" sz="1000" dirty="0"/>
          </a:p>
          <a:p>
            <a:pPr marL="171450" indent="-171450">
              <a:buSzPct val="100000"/>
              <a:buFont typeface="Arial" panose="020B0604020202020204" pitchFamily="34" charset="0"/>
              <a:buChar char="•"/>
            </a:pPr>
            <a:r>
              <a:rPr lang="en-US" sz="1000" dirty="0" err="1">
                <a:solidFill>
                  <a:srgbClr val="2B2B2B"/>
                </a:solidFill>
                <a:latin typeface="맑은 고딕" pitchFamily="34" charset="0"/>
                <a:ea typeface="맑은 고딕" pitchFamily="34" charset="-122"/>
                <a:cs typeface="맑은 고딕" pitchFamily="34" charset="-120"/>
              </a:rPr>
              <a:t>유류분</a:t>
            </a:r>
            <a:r>
              <a:rPr lang="en-US" sz="1000" dirty="0">
                <a:solidFill>
                  <a:srgbClr val="2B2B2B"/>
                </a:solidFill>
                <a:latin typeface="맑은 고딕" pitchFamily="34" charset="0"/>
                <a:ea typeface="맑은 고딕" pitchFamily="34" charset="-122"/>
                <a:cs typeface="맑은 고딕" pitchFamily="34" charset="-120"/>
              </a:rPr>
              <a:t> 반환 청구 소송 등 최근 상속 분쟁 판례를 보며 사후 가족 간의 불화를 방지할 대책 마련 희망</a:t>
            </a:r>
            <a:endParaRPr lang="en-US" sz="1000" dirty="0"/>
          </a:p>
        </p:txBody>
      </p:sp>
      <p:sp>
        <p:nvSpPr>
          <p:cNvPr id="13" name="Text 10"/>
          <p:cNvSpPr/>
          <p:nvPr/>
        </p:nvSpPr>
        <p:spPr>
          <a:xfrm>
            <a:off x="457200" y="4919472"/>
            <a:ext cx="6400800" cy="182880"/>
          </a:xfrm>
          <a:prstGeom prst="rect">
            <a:avLst/>
          </a:prstGeom>
          <a:noFill/>
          <a:ln/>
        </p:spPr>
        <p:txBody>
          <a:bodyPr wrap="square" lIns="0" tIns="0" rIns="0" bIns="0" rtlCol="0" anchor="ctr"/>
          <a:lstStyle/>
          <a:p>
            <a:pPr algn="l"/>
            <a:r>
              <a:rPr lang="en-US" sz="800" dirty="0">
                <a:solidFill>
                  <a:srgbClr val="4A5568"/>
                </a:solidFill>
              </a:rPr>
              <a:t>CEO 자산보호를 위한 신탁 활용전략</a:t>
            </a:r>
            <a:endParaRPr lang="en-US" sz="800" dirty="0"/>
          </a:p>
        </p:txBody>
      </p:sp>
      <p:sp>
        <p:nvSpPr>
          <p:cNvPr id="14" name="Text 11"/>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7 / 27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08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Ⅳ. 핵심 이슈 및 전략 과제 도출</a:t>
            </a:r>
            <a:endParaRPr lang="en-US" sz="1600" dirty="0"/>
          </a:p>
        </p:txBody>
      </p:sp>
      <p:sp>
        <p:nvSpPr>
          <p:cNvPr id="5" name="Shape 3"/>
          <p:cNvSpPr/>
          <p:nvPr/>
        </p:nvSpPr>
        <p:spPr>
          <a:xfrm>
            <a:off x="457200" y="777240"/>
            <a:ext cx="8229600" cy="8686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777240"/>
            <a:ext cx="54864" cy="868680"/>
          </a:xfrm>
          <a:prstGeom prst="rect">
            <a:avLst/>
          </a:prstGeom>
          <a:solidFill>
            <a:srgbClr val="D4382C"/>
          </a:solidFill>
          <a:ln/>
        </p:spPr>
        <p:txBody>
          <a:bodyPr/>
          <a:lstStyle/>
          <a:p>
            <a:endParaRPr lang="ko-KR" altLang="en-US"/>
          </a:p>
        </p:txBody>
      </p:sp>
      <p:sp>
        <p:nvSpPr>
          <p:cNvPr id="7" name="Shape 5"/>
          <p:cNvSpPr/>
          <p:nvPr/>
        </p:nvSpPr>
        <p:spPr>
          <a:xfrm>
            <a:off x="640080" y="914400"/>
            <a:ext cx="411480" cy="411480"/>
          </a:xfrm>
          <a:prstGeom prst="rect">
            <a:avLst/>
          </a:prstGeom>
          <a:solidFill>
            <a:srgbClr val="D4382C"/>
          </a:solidFill>
          <a:ln/>
        </p:spPr>
        <p:txBody>
          <a:bodyPr/>
          <a:lstStyle/>
          <a:p>
            <a:endParaRPr lang="ko-KR" altLang="en-US"/>
          </a:p>
        </p:txBody>
      </p:sp>
      <p:sp>
        <p:nvSpPr>
          <p:cNvPr id="8" name="Text 6"/>
          <p:cNvSpPr/>
          <p:nvPr/>
        </p:nvSpPr>
        <p:spPr>
          <a:xfrm>
            <a:off x="640080" y="91440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9" name="Text 7"/>
          <p:cNvSpPr/>
          <p:nvPr/>
        </p:nvSpPr>
        <p:spPr>
          <a:xfrm>
            <a:off x="1188720" y="868680"/>
            <a:ext cx="7315200" cy="27432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재무구조 리스크</a:t>
            </a:r>
            <a:endParaRPr lang="en-US" sz="1200" dirty="0"/>
          </a:p>
        </p:txBody>
      </p:sp>
      <p:sp>
        <p:nvSpPr>
          <p:cNvPr id="10" name="Text 8"/>
          <p:cNvSpPr/>
          <p:nvPr/>
        </p:nvSpPr>
        <p:spPr>
          <a:xfrm>
            <a:off x="1188720" y="1143000"/>
            <a:ext cx="7315200" cy="41148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매출 급증에 따른 설비 투자용 대출 확대 시 대표이사의 무한 책임(연대보증) 발생</a:t>
            </a:r>
            <a:endParaRPr lang="en-US" sz="1000" dirty="0"/>
          </a:p>
        </p:txBody>
      </p:sp>
      <p:sp>
        <p:nvSpPr>
          <p:cNvPr id="11" name="Shape 9"/>
          <p:cNvSpPr/>
          <p:nvPr/>
        </p:nvSpPr>
        <p:spPr>
          <a:xfrm>
            <a:off x="457200" y="1874520"/>
            <a:ext cx="8229600" cy="8686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57200" y="1874520"/>
            <a:ext cx="54864" cy="868680"/>
          </a:xfrm>
          <a:prstGeom prst="rect">
            <a:avLst/>
          </a:prstGeom>
          <a:solidFill>
            <a:srgbClr val="D4382C"/>
          </a:solidFill>
          <a:ln/>
        </p:spPr>
        <p:txBody>
          <a:bodyPr/>
          <a:lstStyle/>
          <a:p>
            <a:endParaRPr lang="ko-KR" altLang="en-US"/>
          </a:p>
        </p:txBody>
      </p:sp>
      <p:sp>
        <p:nvSpPr>
          <p:cNvPr id="13" name="Shape 11"/>
          <p:cNvSpPr/>
          <p:nvPr/>
        </p:nvSpPr>
        <p:spPr>
          <a:xfrm>
            <a:off x="640080" y="2011680"/>
            <a:ext cx="411480" cy="411480"/>
          </a:xfrm>
          <a:prstGeom prst="rect">
            <a:avLst/>
          </a:prstGeom>
          <a:solidFill>
            <a:srgbClr val="D4382C"/>
          </a:solidFill>
          <a:ln/>
        </p:spPr>
        <p:txBody>
          <a:bodyPr/>
          <a:lstStyle/>
          <a:p>
            <a:endParaRPr lang="ko-KR" altLang="en-US"/>
          </a:p>
        </p:txBody>
      </p:sp>
      <p:sp>
        <p:nvSpPr>
          <p:cNvPr id="14" name="Text 12"/>
          <p:cNvSpPr/>
          <p:nvPr/>
        </p:nvSpPr>
        <p:spPr>
          <a:xfrm>
            <a:off x="640080" y="20116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5" name="Text 13"/>
          <p:cNvSpPr/>
          <p:nvPr/>
        </p:nvSpPr>
        <p:spPr>
          <a:xfrm>
            <a:off x="1188720" y="1965960"/>
            <a:ext cx="7315200" cy="27432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CEO 관련 리스크</a:t>
            </a:r>
            <a:endParaRPr lang="en-US" sz="1200" dirty="0"/>
          </a:p>
        </p:txBody>
      </p:sp>
      <p:sp>
        <p:nvSpPr>
          <p:cNvPr id="16" name="Text 14"/>
          <p:cNvSpPr/>
          <p:nvPr/>
        </p:nvSpPr>
        <p:spPr>
          <a:xfrm>
            <a:off x="1188720" y="2240280"/>
            <a:ext cx="7315200" cy="41148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유언장의 분쟁 시 지연 가능성 및 사후 상속세 납부를 위한 부동산 급매각 가능성</a:t>
            </a:r>
            <a:endParaRPr lang="en-US" sz="1000" dirty="0"/>
          </a:p>
        </p:txBody>
      </p:sp>
      <p:sp>
        <p:nvSpPr>
          <p:cNvPr id="17" name="Shape 15"/>
          <p:cNvSpPr/>
          <p:nvPr/>
        </p:nvSpPr>
        <p:spPr>
          <a:xfrm>
            <a:off x="457200" y="2971800"/>
            <a:ext cx="8229600" cy="8686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8" name="Shape 16"/>
          <p:cNvSpPr/>
          <p:nvPr/>
        </p:nvSpPr>
        <p:spPr>
          <a:xfrm>
            <a:off x="457200" y="2971800"/>
            <a:ext cx="54864" cy="868680"/>
          </a:xfrm>
          <a:prstGeom prst="rect">
            <a:avLst/>
          </a:prstGeom>
          <a:solidFill>
            <a:srgbClr val="1A6B4A"/>
          </a:solidFill>
          <a:ln/>
        </p:spPr>
        <p:txBody>
          <a:bodyPr/>
          <a:lstStyle/>
          <a:p>
            <a:endParaRPr lang="ko-KR" altLang="en-US"/>
          </a:p>
        </p:txBody>
      </p:sp>
      <p:sp>
        <p:nvSpPr>
          <p:cNvPr id="19" name="Shape 17"/>
          <p:cNvSpPr/>
          <p:nvPr/>
        </p:nvSpPr>
        <p:spPr>
          <a:xfrm>
            <a:off x="640080" y="3108960"/>
            <a:ext cx="411480" cy="411480"/>
          </a:xfrm>
          <a:prstGeom prst="rect">
            <a:avLst/>
          </a:prstGeom>
          <a:solidFill>
            <a:srgbClr val="1A6B4A"/>
          </a:solidFill>
          <a:ln/>
        </p:spPr>
        <p:txBody>
          <a:bodyPr/>
          <a:lstStyle/>
          <a:p>
            <a:endParaRPr lang="ko-KR" altLang="en-US"/>
          </a:p>
        </p:txBody>
      </p:sp>
      <p:sp>
        <p:nvSpPr>
          <p:cNvPr id="20" name="Text 18"/>
          <p:cNvSpPr/>
          <p:nvPr/>
        </p:nvSpPr>
        <p:spPr>
          <a:xfrm>
            <a:off x="640080" y="3108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1" name="Text 19"/>
          <p:cNvSpPr/>
          <p:nvPr/>
        </p:nvSpPr>
        <p:spPr>
          <a:xfrm>
            <a:off x="1188720" y="3063240"/>
            <a:ext cx="7315200" cy="274320"/>
          </a:xfrm>
          <a:prstGeom prst="rect">
            <a:avLst/>
          </a:prstGeom>
          <a:noFill/>
          <a:ln/>
        </p:spPr>
        <p:txBody>
          <a:bodyPr wrap="square" lIns="0" tIns="0" rIns="0" bIns="0" rtlCol="0" anchor="t"/>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우선 과제 선정</a:t>
            </a:r>
            <a:endParaRPr lang="en-US" sz="1200" dirty="0"/>
          </a:p>
        </p:txBody>
      </p:sp>
      <p:sp>
        <p:nvSpPr>
          <p:cNvPr id="22" name="Text 20"/>
          <p:cNvSpPr/>
          <p:nvPr/>
        </p:nvSpPr>
        <p:spPr>
          <a:xfrm>
            <a:off x="1188720" y="3337560"/>
            <a:ext cx="7315200" cy="41148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'신탁재산의 독립성'을 활용한 부동산 신탁 및 조건부 수익권 승계 모델 도입</a:t>
            </a:r>
            <a:endParaRPr lang="en-US" sz="1000" dirty="0"/>
          </a:p>
        </p:txBody>
      </p:sp>
      <p:sp>
        <p:nvSpPr>
          <p:cNvPr id="23" name="Text 2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24" name="Text 2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8 / 27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09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Ⅴ. 맞춤형 솔루션 및 실행 전략 제안 (1/5)</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솔루션 기본 방향: 신탁을 통한 자산 보호 구조화</a:t>
            </a:r>
            <a:endParaRPr lang="en-US" sz="1400" dirty="0"/>
          </a:p>
        </p:txBody>
      </p:sp>
      <p:sp>
        <p:nvSpPr>
          <p:cNvPr id="6" name="Text 4"/>
          <p:cNvSpPr/>
          <p:nvPr/>
        </p:nvSpPr>
        <p:spPr>
          <a:xfrm>
            <a:off x="457200" y="1051560"/>
            <a:ext cx="8229600" cy="365760"/>
          </a:xfrm>
          <a:prstGeom prst="rect">
            <a:avLst/>
          </a:prstGeom>
          <a:noFill/>
          <a:ln/>
        </p:spPr>
        <p:txBody>
          <a:bodyPr wrap="square" lIns="0" tIns="0" rIns="0" bIns="0" rtlCol="0" anchor="t"/>
          <a:lstStyle/>
          <a:p>
            <a:pPr marL="0" indent="0">
              <a:buNone/>
            </a:pPr>
            <a:r>
              <a:rPr lang="en-US" sz="1100" dirty="0">
                <a:solidFill>
                  <a:srgbClr val="2B2B2B"/>
                </a:solidFill>
                <a:latin typeface="맑은 고딕" pitchFamily="34" charset="0"/>
                <a:ea typeface="맑은 고딕" pitchFamily="34" charset="-122"/>
                <a:cs typeface="맑은 고딕" pitchFamily="34" charset="-120"/>
              </a:rPr>
              <a:t>단순 예치가 아닌 법적 소유권의 분리를 통해 위탁자(CEO)의 채무로부터 자산을 격리함.</a:t>
            </a:r>
            <a:endParaRPr lang="en-US" sz="1100" dirty="0"/>
          </a:p>
        </p:txBody>
      </p:sp>
      <p:sp>
        <p:nvSpPr>
          <p:cNvPr id="7" name="Shape 5"/>
          <p:cNvSpPr/>
          <p:nvPr/>
        </p:nvSpPr>
        <p:spPr>
          <a:xfrm>
            <a:off x="457200" y="1508760"/>
            <a:ext cx="8229600" cy="2075688"/>
          </a:xfrm>
          <a:prstGeom prst="rect">
            <a:avLst/>
          </a:prstGeom>
          <a:solidFill>
            <a:srgbClr val="F0F5FF"/>
          </a:solidFill>
          <a:ln/>
        </p:spPr>
        <p:txBody>
          <a:bodyPr/>
          <a:lstStyle/>
          <a:p>
            <a:endParaRPr lang="ko-KR" altLang="en-US"/>
          </a:p>
        </p:txBody>
      </p:sp>
      <p:sp>
        <p:nvSpPr>
          <p:cNvPr id="8" name="Shape 6"/>
          <p:cNvSpPr/>
          <p:nvPr/>
        </p:nvSpPr>
        <p:spPr>
          <a:xfrm>
            <a:off x="457200" y="1508760"/>
            <a:ext cx="54864" cy="2075688"/>
          </a:xfrm>
          <a:prstGeom prst="rect">
            <a:avLst/>
          </a:prstGeom>
          <a:solidFill>
            <a:srgbClr val="3366CC"/>
          </a:solidFill>
          <a:ln/>
        </p:spPr>
        <p:txBody>
          <a:bodyPr/>
          <a:lstStyle/>
          <a:p>
            <a:endParaRPr lang="ko-KR" altLang="en-US"/>
          </a:p>
        </p:txBody>
      </p:sp>
      <p:sp>
        <p:nvSpPr>
          <p:cNvPr id="9" name="Text 7"/>
          <p:cNvSpPr/>
          <p:nvPr/>
        </p:nvSpPr>
        <p:spPr>
          <a:xfrm>
            <a:off x="640080" y="1581912"/>
            <a:ext cx="7863840" cy="256032"/>
          </a:xfrm>
          <a:prstGeom prst="rect">
            <a:avLst/>
          </a:prstGeom>
          <a:noFill/>
          <a:ln/>
        </p:spPr>
        <p:txBody>
          <a:bodyPr wrap="square" lIns="0" tIns="0" rIns="0" bIns="0" rtlCol="0" anchor="t"/>
          <a:lstStyle/>
          <a:p>
            <a:pPr marL="0" indent="0">
              <a:buNone/>
            </a:pPr>
            <a:r>
              <a:rPr lang="en-US" sz="1100" b="1" dirty="0">
                <a:solidFill>
                  <a:srgbClr val="2952A3"/>
                </a:solidFill>
                <a:latin typeface="맑은 고딕" pitchFamily="34" charset="0"/>
                <a:ea typeface="맑은 고딕" pitchFamily="34" charset="-122"/>
                <a:cs typeface="맑은 고딕" pitchFamily="34" charset="-120"/>
              </a:rPr>
              <a:t>핵심 개념 정리</a:t>
            </a:r>
            <a:endParaRPr lang="en-US" sz="1100" dirty="0"/>
          </a:p>
        </p:txBody>
      </p:sp>
      <p:sp>
        <p:nvSpPr>
          <p:cNvPr id="10" name="Shape 8"/>
          <p:cNvSpPr/>
          <p:nvPr/>
        </p:nvSpPr>
        <p:spPr>
          <a:xfrm>
            <a:off x="777240" y="1920240"/>
            <a:ext cx="320040" cy="320040"/>
          </a:xfrm>
          <a:prstGeom prst="rect">
            <a:avLst/>
          </a:prstGeom>
          <a:solidFill>
            <a:srgbClr val="3366CC"/>
          </a:solidFill>
          <a:ln/>
        </p:spPr>
        <p:txBody>
          <a:bodyPr/>
          <a:lstStyle/>
          <a:p>
            <a:endParaRPr lang="ko-KR" altLang="en-US"/>
          </a:p>
        </p:txBody>
      </p:sp>
      <p:sp>
        <p:nvSpPr>
          <p:cNvPr id="11" name="Text 9"/>
          <p:cNvSpPr/>
          <p:nvPr/>
        </p:nvSpPr>
        <p:spPr>
          <a:xfrm>
            <a:off x="777240" y="192024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a:t>
            </a:r>
            <a:endParaRPr lang="en-US" sz="1200" dirty="0"/>
          </a:p>
        </p:txBody>
      </p:sp>
      <p:sp>
        <p:nvSpPr>
          <p:cNvPr id="12" name="Text 10"/>
          <p:cNvSpPr/>
          <p:nvPr/>
        </p:nvSpPr>
        <p:spPr>
          <a:xfrm>
            <a:off x="1234440" y="1920240"/>
            <a:ext cx="7315200" cy="457200"/>
          </a:xfrm>
          <a:prstGeom prst="rect">
            <a:avLst/>
          </a:prstGeom>
          <a:noFill/>
          <a:ln/>
        </p:spPr>
        <p:txBody>
          <a:bodyPr wrap="square" lIns="0" tIns="0" rIns="0" bIns="0" rtlCol="0" anchor="t"/>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소유권 이전 (법률효과): </a:t>
            </a:r>
            <a:r>
              <a:rPr lang="en-US" sz="1000" dirty="0">
                <a:solidFill>
                  <a:srgbClr val="2B2B2B"/>
                </a:solidFill>
                <a:latin typeface="맑은 고딕" pitchFamily="34" charset="0"/>
                <a:ea typeface="맑은 고딕" pitchFamily="34" charset="-122"/>
                <a:cs typeface="맑은 고딕" pitchFamily="34" charset="-120"/>
              </a:rPr>
              <a:t>신탁 설정 시 부동산 등 자산의 소유권이 수탁자(신탁사)에게 법적으로 이전됨</a:t>
            </a:r>
            <a:endParaRPr lang="en-US" sz="1000" dirty="0"/>
          </a:p>
        </p:txBody>
      </p:sp>
      <p:sp>
        <p:nvSpPr>
          <p:cNvPr id="13" name="Shape 11"/>
          <p:cNvSpPr/>
          <p:nvPr/>
        </p:nvSpPr>
        <p:spPr>
          <a:xfrm>
            <a:off x="777240" y="2468880"/>
            <a:ext cx="320040" cy="320040"/>
          </a:xfrm>
          <a:prstGeom prst="rect">
            <a:avLst/>
          </a:prstGeom>
          <a:solidFill>
            <a:srgbClr val="3366CC"/>
          </a:solidFill>
          <a:ln/>
        </p:spPr>
        <p:txBody>
          <a:bodyPr/>
          <a:lstStyle/>
          <a:p>
            <a:endParaRPr lang="ko-KR" altLang="en-US"/>
          </a:p>
        </p:txBody>
      </p:sp>
      <p:sp>
        <p:nvSpPr>
          <p:cNvPr id="14" name="Text 12"/>
          <p:cNvSpPr/>
          <p:nvPr/>
        </p:nvSpPr>
        <p:spPr>
          <a:xfrm>
            <a:off x="777240" y="246888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2</a:t>
            </a:r>
            <a:endParaRPr lang="en-US" sz="1200" dirty="0"/>
          </a:p>
        </p:txBody>
      </p:sp>
      <p:sp>
        <p:nvSpPr>
          <p:cNvPr id="15" name="Text 13"/>
          <p:cNvSpPr/>
          <p:nvPr/>
        </p:nvSpPr>
        <p:spPr>
          <a:xfrm>
            <a:off x="1234440" y="2468880"/>
            <a:ext cx="7315200" cy="457200"/>
          </a:xfrm>
          <a:prstGeom prst="rect">
            <a:avLst/>
          </a:prstGeom>
          <a:noFill/>
          <a:ln/>
        </p:spPr>
        <p:txBody>
          <a:bodyPr wrap="square" lIns="0" tIns="0" rIns="0" bIns="0" rtlCol="0" anchor="t"/>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통제권 설계 (계약효과): </a:t>
            </a:r>
            <a:r>
              <a:rPr lang="en-US" sz="1000" dirty="0">
                <a:solidFill>
                  <a:srgbClr val="2B2B2B"/>
                </a:solidFill>
                <a:latin typeface="맑은 고딕" pitchFamily="34" charset="0"/>
                <a:ea typeface="맑은 고딕" pitchFamily="34" charset="-122"/>
                <a:cs typeface="맑은 고딕" pitchFamily="34" charset="-120"/>
              </a:rPr>
              <a:t>신탁계약을 통해 운용지시권, 수익수령권 등을 위탁자가 보유하도록 설계 가능</a:t>
            </a:r>
            <a:endParaRPr lang="en-US" sz="1000" dirty="0"/>
          </a:p>
        </p:txBody>
      </p:sp>
      <p:sp>
        <p:nvSpPr>
          <p:cNvPr id="16" name="Shape 14"/>
          <p:cNvSpPr/>
          <p:nvPr/>
        </p:nvSpPr>
        <p:spPr>
          <a:xfrm>
            <a:off x="777240" y="3017520"/>
            <a:ext cx="320040" cy="320040"/>
          </a:xfrm>
          <a:prstGeom prst="rect">
            <a:avLst/>
          </a:prstGeom>
          <a:solidFill>
            <a:srgbClr val="3366CC"/>
          </a:solidFill>
          <a:ln/>
        </p:spPr>
        <p:txBody>
          <a:bodyPr/>
          <a:lstStyle/>
          <a:p>
            <a:endParaRPr lang="ko-KR" altLang="en-US"/>
          </a:p>
        </p:txBody>
      </p:sp>
      <p:sp>
        <p:nvSpPr>
          <p:cNvPr id="17" name="Text 15"/>
          <p:cNvSpPr/>
          <p:nvPr/>
        </p:nvSpPr>
        <p:spPr>
          <a:xfrm>
            <a:off x="777240" y="301752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3</a:t>
            </a:r>
            <a:endParaRPr lang="en-US" sz="1200" dirty="0"/>
          </a:p>
        </p:txBody>
      </p:sp>
      <p:sp>
        <p:nvSpPr>
          <p:cNvPr id="18" name="Text 16"/>
          <p:cNvSpPr/>
          <p:nvPr/>
        </p:nvSpPr>
        <p:spPr>
          <a:xfrm>
            <a:off x="1234440" y="3017520"/>
            <a:ext cx="7315200" cy="457200"/>
          </a:xfrm>
          <a:prstGeom prst="rect">
            <a:avLst/>
          </a:prstGeom>
          <a:noFill/>
          <a:ln/>
        </p:spPr>
        <p:txBody>
          <a:bodyPr wrap="square" lIns="0" tIns="0" rIns="0" bIns="0" rtlCol="0" anchor="t"/>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실무 한계: </a:t>
            </a:r>
            <a:r>
              <a:rPr lang="en-US" sz="1000" dirty="0">
                <a:solidFill>
                  <a:srgbClr val="2B2B2B"/>
                </a:solidFill>
                <a:latin typeface="맑은 고딕" pitchFamily="34" charset="0"/>
                <a:ea typeface="맑은 고딕" pitchFamily="34" charset="-122"/>
                <a:cs typeface="맑은 고딕" pitchFamily="34" charset="-120"/>
              </a:rPr>
              <a:t>금융기관 및 신탁유형에 따라 운용권 범위가 상이하므로 계약 시 세부 조건 확인 필수</a:t>
            </a:r>
            <a:endParaRPr lang="en-US" sz="1000" dirty="0"/>
          </a:p>
        </p:txBody>
      </p:sp>
      <p:sp>
        <p:nvSpPr>
          <p:cNvPr id="19" name="Text 1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20" name="Text 1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9 / 27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Ⅴ. 맞춤형 솔루션 및 실행 전략 제안 (2/5)</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신탁의 종류별 활용 방안</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818610605"/>
              </p:ext>
            </p:extLst>
          </p:nvPr>
        </p:nvGraphicFramePr>
        <p:xfrm>
          <a:off x="457200" y="1051560"/>
          <a:ext cx="8229600" cy="2286000"/>
        </p:xfrm>
        <a:graphic>
          <a:graphicData uri="http://schemas.openxmlformats.org/drawingml/2006/table">
            <a:tbl>
              <a:tblPr/>
              <a:tblGrid>
                <a:gridCol w="1828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45720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신탁 유형</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주요 목적</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활용 방안</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5720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관리형 부동산 신탁</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임대수익 관리 목적</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맑은 고딕" pitchFamily="34" charset="0"/>
                          <a:ea typeface="맑은 고딕" pitchFamily="34" charset="-122"/>
                          <a:cs typeface="맑은 고딕" pitchFamily="34" charset="-120"/>
                        </a:rPr>
                        <a:t>소유권은 신탁사에 이전, 임대료 수취 및 관리는 계약에 따라 지시 가능</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유언대용신탁</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사후 분배·조건 지급 목적</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00" dirty="0">
                          <a:solidFill>
                            <a:srgbClr val="2B2B2B"/>
                          </a:solidFill>
                          <a:latin typeface="맑은 고딕" pitchFamily="34" charset="0"/>
                          <a:ea typeface="맑은 고딕" pitchFamily="34" charset="-122"/>
                          <a:cs typeface="맑은 고딕" pitchFamily="34" charset="-120"/>
                        </a:rPr>
                        <a:t>생전 본인 수익 향유, 사망 시 지정 수익자에게 조건부 자산 이전</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5720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담보신탁</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자금 조달 시 담보 제공 목적</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맑은 고딕" pitchFamily="34" charset="0"/>
                          <a:ea typeface="맑은 고딕" pitchFamily="34" charset="-122"/>
                          <a:cs typeface="맑은 고딕" pitchFamily="34" charset="-120"/>
                        </a:rPr>
                        <a:t>자산보호보다는 자금조달 목적, 본 컨설팅에서는 보조적 활용</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보험금 신탁</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유동성 확보 및 상속세 재원</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00" dirty="0">
                          <a:solidFill>
                            <a:srgbClr val="2B2B2B"/>
                          </a:solidFill>
                          <a:latin typeface="맑은 고딕" pitchFamily="34" charset="0"/>
                          <a:ea typeface="맑은 고딕" pitchFamily="34" charset="-122"/>
                          <a:cs typeface="맑은 고딕" pitchFamily="34" charset="-120"/>
                        </a:rPr>
                        <a:t>종신보험 사망보험금을 신탁에 편입하여 상속세 납부 재원으로 활용</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bl>
          </a:graphicData>
        </a:graphic>
      </p:graphicFrame>
      <p:sp>
        <p:nvSpPr>
          <p:cNvPr id="7" name="Text 4"/>
          <p:cNvSpPr/>
          <p:nvPr/>
        </p:nvSpPr>
        <p:spPr>
          <a:xfrm>
            <a:off x="457200" y="3566160"/>
            <a:ext cx="8229600" cy="457200"/>
          </a:xfrm>
          <a:prstGeom prst="rect">
            <a:avLst/>
          </a:prstGeom>
          <a:noFill/>
          <a:ln/>
        </p:spPr>
        <p:txBody>
          <a:bodyPr wrap="square" lIns="0" tIns="0" rIns="0" bIns="0" rtlCol="0" anchor="t"/>
          <a:lstStyle/>
          <a:p>
            <a:pPr marL="0" indent="0">
              <a:buNone/>
            </a:pPr>
            <a:r>
              <a:rPr lang="en-US" sz="850" i="1" dirty="0">
                <a:solidFill>
                  <a:srgbClr val="666666"/>
                </a:solidFill>
                <a:latin typeface="맑은 고딕" pitchFamily="34" charset="0"/>
                <a:ea typeface="맑은 고딕" pitchFamily="34" charset="-122"/>
                <a:cs typeface="맑은 고딕" pitchFamily="34" charset="-120"/>
              </a:rPr>
              <a:t>※ 각 신탁 유형의 구체적 적용은 금융기관별 상품 구조 및 고객 상황에 따라 달라지므로, 반드시 해당 금융기관 및 전문가와 협의하시기 바랍니다.</a:t>
            </a:r>
            <a:endParaRPr lang="en-US" sz="850" dirty="0"/>
          </a:p>
        </p:txBody>
      </p:sp>
      <p:sp>
        <p:nvSpPr>
          <p:cNvPr id="8"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9"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10 / 27</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Ⅴ. 맞춤형 솔루션 및 실행 전략 제안 (3/5)</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핵심 전략 제안: 유언대용신탁(Living Trust) 구축</a:t>
            </a:r>
            <a:endParaRPr lang="en-US" sz="1400" dirty="0"/>
          </a:p>
        </p:txBody>
      </p:sp>
      <p:sp>
        <p:nvSpPr>
          <p:cNvPr id="6" name="Text 4"/>
          <p:cNvSpPr/>
          <p:nvPr/>
        </p:nvSpPr>
        <p:spPr>
          <a:xfrm>
            <a:off x="457200" y="1069848"/>
            <a:ext cx="8229600" cy="274320"/>
          </a:xfrm>
          <a:prstGeom prst="rect">
            <a:avLst/>
          </a:prstGeom>
          <a:noFill/>
          <a:ln/>
        </p:spPr>
        <p:txBody>
          <a:bodyPr wrap="square" lIns="0" tIns="0" rIns="0" bIns="0"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법적 근거: 유언대용신탁</a:t>
            </a:r>
            <a:endParaRPr lang="en-US" sz="1200" dirty="0"/>
          </a:p>
        </p:txBody>
      </p:sp>
      <p:sp>
        <p:nvSpPr>
          <p:cNvPr id="7" name="Text 5"/>
          <p:cNvSpPr/>
          <p:nvPr/>
        </p:nvSpPr>
        <p:spPr>
          <a:xfrm>
            <a:off x="457200" y="1362456"/>
            <a:ext cx="8229600" cy="457200"/>
          </a:xfrm>
          <a:prstGeom prst="rect">
            <a:avLst/>
          </a:prstGeom>
          <a:noFill/>
          <a:ln/>
        </p:spPr>
        <p:txBody>
          <a:bodyPr wrap="square" lIns="0" tIns="0" rIns="0" bIns="0" rtlCol="0" anchor="t"/>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정의: </a:t>
            </a:r>
            <a:r>
              <a:rPr lang="en-US" sz="1000" dirty="0">
                <a:solidFill>
                  <a:srgbClr val="2B2B2B"/>
                </a:solidFill>
                <a:latin typeface="맑은 고딕" pitchFamily="34" charset="0"/>
                <a:ea typeface="맑은 고딕" pitchFamily="34" charset="-122"/>
                <a:cs typeface="맑은 고딕" pitchFamily="34" charset="-120"/>
              </a:rPr>
              <a:t>위탁자가 생존하는 동안 위탁자를 수익자로 지정하고, 위탁자가 사망하면 다른 자를 수익자로 지정하거나 신탁을 종료하는 신탁</a:t>
            </a:r>
            <a:endParaRPr lang="en-US" sz="1000" dirty="0"/>
          </a:p>
        </p:txBody>
      </p:sp>
      <p:sp>
        <p:nvSpPr>
          <p:cNvPr id="8" name="Text 6"/>
          <p:cNvSpPr/>
          <p:nvPr/>
        </p:nvSpPr>
        <p:spPr>
          <a:xfrm>
            <a:off x="457200" y="1728216"/>
            <a:ext cx="8229600" cy="182880"/>
          </a:xfrm>
          <a:prstGeom prst="rect">
            <a:avLst/>
          </a:prstGeom>
          <a:noFill/>
          <a:ln/>
        </p:spPr>
        <p:txBody>
          <a:bodyPr wrap="square" lIns="0" tIns="0" rIns="0" bIns="0" rtlCol="0" anchor="t"/>
          <a:lstStyle/>
          <a:p>
            <a:pPr marL="0" indent="0">
              <a:buNone/>
            </a:pPr>
            <a:r>
              <a:rPr lang="en-US" sz="800" i="1" dirty="0">
                <a:solidFill>
                  <a:srgbClr val="666666"/>
                </a:solidFill>
                <a:latin typeface="맑은 고딕" pitchFamily="34" charset="0"/>
                <a:ea typeface="맑은 고딕" pitchFamily="34" charset="-122"/>
                <a:cs typeface="맑은 고딕" pitchFamily="34" charset="-120"/>
              </a:rPr>
              <a:t>출처: 법제처, 신탁법 제59조 (현행법 기준)</a:t>
            </a:r>
            <a:endParaRPr lang="en-US" sz="800" dirty="0"/>
          </a:p>
        </p:txBody>
      </p:sp>
      <p:sp>
        <p:nvSpPr>
          <p:cNvPr id="9" name="Text 7"/>
          <p:cNvSpPr/>
          <p:nvPr/>
        </p:nvSpPr>
        <p:spPr>
          <a:xfrm>
            <a:off x="457200" y="2002536"/>
            <a:ext cx="8229600" cy="274320"/>
          </a:xfrm>
          <a:prstGeom prst="rect">
            <a:avLst/>
          </a:prstGeom>
          <a:noFill/>
          <a:ln/>
        </p:spPr>
        <p:txBody>
          <a:bodyPr wrap="square" lIns="0" tIns="0" rIns="0" bIns="0"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강제집행 금지 규정 및 예외 (신탁법 제22조)</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2616543569"/>
              </p:ext>
            </p:extLst>
          </p:nvPr>
        </p:nvGraphicFramePr>
        <p:xfrm>
          <a:off x="457200" y="2322576"/>
          <a:ext cx="8229600" cy="1600200"/>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20040">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원칙 (본문)</a:t>
                      </a:r>
                      <a:endParaRPr lang="en-US" sz="900" dirty="0">
                        <a:latin typeface="맑은 고딕" charset="0"/>
                        <a:ea typeface="맑은 고딕" charset="0"/>
                        <a:cs typeface="맑은 고딕" charset="0"/>
                      </a:endParaRPr>
                    </a:p>
                  </a:txBody>
                  <a:tcPr marL="63500" marR="635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예외 (단서) - 강제집행 가능</a:t>
                      </a:r>
                      <a:endParaRPr lang="en-US" sz="900" dirty="0">
                        <a:latin typeface="맑은 고딕" charset="0"/>
                        <a:ea typeface="맑은 고딕" charset="0"/>
                        <a:cs typeface="맑은 고딕" charset="0"/>
                      </a:endParaRPr>
                    </a:p>
                  </a:txBody>
                  <a:tcPr marL="63500" marR="635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280160">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신탁재산에 대하여는 강제집행, 담보권 실행을 위한 경매, 보전처분 또는 국세 등 체납처분을 할 수 없다</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1. 신탁 전의 원인으로 발생한 권리</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1" name="Text 8"/>
          <p:cNvSpPr/>
          <p:nvPr/>
        </p:nvSpPr>
        <p:spPr>
          <a:xfrm>
            <a:off x="457200" y="4014216"/>
            <a:ext cx="8229600" cy="182880"/>
          </a:xfrm>
          <a:prstGeom prst="rect">
            <a:avLst/>
          </a:prstGeom>
          <a:noFill/>
          <a:ln/>
        </p:spPr>
        <p:txBody>
          <a:bodyPr wrap="square" lIns="0" tIns="0" rIns="0" bIns="0" rtlCol="0" anchor="t"/>
          <a:lstStyle/>
          <a:p>
            <a:pPr marL="0" indent="0">
              <a:buNone/>
            </a:pPr>
            <a:r>
              <a:rPr lang="en-US" sz="800" i="1" dirty="0">
                <a:solidFill>
                  <a:srgbClr val="666666"/>
                </a:solidFill>
                <a:latin typeface="맑은 고딕" pitchFamily="34" charset="0"/>
                <a:ea typeface="맑은 고딕" pitchFamily="34" charset="-122"/>
                <a:cs typeface="맑은 고딕" pitchFamily="34" charset="-120"/>
              </a:rPr>
              <a:t>출처: 법제처, 신탁법 제22조 제1항 (현행법 기준)</a:t>
            </a:r>
            <a:endParaRPr lang="en-US" sz="800" dirty="0"/>
          </a:p>
        </p:txBody>
      </p:sp>
      <p:sp>
        <p:nvSpPr>
          <p:cNvPr id="10" name="Text 9"/>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3" name="Text 10"/>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11 / 27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Ⅴ. 맞춤형 솔루션 및 실행 전략 제안 (4/5)</a:t>
            </a:r>
            <a:endParaRPr lang="en-US" sz="1600" dirty="0"/>
          </a:p>
        </p:txBody>
      </p:sp>
      <p:sp>
        <p:nvSpPr>
          <p:cNvPr id="5" name="Text 3"/>
          <p:cNvSpPr/>
          <p:nvPr/>
        </p:nvSpPr>
        <p:spPr>
          <a:xfrm>
            <a:off x="457200" y="685800"/>
            <a:ext cx="8229600" cy="274320"/>
          </a:xfrm>
          <a:prstGeom prst="rect">
            <a:avLst/>
          </a:prstGeom>
          <a:noFill/>
          <a:ln/>
        </p:spPr>
        <p:txBody>
          <a:bodyPr wrap="square" lIns="0" tIns="0" rIns="0" bIns="0"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사해신탁이란?</a:t>
            </a:r>
            <a:endParaRPr lang="en-US" sz="1200" dirty="0"/>
          </a:p>
        </p:txBody>
      </p:sp>
      <p:sp>
        <p:nvSpPr>
          <p:cNvPr id="6" name="Text 4"/>
          <p:cNvSpPr/>
          <p:nvPr/>
        </p:nvSpPr>
        <p:spPr>
          <a:xfrm>
            <a:off x="457200" y="1005840"/>
            <a:ext cx="8229600" cy="64008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위탁자가 채권자를 해함을 알면서 신탁을 설정한 경우, 수익자가 그 사실을 알았거나 중대한 과실로 알지 못한 때에는 채권자가 취소 및 원상회복을 청구할 수 있음. 시점, 채무초과 여부, 채권자 해함의사 등 사실관계를 기준으로 판단됨.</a:t>
            </a:r>
            <a:endParaRPr lang="en-US" sz="1000" dirty="0"/>
          </a:p>
        </p:txBody>
      </p:sp>
      <p:sp>
        <p:nvSpPr>
          <p:cNvPr id="7" name="Text 5"/>
          <p:cNvSpPr/>
          <p:nvPr/>
        </p:nvSpPr>
        <p:spPr>
          <a:xfrm>
            <a:off x="457200" y="1508760"/>
            <a:ext cx="8229600" cy="182880"/>
          </a:xfrm>
          <a:prstGeom prst="rect">
            <a:avLst/>
          </a:prstGeom>
          <a:noFill/>
          <a:ln/>
        </p:spPr>
        <p:txBody>
          <a:bodyPr wrap="square" lIns="0" tIns="0" rIns="0" bIns="0" rtlCol="0" anchor="t"/>
          <a:lstStyle/>
          <a:p>
            <a:pPr marL="0" indent="0">
              <a:buNone/>
            </a:pPr>
            <a:r>
              <a:rPr lang="en-US" sz="800" i="1" dirty="0">
                <a:solidFill>
                  <a:srgbClr val="666666"/>
                </a:solidFill>
                <a:latin typeface="맑은 고딕" pitchFamily="34" charset="0"/>
                <a:ea typeface="맑은 고딕" pitchFamily="34" charset="-122"/>
                <a:cs typeface="맑은 고딕" pitchFamily="34" charset="-120"/>
              </a:rPr>
              <a:t>출처: 법제처, 신탁법 제8조 (현행법 기준)</a:t>
            </a:r>
            <a:endParaRPr lang="en-US" sz="800" dirty="0"/>
          </a:p>
        </p:txBody>
      </p:sp>
      <p:sp>
        <p:nvSpPr>
          <p:cNvPr id="8" name="Shape 6"/>
          <p:cNvSpPr/>
          <p:nvPr/>
        </p:nvSpPr>
        <p:spPr>
          <a:xfrm>
            <a:off x="457200" y="1783080"/>
            <a:ext cx="8229600" cy="914400"/>
          </a:xfrm>
          <a:prstGeom prst="rect">
            <a:avLst/>
          </a:prstGeom>
          <a:solidFill>
            <a:srgbClr val="FFF8F0"/>
          </a:solidFill>
          <a:ln/>
        </p:spPr>
        <p:txBody>
          <a:bodyPr/>
          <a:lstStyle/>
          <a:p>
            <a:endParaRPr lang="ko-KR" altLang="en-US"/>
          </a:p>
        </p:txBody>
      </p:sp>
      <p:sp>
        <p:nvSpPr>
          <p:cNvPr id="9" name="Shape 7"/>
          <p:cNvSpPr/>
          <p:nvPr/>
        </p:nvSpPr>
        <p:spPr>
          <a:xfrm>
            <a:off x="457200" y="1783080"/>
            <a:ext cx="54864" cy="914400"/>
          </a:xfrm>
          <a:prstGeom prst="rect">
            <a:avLst/>
          </a:prstGeom>
          <a:solidFill>
            <a:srgbClr val="E67E22"/>
          </a:solidFill>
          <a:ln/>
        </p:spPr>
        <p:txBody>
          <a:bodyPr/>
          <a:lstStyle/>
          <a:p>
            <a:endParaRPr lang="ko-KR" altLang="en-US"/>
          </a:p>
        </p:txBody>
      </p:sp>
      <p:sp>
        <p:nvSpPr>
          <p:cNvPr id="10" name="Text 8"/>
          <p:cNvSpPr/>
          <p:nvPr/>
        </p:nvSpPr>
        <p:spPr>
          <a:xfrm>
            <a:off x="640080" y="1828800"/>
            <a:ext cx="7863840" cy="201168"/>
          </a:xfrm>
          <a:prstGeom prst="rect">
            <a:avLst/>
          </a:prstGeom>
          <a:noFill/>
          <a:ln/>
        </p:spPr>
        <p:txBody>
          <a:bodyPr wrap="square" lIns="0" tIns="0" rIns="0" bIns="0" rtlCol="0" anchor="t"/>
          <a:lstStyle/>
          <a:p>
            <a:pPr marL="0" indent="0">
              <a:buNone/>
            </a:pPr>
            <a:r>
              <a:rPr lang="en-US" sz="1000" b="1" dirty="0">
                <a:solidFill>
                  <a:srgbClr val="C45500"/>
                </a:solidFill>
                <a:latin typeface="맑은 고딕" pitchFamily="34" charset="0"/>
                <a:ea typeface="맑은 고딕" pitchFamily="34" charset="-122"/>
                <a:cs typeface="맑은 고딕" pitchFamily="34" charset="-120"/>
              </a:rPr>
              <a:t>핵심 유의사항</a:t>
            </a:r>
            <a:endParaRPr lang="en-US" sz="1000" dirty="0"/>
          </a:p>
        </p:txBody>
      </p:sp>
      <p:sp>
        <p:nvSpPr>
          <p:cNvPr id="11" name="Text 9"/>
          <p:cNvSpPr/>
          <p:nvPr/>
        </p:nvSpPr>
        <p:spPr>
          <a:xfrm>
            <a:off x="640080" y="2039112"/>
            <a:ext cx="7863840" cy="594360"/>
          </a:xfrm>
          <a:prstGeom prst="rect">
            <a:avLst/>
          </a:prstGeom>
          <a:noFill/>
          <a:ln/>
        </p:spPr>
        <p:txBody>
          <a:bodyPr wrap="square" lIns="0" tIns="0" rIns="0" bIns="0" rtlCol="0" anchor="t"/>
          <a:lstStyle/>
          <a:p>
            <a:pPr marL="0" indent="0">
              <a:buNone/>
            </a:pPr>
            <a:r>
              <a:rPr lang="en-US" sz="950" dirty="0">
                <a:solidFill>
                  <a:srgbClr val="2B2B2B"/>
                </a:solidFill>
                <a:latin typeface="맑은 고딕" pitchFamily="34" charset="0"/>
                <a:ea typeface="맑은 고딕" pitchFamily="34" charset="-122"/>
                <a:cs typeface="맑은 고딕" pitchFamily="34" charset="-120"/>
              </a:rPr>
              <a:t>신탁재산은 원칙적으로 강제집행·체납처분이 제한되지만, 위와 같은 예외가 있어 사안별 검토가 필요합니다. 특히 신탁 설정 전 이미 발생한 채무나 진행 중인 소송이 있는 경우 신탁의 보호 효과가 제한될 수 있으므로, 반드시 법률 전문가와 협의 후 진행하시기 바랍니다.</a:t>
            </a:r>
            <a:endParaRPr lang="en-US" sz="950" dirty="0"/>
          </a:p>
        </p:txBody>
      </p:sp>
      <p:sp>
        <p:nvSpPr>
          <p:cNvPr id="12" name="Shape 10"/>
          <p:cNvSpPr/>
          <p:nvPr/>
        </p:nvSpPr>
        <p:spPr>
          <a:xfrm>
            <a:off x="457200" y="2834640"/>
            <a:ext cx="8229600" cy="1051560"/>
          </a:xfrm>
          <a:prstGeom prst="rect">
            <a:avLst/>
          </a:prstGeom>
          <a:solidFill>
            <a:srgbClr val="1B2A4A"/>
          </a:solidFill>
          <a:ln/>
          <a:effectLst>
            <a:outerShdw blurRad="50800" dist="25400" dir="8100000" algn="bl" rotWithShape="0">
              <a:srgbClr val="000000">
                <a:alpha val="10000"/>
              </a:srgbClr>
            </a:outerShdw>
          </a:effectLst>
        </p:spPr>
        <p:txBody>
          <a:bodyPr/>
          <a:lstStyle/>
          <a:p>
            <a:endParaRPr lang="ko-KR" altLang="en-US"/>
          </a:p>
        </p:txBody>
      </p:sp>
      <p:sp>
        <p:nvSpPr>
          <p:cNvPr id="13" name="Text 11"/>
          <p:cNvSpPr/>
          <p:nvPr/>
        </p:nvSpPr>
        <p:spPr>
          <a:xfrm>
            <a:off x="640080" y="2907792"/>
            <a:ext cx="7863840" cy="228600"/>
          </a:xfrm>
          <a:prstGeom prst="rect">
            <a:avLst/>
          </a:prstGeom>
          <a:noFill/>
          <a:ln/>
        </p:spPr>
        <p:txBody>
          <a:bodyPr wrap="square" lIns="0" tIns="0" rIns="0" bIns="0" rtlCol="0" anchor="t"/>
          <a:lstStyle/>
          <a:p>
            <a:pPr marL="0" indent="0">
              <a:buNone/>
            </a:pPr>
            <a:r>
              <a:rPr lang="en-US" sz="1100" b="1" dirty="0">
                <a:solidFill>
                  <a:srgbClr val="C8962E"/>
                </a:solidFill>
                <a:latin typeface="맑은 고딕" pitchFamily="34" charset="0"/>
                <a:ea typeface="맑은 고딕" pitchFamily="34" charset="-122"/>
                <a:cs typeface="맑은 고딕" pitchFamily="34" charset="-120"/>
              </a:rPr>
              <a:t>전략적 핵심</a:t>
            </a:r>
            <a:endParaRPr lang="en-US" sz="1100" dirty="0"/>
          </a:p>
        </p:txBody>
      </p:sp>
      <p:sp>
        <p:nvSpPr>
          <p:cNvPr id="14" name="Text 12"/>
          <p:cNvSpPr/>
          <p:nvPr/>
        </p:nvSpPr>
        <p:spPr>
          <a:xfrm>
            <a:off x="640080" y="3154680"/>
            <a:ext cx="7863840" cy="640080"/>
          </a:xfrm>
          <a:prstGeom prst="rect">
            <a:avLst/>
          </a:prstGeom>
          <a:noFill/>
          <a:ln/>
        </p:spPr>
        <p:txBody>
          <a:bodyPr wrap="square" lIns="0" tIns="0" rIns="0" bIns="0" rtlCol="0" anchor="t"/>
          <a:lstStyle/>
          <a:p>
            <a:pPr marL="0" indent="0">
              <a:buNone/>
            </a:pPr>
            <a:r>
              <a:rPr lang="en-US" sz="1000" dirty="0">
                <a:solidFill>
                  <a:srgbClr val="FFFFFF"/>
                </a:solidFill>
                <a:latin typeface="맑은 고딕" pitchFamily="34" charset="0"/>
                <a:ea typeface="맑은 고딕" pitchFamily="34" charset="-122"/>
                <a:cs typeface="맑은 고딕" pitchFamily="34" charset="-120"/>
              </a:rPr>
              <a:t>리스크가 발생하기 전, 즉 재무 상태가 건전한 '지금' 설정하는 것이 중요합니다. 사해신탁 시비를 피하기 위해 신탁 설정 시점의 재무상태, 기존 채권 존재 여부, 보증 규모, 소송 가능성 등을 문서화하여 방어논리를 강화해야 합니다.</a:t>
            </a:r>
            <a:endParaRPr lang="en-US" sz="1000" dirty="0"/>
          </a:p>
        </p:txBody>
      </p:sp>
      <p:sp>
        <p:nvSpPr>
          <p:cNvPr id="15" name="Text 1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6" name="Text 1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12 / 27</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Ⅴ. 맞춤형 솔루션 및 실행 전략 제안 (5/5) — 전략 실행</a:t>
            </a:r>
            <a:endParaRPr lang="en-US" sz="1600" dirty="0"/>
          </a:p>
        </p:txBody>
      </p:sp>
      <p:sp>
        <p:nvSpPr>
          <p:cNvPr id="5" name="Text 3"/>
          <p:cNvSpPr/>
          <p:nvPr/>
        </p:nvSpPr>
        <p:spPr>
          <a:xfrm>
            <a:off x="457200" y="685800"/>
            <a:ext cx="8229600" cy="274320"/>
          </a:xfrm>
          <a:prstGeom prst="rect">
            <a:avLst/>
          </a:prstGeom>
          <a:noFill/>
          <a:ln/>
        </p:spPr>
        <p:txBody>
          <a:bodyPr wrap="square" lIns="0" tIns="0" rIns="0" bIns="0"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4. 전략 실행을 위한 최적 금융 솔루션</a:t>
            </a:r>
            <a:endParaRPr lang="en-US" sz="1300" dirty="0"/>
          </a:p>
        </p:txBody>
      </p:sp>
      <p:sp>
        <p:nvSpPr>
          <p:cNvPr id="6" name="Text 4"/>
          <p:cNvSpPr/>
          <p:nvPr/>
        </p:nvSpPr>
        <p:spPr>
          <a:xfrm>
            <a:off x="457200" y="1005840"/>
            <a:ext cx="8229600" cy="1234440"/>
          </a:xfrm>
          <a:prstGeom prst="rect">
            <a:avLst/>
          </a:prstGeom>
          <a:noFill/>
          <a:ln/>
        </p:spPr>
        <p:txBody>
          <a:bodyPr wrap="square" lIns="0" tIns="0" rIns="0" bIns="0" rtlCol="0" anchor="t"/>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부동산/금전 신탁: </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대표님 명의 상가건물(120억)과 현금(30억)을 신탁사로 이전등기</a:t>
            </a:r>
            <a:endParaRPr lang="en-US" sz="1000" dirty="0"/>
          </a:p>
          <a:p>
            <a:pPr>
              <a:buSzPct val="100000"/>
            </a:pPr>
            <a:endParaRPr lang="en-US" sz="1000" b="1" dirty="0">
              <a:solidFill>
                <a:srgbClr val="2B2B2B"/>
              </a:solidFill>
              <a:latin typeface="맑은 고딕" pitchFamily="34" charset="0"/>
              <a:ea typeface="맑은 고딕" pitchFamily="34" charset="-122"/>
              <a:cs typeface="맑은 고딕" pitchFamily="34" charset="-120"/>
            </a:endParaRPr>
          </a:p>
          <a:p>
            <a:pPr>
              <a:buSzPct val="100000"/>
            </a:pPr>
            <a:r>
              <a:rPr lang="en-US" sz="1000" b="1" dirty="0" err="1">
                <a:solidFill>
                  <a:srgbClr val="2B2B2B"/>
                </a:solidFill>
                <a:latin typeface="맑은 고딕" pitchFamily="34" charset="0"/>
                <a:ea typeface="맑은 고딕" pitchFamily="34" charset="-122"/>
                <a:cs typeface="맑은 고딕" pitchFamily="34" charset="-120"/>
              </a:rPr>
              <a:t>수익</a:t>
            </a:r>
            <a:r>
              <a:rPr lang="en-US" sz="1000" b="1" dirty="0">
                <a:solidFill>
                  <a:srgbClr val="2B2B2B"/>
                </a:solidFill>
                <a:latin typeface="맑은 고딕" pitchFamily="34" charset="0"/>
                <a:ea typeface="맑은 고딕" pitchFamily="34" charset="-122"/>
                <a:cs typeface="맑은 고딕" pitchFamily="34" charset="-120"/>
              </a:rPr>
              <a:t> 구조 설계:</a:t>
            </a:r>
            <a:r>
              <a:rPr lang="en-US" sz="1000" dirty="0">
                <a:solidFill>
                  <a:srgbClr val="2B2B2B"/>
                </a:solidFill>
                <a:latin typeface="맑은 고딕" pitchFamily="34" charset="0"/>
                <a:ea typeface="맑은 고딕" pitchFamily="34" charset="-122"/>
                <a:cs typeface="맑은 고딕" pitchFamily="34" charset="-120"/>
              </a:rPr>
              <a:t> </a:t>
            </a:r>
          </a:p>
          <a:p>
            <a:pPr>
              <a:buSzPct val="100000"/>
            </a:pPr>
            <a:r>
              <a:rPr lang="en-US" sz="1000" dirty="0">
                <a:solidFill>
                  <a:srgbClr val="2B2B2B"/>
                </a:solidFill>
                <a:latin typeface="맑은 고딕" pitchFamily="34" charset="0"/>
                <a:ea typeface="맑은 고딕" pitchFamily="34" charset="-122"/>
                <a:cs typeface="맑은 고딕" pitchFamily="34" charset="-120"/>
              </a:rPr>
              <a:t>  - 생전 수익자: 김진태 대표이사 (임대료 및 이자 수익 전액 수령)</a:t>
            </a:r>
            <a:endParaRPr lang="en-US" sz="1000" dirty="0"/>
          </a:p>
          <a:p>
            <a:pPr marL="0" lvl="1" indent="0">
              <a:buNone/>
            </a:pPr>
            <a:r>
              <a:rPr lang="en-US" sz="1000" dirty="0">
                <a:solidFill>
                  <a:srgbClr val="2B2B2B"/>
                </a:solidFill>
                <a:latin typeface="맑은 고딕" pitchFamily="34" charset="0"/>
                <a:ea typeface="맑은 고딕" pitchFamily="34" charset="-122"/>
                <a:cs typeface="맑은 고딕" pitchFamily="34" charset="-120"/>
              </a:rPr>
              <a:t>  - 사후 수익자: 배우자(50% 생활비), 장남/장녀(50% 상속)</a:t>
            </a:r>
            <a:endParaRPr lang="en-US" sz="1000" dirty="0"/>
          </a:p>
          <a:p>
            <a:pPr marL="0" lvl="1" indent="0">
              <a:buNone/>
            </a:pPr>
            <a:r>
              <a:rPr lang="en-US" sz="1000" dirty="0">
                <a:solidFill>
                  <a:srgbClr val="2B2B2B"/>
                </a:solidFill>
                <a:latin typeface="맑은 고딕" pitchFamily="34" charset="0"/>
                <a:ea typeface="맑은 고딕" pitchFamily="34" charset="-122"/>
                <a:cs typeface="맑은 고딕" pitchFamily="34" charset="-120"/>
              </a:rPr>
              <a:t>  - 지급 조건(안): 장녀의 경우 만 35세 도달 시 또는 결혼 시 원금의 30% 지급 등 단계별 수령 설계</a:t>
            </a:r>
            <a:endParaRPr lang="en-US" sz="1000" dirty="0"/>
          </a:p>
        </p:txBody>
      </p:sp>
      <p:sp>
        <p:nvSpPr>
          <p:cNvPr id="7" name="Text 5"/>
          <p:cNvSpPr/>
          <p:nvPr/>
        </p:nvSpPr>
        <p:spPr>
          <a:xfrm>
            <a:off x="457200" y="2331720"/>
            <a:ext cx="8229600" cy="274320"/>
          </a:xfrm>
          <a:prstGeom prst="rect">
            <a:avLst/>
          </a:prstGeom>
          <a:noFill/>
          <a:ln/>
        </p:spPr>
        <p:txBody>
          <a:bodyPr wrap="square" lIns="0" tIns="0" rIns="0" bIns="0"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5. 사해신탁 방어논리 강화 체크리스트</a:t>
            </a:r>
            <a:endParaRPr lang="en-US" sz="1300" dirty="0"/>
          </a:p>
        </p:txBody>
      </p:sp>
      <p:sp>
        <p:nvSpPr>
          <p:cNvPr id="8" name="Text 6"/>
          <p:cNvSpPr/>
          <p:nvPr/>
        </p:nvSpPr>
        <p:spPr>
          <a:xfrm>
            <a:off x="457200" y="2606040"/>
            <a:ext cx="8229600" cy="365760"/>
          </a:xfrm>
          <a:prstGeom prst="rect">
            <a:avLst/>
          </a:prstGeom>
          <a:noFill/>
          <a:ln/>
        </p:spPr>
        <p:txBody>
          <a:bodyPr wrap="square" lIns="0" tIns="0" rIns="0" bIns="0" rtlCol="0" anchor="t"/>
          <a:lstStyle/>
          <a:p>
            <a:pPr marL="0" indent="0">
              <a:buNone/>
            </a:pPr>
            <a:r>
              <a:rPr lang="en-US" sz="950" dirty="0">
                <a:solidFill>
                  <a:srgbClr val="2B2B2B"/>
                </a:solidFill>
                <a:latin typeface="맑은 고딕" pitchFamily="34" charset="0"/>
                <a:ea typeface="맑은 고딕" pitchFamily="34" charset="-122"/>
                <a:cs typeface="맑은 고딕" pitchFamily="34" charset="-120"/>
              </a:rPr>
              <a:t>신탁 계약서 작성 시 전문 변호사와 세무사의 검수를 거쳐 '신탁의 목적'을 명확히 함으로써 사해신탁 시비에 대한 방어논리를 강화합니다.</a:t>
            </a:r>
            <a:endParaRPr lang="en-US" sz="950" dirty="0"/>
          </a:p>
        </p:txBody>
      </p:sp>
      <p:sp>
        <p:nvSpPr>
          <p:cNvPr id="9" name="Text 7"/>
          <p:cNvSpPr/>
          <p:nvPr/>
        </p:nvSpPr>
        <p:spPr>
          <a:xfrm>
            <a:off x="457200" y="2971800"/>
            <a:ext cx="8229600" cy="1097280"/>
          </a:xfrm>
          <a:prstGeom prst="rect">
            <a:avLst/>
          </a:prstGeom>
          <a:noFill/>
          <a:ln/>
        </p:spPr>
        <p:txBody>
          <a:bodyPr wrap="square" lIns="0" tIns="0" rIns="0" bIns="0" rtlCol="0" anchor="t"/>
          <a:lstStyle/>
          <a:p>
            <a:pPr marL="0" indent="0">
              <a:buNone/>
            </a:pPr>
            <a:r>
              <a:rPr lang="en-US" sz="950" dirty="0">
                <a:solidFill>
                  <a:srgbClr val="2B2B2B"/>
                </a:solidFill>
                <a:latin typeface="맑은 고딕" pitchFamily="34" charset="0"/>
                <a:ea typeface="맑은 고딕" pitchFamily="34" charset="-122"/>
                <a:cs typeface="맑은 고딕" pitchFamily="34" charset="-120"/>
              </a:rPr>
              <a:t>☐  신탁 설정 시점의 재무상태 — 자산/부채 현황 문서화, 재무제표 첨부</a:t>
            </a:r>
            <a:endParaRPr lang="en-US" sz="950" dirty="0"/>
          </a:p>
          <a:p>
            <a:pPr marL="0" indent="0">
              <a:buNone/>
            </a:pPr>
            <a:r>
              <a:rPr lang="en-US" sz="950" dirty="0">
                <a:solidFill>
                  <a:srgbClr val="2B2B2B"/>
                </a:solidFill>
                <a:latin typeface="맑은 고딕" pitchFamily="34" charset="0"/>
                <a:ea typeface="맑은 고딕" pitchFamily="34" charset="-122"/>
                <a:cs typeface="맑은 고딕" pitchFamily="34" charset="-120"/>
              </a:rPr>
              <a:t>☐  기존 채권 존재 여부 — 채무 목록 작성 및 상환 계획 확인</a:t>
            </a:r>
            <a:endParaRPr lang="en-US" sz="950" dirty="0"/>
          </a:p>
          <a:p>
            <a:pPr marL="0" indent="0">
              <a:buNone/>
            </a:pPr>
            <a:r>
              <a:rPr lang="en-US" sz="950" dirty="0">
                <a:solidFill>
                  <a:srgbClr val="2B2B2B"/>
                </a:solidFill>
                <a:latin typeface="맑은 고딕" pitchFamily="34" charset="0"/>
                <a:ea typeface="맑은 고딕" pitchFamily="34" charset="-122"/>
                <a:cs typeface="맑은 고딕" pitchFamily="34" charset="-120"/>
              </a:rPr>
              <a:t>☐  개인 보증 규모 파악 — 연대보증 계약서, 보증한도 확인</a:t>
            </a:r>
            <a:endParaRPr lang="en-US" sz="950" dirty="0"/>
          </a:p>
          <a:p>
            <a:pPr marL="0" indent="0">
              <a:buNone/>
            </a:pPr>
            <a:r>
              <a:rPr lang="en-US" sz="950" dirty="0">
                <a:solidFill>
                  <a:srgbClr val="2B2B2B"/>
                </a:solidFill>
                <a:latin typeface="맑은 고딕" pitchFamily="34" charset="0"/>
                <a:ea typeface="맑은 고딕" pitchFamily="34" charset="-122"/>
                <a:cs typeface="맑은 고딕" pitchFamily="34" charset="-120"/>
              </a:rPr>
              <a:t>☐  진행 중/예상 소송 가능성 — 법률사무소 자문을 통한 소송 리스크 점검</a:t>
            </a:r>
            <a:endParaRPr lang="en-US" sz="950" dirty="0"/>
          </a:p>
          <a:p>
            <a:pPr marL="0" indent="0">
              <a:buNone/>
            </a:pPr>
            <a:r>
              <a:rPr lang="en-US" sz="950" dirty="0">
                <a:solidFill>
                  <a:srgbClr val="2B2B2B"/>
                </a:solidFill>
                <a:latin typeface="맑은 고딕" pitchFamily="34" charset="0"/>
                <a:ea typeface="맑은 고딕" pitchFamily="34" charset="-122"/>
                <a:cs typeface="맑은 고딕" pitchFamily="34" charset="-120"/>
              </a:rPr>
              <a:t>☐  신탁 목적 공증 — 공증인 통한 신탁 목적 문서화</a:t>
            </a:r>
            <a:endParaRPr lang="en-US" sz="95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13 / 27</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Ⅴ. 맞춤형 솔루션 — 유류분·전문가 의견·연대보증 관리</a:t>
            </a:r>
            <a:endParaRPr lang="en-US" sz="1600" dirty="0"/>
          </a:p>
        </p:txBody>
      </p:sp>
      <p:sp>
        <p:nvSpPr>
          <p:cNvPr id="5" name="Text 3"/>
          <p:cNvSpPr/>
          <p:nvPr/>
        </p:nvSpPr>
        <p:spPr>
          <a:xfrm>
            <a:off x="457200" y="685800"/>
            <a:ext cx="8229600" cy="256032"/>
          </a:xfrm>
          <a:prstGeom prst="rect">
            <a:avLst/>
          </a:prstGeom>
          <a:noFill/>
          <a:ln/>
        </p:spPr>
        <p:txBody>
          <a:bodyPr wrap="square" lIns="0" tIns="0" rIns="0" bIns="0"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유류분 분쟁 관련 유의사항</a:t>
            </a:r>
            <a:endParaRPr lang="en-US" sz="1200" dirty="0"/>
          </a:p>
        </p:txBody>
      </p:sp>
      <p:sp>
        <p:nvSpPr>
          <p:cNvPr id="6" name="Text 4"/>
          <p:cNvSpPr/>
          <p:nvPr/>
        </p:nvSpPr>
        <p:spPr>
          <a:xfrm>
            <a:off x="457200" y="978408"/>
            <a:ext cx="8229600" cy="64008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유언대용신탁은 유언 대비 집행 프로세스가 단순해질 수 있고 설계 유연성이 큽니다. 그러나 유류분 분쟁은 '완전 차단'이 아니라 '관리/완화' 영역임을 명확히 인식해야 합니다. 신탁을 통해 분쟁 가능성을 낮추고 집행을 안정화할 수 있으나, 유류분 반환 청구 자체를 원천적으로 막을 수는 없습니다.</a:t>
            </a:r>
            <a:endParaRPr lang="en-US" sz="1000" dirty="0"/>
          </a:p>
        </p:txBody>
      </p:sp>
      <p:sp>
        <p:nvSpPr>
          <p:cNvPr id="7" name="Text 5"/>
          <p:cNvSpPr/>
          <p:nvPr/>
        </p:nvSpPr>
        <p:spPr>
          <a:xfrm>
            <a:off x="457200" y="1527048"/>
            <a:ext cx="8229600" cy="182880"/>
          </a:xfrm>
          <a:prstGeom prst="rect">
            <a:avLst/>
          </a:prstGeom>
          <a:noFill/>
          <a:ln/>
        </p:spPr>
        <p:txBody>
          <a:bodyPr wrap="square" lIns="0" tIns="0" rIns="0" bIns="0" rtlCol="0" anchor="t"/>
          <a:lstStyle/>
          <a:p>
            <a:pPr marL="0" indent="0">
              <a:buNone/>
            </a:pPr>
            <a:r>
              <a:rPr lang="en-US" sz="800" i="1" dirty="0">
                <a:solidFill>
                  <a:srgbClr val="666666"/>
                </a:solidFill>
                <a:latin typeface="맑은 고딕" pitchFamily="34" charset="0"/>
                <a:ea typeface="맑은 고딕" pitchFamily="34" charset="-122"/>
                <a:cs typeface="맑은 고딕" pitchFamily="34" charset="-120"/>
              </a:rPr>
              <a:t>※ 유류분 관련 조항: 민법 제1112조~제1118조 참조 (현행법 기준)</a:t>
            </a:r>
            <a:endParaRPr lang="en-US" sz="800" dirty="0"/>
          </a:p>
        </p:txBody>
      </p:sp>
      <p:sp>
        <p:nvSpPr>
          <p:cNvPr id="8" name="Shape 6"/>
          <p:cNvSpPr/>
          <p:nvPr/>
        </p:nvSpPr>
        <p:spPr>
          <a:xfrm>
            <a:off x="457200" y="1783080"/>
            <a:ext cx="8229600" cy="960120"/>
          </a:xfrm>
          <a:prstGeom prst="rect">
            <a:avLst/>
          </a:prstGeom>
          <a:solidFill>
            <a:srgbClr val="F8F9FB"/>
          </a:solidFill>
          <a:ln/>
        </p:spPr>
        <p:txBody>
          <a:bodyPr/>
          <a:lstStyle/>
          <a:p>
            <a:endParaRPr lang="ko-KR" altLang="en-US"/>
          </a:p>
        </p:txBody>
      </p:sp>
      <p:sp>
        <p:nvSpPr>
          <p:cNvPr id="9" name="Shape 7"/>
          <p:cNvSpPr/>
          <p:nvPr/>
        </p:nvSpPr>
        <p:spPr>
          <a:xfrm>
            <a:off x="457200" y="1783080"/>
            <a:ext cx="54864" cy="960120"/>
          </a:xfrm>
          <a:prstGeom prst="rect">
            <a:avLst/>
          </a:prstGeom>
          <a:solidFill>
            <a:srgbClr val="C8962E"/>
          </a:solidFill>
          <a:ln/>
        </p:spPr>
        <p:txBody>
          <a:bodyPr/>
          <a:lstStyle/>
          <a:p>
            <a:endParaRPr lang="ko-KR" altLang="en-US"/>
          </a:p>
        </p:txBody>
      </p:sp>
      <p:sp>
        <p:nvSpPr>
          <p:cNvPr id="10" name="Text 8"/>
          <p:cNvSpPr/>
          <p:nvPr/>
        </p:nvSpPr>
        <p:spPr>
          <a:xfrm>
            <a:off x="640080" y="1828800"/>
            <a:ext cx="7863840" cy="182880"/>
          </a:xfrm>
          <a:prstGeom prst="rect">
            <a:avLst/>
          </a:prstGeom>
          <a:noFill/>
          <a:ln/>
        </p:spPr>
        <p:txBody>
          <a:bodyPr wrap="square" lIns="0" tIns="0" rIns="0" bIns="0" rtlCol="0" anchor="t"/>
          <a:lstStyle/>
          <a:p>
            <a:pPr marL="0" indent="0">
              <a:buNone/>
            </a:pPr>
            <a:r>
              <a:rPr lang="en-US" sz="900" b="1" dirty="0">
                <a:solidFill>
                  <a:srgbClr val="C8962E"/>
                </a:solidFill>
                <a:latin typeface="맑은 고딕" pitchFamily="34" charset="0"/>
                <a:ea typeface="맑은 고딕" pitchFamily="34" charset="-122"/>
                <a:cs typeface="맑은 고딕" pitchFamily="34" charset="-120"/>
              </a:rPr>
              <a:t>전문가 의견</a:t>
            </a:r>
            <a:endParaRPr lang="en-US" sz="900" dirty="0"/>
          </a:p>
        </p:txBody>
      </p:sp>
      <p:sp>
        <p:nvSpPr>
          <p:cNvPr id="11" name="Text 9"/>
          <p:cNvSpPr/>
          <p:nvPr/>
        </p:nvSpPr>
        <p:spPr>
          <a:xfrm>
            <a:off x="640080" y="2039112"/>
            <a:ext cx="7863840" cy="640080"/>
          </a:xfrm>
          <a:prstGeom prst="rect">
            <a:avLst/>
          </a:prstGeom>
          <a:noFill/>
          <a:ln/>
        </p:spPr>
        <p:txBody>
          <a:bodyPr wrap="square" lIns="0" tIns="0" rIns="0" bIns="0" rtlCol="0" anchor="t"/>
          <a:lstStyle/>
          <a:p>
            <a:pPr marL="0" indent="0">
              <a:buNone/>
            </a:pPr>
            <a:r>
              <a:rPr lang="en-US" sz="950" i="1" dirty="0">
                <a:solidFill>
                  <a:srgbClr val="2B2B2B"/>
                </a:solidFill>
                <a:latin typeface="맑은 고딕" pitchFamily="34" charset="0"/>
                <a:ea typeface="맑은 고딕" pitchFamily="34" charset="-122"/>
                <a:cs typeface="맑은 고딕" pitchFamily="34" charset="-120"/>
              </a:rPr>
              <a:t>신탁은 단순히 자산을 맡기는 것이 아니라, '내 사후에도 나의 의지가 살아 움직이게 하는 법적 대리인'을 세우는 것입니다. 특히 종신보험의 사망보험금을 신탁 자산으로 편입하도록 설계하면, 상속세 납부 재원 확보와 자산 보호를 함께 추구하는 효과적인 포트폴리오가 될 수 있습니다.</a:t>
            </a:r>
            <a:endParaRPr lang="en-US" sz="950" dirty="0"/>
          </a:p>
        </p:txBody>
      </p:sp>
      <p:sp>
        <p:nvSpPr>
          <p:cNvPr id="12" name="Text 10"/>
          <p:cNvSpPr/>
          <p:nvPr/>
        </p:nvSpPr>
        <p:spPr>
          <a:xfrm>
            <a:off x="457200" y="2834640"/>
            <a:ext cx="8229600" cy="182880"/>
          </a:xfrm>
          <a:prstGeom prst="rect">
            <a:avLst/>
          </a:prstGeom>
          <a:noFill/>
          <a:ln/>
        </p:spPr>
        <p:txBody>
          <a:bodyPr wrap="square" lIns="0" tIns="0" rIns="0" bIns="0" rtlCol="0" anchor="t"/>
          <a:lstStyle/>
          <a:p>
            <a:pPr marL="0" indent="0">
              <a:buNone/>
            </a:pPr>
            <a:r>
              <a:rPr lang="en-US" sz="800" i="1" dirty="0">
                <a:solidFill>
                  <a:srgbClr val="666666"/>
                </a:solidFill>
                <a:latin typeface="맑은 고딕" pitchFamily="34" charset="0"/>
                <a:ea typeface="맑은 고딕" pitchFamily="34" charset="-122"/>
                <a:cs typeface="맑은 고딕" pitchFamily="34" charset="-120"/>
              </a:rPr>
              <a:t>※ 구체적인 설계 및 계약 구조는 반드시 신탁사, 보험사, 세무사와 협의하여 결정하시기 바랍니다.</a:t>
            </a:r>
            <a:endParaRPr lang="en-US" sz="800" dirty="0"/>
          </a:p>
        </p:txBody>
      </p:sp>
      <p:sp>
        <p:nvSpPr>
          <p:cNvPr id="13" name="Text 11"/>
          <p:cNvSpPr/>
          <p:nvPr/>
        </p:nvSpPr>
        <p:spPr>
          <a:xfrm>
            <a:off x="457200" y="3090672"/>
            <a:ext cx="8229600" cy="274320"/>
          </a:xfrm>
          <a:prstGeom prst="rect">
            <a:avLst/>
          </a:prstGeom>
          <a:noFill/>
          <a:ln/>
        </p:spPr>
        <p:txBody>
          <a:bodyPr wrap="square" lIns="0" tIns="0" rIns="0" bIns="0"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6. 개인 연대보증 리스크 종합 관리 방안</a:t>
            </a:r>
            <a:endParaRPr lang="en-US" sz="1300" dirty="0"/>
          </a:p>
        </p:txBody>
      </p:sp>
      <p:sp>
        <p:nvSpPr>
          <p:cNvPr id="14" name="Text 12"/>
          <p:cNvSpPr/>
          <p:nvPr/>
        </p:nvSpPr>
        <p:spPr>
          <a:xfrm>
            <a:off x="457200" y="3364992"/>
            <a:ext cx="8229600" cy="36576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신탁만으로는 모든 리스크를 차단할 수 없으므로, 보증 구조 자체의 개선과 자산 방화벽 구축을 패키지로 진행해야 종합적인 리스크 매니지먼트가 가능합니다.</a:t>
            </a:r>
            <a:endParaRPr lang="en-US" sz="1000" dirty="0"/>
          </a:p>
        </p:txBody>
      </p:sp>
      <p:sp>
        <p:nvSpPr>
          <p:cNvPr id="15" name="Shape 13"/>
          <p:cNvSpPr/>
          <p:nvPr/>
        </p:nvSpPr>
        <p:spPr>
          <a:xfrm>
            <a:off x="457200" y="3776472"/>
            <a:ext cx="3931920" cy="10972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6" name="Shape 14"/>
          <p:cNvSpPr/>
          <p:nvPr/>
        </p:nvSpPr>
        <p:spPr>
          <a:xfrm>
            <a:off x="457200" y="3776472"/>
            <a:ext cx="54864" cy="1097280"/>
          </a:xfrm>
          <a:prstGeom prst="rect">
            <a:avLst/>
          </a:prstGeom>
          <a:solidFill>
            <a:srgbClr val="D4382C"/>
          </a:solidFill>
          <a:ln/>
        </p:spPr>
        <p:txBody>
          <a:bodyPr/>
          <a:lstStyle/>
          <a:p>
            <a:endParaRPr lang="ko-KR" altLang="en-US"/>
          </a:p>
        </p:txBody>
      </p:sp>
      <p:sp>
        <p:nvSpPr>
          <p:cNvPr id="17" name="Text 15"/>
          <p:cNvSpPr/>
          <p:nvPr/>
        </p:nvSpPr>
        <p:spPr>
          <a:xfrm>
            <a:off x="640080" y="3822192"/>
            <a:ext cx="3566160" cy="228600"/>
          </a:xfrm>
          <a:prstGeom prst="rect">
            <a:avLst/>
          </a:prstGeom>
          <a:noFill/>
          <a:ln/>
        </p:spPr>
        <p:txBody>
          <a:bodyPr wrap="square" lIns="0" tIns="0" rIns="0" bIns="0" rtlCol="0" anchor="t"/>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보증 리스크 축소 방안</a:t>
            </a:r>
            <a:endParaRPr lang="en-US" sz="1000" dirty="0"/>
          </a:p>
        </p:txBody>
      </p:sp>
      <p:sp>
        <p:nvSpPr>
          <p:cNvPr id="18" name="Text 16"/>
          <p:cNvSpPr/>
          <p:nvPr/>
        </p:nvSpPr>
        <p:spPr>
          <a:xfrm>
            <a:off x="640080" y="4050792"/>
            <a:ext cx="3566160" cy="777240"/>
          </a:xfrm>
          <a:prstGeom prst="rect">
            <a:avLst/>
          </a:prstGeom>
          <a:noFill/>
          <a:ln/>
        </p:spPr>
        <p:txBody>
          <a:bodyPr wrap="square" lIns="0" tIns="0" rIns="0" bIns="0" rtlCol="0" anchor="t"/>
          <a:lstStyle/>
          <a:p>
            <a:pPr marL="342900" indent="-342900">
              <a:buSzPct val="100000"/>
              <a:buChar char="•"/>
            </a:pPr>
            <a:r>
              <a:rPr lang="en-US" sz="950" dirty="0">
                <a:solidFill>
                  <a:srgbClr val="2B2B2B"/>
                </a:solidFill>
                <a:latin typeface="맑은 고딕" pitchFamily="34" charset="0"/>
                <a:ea typeface="맑은 고딕" pitchFamily="34" charset="-122"/>
                <a:cs typeface="맑은 고딕" pitchFamily="34" charset="-120"/>
              </a:rPr>
              <a:t>보증 한도 조정 협의</a:t>
            </a:r>
            <a:endParaRPr lang="en-US" sz="950" dirty="0"/>
          </a:p>
          <a:p>
            <a:pPr marL="342900" indent="-342900">
              <a:buSzPct val="100000"/>
              <a:buChar char="•"/>
            </a:pPr>
            <a:r>
              <a:rPr lang="en-US" sz="950" dirty="0">
                <a:solidFill>
                  <a:srgbClr val="2B2B2B"/>
                </a:solidFill>
                <a:latin typeface="맑은 고딕" pitchFamily="34" charset="0"/>
                <a:ea typeface="맑은 고딕" pitchFamily="34" charset="-122"/>
                <a:cs typeface="맑은 고딕" pitchFamily="34" charset="-120"/>
              </a:rPr>
              <a:t>대체담보 제공 검토</a:t>
            </a:r>
            <a:endParaRPr lang="en-US" sz="950" dirty="0"/>
          </a:p>
          <a:p>
            <a:pPr marL="342900" indent="-342900">
              <a:buSzPct val="100000"/>
              <a:buChar char="•"/>
            </a:pPr>
            <a:r>
              <a:rPr lang="en-US" sz="950" dirty="0">
                <a:solidFill>
                  <a:srgbClr val="2B2B2B"/>
                </a:solidFill>
                <a:latin typeface="맑은 고딕" pitchFamily="34" charset="0"/>
                <a:ea typeface="맑은 고딕" pitchFamily="34" charset="-122"/>
                <a:cs typeface="맑은 고딕" pitchFamily="34" charset="-120"/>
              </a:rPr>
              <a:t>보증보험 가입</a:t>
            </a:r>
            <a:endParaRPr lang="en-US" sz="950" dirty="0"/>
          </a:p>
          <a:p>
            <a:pPr marL="342900" indent="-342900">
              <a:buSzPct val="100000"/>
              <a:buChar char="•"/>
            </a:pPr>
            <a:r>
              <a:rPr lang="en-US" sz="950" dirty="0">
                <a:solidFill>
                  <a:srgbClr val="2B2B2B"/>
                </a:solidFill>
                <a:latin typeface="맑은 고딕" pitchFamily="34" charset="0"/>
                <a:ea typeface="맑은 고딕" pitchFamily="34" charset="-122"/>
                <a:cs typeface="맑은 고딕" pitchFamily="34" charset="-120"/>
              </a:rPr>
              <a:t>법인 신용보강을 통한 개인보증 축소</a:t>
            </a:r>
            <a:endParaRPr lang="en-US" sz="950" dirty="0"/>
          </a:p>
        </p:txBody>
      </p:sp>
      <p:sp>
        <p:nvSpPr>
          <p:cNvPr id="19" name="Shape 17"/>
          <p:cNvSpPr/>
          <p:nvPr/>
        </p:nvSpPr>
        <p:spPr>
          <a:xfrm>
            <a:off x="4754880" y="3776472"/>
            <a:ext cx="3931920" cy="10972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0" name="Shape 18"/>
          <p:cNvSpPr/>
          <p:nvPr/>
        </p:nvSpPr>
        <p:spPr>
          <a:xfrm>
            <a:off x="4754880" y="3776472"/>
            <a:ext cx="54864" cy="1097280"/>
          </a:xfrm>
          <a:prstGeom prst="rect">
            <a:avLst/>
          </a:prstGeom>
          <a:solidFill>
            <a:srgbClr val="1A6B4A"/>
          </a:solidFill>
          <a:ln/>
        </p:spPr>
        <p:txBody>
          <a:bodyPr/>
          <a:lstStyle/>
          <a:p>
            <a:endParaRPr lang="ko-KR" altLang="en-US"/>
          </a:p>
        </p:txBody>
      </p:sp>
      <p:sp>
        <p:nvSpPr>
          <p:cNvPr id="21" name="Text 19"/>
          <p:cNvSpPr/>
          <p:nvPr/>
        </p:nvSpPr>
        <p:spPr>
          <a:xfrm>
            <a:off x="4937760" y="3822192"/>
            <a:ext cx="3566160" cy="228600"/>
          </a:xfrm>
          <a:prstGeom prst="rect">
            <a:avLst/>
          </a:prstGeom>
          <a:noFill/>
          <a:ln/>
        </p:spPr>
        <p:txBody>
          <a:bodyPr wrap="square" lIns="0" tIns="0" rIns="0" bIns="0" rtlCol="0" anchor="t"/>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자산 방화벽 구축 방안</a:t>
            </a:r>
            <a:endParaRPr lang="en-US" sz="1000" dirty="0"/>
          </a:p>
        </p:txBody>
      </p:sp>
      <p:sp>
        <p:nvSpPr>
          <p:cNvPr id="22" name="Text 20"/>
          <p:cNvSpPr/>
          <p:nvPr/>
        </p:nvSpPr>
        <p:spPr>
          <a:xfrm>
            <a:off x="4937760" y="4050792"/>
            <a:ext cx="3566160" cy="777240"/>
          </a:xfrm>
          <a:prstGeom prst="rect">
            <a:avLst/>
          </a:prstGeom>
          <a:noFill/>
          <a:ln/>
        </p:spPr>
        <p:txBody>
          <a:bodyPr wrap="square" lIns="0" tIns="0" rIns="0" bIns="0" rtlCol="0" anchor="t"/>
          <a:lstStyle/>
          <a:p>
            <a:pPr marL="342900" indent="-342900">
              <a:buSzPct val="100000"/>
              <a:buChar char="•"/>
            </a:pPr>
            <a:r>
              <a:rPr lang="en-US" sz="950" dirty="0">
                <a:solidFill>
                  <a:srgbClr val="2B2B2B"/>
                </a:solidFill>
                <a:latin typeface="맑은 고딕" pitchFamily="34" charset="0"/>
                <a:ea typeface="맑은 고딕" pitchFamily="34" charset="-122"/>
                <a:cs typeface="맑은 고딕" pitchFamily="34" charset="-120"/>
              </a:rPr>
              <a:t>부동산/금전 신탁 설정</a:t>
            </a:r>
            <a:endParaRPr lang="en-US" sz="950" dirty="0"/>
          </a:p>
          <a:p>
            <a:pPr marL="342900" indent="-342900">
              <a:buSzPct val="100000"/>
              <a:buChar char="•"/>
            </a:pPr>
            <a:r>
              <a:rPr lang="en-US" sz="950" dirty="0">
                <a:solidFill>
                  <a:srgbClr val="2B2B2B"/>
                </a:solidFill>
                <a:latin typeface="맑은 고딕" pitchFamily="34" charset="0"/>
                <a:ea typeface="맑은 고딕" pitchFamily="34" charset="-122"/>
                <a:cs typeface="맑은 고딕" pitchFamily="34" charset="-120"/>
              </a:rPr>
              <a:t>유언대용신탁 구축</a:t>
            </a:r>
            <a:endParaRPr lang="en-US" sz="950" dirty="0"/>
          </a:p>
          <a:p>
            <a:pPr marL="342900" indent="-342900">
              <a:buSzPct val="100000"/>
              <a:buChar char="•"/>
            </a:pPr>
            <a:r>
              <a:rPr lang="en-US" sz="950" dirty="0">
                <a:solidFill>
                  <a:srgbClr val="2B2B2B"/>
                </a:solidFill>
                <a:latin typeface="맑은 고딕" pitchFamily="34" charset="0"/>
                <a:ea typeface="맑은 고딕" pitchFamily="34" charset="-122"/>
                <a:cs typeface="맑은 고딕" pitchFamily="34" charset="-120"/>
              </a:rPr>
              <a:t>보험금 신탁 편입</a:t>
            </a:r>
            <a:endParaRPr lang="en-US" sz="950" dirty="0"/>
          </a:p>
          <a:p>
            <a:pPr marL="342900" indent="-342900">
              <a:buSzPct val="100000"/>
              <a:buChar char="•"/>
            </a:pPr>
            <a:r>
              <a:rPr lang="en-US" sz="950" dirty="0">
                <a:solidFill>
                  <a:srgbClr val="2B2B2B"/>
                </a:solidFill>
                <a:latin typeface="맑은 고딕" pitchFamily="34" charset="0"/>
                <a:ea typeface="맑은 고딕" pitchFamily="34" charset="-122"/>
                <a:cs typeface="맑은 고딕" pitchFamily="34" charset="-120"/>
              </a:rPr>
              <a:t>가족간 자산 구조 재설계</a:t>
            </a:r>
            <a:endParaRPr lang="en-US" sz="950" dirty="0"/>
          </a:p>
        </p:txBody>
      </p:sp>
      <p:sp>
        <p:nvSpPr>
          <p:cNvPr id="23" name="Text 2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24" name="Text 2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14 / 27</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Ⅵ. 기대효과 및 재무적 영향 분석</a:t>
            </a:r>
            <a:endParaRPr lang="en-US" sz="1600" dirty="0"/>
          </a:p>
        </p:txBody>
      </p:sp>
      <p:sp>
        <p:nvSpPr>
          <p:cNvPr id="5" name="Text 3"/>
          <p:cNvSpPr/>
          <p:nvPr/>
        </p:nvSpPr>
        <p:spPr>
          <a:xfrm>
            <a:off x="457200" y="685800"/>
            <a:ext cx="8229600" cy="27432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정성적 기대효과</a:t>
            </a:r>
            <a:endParaRPr lang="en-US" sz="1400" dirty="0"/>
          </a:p>
        </p:txBody>
      </p:sp>
      <p:sp>
        <p:nvSpPr>
          <p:cNvPr id="6" name="Text 4"/>
          <p:cNvSpPr/>
          <p:nvPr/>
        </p:nvSpPr>
        <p:spPr>
          <a:xfrm>
            <a:off x="457200" y="1005840"/>
            <a:ext cx="8229600" cy="640080"/>
          </a:xfrm>
          <a:prstGeom prst="rect">
            <a:avLst/>
          </a:prstGeom>
          <a:noFill/>
          <a:ln/>
        </p:spPr>
        <p:txBody>
          <a:bodyPr wrap="square" lIns="0" tIns="0" rIns="0" bIns="0" rtlCol="0" anchor="t"/>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CEO: </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본인 사후에 발생할 수 있는 자녀 간 분쟁 가능성을 낮추어 가문의 화합 도모</a:t>
            </a:r>
            <a:r>
              <a:rPr lang="en-US" sz="1000" b="1" dirty="0">
                <a:solidFill>
                  <a:srgbClr val="2B2B2B"/>
                </a:solidFill>
                <a:latin typeface="맑은 고딕" pitchFamily="34" charset="0"/>
                <a:ea typeface="맑은 고딕" pitchFamily="34" charset="-122"/>
                <a:cs typeface="맑은 고딕" pitchFamily="34" charset="-120"/>
              </a:rPr>
              <a:t>기업: </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오너의 개인 재무 리스크가 법인 신용도에 영향을 미치는 '도미노 리스크' 완화</a:t>
            </a:r>
            <a:endParaRPr lang="en-US" sz="1000" dirty="0"/>
          </a:p>
        </p:txBody>
      </p:sp>
      <p:sp>
        <p:nvSpPr>
          <p:cNvPr id="7" name="Text 5"/>
          <p:cNvSpPr/>
          <p:nvPr/>
        </p:nvSpPr>
        <p:spPr>
          <a:xfrm>
            <a:off x="457200" y="1737360"/>
            <a:ext cx="8229600" cy="27432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정량적 기대효과 (예상 시나리오)</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3968603648"/>
              </p:ext>
            </p:extLst>
          </p:nvPr>
        </p:nvGraphicFramePr>
        <p:xfrm>
          <a:off x="457200" y="2057400"/>
          <a:ext cx="8229600" cy="1828800"/>
        </p:xfrm>
        <a:graphic>
          <a:graphicData uri="http://schemas.openxmlformats.org/drawingml/2006/table">
            <a:tbl>
              <a:tblPr/>
              <a:tblGrid>
                <a:gridCol w="13716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57200">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항목</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신탁 전 (As-Is)</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신탁 후 (To-Be)</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기대 효과</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57200">
                <a:tc>
                  <a:txBody>
                    <a:bodyPr/>
                    <a:lstStyle/>
                    <a:p>
                      <a:pPr marL="0" indent="0" algn="ctr">
                        <a:buNone/>
                      </a:pPr>
                      <a:r>
                        <a:rPr lang="en-US" sz="900" b="1" dirty="0">
                          <a:solidFill>
                            <a:srgbClr val="2B2B2B"/>
                          </a:solidFill>
                          <a:latin typeface="맑은 고딕" pitchFamily="34" charset="0"/>
                          <a:ea typeface="맑은 고딕" pitchFamily="34" charset="-122"/>
                          <a:cs typeface="맑은 고딕" pitchFamily="34" charset="-120"/>
                        </a:rPr>
                        <a:t>강제집행 위험</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D4382C"/>
                          </a:solidFill>
                          <a:latin typeface="맑은 고딕" pitchFamily="34" charset="0"/>
                          <a:ea typeface="맑은 고딕" pitchFamily="34" charset="-122"/>
                          <a:cs typeface="맑은 고딕" pitchFamily="34" charset="-120"/>
                        </a:rPr>
                        <a:t>약 150억 직접 노출</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A6B4A"/>
                          </a:solidFill>
                          <a:latin typeface="맑은 고딕" pitchFamily="34" charset="0"/>
                          <a:ea typeface="맑은 고딕" pitchFamily="34" charset="-122"/>
                          <a:cs typeface="맑은 고딕" pitchFamily="34" charset="-120"/>
                        </a:rPr>
                        <a:t>일반 채권자 집행 위험 상당 부분 감소 (예외 존재)</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자산 보호 강화</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900" b="1" dirty="0">
                          <a:solidFill>
                            <a:srgbClr val="2B2B2B"/>
                          </a:solidFill>
                          <a:latin typeface="맑은 고딕" pitchFamily="34" charset="0"/>
                          <a:ea typeface="맑은 고딕" pitchFamily="34" charset="-122"/>
                          <a:cs typeface="맑은 고딕" pitchFamily="34" charset="-120"/>
                        </a:rPr>
                        <a:t>상속 집행 비용</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D4382C"/>
                          </a:solidFill>
                          <a:latin typeface="맑은 고딕" pitchFamily="34" charset="0"/>
                          <a:ea typeface="맑은 고딕" pitchFamily="34" charset="-122"/>
                          <a:cs typeface="맑은 고딕" pitchFamily="34" charset="-120"/>
                        </a:rPr>
                        <a:t>분쟁 시 상당한 비용 발생 가능</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1A6B4A"/>
                          </a:solidFill>
                          <a:latin typeface="맑은 고딕" pitchFamily="34" charset="0"/>
                          <a:ea typeface="맑은 고딕" pitchFamily="34" charset="-122"/>
                          <a:cs typeface="맑은 고딕" pitchFamily="34" charset="-120"/>
                        </a:rPr>
                        <a:t>신탁 관리 보수 (연 0.1~0.3% 수준, 기관별 상이)</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집행 비용 절감 기대</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57200">
                <a:tc>
                  <a:txBody>
                    <a:bodyPr/>
                    <a:lstStyle/>
                    <a:p>
                      <a:pPr marL="0" indent="0" algn="ctr">
                        <a:buNone/>
                      </a:pPr>
                      <a:r>
                        <a:rPr lang="en-US" sz="900" b="1" dirty="0">
                          <a:solidFill>
                            <a:srgbClr val="2B2B2B"/>
                          </a:solidFill>
                          <a:latin typeface="맑은 고딕" pitchFamily="34" charset="0"/>
                          <a:ea typeface="맑은 고딕" pitchFamily="34" charset="-122"/>
                          <a:cs typeface="맑은 고딕" pitchFamily="34" charset="-120"/>
                        </a:rPr>
                        <a:t>상속 집행 기간</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D4382C"/>
                          </a:solidFill>
                          <a:latin typeface="맑은 고딕" pitchFamily="34" charset="0"/>
                          <a:ea typeface="맑은 고딕" pitchFamily="34" charset="-122"/>
                          <a:cs typeface="맑은 고딕" pitchFamily="34" charset="-120"/>
                        </a:rPr>
                        <a:t>6개월~수년 (소송 시)</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A6B4A"/>
                          </a:solidFill>
                          <a:latin typeface="맑은 고딕" pitchFamily="34" charset="0"/>
                          <a:ea typeface="맑은 고딕" pitchFamily="34" charset="-122"/>
                          <a:cs typeface="맑은 고딕" pitchFamily="34" charset="-120"/>
                        </a:rPr>
                        <a:t>사후 수익권 즉시 승계 가능</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유동성 공백 최소화</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6"/>
          <p:cNvSpPr/>
          <p:nvPr/>
        </p:nvSpPr>
        <p:spPr>
          <a:xfrm>
            <a:off x="457200" y="4069080"/>
            <a:ext cx="8229600" cy="274320"/>
          </a:xfrm>
          <a:prstGeom prst="rect">
            <a:avLst/>
          </a:prstGeom>
          <a:noFill/>
          <a:ln/>
        </p:spPr>
        <p:txBody>
          <a:bodyPr wrap="square" lIns="0" tIns="0" rIns="0" bIns="0" rtlCol="0" anchor="t"/>
          <a:lstStyle/>
          <a:p>
            <a:pPr marL="0" indent="0">
              <a:buNone/>
            </a:pPr>
            <a:r>
              <a:rPr lang="en-US" sz="850" i="1" dirty="0">
                <a:solidFill>
                  <a:srgbClr val="666666"/>
                </a:solidFill>
                <a:latin typeface="맑은 고딕" pitchFamily="34" charset="0"/>
                <a:ea typeface="맑은 고딕" pitchFamily="34" charset="-122"/>
                <a:cs typeface="맑은 고딕" pitchFamily="34" charset="-120"/>
              </a:rPr>
              <a:t>※ 상기 효과는 예상 시나리오이며, 실제 결과는 개별 사안의 구체적 상황에 따라 달라질 수 있습니다.</a:t>
            </a:r>
            <a:endParaRPr lang="en-US" sz="850" dirty="0"/>
          </a:p>
        </p:txBody>
      </p:sp>
      <p:sp>
        <p:nvSpPr>
          <p:cNvPr id="10"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1"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15 / 27</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Ⅶ. 실행 로드맵 및 추진 일정</a:t>
            </a:r>
            <a:endParaRPr lang="en-US" sz="1600" dirty="0"/>
          </a:p>
        </p:txBody>
      </p:sp>
      <p:sp>
        <p:nvSpPr>
          <p:cNvPr id="5" name="Shape 3"/>
          <p:cNvSpPr/>
          <p:nvPr/>
        </p:nvSpPr>
        <p:spPr>
          <a:xfrm>
            <a:off x="457200" y="777240"/>
            <a:ext cx="8229600" cy="7315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777240"/>
            <a:ext cx="54864" cy="731520"/>
          </a:xfrm>
          <a:prstGeom prst="rect">
            <a:avLst/>
          </a:prstGeom>
          <a:solidFill>
            <a:srgbClr val="1B2A4A"/>
          </a:solidFill>
          <a:ln/>
        </p:spPr>
        <p:txBody>
          <a:bodyPr/>
          <a:lstStyle/>
          <a:p>
            <a:endParaRPr lang="ko-KR" altLang="en-US"/>
          </a:p>
        </p:txBody>
      </p:sp>
      <p:sp>
        <p:nvSpPr>
          <p:cNvPr id="7" name="Shape 5"/>
          <p:cNvSpPr/>
          <p:nvPr/>
        </p:nvSpPr>
        <p:spPr>
          <a:xfrm>
            <a:off x="640080" y="914400"/>
            <a:ext cx="777240" cy="274320"/>
          </a:xfrm>
          <a:prstGeom prst="rect">
            <a:avLst/>
          </a:prstGeom>
          <a:solidFill>
            <a:srgbClr val="1B2A4A"/>
          </a:solidFill>
          <a:ln/>
        </p:spPr>
        <p:txBody>
          <a:bodyPr/>
          <a:lstStyle/>
          <a:p>
            <a:endParaRPr lang="ko-KR" altLang="en-US"/>
          </a:p>
        </p:txBody>
      </p:sp>
      <p:sp>
        <p:nvSpPr>
          <p:cNvPr id="8" name="Text 6"/>
          <p:cNvSpPr/>
          <p:nvPr/>
        </p:nvSpPr>
        <p:spPr>
          <a:xfrm>
            <a:off x="640080" y="914400"/>
            <a:ext cx="77724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Phase 1</a:t>
            </a:r>
            <a:endParaRPr lang="en-US" sz="800" dirty="0"/>
          </a:p>
        </p:txBody>
      </p:sp>
      <p:sp>
        <p:nvSpPr>
          <p:cNvPr id="9" name="Text 7"/>
          <p:cNvSpPr/>
          <p:nvPr/>
        </p:nvSpPr>
        <p:spPr>
          <a:xfrm>
            <a:off x="1554480" y="850392"/>
            <a:ext cx="6949440" cy="256032"/>
          </a:xfrm>
          <a:prstGeom prst="rect">
            <a:avLst/>
          </a:prstGeom>
          <a:noFill/>
          <a:ln/>
        </p:spPr>
        <p:txBody>
          <a:bodyPr wrap="square" lIns="0" tIns="0" rIns="0" bIns="0" rtlCol="0" anchor="t"/>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개인 자산 실사 및 신탁 대상 자산 선정</a:t>
            </a:r>
            <a:endParaRPr lang="en-US" sz="1100" dirty="0"/>
          </a:p>
        </p:txBody>
      </p:sp>
      <p:sp>
        <p:nvSpPr>
          <p:cNvPr id="10" name="Text 8"/>
          <p:cNvSpPr/>
          <p:nvPr/>
        </p:nvSpPr>
        <p:spPr>
          <a:xfrm>
            <a:off x="1554480" y="1097280"/>
            <a:ext cx="3657600" cy="182880"/>
          </a:xfrm>
          <a:prstGeom prst="rect">
            <a:avLst/>
          </a:prstGeom>
          <a:noFill/>
          <a:ln/>
        </p:spPr>
        <p:txBody>
          <a:bodyPr wrap="square" lIns="0" tIns="0" rIns="0" bIns="0" rtlCol="0" anchor="t"/>
          <a:lstStyle/>
          <a:p>
            <a:pPr marL="0" indent="0">
              <a:buNone/>
            </a:pPr>
            <a:r>
              <a:rPr lang="en-US" sz="900" dirty="0">
                <a:solidFill>
                  <a:srgbClr val="4A5568"/>
                </a:solidFill>
                <a:latin typeface="맑은 고딕" pitchFamily="34" charset="0"/>
                <a:ea typeface="맑은 고딕" pitchFamily="34" charset="-122"/>
                <a:cs typeface="맑은 고딕" pitchFamily="34" charset="-120"/>
              </a:rPr>
              <a:t>예상 기간: 1~2주</a:t>
            </a:r>
            <a:endParaRPr lang="en-US" sz="900" dirty="0"/>
          </a:p>
        </p:txBody>
      </p:sp>
      <p:sp>
        <p:nvSpPr>
          <p:cNvPr id="11" name="Text 9"/>
          <p:cNvSpPr/>
          <p:nvPr/>
        </p:nvSpPr>
        <p:spPr>
          <a:xfrm>
            <a:off x="5029200" y="1097280"/>
            <a:ext cx="3474720" cy="320040"/>
          </a:xfrm>
          <a:prstGeom prst="rect">
            <a:avLst/>
          </a:prstGeom>
          <a:noFill/>
          <a:ln/>
        </p:spPr>
        <p:txBody>
          <a:bodyPr wrap="square" lIns="0" tIns="0" rIns="0" bIns="0" rtlCol="0" anchor="t"/>
          <a:lstStyle/>
          <a:p>
            <a:pPr marL="0" indent="0">
              <a:buNone/>
            </a:pPr>
            <a:r>
              <a:rPr lang="en-US" sz="850" i="1" dirty="0">
                <a:solidFill>
                  <a:srgbClr val="666666"/>
                </a:solidFill>
                <a:latin typeface="맑은 고딕" pitchFamily="34" charset="0"/>
                <a:ea typeface="맑은 고딕" pitchFamily="34" charset="-122"/>
                <a:cs typeface="맑은 고딕" pitchFamily="34" charset="-120"/>
              </a:rPr>
              <a:t>권리관계 정리(선순위 담보, 임대차, 소송/가압류 확인)</a:t>
            </a:r>
            <a:endParaRPr lang="en-US" sz="850" dirty="0"/>
          </a:p>
        </p:txBody>
      </p:sp>
      <p:sp>
        <p:nvSpPr>
          <p:cNvPr id="12" name="Shape 10"/>
          <p:cNvSpPr/>
          <p:nvPr/>
        </p:nvSpPr>
        <p:spPr>
          <a:xfrm>
            <a:off x="457200" y="1645920"/>
            <a:ext cx="8229600" cy="7315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1645920"/>
            <a:ext cx="54864" cy="731520"/>
          </a:xfrm>
          <a:prstGeom prst="rect">
            <a:avLst/>
          </a:prstGeom>
          <a:solidFill>
            <a:srgbClr val="1B2A4A"/>
          </a:solidFill>
          <a:ln/>
        </p:spPr>
        <p:txBody>
          <a:bodyPr/>
          <a:lstStyle/>
          <a:p>
            <a:endParaRPr lang="ko-KR" altLang="en-US"/>
          </a:p>
        </p:txBody>
      </p:sp>
      <p:sp>
        <p:nvSpPr>
          <p:cNvPr id="14" name="Shape 12"/>
          <p:cNvSpPr/>
          <p:nvPr/>
        </p:nvSpPr>
        <p:spPr>
          <a:xfrm>
            <a:off x="640080" y="1783080"/>
            <a:ext cx="777240" cy="274320"/>
          </a:xfrm>
          <a:prstGeom prst="rect">
            <a:avLst/>
          </a:prstGeom>
          <a:solidFill>
            <a:srgbClr val="1B2A4A"/>
          </a:solidFill>
          <a:ln/>
        </p:spPr>
        <p:txBody>
          <a:bodyPr/>
          <a:lstStyle/>
          <a:p>
            <a:endParaRPr lang="ko-KR" altLang="en-US"/>
          </a:p>
        </p:txBody>
      </p:sp>
      <p:sp>
        <p:nvSpPr>
          <p:cNvPr id="15" name="Text 13"/>
          <p:cNvSpPr/>
          <p:nvPr/>
        </p:nvSpPr>
        <p:spPr>
          <a:xfrm>
            <a:off x="640080" y="1783080"/>
            <a:ext cx="77724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Phase 2</a:t>
            </a:r>
            <a:endParaRPr lang="en-US" sz="800" dirty="0"/>
          </a:p>
        </p:txBody>
      </p:sp>
      <p:sp>
        <p:nvSpPr>
          <p:cNvPr id="16" name="Text 14"/>
          <p:cNvSpPr/>
          <p:nvPr/>
        </p:nvSpPr>
        <p:spPr>
          <a:xfrm>
            <a:off x="1554480" y="1719072"/>
            <a:ext cx="6949440" cy="256032"/>
          </a:xfrm>
          <a:prstGeom prst="rect">
            <a:avLst/>
          </a:prstGeom>
          <a:noFill/>
          <a:ln/>
        </p:spPr>
        <p:txBody>
          <a:bodyPr wrap="square" lIns="0" tIns="0" rIns="0" bIns="0" rtlCol="0" anchor="t"/>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수익자 지정 및 사후 지급 조건(Trigger) 설정</a:t>
            </a:r>
            <a:endParaRPr lang="en-US" sz="1100" dirty="0"/>
          </a:p>
        </p:txBody>
      </p:sp>
      <p:sp>
        <p:nvSpPr>
          <p:cNvPr id="17" name="Text 15"/>
          <p:cNvSpPr/>
          <p:nvPr/>
        </p:nvSpPr>
        <p:spPr>
          <a:xfrm>
            <a:off x="1554480" y="1965960"/>
            <a:ext cx="3657600" cy="182880"/>
          </a:xfrm>
          <a:prstGeom prst="rect">
            <a:avLst/>
          </a:prstGeom>
          <a:noFill/>
          <a:ln/>
        </p:spPr>
        <p:txBody>
          <a:bodyPr wrap="square" lIns="0" tIns="0" rIns="0" bIns="0" rtlCol="0" anchor="t"/>
          <a:lstStyle/>
          <a:p>
            <a:pPr marL="0" indent="0">
              <a:buNone/>
            </a:pPr>
            <a:r>
              <a:rPr lang="en-US" sz="900" dirty="0">
                <a:solidFill>
                  <a:srgbClr val="4A5568"/>
                </a:solidFill>
                <a:latin typeface="맑은 고딕" pitchFamily="34" charset="0"/>
                <a:ea typeface="맑은 고딕" pitchFamily="34" charset="-122"/>
                <a:cs typeface="맑은 고딕" pitchFamily="34" charset="-120"/>
              </a:rPr>
              <a:t>예상 기간: 2~3주</a:t>
            </a:r>
            <a:endParaRPr lang="en-US" sz="900" dirty="0"/>
          </a:p>
        </p:txBody>
      </p:sp>
      <p:sp>
        <p:nvSpPr>
          <p:cNvPr id="18" name="Text 16"/>
          <p:cNvSpPr/>
          <p:nvPr/>
        </p:nvSpPr>
        <p:spPr>
          <a:xfrm>
            <a:off x="5029200" y="1965960"/>
            <a:ext cx="3474720" cy="320040"/>
          </a:xfrm>
          <a:prstGeom prst="rect">
            <a:avLst/>
          </a:prstGeom>
          <a:noFill/>
          <a:ln/>
        </p:spPr>
        <p:txBody>
          <a:bodyPr wrap="square" lIns="0" tIns="0" rIns="0" bIns="0" rtlCol="0" anchor="t"/>
          <a:lstStyle/>
          <a:p>
            <a:pPr marL="0" indent="0">
              <a:buNone/>
            </a:pPr>
            <a:r>
              <a:rPr lang="en-US" sz="850" i="1" dirty="0">
                <a:solidFill>
                  <a:srgbClr val="666666"/>
                </a:solidFill>
                <a:latin typeface="맑은 고딕" pitchFamily="34" charset="0"/>
                <a:ea typeface="맑은 고딕" pitchFamily="34" charset="-122"/>
                <a:cs typeface="맑은 고딕" pitchFamily="34" charset="-120"/>
              </a:rPr>
              <a:t>세무 시뮬레이션 병행</a:t>
            </a:r>
            <a:endParaRPr lang="en-US" sz="850" dirty="0"/>
          </a:p>
        </p:txBody>
      </p:sp>
      <p:sp>
        <p:nvSpPr>
          <p:cNvPr id="19" name="Shape 17"/>
          <p:cNvSpPr/>
          <p:nvPr/>
        </p:nvSpPr>
        <p:spPr>
          <a:xfrm>
            <a:off x="457200" y="2514600"/>
            <a:ext cx="8229600" cy="7315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0" name="Shape 18"/>
          <p:cNvSpPr/>
          <p:nvPr/>
        </p:nvSpPr>
        <p:spPr>
          <a:xfrm>
            <a:off x="457200" y="2514600"/>
            <a:ext cx="54864" cy="731520"/>
          </a:xfrm>
          <a:prstGeom prst="rect">
            <a:avLst/>
          </a:prstGeom>
          <a:solidFill>
            <a:srgbClr val="1B2A4A"/>
          </a:solidFill>
          <a:ln/>
        </p:spPr>
        <p:txBody>
          <a:bodyPr/>
          <a:lstStyle/>
          <a:p>
            <a:endParaRPr lang="ko-KR" altLang="en-US"/>
          </a:p>
        </p:txBody>
      </p:sp>
      <p:sp>
        <p:nvSpPr>
          <p:cNvPr id="21" name="Shape 19"/>
          <p:cNvSpPr/>
          <p:nvPr/>
        </p:nvSpPr>
        <p:spPr>
          <a:xfrm>
            <a:off x="640080" y="2651760"/>
            <a:ext cx="777240" cy="274320"/>
          </a:xfrm>
          <a:prstGeom prst="rect">
            <a:avLst/>
          </a:prstGeom>
          <a:solidFill>
            <a:srgbClr val="1B2A4A"/>
          </a:solidFill>
          <a:ln/>
        </p:spPr>
        <p:txBody>
          <a:bodyPr/>
          <a:lstStyle/>
          <a:p>
            <a:endParaRPr lang="ko-KR" altLang="en-US"/>
          </a:p>
        </p:txBody>
      </p:sp>
      <p:sp>
        <p:nvSpPr>
          <p:cNvPr id="22" name="Text 20"/>
          <p:cNvSpPr/>
          <p:nvPr/>
        </p:nvSpPr>
        <p:spPr>
          <a:xfrm>
            <a:off x="640080" y="2651760"/>
            <a:ext cx="77724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Phase 3</a:t>
            </a:r>
            <a:endParaRPr lang="en-US" sz="800" dirty="0"/>
          </a:p>
        </p:txBody>
      </p:sp>
      <p:sp>
        <p:nvSpPr>
          <p:cNvPr id="23" name="Text 21"/>
          <p:cNvSpPr/>
          <p:nvPr/>
        </p:nvSpPr>
        <p:spPr>
          <a:xfrm>
            <a:off x="1554480" y="2587752"/>
            <a:ext cx="6949440" cy="256032"/>
          </a:xfrm>
          <a:prstGeom prst="rect">
            <a:avLst/>
          </a:prstGeom>
          <a:noFill/>
          <a:ln/>
        </p:spPr>
        <p:txBody>
          <a:bodyPr wrap="square" lIns="0" tIns="0" rIns="0" bIns="0" rtlCol="0" anchor="t"/>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신탁 계약 체결 및 부동산 소유권 이전 등기</a:t>
            </a:r>
            <a:endParaRPr lang="en-US" sz="1100" dirty="0"/>
          </a:p>
        </p:txBody>
      </p:sp>
      <p:sp>
        <p:nvSpPr>
          <p:cNvPr id="24" name="Text 22"/>
          <p:cNvSpPr/>
          <p:nvPr/>
        </p:nvSpPr>
        <p:spPr>
          <a:xfrm>
            <a:off x="1554480" y="2834640"/>
            <a:ext cx="3657600" cy="182880"/>
          </a:xfrm>
          <a:prstGeom prst="rect">
            <a:avLst/>
          </a:prstGeom>
          <a:noFill/>
          <a:ln/>
        </p:spPr>
        <p:txBody>
          <a:bodyPr wrap="square" lIns="0" tIns="0" rIns="0" bIns="0" rtlCol="0" anchor="t"/>
          <a:lstStyle/>
          <a:p>
            <a:pPr marL="0" indent="0">
              <a:buNone/>
            </a:pPr>
            <a:r>
              <a:rPr lang="en-US" sz="900" dirty="0">
                <a:solidFill>
                  <a:srgbClr val="4A5568"/>
                </a:solidFill>
                <a:latin typeface="맑은 고딕" pitchFamily="34" charset="0"/>
                <a:ea typeface="맑은 고딕" pitchFamily="34" charset="-122"/>
                <a:cs typeface="맑은 고딕" pitchFamily="34" charset="-120"/>
              </a:rPr>
              <a:t>예상 기간: 4~10주</a:t>
            </a:r>
            <a:endParaRPr lang="en-US" sz="900" dirty="0"/>
          </a:p>
        </p:txBody>
      </p:sp>
      <p:sp>
        <p:nvSpPr>
          <p:cNvPr id="25" name="Text 23"/>
          <p:cNvSpPr/>
          <p:nvPr/>
        </p:nvSpPr>
        <p:spPr>
          <a:xfrm>
            <a:off x="5029200" y="2834640"/>
            <a:ext cx="3474720" cy="320040"/>
          </a:xfrm>
          <a:prstGeom prst="rect">
            <a:avLst/>
          </a:prstGeom>
          <a:noFill/>
          <a:ln/>
        </p:spPr>
        <p:txBody>
          <a:bodyPr wrap="square" lIns="0" tIns="0" rIns="0" bIns="0" rtlCol="0" anchor="t"/>
          <a:lstStyle/>
          <a:p>
            <a:pPr marL="0" indent="0">
              <a:buNone/>
            </a:pPr>
            <a:r>
              <a:rPr lang="en-US" sz="850" i="1" dirty="0">
                <a:solidFill>
                  <a:srgbClr val="666666"/>
                </a:solidFill>
                <a:latin typeface="맑은 고딕" pitchFamily="34" charset="0"/>
                <a:ea typeface="맑은 고딕" pitchFamily="34" charset="-122"/>
                <a:cs typeface="맑은 고딕" pitchFamily="34" charset="-120"/>
              </a:rPr>
              <a:t>권리관계 복잡도에 따라 변동</a:t>
            </a:r>
            <a:endParaRPr lang="en-US" sz="850" dirty="0"/>
          </a:p>
        </p:txBody>
      </p:sp>
      <p:sp>
        <p:nvSpPr>
          <p:cNvPr id="26" name="Shape 24"/>
          <p:cNvSpPr/>
          <p:nvPr/>
        </p:nvSpPr>
        <p:spPr>
          <a:xfrm>
            <a:off x="457200" y="3383280"/>
            <a:ext cx="8229600" cy="7315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7" name="Shape 25"/>
          <p:cNvSpPr/>
          <p:nvPr/>
        </p:nvSpPr>
        <p:spPr>
          <a:xfrm>
            <a:off x="457200" y="3383280"/>
            <a:ext cx="54864" cy="731520"/>
          </a:xfrm>
          <a:prstGeom prst="rect">
            <a:avLst/>
          </a:prstGeom>
          <a:solidFill>
            <a:srgbClr val="C8962E"/>
          </a:solidFill>
          <a:ln/>
        </p:spPr>
        <p:txBody>
          <a:bodyPr/>
          <a:lstStyle/>
          <a:p>
            <a:endParaRPr lang="ko-KR" altLang="en-US"/>
          </a:p>
        </p:txBody>
      </p:sp>
      <p:sp>
        <p:nvSpPr>
          <p:cNvPr id="28" name="Shape 26"/>
          <p:cNvSpPr/>
          <p:nvPr/>
        </p:nvSpPr>
        <p:spPr>
          <a:xfrm>
            <a:off x="640080" y="3520440"/>
            <a:ext cx="777240" cy="274320"/>
          </a:xfrm>
          <a:prstGeom prst="rect">
            <a:avLst/>
          </a:prstGeom>
          <a:solidFill>
            <a:srgbClr val="C8962E"/>
          </a:solidFill>
          <a:ln/>
        </p:spPr>
        <p:txBody>
          <a:bodyPr/>
          <a:lstStyle/>
          <a:p>
            <a:endParaRPr lang="ko-KR" altLang="en-US"/>
          </a:p>
        </p:txBody>
      </p:sp>
      <p:sp>
        <p:nvSpPr>
          <p:cNvPr id="29" name="Text 27"/>
          <p:cNvSpPr/>
          <p:nvPr/>
        </p:nvSpPr>
        <p:spPr>
          <a:xfrm>
            <a:off x="640080" y="3520440"/>
            <a:ext cx="77724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병행</a:t>
            </a:r>
            <a:endParaRPr lang="en-US" sz="800" dirty="0"/>
          </a:p>
        </p:txBody>
      </p:sp>
      <p:sp>
        <p:nvSpPr>
          <p:cNvPr id="30" name="Text 28"/>
          <p:cNvSpPr/>
          <p:nvPr/>
        </p:nvSpPr>
        <p:spPr>
          <a:xfrm>
            <a:off x="1554480" y="3456432"/>
            <a:ext cx="6949440" cy="256032"/>
          </a:xfrm>
          <a:prstGeom prst="rect">
            <a:avLst/>
          </a:prstGeom>
          <a:noFill/>
          <a:ln/>
        </p:spPr>
        <p:txBody>
          <a:bodyPr wrap="square" lIns="0" tIns="0" rIns="0" bIns="0" rtlCol="0" anchor="t"/>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신탁과 결합된 종신보험(상속세 재원용) 가입 절차</a:t>
            </a:r>
            <a:endParaRPr lang="en-US" sz="1100" dirty="0"/>
          </a:p>
        </p:txBody>
      </p:sp>
      <p:sp>
        <p:nvSpPr>
          <p:cNvPr id="31" name="Text 29"/>
          <p:cNvSpPr/>
          <p:nvPr/>
        </p:nvSpPr>
        <p:spPr>
          <a:xfrm>
            <a:off x="1554480" y="3703320"/>
            <a:ext cx="3657600" cy="182880"/>
          </a:xfrm>
          <a:prstGeom prst="rect">
            <a:avLst/>
          </a:prstGeom>
          <a:noFill/>
          <a:ln/>
        </p:spPr>
        <p:txBody>
          <a:bodyPr wrap="square" lIns="0" tIns="0" rIns="0" bIns="0" rtlCol="0" anchor="t"/>
          <a:lstStyle/>
          <a:p>
            <a:pPr marL="0" indent="0">
              <a:buNone/>
            </a:pPr>
            <a:r>
              <a:rPr lang="en-US" sz="900" dirty="0">
                <a:solidFill>
                  <a:srgbClr val="4A5568"/>
                </a:solidFill>
                <a:latin typeface="맑은 고딕" pitchFamily="34" charset="0"/>
                <a:ea typeface="맑은 고딕" pitchFamily="34" charset="-122"/>
                <a:cs typeface="맑은 고딕" pitchFamily="34" charset="-120"/>
              </a:rPr>
              <a:t>Phase 2~3과 병행 진행</a:t>
            </a:r>
            <a:endParaRPr lang="en-US" sz="900" dirty="0"/>
          </a:p>
        </p:txBody>
      </p:sp>
      <p:sp>
        <p:nvSpPr>
          <p:cNvPr id="32" name="Text 30"/>
          <p:cNvSpPr/>
          <p:nvPr/>
        </p:nvSpPr>
        <p:spPr>
          <a:xfrm>
            <a:off x="457200" y="4389120"/>
            <a:ext cx="8229600" cy="365760"/>
          </a:xfrm>
          <a:prstGeom prst="rect">
            <a:avLst/>
          </a:prstGeom>
          <a:noFill/>
          <a:ln/>
        </p:spPr>
        <p:txBody>
          <a:bodyPr wrap="square" lIns="0" tIns="0" rIns="0" bIns="0" rtlCol="0" anchor="t"/>
          <a:lstStyle/>
          <a:p>
            <a:pPr marL="0" indent="0">
              <a:buNone/>
            </a:pPr>
            <a:r>
              <a:rPr lang="en-US" sz="850" i="1" dirty="0">
                <a:solidFill>
                  <a:srgbClr val="666666"/>
                </a:solidFill>
                <a:latin typeface="맑은 고딕" pitchFamily="34" charset="0"/>
                <a:ea typeface="맑은 고딕" pitchFamily="34" charset="-122"/>
                <a:cs typeface="맑은 고딕" pitchFamily="34" charset="-120"/>
              </a:rPr>
              <a:t>※ 상기 일정은 예상치이며, 실제 진행 시 자산의 권리관계, 금융기관 심사 절차, 세무 검토 등에 따라 기간이 달라질 수 있습니다.</a:t>
            </a:r>
            <a:endParaRPr lang="en-US" sz="850" dirty="0"/>
          </a:p>
        </p:txBody>
      </p:sp>
      <p:sp>
        <p:nvSpPr>
          <p:cNvPr id="33" name="Text 3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34" name="Text 3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16 / 27</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Ⅷ. 세무 유의사항 (1/3)</a:t>
            </a:r>
            <a:endParaRPr lang="en-US" sz="1600" dirty="0"/>
          </a:p>
        </p:txBody>
      </p:sp>
      <p:sp>
        <p:nvSpPr>
          <p:cNvPr id="5" name="Shape 3"/>
          <p:cNvSpPr/>
          <p:nvPr/>
        </p:nvSpPr>
        <p:spPr>
          <a:xfrm>
            <a:off x="457200" y="685800"/>
            <a:ext cx="8229600" cy="457200"/>
          </a:xfrm>
          <a:prstGeom prst="rect">
            <a:avLst/>
          </a:prstGeom>
          <a:solidFill>
            <a:srgbClr val="FFF8F0"/>
          </a:solidFill>
          <a:ln/>
        </p:spPr>
        <p:txBody>
          <a:bodyPr/>
          <a:lstStyle/>
          <a:p>
            <a:endParaRPr lang="ko-KR" altLang="en-US"/>
          </a:p>
        </p:txBody>
      </p:sp>
      <p:sp>
        <p:nvSpPr>
          <p:cNvPr id="6" name="Shape 4"/>
          <p:cNvSpPr/>
          <p:nvPr/>
        </p:nvSpPr>
        <p:spPr>
          <a:xfrm>
            <a:off x="457200" y="685800"/>
            <a:ext cx="54864" cy="457200"/>
          </a:xfrm>
          <a:prstGeom prst="rect">
            <a:avLst/>
          </a:prstGeom>
          <a:solidFill>
            <a:srgbClr val="E67E22"/>
          </a:solidFill>
          <a:ln/>
        </p:spPr>
        <p:txBody>
          <a:bodyPr/>
          <a:lstStyle/>
          <a:p>
            <a:endParaRPr lang="ko-KR" altLang="en-US"/>
          </a:p>
        </p:txBody>
      </p:sp>
      <p:sp>
        <p:nvSpPr>
          <p:cNvPr id="7" name="Text 5"/>
          <p:cNvSpPr/>
          <p:nvPr/>
        </p:nvSpPr>
        <p:spPr>
          <a:xfrm>
            <a:off x="640080" y="758952"/>
            <a:ext cx="7863840" cy="320040"/>
          </a:xfrm>
          <a:prstGeom prst="rect">
            <a:avLst/>
          </a:prstGeom>
          <a:noFill/>
          <a:ln/>
        </p:spPr>
        <p:txBody>
          <a:bodyPr wrap="square" lIns="0" tIns="0" rIns="0" bIns="0" rtlCol="0" anchor="t"/>
          <a:lstStyle/>
          <a:p>
            <a:pPr marL="0" indent="0">
              <a:buNone/>
            </a:pPr>
            <a:r>
              <a:rPr lang="en-US" sz="950" dirty="0">
                <a:solidFill>
                  <a:srgbClr val="2B2B2B"/>
                </a:solidFill>
                <a:latin typeface="맑은 고딕" pitchFamily="34" charset="0"/>
                <a:ea typeface="맑은 고딕" pitchFamily="34" charset="-122"/>
                <a:cs typeface="맑은 고딕" pitchFamily="34" charset="-120"/>
              </a:rPr>
              <a:t>본 섹션의 세무 정보는 일반적인 안내 목적이며, 구체적인 세무 처리는 반드시 세무사와 협의 후 진행하시기 바랍니다.</a:t>
            </a:r>
            <a:endParaRPr lang="en-US" sz="950" dirty="0"/>
          </a:p>
        </p:txBody>
      </p:sp>
      <p:sp>
        <p:nvSpPr>
          <p:cNvPr id="8" name="Text 6"/>
          <p:cNvSpPr/>
          <p:nvPr/>
        </p:nvSpPr>
        <p:spPr>
          <a:xfrm>
            <a:off x="457200" y="1280160"/>
            <a:ext cx="8229600" cy="27432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부동산 신탁과 취득세</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4294452918"/>
              </p:ext>
            </p:extLst>
          </p:nvPr>
        </p:nvGraphicFramePr>
        <p:xfrm>
          <a:off x="457200" y="1600200"/>
          <a:ext cx="8229600" cy="1536192"/>
        </p:xfrm>
        <a:graphic>
          <a:graphicData uri="http://schemas.openxmlformats.org/drawingml/2006/table">
            <a:tbl>
              <a:tblPr/>
              <a:tblGrid>
                <a:gridCol w="32004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84048">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신탁 유형</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취득세 과세 여부</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근거 조항</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위탁자 = 수익자인 신탁 (자익신탁)</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6B4A"/>
                          </a:solidFill>
                          <a:latin typeface="맑은 고딕" pitchFamily="34" charset="0"/>
                          <a:ea typeface="맑은 고딕" pitchFamily="34" charset="-122"/>
                          <a:cs typeface="맑은 고딕" pitchFamily="34" charset="-120"/>
                        </a:rPr>
                        <a:t>비과세 (형식적 소유권 이전)</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지방세법 제9조 제4항</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위탁자 ≠ 수익자 또는 수익자 변경 시</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50" dirty="0">
                          <a:solidFill>
                            <a:srgbClr val="D4382C"/>
                          </a:solidFill>
                          <a:latin typeface="맑은 고딕" pitchFamily="34" charset="0"/>
                          <a:ea typeface="맑은 고딕" pitchFamily="34" charset="-122"/>
                          <a:cs typeface="맑은 고딕" pitchFamily="34" charset="-120"/>
                        </a:rPr>
                        <a:t>과세 가능 (사안별 검토)</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지방세법 제7조</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84048">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신탁 종료 시 위탁자 환원</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6B4A"/>
                          </a:solidFill>
                          <a:latin typeface="맑은 고딕" pitchFamily="34" charset="0"/>
                          <a:ea typeface="맑은 고딕" pitchFamily="34" charset="-122"/>
                          <a:cs typeface="맑은 고딕" pitchFamily="34" charset="-120"/>
                        </a:rPr>
                        <a:t>비과세</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지방세법 제9조 제4항</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Text 7"/>
          <p:cNvSpPr/>
          <p:nvPr/>
        </p:nvSpPr>
        <p:spPr>
          <a:xfrm>
            <a:off x="457200" y="3291840"/>
            <a:ext cx="8229600" cy="182880"/>
          </a:xfrm>
          <a:prstGeom prst="rect">
            <a:avLst/>
          </a:prstGeom>
          <a:noFill/>
          <a:ln/>
        </p:spPr>
        <p:txBody>
          <a:bodyPr wrap="square" lIns="0" tIns="0" rIns="0" bIns="0" rtlCol="0" anchor="t"/>
          <a:lstStyle/>
          <a:p>
            <a:pPr marL="0" indent="0">
              <a:buNone/>
            </a:pPr>
            <a:r>
              <a:rPr lang="en-US" sz="800" i="1" dirty="0">
                <a:solidFill>
                  <a:srgbClr val="666666"/>
                </a:solidFill>
                <a:latin typeface="맑은 고딕" pitchFamily="34" charset="0"/>
                <a:ea typeface="맑은 고딕" pitchFamily="34" charset="-122"/>
                <a:cs typeface="맑은 고딕" pitchFamily="34" charset="-120"/>
              </a:rPr>
              <a:t>출처: 법제처, 지방세법 제7조, 제9조 (현행법 기준)</a:t>
            </a:r>
            <a:endParaRPr lang="en-US" sz="800" dirty="0"/>
          </a:p>
        </p:txBody>
      </p:sp>
      <p:sp>
        <p:nvSpPr>
          <p:cNvPr id="11" name="Text 8"/>
          <p:cNvSpPr/>
          <p:nvPr/>
        </p:nvSpPr>
        <p:spPr>
          <a:xfrm>
            <a:off x="457200" y="3566160"/>
            <a:ext cx="8229600" cy="27432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신탁재산의 상속·증여세 과세 기준</a:t>
            </a:r>
            <a:endParaRPr lang="en-US" sz="1400" dirty="0"/>
          </a:p>
        </p:txBody>
      </p:sp>
      <p:sp>
        <p:nvSpPr>
          <p:cNvPr id="12" name="Text 9"/>
          <p:cNvSpPr/>
          <p:nvPr/>
        </p:nvSpPr>
        <p:spPr>
          <a:xfrm>
            <a:off x="457200" y="3886200"/>
            <a:ext cx="8229600" cy="228600"/>
          </a:xfrm>
          <a:prstGeom prst="rect">
            <a:avLst/>
          </a:prstGeom>
          <a:noFill/>
          <a:ln/>
        </p:spPr>
        <p:txBody>
          <a:bodyPr wrap="square" lIns="0" tIns="0" rIns="0" bIns="0"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(1) 상속 시</a:t>
            </a:r>
            <a:endParaRPr lang="en-US" sz="1100" dirty="0"/>
          </a:p>
        </p:txBody>
      </p:sp>
      <p:sp>
        <p:nvSpPr>
          <p:cNvPr id="13" name="Text 10"/>
          <p:cNvSpPr/>
          <p:nvPr/>
        </p:nvSpPr>
        <p:spPr>
          <a:xfrm>
            <a:off x="457200" y="4142232"/>
            <a:ext cx="8229600" cy="41148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피상속인(위탁자)이 신탁의 이익 전부를 받을 권리를 가지고 있거나, 신탁의 이익 전부가 아직 귀속되지 않은 경우, 해당 신탁재산은 상속재산에 포함됩니다.</a:t>
            </a:r>
            <a:endParaRPr lang="en-US" sz="1000" dirty="0"/>
          </a:p>
        </p:txBody>
      </p:sp>
      <p:sp>
        <p:nvSpPr>
          <p:cNvPr id="14" name="Text 11"/>
          <p:cNvSpPr/>
          <p:nvPr/>
        </p:nvSpPr>
        <p:spPr>
          <a:xfrm>
            <a:off x="457200" y="4507992"/>
            <a:ext cx="8229600" cy="182880"/>
          </a:xfrm>
          <a:prstGeom prst="rect">
            <a:avLst/>
          </a:prstGeom>
          <a:noFill/>
          <a:ln/>
        </p:spPr>
        <p:txBody>
          <a:bodyPr wrap="square" lIns="0" tIns="0" rIns="0" bIns="0" rtlCol="0" anchor="t"/>
          <a:lstStyle/>
          <a:p>
            <a:pPr marL="0" indent="0">
              <a:buNone/>
            </a:pPr>
            <a:r>
              <a:rPr lang="en-US" sz="800" i="1" dirty="0">
                <a:solidFill>
                  <a:srgbClr val="666666"/>
                </a:solidFill>
                <a:latin typeface="맑은 고딕" pitchFamily="34" charset="0"/>
                <a:ea typeface="맑은 고딕" pitchFamily="34" charset="-122"/>
                <a:cs typeface="맑은 고딕" pitchFamily="34" charset="-120"/>
              </a:rPr>
              <a:t>출처: 상속세 및 증여세법 제9조 제3항 (현행법 기준)</a:t>
            </a:r>
            <a:endParaRPr lang="en-US" sz="800" dirty="0"/>
          </a:p>
        </p:txBody>
      </p:sp>
      <p:sp>
        <p:nvSpPr>
          <p:cNvPr id="15"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6"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17 / 27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Ⅷ. 세무 유의사항 (2/3)</a:t>
            </a:r>
            <a:endParaRPr lang="en-US" sz="1600" dirty="0"/>
          </a:p>
        </p:txBody>
      </p:sp>
      <p:sp>
        <p:nvSpPr>
          <p:cNvPr id="5" name="Text 3"/>
          <p:cNvSpPr/>
          <p:nvPr/>
        </p:nvSpPr>
        <p:spPr>
          <a:xfrm>
            <a:off x="457200" y="685800"/>
            <a:ext cx="8229600" cy="228600"/>
          </a:xfrm>
          <a:prstGeom prst="rect">
            <a:avLst/>
          </a:prstGeom>
          <a:noFill/>
          <a:ln/>
        </p:spPr>
        <p:txBody>
          <a:bodyPr wrap="square" lIns="0" tIns="0" rIns="0" bIns="0"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(2) 증여 시</a:t>
            </a:r>
            <a:endParaRPr lang="en-US" sz="1100" dirty="0"/>
          </a:p>
        </p:txBody>
      </p:sp>
      <p:sp>
        <p:nvSpPr>
          <p:cNvPr id="6" name="Text 4"/>
          <p:cNvSpPr/>
          <p:nvPr/>
        </p:nvSpPr>
        <p:spPr>
          <a:xfrm>
            <a:off x="457200" y="941832"/>
            <a:ext cx="8229600" cy="36576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신탁이익을 받을 권리가 위탁자로부터 타인(수익자)에게 이전되는 경우, 해당 수익자는 신탁이익을 증여받은 것으로 봅니다.</a:t>
            </a:r>
            <a:endParaRPr lang="en-US" sz="1000" dirty="0"/>
          </a:p>
        </p:txBody>
      </p:sp>
      <p:sp>
        <p:nvSpPr>
          <p:cNvPr id="7" name="Text 5"/>
          <p:cNvSpPr/>
          <p:nvPr/>
        </p:nvSpPr>
        <p:spPr>
          <a:xfrm>
            <a:off x="457200" y="1261872"/>
            <a:ext cx="8229600" cy="182880"/>
          </a:xfrm>
          <a:prstGeom prst="rect">
            <a:avLst/>
          </a:prstGeom>
          <a:noFill/>
          <a:ln/>
        </p:spPr>
        <p:txBody>
          <a:bodyPr wrap="square" lIns="0" tIns="0" rIns="0" bIns="0" rtlCol="0" anchor="t"/>
          <a:lstStyle/>
          <a:p>
            <a:pPr marL="0" indent="0">
              <a:buNone/>
            </a:pPr>
            <a:r>
              <a:rPr lang="en-US" sz="800" i="1" dirty="0">
                <a:solidFill>
                  <a:srgbClr val="666666"/>
                </a:solidFill>
                <a:latin typeface="맑은 고딕" pitchFamily="34" charset="0"/>
                <a:ea typeface="맑은 고딕" pitchFamily="34" charset="-122"/>
                <a:cs typeface="맑은 고딕" pitchFamily="34" charset="-120"/>
              </a:rPr>
              <a:t>출처: 상속세 및 증여세법 제33조 (현행법 기준)</a:t>
            </a:r>
            <a:endParaRPr lang="en-US" sz="800" dirty="0"/>
          </a:p>
        </p:txBody>
      </p:sp>
      <p:sp>
        <p:nvSpPr>
          <p:cNvPr id="8" name="Text 6"/>
          <p:cNvSpPr/>
          <p:nvPr/>
        </p:nvSpPr>
        <p:spPr>
          <a:xfrm>
            <a:off x="457200" y="1581912"/>
            <a:ext cx="8229600" cy="228600"/>
          </a:xfrm>
          <a:prstGeom prst="rect">
            <a:avLst/>
          </a:prstGeom>
          <a:noFill/>
          <a:ln/>
        </p:spPr>
        <p:txBody>
          <a:bodyPr wrap="square" lIns="0" tIns="0" rIns="0" bIns="0"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(3) 수익권 평가</a:t>
            </a:r>
            <a:endParaRPr lang="en-US" sz="1100" dirty="0"/>
          </a:p>
        </p:txBody>
      </p:sp>
      <p:sp>
        <p:nvSpPr>
          <p:cNvPr id="9" name="Text 7"/>
          <p:cNvSpPr/>
          <p:nvPr/>
        </p:nvSpPr>
        <p:spPr>
          <a:xfrm>
            <a:off x="457200" y="1837944"/>
            <a:ext cx="8229600" cy="32004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신탁계약에 따른 수익권의 가액은 신탁재산의 가액에서 신탁원본 및 그 밖의 부담을 차감하여 산정합니다.</a:t>
            </a:r>
            <a:endParaRPr lang="en-US" sz="1000" dirty="0"/>
          </a:p>
        </p:txBody>
      </p:sp>
      <p:sp>
        <p:nvSpPr>
          <p:cNvPr id="10" name="Text 8"/>
          <p:cNvSpPr/>
          <p:nvPr/>
        </p:nvSpPr>
        <p:spPr>
          <a:xfrm>
            <a:off x="457200" y="2112264"/>
            <a:ext cx="8229600" cy="182880"/>
          </a:xfrm>
          <a:prstGeom prst="rect">
            <a:avLst/>
          </a:prstGeom>
          <a:noFill/>
          <a:ln/>
        </p:spPr>
        <p:txBody>
          <a:bodyPr wrap="square" lIns="0" tIns="0" rIns="0" bIns="0" rtlCol="0" anchor="t"/>
          <a:lstStyle/>
          <a:p>
            <a:pPr marL="0" indent="0">
              <a:buNone/>
            </a:pPr>
            <a:r>
              <a:rPr lang="en-US" sz="800" i="1" dirty="0">
                <a:solidFill>
                  <a:srgbClr val="666666"/>
                </a:solidFill>
                <a:latin typeface="맑은 고딕" pitchFamily="34" charset="0"/>
                <a:ea typeface="맑은 고딕" pitchFamily="34" charset="-122"/>
                <a:cs typeface="맑은 고딕" pitchFamily="34" charset="-120"/>
              </a:rPr>
              <a:t>출처: 상속세 및 증여세법 시행령 제26조의2 (현행법 기준)</a:t>
            </a:r>
            <a:endParaRPr lang="en-US" sz="800" dirty="0"/>
          </a:p>
        </p:txBody>
      </p:sp>
      <p:sp>
        <p:nvSpPr>
          <p:cNvPr id="11" name="Text 9"/>
          <p:cNvSpPr/>
          <p:nvPr/>
        </p:nvSpPr>
        <p:spPr>
          <a:xfrm>
            <a:off x="457200" y="2432304"/>
            <a:ext cx="8229600" cy="27432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상속세 납부 재원 설계 시 유의사항</a:t>
            </a:r>
            <a:endParaRPr lang="en-US" sz="1400" dirty="0"/>
          </a:p>
        </p:txBody>
      </p:sp>
      <p:sp>
        <p:nvSpPr>
          <p:cNvPr id="12" name="Text 10"/>
          <p:cNvSpPr/>
          <p:nvPr/>
        </p:nvSpPr>
        <p:spPr>
          <a:xfrm>
            <a:off x="457200" y="2752344"/>
            <a:ext cx="8229600" cy="36576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'상속세 납부 재원으로 우선 사용한다'는 조항을 신탁 계약에 포함할 수 있습니다. 다만, 다음 사항을 반드시 고려해야 합니다:</a:t>
            </a:r>
            <a:endParaRPr lang="en-US" sz="1000" dirty="0"/>
          </a:p>
        </p:txBody>
      </p:sp>
      <p:sp>
        <p:nvSpPr>
          <p:cNvPr id="13" name="Text 11"/>
          <p:cNvSpPr/>
          <p:nvPr/>
        </p:nvSpPr>
        <p:spPr>
          <a:xfrm>
            <a:off x="457200" y="3118104"/>
            <a:ext cx="8229600" cy="731520"/>
          </a:xfrm>
          <a:prstGeom prst="rect">
            <a:avLst/>
          </a:prstGeom>
          <a:noFill/>
          <a:ln/>
        </p:spPr>
        <p:txBody>
          <a:bodyPr wrap="square" lIns="0" tIns="0" rIns="0" bIns="0" rtlCol="0" anchor="t"/>
          <a:lstStyle/>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사후 수익자에게 귀속될 재산/수익권 구조와 상속세 납부 재원의 집행 동선을 함께 설계</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수익권 평가 및 과세 이슈를 세무사와 사전에 확정</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상속세 납부 주체와 신탁 수익자 간의 관계 정리</a:t>
            </a:r>
            <a:endParaRPr lang="en-US" sz="10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18 / 27</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19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Ⅷ. 세무 유의사항 (3/3)</a:t>
            </a:r>
            <a:endParaRPr lang="en-US" sz="1600" dirty="0"/>
          </a:p>
        </p:txBody>
      </p:sp>
      <p:sp>
        <p:nvSpPr>
          <p:cNvPr id="5" name="Text 3"/>
          <p:cNvSpPr/>
          <p:nvPr/>
        </p:nvSpPr>
        <p:spPr>
          <a:xfrm>
            <a:off x="457200" y="685800"/>
            <a:ext cx="8229600" cy="27432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4. 종신보험 관련 세무 유의사항</a:t>
            </a:r>
            <a:endParaRPr lang="en-US" sz="1400" dirty="0"/>
          </a:p>
        </p:txBody>
      </p:sp>
      <p:sp>
        <p:nvSpPr>
          <p:cNvPr id="6" name="Shape 4"/>
          <p:cNvSpPr/>
          <p:nvPr/>
        </p:nvSpPr>
        <p:spPr>
          <a:xfrm>
            <a:off x="457200" y="1005840"/>
            <a:ext cx="8229600" cy="502920"/>
          </a:xfrm>
          <a:prstGeom prst="rect">
            <a:avLst/>
          </a:prstGeom>
          <a:solidFill>
            <a:srgbClr val="FFF8F0"/>
          </a:solidFill>
          <a:ln/>
        </p:spPr>
        <p:txBody>
          <a:bodyPr/>
          <a:lstStyle/>
          <a:p>
            <a:endParaRPr lang="ko-KR" altLang="en-US"/>
          </a:p>
        </p:txBody>
      </p:sp>
      <p:sp>
        <p:nvSpPr>
          <p:cNvPr id="7" name="Shape 5"/>
          <p:cNvSpPr/>
          <p:nvPr/>
        </p:nvSpPr>
        <p:spPr>
          <a:xfrm>
            <a:off x="457200" y="1005840"/>
            <a:ext cx="54864" cy="502920"/>
          </a:xfrm>
          <a:prstGeom prst="rect">
            <a:avLst/>
          </a:prstGeom>
          <a:solidFill>
            <a:srgbClr val="E67E22"/>
          </a:solidFill>
          <a:ln/>
        </p:spPr>
        <p:txBody>
          <a:bodyPr/>
          <a:lstStyle/>
          <a:p>
            <a:endParaRPr lang="ko-KR" altLang="en-US"/>
          </a:p>
        </p:txBody>
      </p:sp>
      <p:sp>
        <p:nvSpPr>
          <p:cNvPr id="8" name="Text 6"/>
          <p:cNvSpPr/>
          <p:nvPr/>
        </p:nvSpPr>
        <p:spPr>
          <a:xfrm>
            <a:off x="640080" y="1051560"/>
            <a:ext cx="7863840" cy="164592"/>
          </a:xfrm>
          <a:prstGeom prst="rect">
            <a:avLst/>
          </a:prstGeom>
          <a:noFill/>
          <a:ln/>
        </p:spPr>
        <p:txBody>
          <a:bodyPr wrap="square" lIns="0" tIns="0" rIns="0" bIns="0" rtlCol="0" anchor="t"/>
          <a:lstStyle/>
          <a:p>
            <a:pPr marL="0" indent="0">
              <a:buNone/>
            </a:pPr>
            <a:r>
              <a:rPr lang="en-US" sz="1000" b="1" dirty="0">
                <a:solidFill>
                  <a:srgbClr val="C45500"/>
                </a:solidFill>
                <a:latin typeface="맑은 고딕" pitchFamily="34" charset="0"/>
                <a:ea typeface="맑은 고딕" pitchFamily="34" charset="-122"/>
                <a:cs typeface="맑은 고딕" pitchFamily="34" charset="-120"/>
              </a:rPr>
              <a:t>중요</a:t>
            </a:r>
            <a:endParaRPr lang="en-US" sz="1000" dirty="0"/>
          </a:p>
        </p:txBody>
      </p:sp>
      <p:sp>
        <p:nvSpPr>
          <p:cNvPr id="9" name="Text 7"/>
          <p:cNvSpPr/>
          <p:nvPr/>
        </p:nvSpPr>
        <p:spPr>
          <a:xfrm>
            <a:off x="640080" y="1234440"/>
            <a:ext cx="7863840" cy="22860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개인이 납입하는 종신보험료는 소득세법상 소득공제 또는 필요경비 처리 대상이 아닙니다.</a:t>
            </a:r>
            <a:endParaRPr lang="en-US" sz="1000" dirty="0"/>
          </a:p>
        </p:txBody>
      </p:sp>
      <p:sp>
        <p:nvSpPr>
          <p:cNvPr id="10" name="Text 8"/>
          <p:cNvSpPr/>
          <p:nvPr/>
        </p:nvSpPr>
        <p:spPr>
          <a:xfrm>
            <a:off x="457200" y="1600200"/>
            <a:ext cx="8229600" cy="731520"/>
          </a:xfrm>
          <a:prstGeom prst="rect">
            <a:avLst/>
          </a:prstGeom>
          <a:noFill/>
          <a:ln/>
        </p:spPr>
        <p:txBody>
          <a:bodyPr wrap="square" lIns="0" tIns="0" rIns="0" bIns="0" rtlCol="0" anchor="t"/>
          <a:lstStyle/>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다만, 보장성보험료 세액공제(연 12만원 한도)는 적용 가능할 수 있음 (소득세법 제59조의4)</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사망보험금 수령 시 상속재산에 포함되어 상속세 과세 대상이 될 수 있음</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보험금 신탁 편입 시 수익자 변경에 따른 상법상 절차(피보험자 서면동의 등) 준수 필요 (상법 제731조)</a:t>
            </a:r>
            <a:endParaRPr lang="en-US" sz="1000" dirty="0"/>
          </a:p>
        </p:txBody>
      </p:sp>
      <p:sp>
        <p:nvSpPr>
          <p:cNvPr id="11" name="Text 9"/>
          <p:cNvSpPr/>
          <p:nvPr/>
        </p:nvSpPr>
        <p:spPr>
          <a:xfrm>
            <a:off x="457200" y="2377440"/>
            <a:ext cx="8229600" cy="320040"/>
          </a:xfrm>
          <a:prstGeom prst="rect">
            <a:avLst/>
          </a:prstGeom>
          <a:noFill/>
          <a:ln/>
        </p:spPr>
        <p:txBody>
          <a:bodyPr wrap="square" lIns="0" tIns="0" rIns="0" bIns="0" rtlCol="0" anchor="t"/>
          <a:lstStyle/>
          <a:p>
            <a:pPr marL="0" indent="0">
              <a:buNone/>
            </a:pPr>
            <a:r>
              <a:rPr lang="en-US" sz="850" i="1" dirty="0">
                <a:solidFill>
                  <a:srgbClr val="666666"/>
                </a:solidFill>
                <a:latin typeface="맑은 고딕" pitchFamily="34" charset="0"/>
                <a:ea typeface="맑은 고딕" pitchFamily="34" charset="-122"/>
                <a:cs typeface="맑은 고딕" pitchFamily="34" charset="-120"/>
              </a:rPr>
              <a:t>※ 보험과 신탁의 결합 구조는 복잡한 세무·법률 이슈가 수반되므로, 반드시 보험사, 신탁사, 세무사, 변호사와 협의 후 진행하시기 바랍니다.</a:t>
            </a:r>
            <a:endParaRPr lang="en-US" sz="850" dirty="0"/>
          </a:p>
        </p:txBody>
      </p:sp>
      <p:sp>
        <p:nvSpPr>
          <p:cNvPr id="12" name="Text 10"/>
          <p:cNvSpPr/>
          <p:nvPr/>
        </p:nvSpPr>
        <p:spPr>
          <a:xfrm>
            <a:off x="457200" y="2788920"/>
            <a:ext cx="8229600" cy="27432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5. 신탁 관리 보수 세무 처리</a:t>
            </a:r>
            <a:endParaRPr lang="en-US" sz="1400" dirty="0"/>
          </a:p>
        </p:txBody>
      </p:sp>
      <p:sp>
        <p:nvSpPr>
          <p:cNvPr id="13" name="Text 11"/>
          <p:cNvSpPr/>
          <p:nvPr/>
        </p:nvSpPr>
        <p:spPr>
          <a:xfrm>
            <a:off x="457200" y="3108960"/>
            <a:ext cx="8229600" cy="27432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개인 위탁자가 부담하는 신탁 관리 보수(연 0.1~0.3% 수준, 금융기관별 상이)의 세무상 처리:</a:t>
            </a:r>
            <a:endParaRPr lang="en-US" sz="1000" dirty="0"/>
          </a:p>
        </p:txBody>
      </p:sp>
      <p:sp>
        <p:nvSpPr>
          <p:cNvPr id="14" name="Text 12"/>
          <p:cNvSpPr/>
          <p:nvPr/>
        </p:nvSpPr>
        <p:spPr>
          <a:xfrm>
            <a:off x="457200" y="3383280"/>
            <a:ext cx="8229600" cy="457200"/>
          </a:xfrm>
          <a:prstGeom prst="rect">
            <a:avLst/>
          </a:prstGeom>
          <a:noFill/>
          <a:ln/>
        </p:spPr>
        <p:txBody>
          <a:bodyPr wrap="square" lIns="0" tIns="0" rIns="0" bIns="0" rtlCol="0" anchor="t"/>
          <a:lstStyle/>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소득세법상 필요경비로 인정되기 어려울 수 있음</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임대소득 발생 시 해당 소득에서 관리비용으로 공제 가능 여부는 세무사 확인 필요</a:t>
            </a:r>
            <a:endParaRPr lang="en-US" sz="1000" dirty="0"/>
          </a:p>
        </p:txBody>
      </p:sp>
      <p:sp>
        <p:nvSpPr>
          <p:cNvPr id="15" name="Text 13"/>
          <p:cNvSpPr/>
          <p:nvPr/>
        </p:nvSpPr>
        <p:spPr>
          <a:xfrm>
            <a:off x="457200" y="3840480"/>
            <a:ext cx="8229600" cy="320040"/>
          </a:xfrm>
          <a:prstGeom prst="rect">
            <a:avLst/>
          </a:prstGeom>
          <a:noFill/>
          <a:ln/>
        </p:spPr>
        <p:txBody>
          <a:bodyPr wrap="square" lIns="0" tIns="0" rIns="0" bIns="0" rtlCol="0" anchor="t"/>
          <a:lstStyle/>
          <a:p>
            <a:pPr marL="0" indent="0">
              <a:buNone/>
            </a:pPr>
            <a:r>
              <a:rPr lang="en-US" sz="850" i="1" dirty="0">
                <a:solidFill>
                  <a:srgbClr val="666666"/>
                </a:solidFill>
                <a:latin typeface="맑은 고딕" pitchFamily="34" charset="0"/>
                <a:ea typeface="맑은 고딕" pitchFamily="34" charset="-122"/>
                <a:cs typeface="맑은 고딕" pitchFamily="34" charset="-120"/>
              </a:rPr>
              <a:t>※ 법적·세무적 해석 필요: 신탁 관리 보수의 구체적 세무 처리는 개별 사안에 따라 달라질 수 있으므로, 세무 전문가와 반드시 협의하시기 바랍니다.</a:t>
            </a:r>
            <a:endParaRPr lang="en-US" sz="850" dirty="0"/>
          </a:p>
        </p:txBody>
      </p:sp>
      <p:sp>
        <p:nvSpPr>
          <p:cNvPr id="16" name="Text 1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7" name="Text 1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19 / 27</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20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Ⅸ. 종합 결론 및 전략적 제언</a:t>
            </a:r>
            <a:endParaRPr lang="en-US" sz="1600" dirty="0"/>
          </a:p>
        </p:txBody>
      </p:sp>
      <p:sp>
        <p:nvSpPr>
          <p:cNvPr id="5" name="Text 3"/>
          <p:cNvSpPr/>
          <p:nvPr/>
        </p:nvSpPr>
        <p:spPr>
          <a:xfrm>
            <a:off x="457200" y="685800"/>
            <a:ext cx="8229600" cy="731520"/>
          </a:xfrm>
          <a:prstGeom prst="rect">
            <a:avLst/>
          </a:prstGeom>
          <a:noFill/>
          <a:ln/>
        </p:spPr>
        <p:txBody>
          <a:bodyPr wrap="square" lIns="0" tIns="0" rIns="0" bIns="0" rtlCol="0" anchor="t"/>
          <a:lstStyle/>
          <a:p>
            <a:pPr marL="0" indent="0">
              <a:buNone/>
            </a:pPr>
            <a:r>
              <a:rPr lang="en-US" sz="1100" dirty="0">
                <a:solidFill>
                  <a:srgbClr val="2B2B2B"/>
                </a:solidFill>
                <a:latin typeface="맑은 고딕" pitchFamily="34" charset="0"/>
                <a:ea typeface="맑은 고딕" pitchFamily="34" charset="-122"/>
                <a:cs typeface="맑은 고딕" pitchFamily="34" charset="-120"/>
              </a:rPr>
              <a:t>대표님, 진정한 자산가는 자산을 불리는 능력보다 그 자산을 '끝까지 지켜내는 능력'으로 </a:t>
            </a:r>
            <a:r>
              <a:rPr lang="en-US" sz="1100" dirty="0" err="1">
                <a:solidFill>
                  <a:srgbClr val="2B2B2B"/>
                </a:solidFill>
                <a:latin typeface="맑은 고딕" pitchFamily="34" charset="0"/>
                <a:ea typeface="맑은 고딕" pitchFamily="34" charset="-122"/>
                <a:cs typeface="맑은 고딕" pitchFamily="34" charset="-120"/>
              </a:rPr>
              <a:t>평가받습니다</a:t>
            </a:r>
            <a:r>
              <a:rPr lang="en-US" sz="1100" dirty="0">
                <a:solidFill>
                  <a:srgbClr val="2B2B2B"/>
                </a:solidFill>
                <a:latin typeface="맑은 고딕" pitchFamily="34" charset="0"/>
                <a:ea typeface="맑은 고딕" pitchFamily="34" charset="-122"/>
                <a:cs typeface="맑은 고딕" pitchFamily="34" charset="-120"/>
              </a:rPr>
              <a:t>.</a:t>
            </a:r>
          </a:p>
          <a:p>
            <a:pPr marL="0" indent="0">
              <a:buNone/>
            </a:pPr>
            <a:r>
              <a:rPr lang="en-US" sz="1100" dirty="0" err="1">
                <a:solidFill>
                  <a:srgbClr val="2B2B2B"/>
                </a:solidFill>
                <a:latin typeface="맑은 고딕" pitchFamily="34" charset="0"/>
                <a:ea typeface="맑은 고딕" pitchFamily="34" charset="-122"/>
                <a:cs typeface="맑은 고딕" pitchFamily="34" charset="-120"/>
              </a:rPr>
              <a:t>업종·보증·소송노출이</a:t>
            </a:r>
            <a:r>
              <a:rPr lang="en-US" sz="1100" dirty="0">
                <a:solidFill>
                  <a:srgbClr val="2B2B2B"/>
                </a:solidFill>
                <a:latin typeface="맑은 고딕" pitchFamily="34" charset="0"/>
                <a:ea typeface="맑은 고딕" pitchFamily="34" charset="-122"/>
                <a:cs typeface="맑은 고딕" pitchFamily="34" charset="-120"/>
              </a:rPr>
              <a:t> 큰 오너 CEO에게 개인 명의 자산이 직접 집행 타깃이 될 가능성이 높아 선제적 구조화가 필요합니다.</a:t>
            </a:r>
            <a:endParaRPr lang="en-US" sz="1100" dirty="0"/>
          </a:p>
        </p:txBody>
      </p:sp>
      <p:sp>
        <p:nvSpPr>
          <p:cNvPr id="6" name="Text 4"/>
          <p:cNvSpPr/>
          <p:nvPr/>
        </p:nvSpPr>
        <p:spPr>
          <a:xfrm>
            <a:off x="457200" y="1463040"/>
            <a:ext cx="8229600" cy="822960"/>
          </a:xfrm>
          <a:prstGeom prst="rect">
            <a:avLst/>
          </a:prstGeom>
          <a:noFill/>
          <a:ln/>
        </p:spPr>
        <p:txBody>
          <a:bodyPr wrap="square" lIns="0" tIns="0" rIns="0" bIns="0" rtlCol="0" anchor="t"/>
          <a:lstStyle/>
          <a:p>
            <a:pPr marL="0" indent="0">
              <a:buNone/>
            </a:pPr>
            <a:r>
              <a:rPr lang="en-US" sz="1100" dirty="0">
                <a:solidFill>
                  <a:srgbClr val="2B2B2B"/>
                </a:solidFill>
                <a:latin typeface="맑은 고딕" pitchFamily="34" charset="0"/>
                <a:ea typeface="맑은 고딕" pitchFamily="34" charset="-122"/>
                <a:cs typeface="맑은 고딕" pitchFamily="34" charset="-120"/>
              </a:rPr>
              <a:t>본 보고서에서 제시한 신탁 전략은 대표님의 자산에 대해 신탁법상 예외사항을 제외한 범위에서 일반 채권자의 강제집행 위험을 상당히 낮추는 구조를 구축함과 동시에, 대표님이 없는 세상에서도 대표님의 뜻이 자녀들에게 안전하게 전달되도록 하는 현대적인 효(孝)와 책임의 실천입니다.</a:t>
            </a:r>
            <a:endParaRPr lang="en-US" sz="1100" dirty="0"/>
          </a:p>
        </p:txBody>
      </p:sp>
      <p:sp>
        <p:nvSpPr>
          <p:cNvPr id="7" name="Shape 5"/>
          <p:cNvSpPr/>
          <p:nvPr/>
        </p:nvSpPr>
        <p:spPr>
          <a:xfrm>
            <a:off x="457200" y="2377440"/>
            <a:ext cx="8229600" cy="822960"/>
          </a:xfrm>
          <a:prstGeom prst="rect">
            <a:avLst/>
          </a:prstGeom>
          <a:solidFill>
            <a:srgbClr val="1B2A4A"/>
          </a:solidFill>
          <a:ln/>
          <a:effectLst>
            <a:outerShdw blurRad="50800" dist="25400" dir="8100000" algn="bl" rotWithShape="0">
              <a:srgbClr val="000000">
                <a:alpha val="10000"/>
              </a:srgbClr>
            </a:outerShdw>
          </a:effectLst>
        </p:spPr>
        <p:txBody>
          <a:bodyPr/>
          <a:lstStyle/>
          <a:p>
            <a:endParaRPr lang="ko-KR" altLang="en-US"/>
          </a:p>
        </p:txBody>
      </p:sp>
      <p:sp>
        <p:nvSpPr>
          <p:cNvPr id="8" name="Text 6"/>
          <p:cNvSpPr/>
          <p:nvPr/>
        </p:nvSpPr>
        <p:spPr>
          <a:xfrm>
            <a:off x="640080" y="2450592"/>
            <a:ext cx="7863840" cy="182880"/>
          </a:xfrm>
          <a:prstGeom prst="rect">
            <a:avLst/>
          </a:prstGeom>
          <a:noFill/>
          <a:ln/>
        </p:spPr>
        <p:txBody>
          <a:bodyPr wrap="square" lIns="0" tIns="0" rIns="0" bIns="0" rtlCol="0" anchor="t"/>
          <a:lstStyle/>
          <a:p>
            <a:pPr marL="0" indent="0">
              <a:buNone/>
            </a:pPr>
            <a:r>
              <a:rPr lang="en-US" sz="1100" b="1" dirty="0">
                <a:solidFill>
                  <a:srgbClr val="C8962E"/>
                </a:solidFill>
                <a:latin typeface="맑은 고딕" pitchFamily="34" charset="0"/>
                <a:ea typeface="맑은 고딕" pitchFamily="34" charset="-122"/>
                <a:cs typeface="맑은 고딕" pitchFamily="34" charset="-120"/>
              </a:rPr>
              <a:t>핵심 메시지</a:t>
            </a:r>
            <a:endParaRPr lang="en-US" sz="1100" dirty="0"/>
          </a:p>
        </p:txBody>
      </p:sp>
      <p:sp>
        <p:nvSpPr>
          <p:cNvPr id="9" name="Text 7"/>
          <p:cNvSpPr/>
          <p:nvPr/>
        </p:nvSpPr>
        <p:spPr>
          <a:xfrm>
            <a:off x="640080" y="2670048"/>
            <a:ext cx="7863840" cy="457200"/>
          </a:xfrm>
          <a:prstGeom prst="rect">
            <a:avLst/>
          </a:prstGeom>
          <a:noFill/>
          <a:ln/>
        </p:spPr>
        <p:txBody>
          <a:bodyPr wrap="square" lIns="0" tIns="0" rIns="0" bIns="0" rtlCol="0" anchor="t"/>
          <a:lstStyle/>
          <a:p>
            <a:pPr marL="0" indent="0">
              <a:buNone/>
            </a:pPr>
            <a:r>
              <a:rPr lang="en-US" sz="1000" dirty="0">
                <a:solidFill>
                  <a:srgbClr val="FFFFFF"/>
                </a:solidFill>
                <a:latin typeface="맑은 고딕" pitchFamily="34" charset="0"/>
                <a:ea typeface="맑은 고딕" pitchFamily="34" charset="-122"/>
                <a:cs typeface="맑은 고딕" pitchFamily="34" charset="-120"/>
              </a:rPr>
              <a:t>성공적인 실행을 위해 가장 중요한 것은 '타이밍'입니다. 리스크가 현실화된 후에는 우산을 쓸 수 없습니다. 지금 이 안정적인 시기에 가문의 방화벽을 세우시길 제언합니다.</a:t>
            </a:r>
            <a:endParaRPr lang="en-US" sz="1000" dirty="0"/>
          </a:p>
        </p:txBody>
      </p:sp>
      <p:sp>
        <p:nvSpPr>
          <p:cNvPr id="10" name="Shape 8"/>
          <p:cNvSpPr/>
          <p:nvPr/>
        </p:nvSpPr>
        <p:spPr>
          <a:xfrm>
            <a:off x="457200" y="3337560"/>
            <a:ext cx="8229600" cy="640080"/>
          </a:xfrm>
          <a:prstGeom prst="rect">
            <a:avLst/>
          </a:prstGeom>
          <a:solidFill>
            <a:srgbClr val="FFF8F0"/>
          </a:solidFill>
          <a:ln/>
        </p:spPr>
        <p:txBody>
          <a:bodyPr/>
          <a:lstStyle/>
          <a:p>
            <a:endParaRPr lang="ko-KR" altLang="en-US"/>
          </a:p>
        </p:txBody>
      </p:sp>
      <p:sp>
        <p:nvSpPr>
          <p:cNvPr id="11" name="Shape 9"/>
          <p:cNvSpPr/>
          <p:nvPr/>
        </p:nvSpPr>
        <p:spPr>
          <a:xfrm>
            <a:off x="457200" y="3337560"/>
            <a:ext cx="54864" cy="640080"/>
          </a:xfrm>
          <a:prstGeom prst="rect">
            <a:avLst/>
          </a:prstGeom>
          <a:solidFill>
            <a:srgbClr val="E67E22"/>
          </a:solidFill>
          <a:ln/>
        </p:spPr>
        <p:txBody>
          <a:bodyPr/>
          <a:lstStyle/>
          <a:p>
            <a:endParaRPr lang="ko-KR" altLang="en-US"/>
          </a:p>
        </p:txBody>
      </p:sp>
      <p:sp>
        <p:nvSpPr>
          <p:cNvPr id="12" name="Text 10"/>
          <p:cNvSpPr/>
          <p:nvPr/>
        </p:nvSpPr>
        <p:spPr>
          <a:xfrm>
            <a:off x="640080" y="3383280"/>
            <a:ext cx="7863840" cy="182880"/>
          </a:xfrm>
          <a:prstGeom prst="rect">
            <a:avLst/>
          </a:prstGeom>
          <a:noFill/>
          <a:ln/>
        </p:spPr>
        <p:txBody>
          <a:bodyPr wrap="square" lIns="0" tIns="0" rIns="0" bIns="0" rtlCol="0" anchor="t"/>
          <a:lstStyle/>
          <a:p>
            <a:pPr marL="0" indent="0">
              <a:buNone/>
            </a:pPr>
            <a:r>
              <a:rPr lang="en-US" sz="1000" b="1" dirty="0">
                <a:solidFill>
                  <a:srgbClr val="C45500"/>
                </a:solidFill>
                <a:latin typeface="맑은 고딕" pitchFamily="34" charset="0"/>
                <a:ea typeface="맑은 고딕" pitchFamily="34" charset="-122"/>
                <a:cs typeface="맑은 고딕" pitchFamily="34" charset="-120"/>
              </a:rPr>
              <a:t>최종 유의사항</a:t>
            </a:r>
            <a:endParaRPr lang="en-US" sz="1000" dirty="0"/>
          </a:p>
        </p:txBody>
      </p:sp>
      <p:sp>
        <p:nvSpPr>
          <p:cNvPr id="13" name="Text 11"/>
          <p:cNvSpPr/>
          <p:nvPr/>
        </p:nvSpPr>
        <p:spPr>
          <a:xfrm>
            <a:off x="640080" y="3584448"/>
            <a:ext cx="7863840" cy="365760"/>
          </a:xfrm>
          <a:prstGeom prst="rect">
            <a:avLst/>
          </a:prstGeom>
          <a:noFill/>
          <a:ln/>
        </p:spPr>
        <p:txBody>
          <a:bodyPr wrap="square" lIns="0" tIns="0" rIns="0" bIns="0" rtlCol="0" anchor="t"/>
          <a:lstStyle/>
          <a:p>
            <a:pPr marL="0" indent="0">
              <a:buNone/>
            </a:pPr>
            <a:r>
              <a:rPr lang="en-US" sz="950" dirty="0">
                <a:solidFill>
                  <a:srgbClr val="2B2B2B"/>
                </a:solidFill>
                <a:latin typeface="맑은 고딕" pitchFamily="34" charset="0"/>
                <a:ea typeface="맑은 고딕" pitchFamily="34" charset="-122"/>
                <a:cs typeface="맑은 고딕" pitchFamily="34" charset="-120"/>
              </a:rPr>
              <a:t>본 보고서의 전략 및 솔루션은 반드시 법률(변호사), 세무(세무사), 금융(신탁사/보험사) 전문가와의 협의를 거쳐 실행하시기 바랍니다. 개별 사안의 구체적 상황에 따라 적용 방법 및 효과가 달라질 수 있습니다.</a:t>
            </a:r>
            <a:endParaRPr lang="en-US" sz="95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20 / 27</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21</a:t>
            </a:r>
            <a:endParaRPr lang="en-US" sz="900" dirty="0"/>
          </a:p>
        </p:txBody>
      </p:sp>
      <p:sp>
        <p:nvSpPr>
          <p:cNvPr id="6" name="Text 4"/>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Ⅹ. 컨설팅 시나리오 (1/3)</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상담주제: "대표님의 집 한 채, 정말 대표님 것입니까?"</a:t>
            </a:r>
            <a:endParaRPr lang="en-US" sz="1400" dirty="0"/>
          </a:p>
        </p:txBody>
      </p:sp>
      <p:sp>
        <p:nvSpPr>
          <p:cNvPr id="8" name="Text 6"/>
          <p:cNvSpPr/>
          <p:nvPr/>
        </p:nvSpPr>
        <p:spPr>
          <a:xfrm>
            <a:off x="457200" y="978408"/>
            <a:ext cx="8229600" cy="228600"/>
          </a:xfrm>
          <a:prstGeom prst="rect">
            <a:avLst/>
          </a:prstGeom>
          <a:noFill/>
          <a:ln/>
        </p:spPr>
        <p:txBody>
          <a:bodyPr wrap="square" lIns="0" tIns="0" rIns="0" bIns="0" rtlCol="0" anchor="ctr"/>
          <a:lstStyle/>
          <a:p>
            <a:pPr marL="0" indent="0">
              <a:buNone/>
            </a:pPr>
            <a:r>
              <a:rPr lang="en-US" sz="1000" i="1" dirty="0">
                <a:solidFill>
                  <a:srgbClr val="666666"/>
                </a:solidFill>
                <a:latin typeface="맑은 고딕" pitchFamily="34" charset="0"/>
                <a:ea typeface="맑은 고딕" pitchFamily="34" charset="-122"/>
                <a:cs typeface="맑은 고딕" pitchFamily="34" charset="-120"/>
              </a:rPr>
              <a:t>자산 방화벽 신탁 전략</a:t>
            </a:r>
            <a:endParaRPr lang="en-US" sz="1000" dirty="0"/>
          </a:p>
        </p:txBody>
      </p:sp>
      <p:sp>
        <p:nvSpPr>
          <p:cNvPr id="9" name="Text 7"/>
          <p:cNvSpPr/>
          <p:nvPr/>
        </p:nvSpPr>
        <p:spPr>
          <a:xfrm>
            <a:off x="457200" y="1298448"/>
            <a:ext cx="8229600" cy="228600"/>
          </a:xfrm>
          <a:prstGeom prst="rect">
            <a:avLst/>
          </a:prstGeom>
          <a:noFill/>
          <a:ln/>
        </p:spPr>
        <p:txBody>
          <a:bodyPr wrap="square" lIns="0" tIns="0" rIns="0" bIns="0"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1. 리스크 진단 (As-Is 파악)</a:t>
            </a:r>
            <a:endParaRPr lang="en-US" sz="1100" dirty="0"/>
          </a:p>
        </p:txBody>
      </p:sp>
      <p:sp>
        <p:nvSpPr>
          <p:cNvPr id="10" name="Text 8"/>
          <p:cNvSpPr/>
          <p:nvPr/>
        </p:nvSpPr>
        <p:spPr>
          <a:xfrm>
            <a:off x="457200" y="1554480"/>
            <a:ext cx="8229600" cy="41148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기업 경영 과정에서 발생하는 예기치 못한 소송이나 보증 리스크가 터지면, 대표님 개인 명의의 집과 빌딩은 채권자의 주요 타겟이 됩니다.</a:t>
            </a:r>
            <a:endParaRPr lang="en-US" sz="1000" dirty="0"/>
          </a:p>
        </p:txBody>
      </p:sp>
      <p:sp>
        <p:nvSpPr>
          <p:cNvPr id="11" name="Text 9"/>
          <p:cNvSpPr/>
          <p:nvPr/>
        </p:nvSpPr>
        <p:spPr>
          <a:xfrm>
            <a:off x="457200" y="1965960"/>
            <a:ext cx="8229600" cy="228600"/>
          </a:xfrm>
          <a:prstGeom prst="rect">
            <a:avLst/>
          </a:prstGeom>
          <a:noFill/>
          <a:ln/>
        </p:spPr>
        <p:txBody>
          <a:bodyPr wrap="square" lIns="0" tIns="0" rIns="0" bIns="0"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2. 전략 제안 (To-Be 플랜)</a:t>
            </a:r>
            <a:endParaRPr lang="en-US" sz="1100" dirty="0"/>
          </a:p>
        </p:txBody>
      </p:sp>
      <p:sp>
        <p:nvSpPr>
          <p:cNvPr id="12" name="Text 10"/>
          <p:cNvSpPr/>
          <p:nvPr/>
        </p:nvSpPr>
        <p:spPr>
          <a:xfrm>
            <a:off x="457200" y="2221992"/>
            <a:ext cx="8229600" cy="59436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신탁법의 '재산 독립성'을 활용하십시오. 소유권 명의를 신탁사로 이전하고 운용권은 계약으로 확보하면, 대부분의 일반 채권자로부터 집행 위험을 상당히 낮출 수 있습니다. 단, 신탁 전 원인 채권, 사해신탁 등 예외 상황은 존재하므로 전문가 검토가 필수입니다.</a:t>
            </a:r>
            <a:endParaRPr lang="en-US" sz="1000" dirty="0"/>
          </a:p>
        </p:txBody>
      </p:sp>
      <p:sp>
        <p:nvSpPr>
          <p:cNvPr id="13" name="Text 11"/>
          <p:cNvSpPr/>
          <p:nvPr/>
        </p:nvSpPr>
        <p:spPr>
          <a:xfrm>
            <a:off x="457200" y="2816352"/>
            <a:ext cx="8229600" cy="228600"/>
          </a:xfrm>
          <a:prstGeom prst="rect">
            <a:avLst/>
          </a:prstGeom>
          <a:noFill/>
          <a:ln/>
        </p:spPr>
        <p:txBody>
          <a:bodyPr wrap="square" lIns="0" tIns="0" rIns="0" bIns="0"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3. 기대 효과 요약</a:t>
            </a:r>
            <a:endParaRPr lang="en-US" sz="1100" dirty="0"/>
          </a:p>
        </p:txBody>
      </p:sp>
      <p:sp>
        <p:nvSpPr>
          <p:cNvPr id="14" name="Text 12"/>
          <p:cNvSpPr/>
          <p:nvPr/>
        </p:nvSpPr>
        <p:spPr>
          <a:xfrm>
            <a:off x="457200" y="3072384"/>
            <a:ext cx="8229600" cy="45720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사업 리스크가 가계로 전이되는 통로를 좁히고, 사후에는 가족들이 복잡한 법적 절차 없이 신속하게 자산을 물려받아 상속세를 내거나 생활비로 쓸 수 있게 됩니다.</a:t>
            </a:r>
            <a:endParaRPr lang="en-US" sz="1000" dirty="0"/>
          </a:p>
        </p:txBody>
      </p:sp>
      <p:sp>
        <p:nvSpPr>
          <p:cNvPr id="15" name="Text 13"/>
          <p:cNvSpPr/>
          <p:nvPr/>
        </p:nvSpPr>
        <p:spPr>
          <a:xfrm>
            <a:off x="457200" y="3529584"/>
            <a:ext cx="8229600" cy="228600"/>
          </a:xfrm>
          <a:prstGeom prst="rect">
            <a:avLst/>
          </a:prstGeom>
          <a:noFill/>
          <a:ln/>
        </p:spPr>
        <p:txBody>
          <a:bodyPr wrap="square" lIns="0" tIns="0" rIns="0" bIns="0"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4. 실행 플랜 요약</a:t>
            </a:r>
            <a:endParaRPr lang="en-US" sz="1100" dirty="0"/>
          </a:p>
        </p:txBody>
      </p:sp>
      <p:sp>
        <p:nvSpPr>
          <p:cNvPr id="16" name="Text 14"/>
          <p:cNvSpPr/>
          <p:nvPr/>
        </p:nvSpPr>
        <p:spPr>
          <a:xfrm>
            <a:off x="457200" y="3785616"/>
            <a:ext cx="8229600" cy="45720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보증 리스크 축소 방안을 먼저 검토한 후, 현재 가장 노출이 큰 부동산부터 신탁 설정을 진행하고, 상속세 재원 마련을 위한 보험을 신탁과 연계합니다.</a:t>
            </a:r>
            <a:endParaRPr lang="en-US" sz="1000" dirty="0"/>
          </a:p>
        </p:txBody>
      </p:sp>
      <p:sp>
        <p:nvSpPr>
          <p:cNvPr id="17" name="Text 1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8" name="Text 1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21 / 27</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22</a:t>
            </a:r>
            <a:endParaRPr lang="en-US" sz="900" dirty="0"/>
          </a:p>
        </p:txBody>
      </p:sp>
      <p:sp>
        <p:nvSpPr>
          <p:cNvPr id="6" name="Text 4"/>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Ⅹ. 컨설팅 시나리오 (2/3)</a:t>
            </a:r>
            <a:endParaRPr lang="en-US" sz="1600" dirty="0"/>
          </a:p>
        </p:txBody>
      </p:sp>
      <p:sp>
        <p:nvSpPr>
          <p:cNvPr id="7" name="Text 5"/>
          <p:cNvSpPr/>
          <p:nvPr/>
        </p:nvSpPr>
        <p:spPr>
          <a:xfrm>
            <a:off x="457200" y="685800"/>
            <a:ext cx="8229600" cy="256032"/>
          </a:xfrm>
          <a:prstGeom prst="rect">
            <a:avLst/>
          </a:prstGeom>
          <a:noFill/>
          <a:ln/>
        </p:spPr>
        <p:txBody>
          <a:bodyPr wrap="square" lIns="0" tIns="0" rIns="0" bIns="0"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5. 대표님이 자주 묻는 질문</a:t>
            </a:r>
            <a:endParaRPr lang="en-US" sz="1100" dirty="0"/>
          </a:p>
        </p:txBody>
      </p:sp>
      <p:sp>
        <p:nvSpPr>
          <p:cNvPr id="8" name="Text 6"/>
          <p:cNvSpPr/>
          <p:nvPr/>
        </p:nvSpPr>
        <p:spPr>
          <a:xfrm>
            <a:off x="457200" y="978408"/>
            <a:ext cx="8229600" cy="274320"/>
          </a:xfrm>
          <a:prstGeom prst="rect">
            <a:avLst/>
          </a:prstGeom>
          <a:noFill/>
          <a:ln/>
        </p:spPr>
        <p:txBody>
          <a:bodyPr wrap="square" lIns="0" tIns="0" rIns="0" bIns="0" rtlCol="0" anchor="t"/>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Q: "신탁하면 내 마음대로 건물을 못 파나요?"</a:t>
            </a:r>
            <a:endParaRPr lang="en-US" sz="1000" dirty="0"/>
          </a:p>
        </p:txBody>
      </p:sp>
      <p:sp>
        <p:nvSpPr>
          <p:cNvPr id="9" name="Text 7"/>
          <p:cNvSpPr/>
          <p:nvPr/>
        </p:nvSpPr>
        <p:spPr>
          <a:xfrm>
            <a:off x="457200" y="1252728"/>
            <a:ext cx="8229600" cy="68580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A: "아닙니다. 신탁 계약서에 '운용지시권'을 명시하면 매각, 임대, 담보대출까지 모두 대표님이 지금과 유사하게 지시하고 결정하실 수 있습니다. 단, 금융기관과 신탁유형에 따라 운용권 범위는 다를 수 있으므로 계약 시 꼼꼼히 확인하셔야 합니다."</a:t>
            </a:r>
            <a:endParaRPr lang="en-US" sz="1000" dirty="0"/>
          </a:p>
        </p:txBody>
      </p:sp>
      <p:sp>
        <p:nvSpPr>
          <p:cNvPr id="10" name="Text 8"/>
          <p:cNvSpPr/>
          <p:nvPr/>
        </p:nvSpPr>
        <p:spPr>
          <a:xfrm>
            <a:off x="457200" y="1984248"/>
            <a:ext cx="8229600" cy="256032"/>
          </a:xfrm>
          <a:prstGeom prst="rect">
            <a:avLst/>
          </a:prstGeom>
          <a:noFill/>
          <a:ln/>
        </p:spPr>
        <p:txBody>
          <a:bodyPr wrap="square" lIns="0" tIns="0" rIns="0" bIns="0"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6. 결론</a:t>
            </a:r>
            <a:endParaRPr lang="en-US" sz="1100" dirty="0"/>
          </a:p>
        </p:txBody>
      </p:sp>
      <p:sp>
        <p:nvSpPr>
          <p:cNvPr id="11" name="Shape 9"/>
          <p:cNvSpPr/>
          <p:nvPr/>
        </p:nvSpPr>
        <p:spPr>
          <a:xfrm>
            <a:off x="457200" y="2276856"/>
            <a:ext cx="8229600" cy="457200"/>
          </a:xfrm>
          <a:prstGeom prst="rect">
            <a:avLst/>
          </a:prstGeom>
          <a:solidFill>
            <a:srgbClr val="1B2A4A"/>
          </a:solidFill>
          <a:ln/>
          <a:effectLst>
            <a:outerShdw blurRad="50800" dist="25400" dir="8100000" algn="bl" rotWithShape="0">
              <a:srgbClr val="000000">
                <a:alpha val="10000"/>
              </a:srgbClr>
            </a:outerShdw>
          </a:effectLst>
        </p:spPr>
        <p:txBody>
          <a:bodyPr/>
          <a:lstStyle/>
          <a:p>
            <a:endParaRPr lang="ko-KR" altLang="en-US"/>
          </a:p>
        </p:txBody>
      </p:sp>
      <p:sp>
        <p:nvSpPr>
          <p:cNvPr id="12" name="Text 10"/>
          <p:cNvSpPr/>
          <p:nvPr/>
        </p:nvSpPr>
        <p:spPr>
          <a:xfrm>
            <a:off x="640080" y="2322576"/>
            <a:ext cx="7863840" cy="365760"/>
          </a:xfrm>
          <a:prstGeom prst="rect">
            <a:avLst/>
          </a:prstGeom>
          <a:noFill/>
          <a:ln/>
        </p:spPr>
        <p:txBody>
          <a:bodyPr wrap="square" lIns="0" tIns="0" rIns="0" bIns="0" rtlCol="0" anchor="ctr"/>
          <a:lstStyle/>
          <a:p>
            <a:pPr marL="0" indent="0">
              <a:buNone/>
            </a:pPr>
            <a:r>
              <a:rPr lang="en-US" sz="1200" b="1" dirty="0">
                <a:solidFill>
                  <a:srgbClr val="C8962E"/>
                </a:solidFill>
                <a:latin typeface="맑은 고딕" pitchFamily="34" charset="0"/>
                <a:ea typeface="맑은 고딕" pitchFamily="34" charset="-122"/>
                <a:cs typeface="맑은 고딕" pitchFamily="34" charset="-120"/>
              </a:rPr>
              <a:t>소나기가 오기 전에 우산을 준비하는 경영자가 기업을 끝까지 지킵니다.</a:t>
            </a:r>
            <a:endParaRPr lang="en-US" sz="1200" dirty="0"/>
          </a:p>
        </p:txBody>
      </p:sp>
      <p:sp>
        <p:nvSpPr>
          <p:cNvPr id="13" name="Text 11"/>
          <p:cNvSpPr/>
          <p:nvPr/>
        </p:nvSpPr>
        <p:spPr>
          <a:xfrm>
            <a:off x="457200" y="2871216"/>
            <a:ext cx="8229600" cy="27432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실무상담 스크립트</a:t>
            </a:r>
            <a:endParaRPr lang="en-US" sz="1400" dirty="0"/>
          </a:p>
        </p:txBody>
      </p:sp>
      <p:sp>
        <p:nvSpPr>
          <p:cNvPr id="14" name="Shape 12"/>
          <p:cNvSpPr/>
          <p:nvPr/>
        </p:nvSpPr>
        <p:spPr>
          <a:xfrm>
            <a:off x="457200" y="3191256"/>
            <a:ext cx="8229600" cy="10058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5" name="Shape 13"/>
          <p:cNvSpPr/>
          <p:nvPr/>
        </p:nvSpPr>
        <p:spPr>
          <a:xfrm>
            <a:off x="457200" y="3191256"/>
            <a:ext cx="54864" cy="1005840"/>
          </a:xfrm>
          <a:prstGeom prst="rect">
            <a:avLst/>
          </a:prstGeom>
          <a:solidFill>
            <a:srgbClr val="C8962E"/>
          </a:solidFill>
          <a:ln/>
        </p:spPr>
        <p:txBody>
          <a:bodyPr/>
          <a:lstStyle/>
          <a:p>
            <a:endParaRPr lang="ko-KR" altLang="en-US"/>
          </a:p>
        </p:txBody>
      </p:sp>
      <p:sp>
        <p:nvSpPr>
          <p:cNvPr id="16" name="Text 14"/>
          <p:cNvSpPr/>
          <p:nvPr/>
        </p:nvSpPr>
        <p:spPr>
          <a:xfrm>
            <a:off x="640080" y="3236976"/>
            <a:ext cx="7863840" cy="201168"/>
          </a:xfrm>
          <a:prstGeom prst="rect">
            <a:avLst/>
          </a:prstGeom>
          <a:noFill/>
          <a:ln/>
        </p:spPr>
        <p:txBody>
          <a:bodyPr wrap="square" lIns="0" tIns="0" rIns="0" bIns="0" rtlCol="0" anchor="t"/>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[상담 시작]</a:t>
            </a:r>
            <a:endParaRPr lang="en-US" sz="1000" dirty="0"/>
          </a:p>
        </p:txBody>
      </p:sp>
      <p:sp>
        <p:nvSpPr>
          <p:cNvPr id="17" name="Text 15"/>
          <p:cNvSpPr/>
          <p:nvPr/>
        </p:nvSpPr>
        <p:spPr>
          <a:xfrm>
            <a:off x="640080" y="3447288"/>
            <a:ext cx="7863840" cy="685800"/>
          </a:xfrm>
          <a:prstGeom prst="rect">
            <a:avLst/>
          </a:prstGeom>
          <a:noFill/>
          <a:ln/>
        </p:spPr>
        <p:txBody>
          <a:bodyPr wrap="square" lIns="0" tIns="0" rIns="0" bIns="0" rtlCol="0" anchor="t"/>
          <a:lstStyle/>
          <a:p>
            <a:pPr marL="0" indent="0">
              <a:buNone/>
            </a:pPr>
            <a:r>
              <a:rPr lang="en-US" sz="950" dirty="0">
                <a:solidFill>
                  <a:srgbClr val="444444"/>
                </a:solidFill>
                <a:latin typeface="맑은 고딕" pitchFamily="34" charset="0"/>
                <a:ea typeface="맑은 고딕" pitchFamily="34" charset="-122"/>
                <a:cs typeface="맑은 고딕" pitchFamily="34" charset="-120"/>
              </a:rPr>
              <a:t>"대표님, 최근 중대재해처벌법이나 예상치 못한 민사 소송 때문에 밤잠 설치는 선배 경영자분들 이야기 많이 들으시죠? 평생을 바쳐 일군 회사인데, 단 한 번의 사고가 대표님 가족이 살고 있는 집까지 위태롭게 만들 수 있다는 사실이 가장 큰 불안 요소일 겁니다."</a:t>
            </a:r>
            <a:endParaRPr lang="en-US" sz="950" dirty="0"/>
          </a:p>
        </p:txBody>
      </p:sp>
      <p:sp>
        <p:nvSpPr>
          <p:cNvPr id="18" name="Text 1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9" name="Text 1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22 / 27</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23</a:t>
            </a:r>
            <a:endParaRPr lang="en-US" sz="900" dirty="0"/>
          </a:p>
        </p:txBody>
      </p:sp>
      <p:sp>
        <p:nvSpPr>
          <p:cNvPr id="6" name="Text 4"/>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Ⅹ. 컨설팅 시나리오 (3/3)</a:t>
            </a:r>
            <a:endParaRPr lang="en-US" sz="1600" dirty="0"/>
          </a:p>
        </p:txBody>
      </p:sp>
      <p:sp>
        <p:nvSpPr>
          <p:cNvPr id="7" name="Shape 5"/>
          <p:cNvSpPr/>
          <p:nvPr/>
        </p:nvSpPr>
        <p:spPr>
          <a:xfrm>
            <a:off x="457200" y="685800"/>
            <a:ext cx="8229600" cy="8686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685800"/>
            <a:ext cx="54864" cy="868680"/>
          </a:xfrm>
          <a:prstGeom prst="rect">
            <a:avLst/>
          </a:prstGeom>
          <a:solidFill>
            <a:srgbClr val="C8962E"/>
          </a:solidFill>
          <a:ln/>
        </p:spPr>
        <p:txBody>
          <a:bodyPr/>
          <a:lstStyle/>
          <a:p>
            <a:endParaRPr lang="ko-KR" altLang="en-US"/>
          </a:p>
        </p:txBody>
      </p:sp>
      <p:sp>
        <p:nvSpPr>
          <p:cNvPr id="9" name="Text 7"/>
          <p:cNvSpPr/>
          <p:nvPr/>
        </p:nvSpPr>
        <p:spPr>
          <a:xfrm>
            <a:off x="640080" y="731520"/>
            <a:ext cx="7863840" cy="182880"/>
          </a:xfrm>
          <a:prstGeom prst="rect">
            <a:avLst/>
          </a:prstGeom>
          <a:noFill/>
          <a:ln/>
        </p:spPr>
        <p:txBody>
          <a:bodyPr wrap="square" lIns="0" tIns="0" rIns="0" bIns="0" rtlCol="0" anchor="t"/>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[문제 인식]</a:t>
            </a:r>
            <a:endParaRPr lang="en-US" sz="1000" dirty="0"/>
          </a:p>
        </p:txBody>
      </p:sp>
      <p:sp>
        <p:nvSpPr>
          <p:cNvPr id="10" name="Text 8"/>
          <p:cNvSpPr/>
          <p:nvPr/>
        </p:nvSpPr>
        <p:spPr>
          <a:xfrm>
            <a:off x="640080" y="914400"/>
            <a:ext cx="7863840" cy="594360"/>
          </a:xfrm>
          <a:prstGeom prst="rect">
            <a:avLst/>
          </a:prstGeom>
          <a:noFill/>
          <a:ln/>
        </p:spPr>
        <p:txBody>
          <a:bodyPr wrap="square" lIns="0" tIns="0" rIns="0" bIns="0" rtlCol="0" anchor="t"/>
          <a:lstStyle/>
          <a:p>
            <a:pPr marL="0" indent="0">
              <a:buNone/>
            </a:pPr>
            <a:r>
              <a:rPr lang="en-US" sz="900" dirty="0">
                <a:solidFill>
                  <a:srgbClr val="444444"/>
                </a:solidFill>
                <a:latin typeface="맑은 고딕" pitchFamily="34" charset="0"/>
                <a:ea typeface="맑은 고딕" pitchFamily="34" charset="-122"/>
                <a:cs typeface="맑은 고딕" pitchFamily="34" charset="-120"/>
              </a:rPr>
              <a:t>"많은 분이 '내 명의니까 내가 지킬 수 있다'고 생각하시지만, 법적으로는 내 명의이기 때문에 채권자가 압류하기 좋은 타겟이 됩니다. 특히 대표님 유고 시, 유언장이 있어도 유류분 분쟁이 발생하면 그 자산은 상당 기간 묶여서 가족들이 활용하기 어려운 상황이 벌어질 수 있습니다."</a:t>
            </a:r>
            <a:endParaRPr lang="en-US" sz="900" dirty="0"/>
          </a:p>
        </p:txBody>
      </p:sp>
      <p:sp>
        <p:nvSpPr>
          <p:cNvPr id="11" name="Shape 9"/>
          <p:cNvSpPr/>
          <p:nvPr/>
        </p:nvSpPr>
        <p:spPr>
          <a:xfrm>
            <a:off x="457200" y="1645920"/>
            <a:ext cx="8229600" cy="9144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57200" y="1645920"/>
            <a:ext cx="54864" cy="914400"/>
          </a:xfrm>
          <a:prstGeom prst="rect">
            <a:avLst/>
          </a:prstGeom>
          <a:solidFill>
            <a:srgbClr val="C8962E"/>
          </a:solidFill>
          <a:ln/>
        </p:spPr>
        <p:txBody>
          <a:bodyPr/>
          <a:lstStyle/>
          <a:p>
            <a:endParaRPr lang="ko-KR" altLang="en-US"/>
          </a:p>
        </p:txBody>
      </p:sp>
      <p:sp>
        <p:nvSpPr>
          <p:cNvPr id="13" name="Text 11"/>
          <p:cNvSpPr/>
          <p:nvPr/>
        </p:nvSpPr>
        <p:spPr>
          <a:xfrm>
            <a:off x="640080" y="1691640"/>
            <a:ext cx="7863840" cy="182880"/>
          </a:xfrm>
          <a:prstGeom prst="rect">
            <a:avLst/>
          </a:prstGeom>
          <a:noFill/>
          <a:ln/>
        </p:spPr>
        <p:txBody>
          <a:bodyPr wrap="square" lIns="0" tIns="0" rIns="0" bIns="0" rtlCol="0" anchor="t"/>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[솔루션 제안]</a:t>
            </a:r>
            <a:endParaRPr lang="en-US" sz="1000" dirty="0"/>
          </a:p>
        </p:txBody>
      </p:sp>
      <p:sp>
        <p:nvSpPr>
          <p:cNvPr id="14" name="Text 12"/>
          <p:cNvSpPr/>
          <p:nvPr/>
        </p:nvSpPr>
        <p:spPr>
          <a:xfrm>
            <a:off x="640080" y="1874520"/>
            <a:ext cx="7863840" cy="640080"/>
          </a:xfrm>
          <a:prstGeom prst="rect">
            <a:avLst/>
          </a:prstGeom>
          <a:noFill/>
          <a:ln/>
        </p:spPr>
        <p:txBody>
          <a:bodyPr wrap="square" lIns="0" tIns="0" rIns="0" bIns="0" rtlCol="0" anchor="t"/>
          <a:lstStyle/>
          <a:p>
            <a:pPr marL="0" indent="0">
              <a:buNone/>
            </a:pPr>
            <a:r>
              <a:rPr lang="en-US" sz="900" dirty="0">
                <a:solidFill>
                  <a:srgbClr val="444444"/>
                </a:solidFill>
                <a:latin typeface="맑은 고딕" pitchFamily="34" charset="0"/>
                <a:ea typeface="맑은 고딕" pitchFamily="34" charset="-122"/>
                <a:cs typeface="맑은 고딕" pitchFamily="34" charset="-120"/>
              </a:rPr>
              <a:t>"그래서 제가 오늘 제안드리는 것이 '신탁 방화벽'입니다. 재산을 신탁사에 맡기면, 그 자산은 대부분의 일반 채권자로부터 집행 위험이 상당히 낮아집니다. 다만 신탁 전 원인 채권이나 사해신탁 등 예외 상황은 존재하므로 전문가 검토가 필요합니다. 그러면서도 계약에 따라 임대료는 대표님이 수령하시고, 사후에는 대표님이 정하신 조건대로 자녀들에게 단계별로 지급되게 설계할 수 있습니다."</a:t>
            </a:r>
            <a:endParaRPr lang="en-US" sz="900" dirty="0"/>
          </a:p>
        </p:txBody>
      </p:sp>
      <p:sp>
        <p:nvSpPr>
          <p:cNvPr id="15" name="Shape 13"/>
          <p:cNvSpPr/>
          <p:nvPr/>
        </p:nvSpPr>
        <p:spPr>
          <a:xfrm>
            <a:off x="457200" y="2651760"/>
            <a:ext cx="8229600" cy="8686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6" name="Shape 14"/>
          <p:cNvSpPr/>
          <p:nvPr/>
        </p:nvSpPr>
        <p:spPr>
          <a:xfrm>
            <a:off x="457200" y="2651760"/>
            <a:ext cx="54864" cy="868680"/>
          </a:xfrm>
          <a:prstGeom prst="rect">
            <a:avLst/>
          </a:prstGeom>
          <a:solidFill>
            <a:srgbClr val="C8962E"/>
          </a:solidFill>
          <a:ln/>
        </p:spPr>
        <p:txBody>
          <a:bodyPr/>
          <a:lstStyle/>
          <a:p>
            <a:endParaRPr lang="ko-KR" altLang="en-US"/>
          </a:p>
        </p:txBody>
      </p:sp>
      <p:sp>
        <p:nvSpPr>
          <p:cNvPr id="17" name="Text 15"/>
          <p:cNvSpPr/>
          <p:nvPr/>
        </p:nvSpPr>
        <p:spPr>
          <a:xfrm>
            <a:off x="640080" y="2697480"/>
            <a:ext cx="7863840" cy="182880"/>
          </a:xfrm>
          <a:prstGeom prst="rect">
            <a:avLst/>
          </a:prstGeom>
          <a:noFill/>
          <a:ln/>
        </p:spPr>
        <p:txBody>
          <a:bodyPr wrap="square" lIns="0" tIns="0" rIns="0" bIns="0" rtlCol="0" anchor="t"/>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[동의 유도]</a:t>
            </a:r>
            <a:endParaRPr lang="en-US" sz="1000" dirty="0"/>
          </a:p>
        </p:txBody>
      </p:sp>
      <p:sp>
        <p:nvSpPr>
          <p:cNvPr id="18" name="Text 16"/>
          <p:cNvSpPr/>
          <p:nvPr/>
        </p:nvSpPr>
        <p:spPr>
          <a:xfrm>
            <a:off x="640080" y="2880360"/>
            <a:ext cx="7863840" cy="594360"/>
          </a:xfrm>
          <a:prstGeom prst="rect">
            <a:avLst/>
          </a:prstGeom>
          <a:noFill/>
          <a:ln/>
        </p:spPr>
        <p:txBody>
          <a:bodyPr wrap="square" lIns="0" tIns="0" rIns="0" bIns="0" rtlCol="0" anchor="t"/>
          <a:lstStyle/>
          <a:p>
            <a:pPr marL="0" indent="0">
              <a:buNone/>
            </a:pPr>
            <a:r>
              <a:rPr lang="en-US" sz="900" dirty="0">
                <a:solidFill>
                  <a:srgbClr val="444444"/>
                </a:solidFill>
                <a:latin typeface="맑은 고딕" pitchFamily="34" charset="0"/>
                <a:ea typeface="맑은 고딕" pitchFamily="34" charset="-122"/>
                <a:cs typeface="맑은 고딕" pitchFamily="34" charset="-120"/>
              </a:rPr>
              <a:t>"이것은 단순히 자산을 맡기는 게 아니라, 대표님의 사후에도 대표님의 의지가 가문을 지키도록 '법적 가드레일'을 설치하는 것입니다. 대표님의 소중한 자산 중 어떤 것부터 이 보호막을 씌우는 것이 좋을지, 보증 구조 개선 방안과 함께 구체적인 리스트를 보시겠습니까?"</a:t>
            </a:r>
            <a:endParaRPr lang="en-US" sz="900" dirty="0"/>
          </a:p>
        </p:txBody>
      </p:sp>
      <p:sp>
        <p:nvSpPr>
          <p:cNvPr id="19" name="Shape 17"/>
          <p:cNvSpPr/>
          <p:nvPr/>
        </p:nvSpPr>
        <p:spPr>
          <a:xfrm>
            <a:off x="457200" y="3611880"/>
            <a:ext cx="8229600" cy="548640"/>
          </a:xfrm>
          <a:prstGeom prst="rect">
            <a:avLst/>
          </a:prstGeom>
          <a:solidFill>
            <a:srgbClr val="FFF8F0"/>
          </a:solidFill>
          <a:ln/>
        </p:spPr>
        <p:txBody>
          <a:bodyPr/>
          <a:lstStyle/>
          <a:p>
            <a:endParaRPr lang="ko-KR" altLang="en-US"/>
          </a:p>
        </p:txBody>
      </p:sp>
      <p:sp>
        <p:nvSpPr>
          <p:cNvPr id="20" name="Shape 18"/>
          <p:cNvSpPr/>
          <p:nvPr/>
        </p:nvSpPr>
        <p:spPr>
          <a:xfrm>
            <a:off x="457200" y="3611880"/>
            <a:ext cx="54864" cy="548640"/>
          </a:xfrm>
          <a:prstGeom prst="rect">
            <a:avLst/>
          </a:prstGeom>
          <a:solidFill>
            <a:srgbClr val="E67E22"/>
          </a:solidFill>
          <a:ln/>
        </p:spPr>
        <p:txBody>
          <a:bodyPr/>
          <a:lstStyle/>
          <a:p>
            <a:endParaRPr lang="ko-KR" altLang="en-US"/>
          </a:p>
        </p:txBody>
      </p:sp>
      <p:sp>
        <p:nvSpPr>
          <p:cNvPr id="21" name="Text 19"/>
          <p:cNvSpPr/>
          <p:nvPr/>
        </p:nvSpPr>
        <p:spPr>
          <a:xfrm>
            <a:off x="640080" y="3657600"/>
            <a:ext cx="7863840" cy="164592"/>
          </a:xfrm>
          <a:prstGeom prst="rect">
            <a:avLst/>
          </a:prstGeom>
          <a:noFill/>
          <a:ln/>
        </p:spPr>
        <p:txBody>
          <a:bodyPr wrap="square" lIns="0" tIns="0" rIns="0" bIns="0" rtlCol="0" anchor="t"/>
          <a:lstStyle/>
          <a:p>
            <a:pPr marL="0" indent="0">
              <a:buNone/>
            </a:pPr>
            <a:r>
              <a:rPr lang="en-US" sz="1000" b="1" dirty="0">
                <a:solidFill>
                  <a:srgbClr val="C45500"/>
                </a:solidFill>
                <a:latin typeface="맑은 고딕" pitchFamily="34" charset="0"/>
                <a:ea typeface="맑은 고딕" pitchFamily="34" charset="-122"/>
                <a:cs typeface="맑은 고딕" pitchFamily="34" charset="-120"/>
              </a:rPr>
              <a:t>컨설턴트 주의</a:t>
            </a:r>
            <a:endParaRPr lang="en-US" sz="1000" dirty="0"/>
          </a:p>
        </p:txBody>
      </p:sp>
      <p:sp>
        <p:nvSpPr>
          <p:cNvPr id="22" name="Text 20"/>
          <p:cNvSpPr/>
          <p:nvPr/>
        </p:nvSpPr>
        <p:spPr>
          <a:xfrm>
            <a:off x="640080" y="3840480"/>
            <a:ext cx="7863840" cy="274320"/>
          </a:xfrm>
          <a:prstGeom prst="rect">
            <a:avLst/>
          </a:prstGeom>
          <a:noFill/>
          <a:ln/>
        </p:spPr>
        <p:txBody>
          <a:bodyPr wrap="square" lIns="0" tIns="0" rIns="0" bIns="0" rtlCol="0" anchor="t"/>
          <a:lstStyle/>
          <a:p>
            <a:pPr marL="0" indent="0">
              <a:buNone/>
            </a:pPr>
            <a:r>
              <a:rPr lang="en-US" sz="900" dirty="0">
                <a:solidFill>
                  <a:srgbClr val="2B2B2B"/>
                </a:solidFill>
                <a:latin typeface="맑은 고딕" pitchFamily="34" charset="0"/>
                <a:ea typeface="맑은 고딕" pitchFamily="34" charset="-122"/>
                <a:cs typeface="맑은 고딕" pitchFamily="34" charset="-120"/>
              </a:rPr>
              <a:t>상담 시 '100% 보호', '완벽한 차단', '절대 불가능' 등 확정적 표현은 절대 사용하지 마시고, 반드시 '가능성 감소', '전문가 협의 필요' 등을 안내하시기 바랍니다.</a:t>
            </a:r>
            <a:endParaRPr lang="en-US" sz="900" dirty="0"/>
          </a:p>
        </p:txBody>
      </p:sp>
      <p:sp>
        <p:nvSpPr>
          <p:cNvPr id="23" name="Text 2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24" name="Text 2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23 / 27</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24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Ⅺ. 부록 (Appendix) (1/2)</a:t>
            </a:r>
            <a:endParaRPr lang="en-US" sz="1600" dirty="0"/>
          </a:p>
        </p:txBody>
      </p:sp>
      <p:sp>
        <p:nvSpPr>
          <p:cNvPr id="5" name="Text 3"/>
          <p:cNvSpPr/>
          <p:nvPr/>
        </p:nvSpPr>
        <p:spPr>
          <a:xfrm>
            <a:off x="457200" y="685800"/>
            <a:ext cx="8229600" cy="27432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전문용어 설명</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4090838452"/>
              </p:ext>
            </p:extLst>
          </p:nvPr>
        </p:nvGraphicFramePr>
        <p:xfrm>
          <a:off x="457200" y="1005840"/>
          <a:ext cx="8229600" cy="2971800"/>
        </p:xfrm>
        <a:graphic>
          <a:graphicData uri="http://schemas.openxmlformats.org/drawingml/2006/table">
            <a:tbl>
              <a:tblPr/>
              <a:tblGrid>
                <a:gridCol w="201168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59436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용어</a:t>
                      </a:r>
                      <a:endParaRPr lang="en-US" sz="1000" dirty="0">
                        <a:latin typeface="맑은 고딕" charset="0"/>
                        <a:ea typeface="맑은 고딕" charset="0"/>
                        <a:cs typeface="맑은 고딕" charset="0"/>
                      </a:endParaRPr>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설명</a:t>
                      </a:r>
                      <a:endParaRPr lang="en-US" sz="1000" dirty="0">
                        <a:latin typeface="맑은 고딕" charset="0"/>
                        <a:ea typeface="맑은 고딕" charset="0"/>
                        <a:cs typeface="맑은 고딕" charset="0"/>
                      </a:endParaRPr>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94360">
                <a:tc>
                  <a:txBody>
                    <a:bodyPr/>
                    <a:lstStyle/>
                    <a:p>
                      <a:pPr marL="0" indent="0" algn="ctr">
                        <a:buNone/>
                      </a:pPr>
                      <a:r>
                        <a:rPr lang="en-US" sz="900" b="1" dirty="0">
                          <a:solidFill>
                            <a:srgbClr val="2B2B2B"/>
                          </a:solidFill>
                          <a:latin typeface="맑은 고딕" pitchFamily="34" charset="0"/>
                          <a:ea typeface="맑은 고딕" pitchFamily="34" charset="-122"/>
                          <a:cs typeface="맑은 고딕" pitchFamily="34" charset="-120"/>
                        </a:rPr>
                        <a:t>신탁재산의 독립성</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맑은 고딕" pitchFamily="34" charset="0"/>
                          <a:ea typeface="맑은 고딕" pitchFamily="34" charset="-122"/>
                          <a:cs typeface="맑은 고딕" pitchFamily="34" charset="-120"/>
                        </a:rPr>
                        <a:t>신탁법 제22조에 의해 신탁재산은 원칙적으로 위탁자의 파산이나 채무로부터 분리되어 강제집행이 제한되는 법적 특성. 단, 신탁 전 원인 권리, 신탁사무 처리상 권리 등 예외가 있음.</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lgn="ctr">
                        <a:buNone/>
                      </a:pPr>
                      <a:r>
                        <a:rPr lang="en-US" sz="900" b="1" dirty="0">
                          <a:solidFill>
                            <a:srgbClr val="2B2B2B"/>
                          </a:solidFill>
                          <a:latin typeface="맑은 고딕" pitchFamily="34" charset="0"/>
                          <a:ea typeface="맑은 고딕" pitchFamily="34" charset="-122"/>
                          <a:cs typeface="맑은 고딕" pitchFamily="34" charset="-120"/>
                        </a:rPr>
                        <a:t>유언대용신탁</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00" dirty="0">
                          <a:solidFill>
                            <a:srgbClr val="2B2B2B"/>
                          </a:solidFill>
                          <a:latin typeface="맑은 고딕" pitchFamily="34" charset="0"/>
                          <a:ea typeface="맑은 고딕" pitchFamily="34" charset="-122"/>
                          <a:cs typeface="맑은 고딕" pitchFamily="34" charset="-120"/>
                        </a:rPr>
                        <a:t>위탁자가 사망한 후 신탁재산을 수익자에게 귀속시키거나 수익권을 부여하는 신탁으로, 유언 대비 집행 프로세스가 단순해질 수 있고 설계 유연성이 큼. 다만 유류분 분쟁 가능성은 여전히 존재함. (신탁법 제59조)</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594360">
                <a:tc>
                  <a:txBody>
                    <a:bodyPr/>
                    <a:lstStyle/>
                    <a:p>
                      <a:pPr marL="0" indent="0" algn="ctr">
                        <a:buNone/>
                      </a:pPr>
                      <a:r>
                        <a:rPr lang="en-US" sz="900" b="1" dirty="0">
                          <a:solidFill>
                            <a:srgbClr val="2B2B2B"/>
                          </a:solidFill>
                          <a:latin typeface="맑은 고딕" pitchFamily="34" charset="0"/>
                          <a:ea typeface="맑은 고딕" pitchFamily="34" charset="-122"/>
                          <a:cs typeface="맑은 고딕" pitchFamily="34" charset="-120"/>
                        </a:rPr>
                        <a:t>사해신탁</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맑은 고딕" pitchFamily="34" charset="0"/>
                          <a:ea typeface="맑은 고딕" pitchFamily="34" charset="-122"/>
                          <a:cs typeface="맑은 고딕" pitchFamily="34" charset="-120"/>
                        </a:rPr>
                        <a:t>채권자를 해할 목적으로 설정된 신탁. 시점, 채무초과 여부, 채권자 해함의사 등 사실관계를 기준으로 판단되며, 취소/원상회복될 수 있음. (신탁법 제8조)</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lgn="ctr">
                        <a:buNone/>
                      </a:pPr>
                      <a:r>
                        <a:rPr lang="en-US" sz="900" b="1" dirty="0">
                          <a:solidFill>
                            <a:srgbClr val="2B2B2B"/>
                          </a:solidFill>
                          <a:latin typeface="맑은 고딕" pitchFamily="34" charset="0"/>
                          <a:ea typeface="맑은 고딕" pitchFamily="34" charset="-122"/>
                          <a:cs typeface="맑은 고딕" pitchFamily="34" charset="-120"/>
                        </a:rPr>
                        <a:t>유류분</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00" dirty="0">
                          <a:solidFill>
                            <a:srgbClr val="2B2B2B"/>
                          </a:solidFill>
                          <a:latin typeface="맑은 고딕" pitchFamily="34" charset="0"/>
                          <a:ea typeface="맑은 고딕" pitchFamily="34" charset="-122"/>
                          <a:cs typeface="맑은 고딕" pitchFamily="34" charset="-120"/>
                        </a:rPr>
                        <a:t>상속인이 법적으로 보장받는 최소한의 상속 지분. 유언이나 증여로도 침해할 수 없는 권리. (민법 제1112조~제1118조)</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bl>
          </a:graphicData>
        </a:graphic>
      </p:graphicFrame>
      <p:sp>
        <p:nvSpPr>
          <p:cNvPr id="7" name="Text 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8" name="Text 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24 / 27</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25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Ⅺ. 부록 (Appendix) (2/2) — FAQ</a:t>
            </a:r>
            <a:endParaRPr lang="en-US" sz="1600" dirty="0"/>
          </a:p>
        </p:txBody>
      </p:sp>
      <p:sp>
        <p:nvSpPr>
          <p:cNvPr id="5" name="Text 3"/>
          <p:cNvSpPr/>
          <p:nvPr/>
        </p:nvSpPr>
        <p:spPr>
          <a:xfrm>
            <a:off x="457200" y="685800"/>
            <a:ext cx="8229600" cy="27432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FAQ</a:t>
            </a:r>
            <a:endParaRPr lang="en-US" sz="1400" dirty="0"/>
          </a:p>
        </p:txBody>
      </p:sp>
      <p:sp>
        <p:nvSpPr>
          <p:cNvPr id="6" name="Text 4"/>
          <p:cNvSpPr/>
          <p:nvPr/>
        </p:nvSpPr>
        <p:spPr>
          <a:xfrm>
            <a:off x="457200" y="1005840"/>
            <a:ext cx="8229600" cy="228600"/>
          </a:xfrm>
          <a:prstGeom prst="rect">
            <a:avLst/>
          </a:prstGeom>
          <a:noFill/>
          <a:ln/>
        </p:spPr>
        <p:txBody>
          <a:bodyPr wrap="square" lIns="0" tIns="0" rIns="0" bIns="0"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Q: 신탁 비용이 너무 비싸지 않나요?</a:t>
            </a:r>
            <a:endParaRPr lang="en-US" sz="1100" dirty="0"/>
          </a:p>
        </p:txBody>
      </p:sp>
      <p:sp>
        <p:nvSpPr>
          <p:cNvPr id="7" name="Text 5"/>
          <p:cNvSpPr/>
          <p:nvPr/>
        </p:nvSpPr>
        <p:spPr>
          <a:xfrm>
            <a:off x="457200" y="1261872"/>
            <a:ext cx="8229600" cy="45720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A: 관리형 신탁의 경우 연 0.1~0.3% 수준(금융기관별 상이)으로, 경영 리스크로부터 자산을 효과적으로 보호하는 비용으로 고려해 볼 수 있습니다. 정확한 비용은 금융기관에 문의하시기 바랍니다.</a:t>
            </a:r>
            <a:endParaRPr lang="en-US" sz="1000" dirty="0"/>
          </a:p>
        </p:txBody>
      </p:sp>
      <p:sp>
        <p:nvSpPr>
          <p:cNvPr id="8" name="Text 6"/>
          <p:cNvSpPr/>
          <p:nvPr/>
        </p:nvSpPr>
        <p:spPr>
          <a:xfrm>
            <a:off x="457200" y="1764792"/>
            <a:ext cx="8229600" cy="228600"/>
          </a:xfrm>
          <a:prstGeom prst="rect">
            <a:avLst/>
          </a:prstGeom>
          <a:noFill/>
          <a:ln/>
        </p:spPr>
        <p:txBody>
          <a:bodyPr wrap="square" lIns="0" tIns="0" rIns="0" bIns="0"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Q: 자녀가 상속세를 내야 하는데 신탁 자산으로 낼 수 있나요?</a:t>
            </a:r>
            <a:endParaRPr lang="en-US" sz="1100" dirty="0"/>
          </a:p>
        </p:txBody>
      </p:sp>
      <p:sp>
        <p:nvSpPr>
          <p:cNvPr id="9" name="Text 7"/>
          <p:cNvSpPr/>
          <p:nvPr/>
        </p:nvSpPr>
        <p:spPr>
          <a:xfrm>
            <a:off x="457200" y="2020824"/>
            <a:ext cx="8229600" cy="59436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A: 신탁 계약 시 '사후에 상속세 납부 재원으로 우선 사용한다'는 조항을 넣을 수 있습니다. 다만, 사후 수익자에게 귀속될 재산/수익권 구조와 상속세 납부 재원의 집행 동선을 함께 설계해야 하며, 수익권 평가·과세 이슈를 세무사와 사전에 확정하시기 바랍니다.</a:t>
            </a:r>
            <a:endParaRPr lang="en-US" sz="1000" dirty="0"/>
          </a:p>
        </p:txBody>
      </p:sp>
      <p:sp>
        <p:nvSpPr>
          <p:cNvPr id="10" name="Text 8"/>
          <p:cNvSpPr/>
          <p:nvPr/>
        </p:nvSpPr>
        <p:spPr>
          <a:xfrm>
            <a:off x="457200" y="2660904"/>
            <a:ext cx="8229600" cy="228600"/>
          </a:xfrm>
          <a:prstGeom prst="rect">
            <a:avLst/>
          </a:prstGeom>
          <a:noFill/>
          <a:ln/>
        </p:spPr>
        <p:txBody>
          <a:bodyPr wrap="square" lIns="0" tIns="0" rIns="0" bIns="0"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Q: 신탁하면 완벽하게 자산이 보호되나요?</a:t>
            </a:r>
            <a:endParaRPr lang="en-US" sz="1100" dirty="0"/>
          </a:p>
        </p:txBody>
      </p:sp>
      <p:sp>
        <p:nvSpPr>
          <p:cNvPr id="11" name="Text 9"/>
          <p:cNvSpPr/>
          <p:nvPr/>
        </p:nvSpPr>
        <p:spPr>
          <a:xfrm>
            <a:off x="457200" y="2916936"/>
            <a:ext cx="8229600" cy="594360"/>
          </a:xfrm>
          <a:prstGeom prst="rect">
            <a:avLst/>
          </a:prstGeom>
          <a:noFill/>
          <a:ln/>
        </p:spPr>
        <p:txBody>
          <a:bodyPr wrap="square" lIns="0" tIns="0" rIns="0" bIns="0"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A: 아닙니다. 신탁법 제22조에 따라 원칙적으로 강제집행이 제한되지만, 신탁 전 원인 채권, 신탁사무 처리상 채권, 사해신탁 취소 등 예외 상황에서는 강제집행이 가능할 수 있습니다. 반드시 전문가와 협의 후 진행하시기 바랍니다.</a:t>
            </a:r>
            <a:endParaRPr lang="en-US" sz="1000" dirty="0"/>
          </a:p>
        </p:txBody>
      </p:sp>
      <p:sp>
        <p:nvSpPr>
          <p:cNvPr id="12" name="Text 10"/>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3" name="Text 11"/>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25 / 27</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26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Ⅺ. 부록 — 관련 법규 및 출처</a:t>
            </a:r>
            <a:endParaRPr lang="en-US" sz="1600" dirty="0"/>
          </a:p>
        </p:txBody>
      </p:sp>
      <p:sp>
        <p:nvSpPr>
          <p:cNvPr id="5" name="Text 3"/>
          <p:cNvSpPr/>
          <p:nvPr/>
        </p:nvSpPr>
        <p:spPr>
          <a:xfrm>
            <a:off x="457200" y="685800"/>
            <a:ext cx="8229600" cy="27432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관련 법규 및 출처</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2563850711"/>
              </p:ext>
            </p:extLst>
          </p:nvPr>
        </p:nvGraphicFramePr>
        <p:xfrm>
          <a:off x="457200" y="1005840"/>
          <a:ext cx="8229600" cy="3319272"/>
        </p:xfrm>
        <a:graphic>
          <a:graphicData uri="http://schemas.openxmlformats.org/drawingml/2006/table">
            <a:tbl>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01752">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조항</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내용 요약</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01752">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신탁법 제8조</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2B2B2B"/>
                          </a:solidFill>
                          <a:latin typeface="맑은 고딕" pitchFamily="34" charset="0"/>
                          <a:ea typeface="맑은 고딕" pitchFamily="34" charset="-122"/>
                          <a:cs typeface="맑은 고딕" pitchFamily="34" charset="-120"/>
                        </a:rPr>
                        <a:t>사해신탁의 취소에 관한 규정</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신탁법 제22조</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50" dirty="0">
                          <a:solidFill>
                            <a:srgbClr val="2B2B2B"/>
                          </a:solidFill>
                          <a:latin typeface="맑은 고딕" pitchFamily="34" charset="0"/>
                          <a:ea typeface="맑은 고딕" pitchFamily="34" charset="-122"/>
                          <a:cs typeface="맑은 고딕" pitchFamily="34" charset="-120"/>
                        </a:rPr>
                        <a:t>강제집행 등의 금지 (원칙 및 예외)</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01752">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신탁법 제59조</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2B2B2B"/>
                          </a:solidFill>
                          <a:latin typeface="맑은 고딕" pitchFamily="34" charset="0"/>
                          <a:ea typeface="맑은 고딕" pitchFamily="34" charset="-122"/>
                          <a:cs typeface="맑은 고딕" pitchFamily="34" charset="-120"/>
                        </a:rPr>
                        <a:t>유언대용신탁에 관한 규정</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민법 제1112조~제1118조</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50" dirty="0">
                          <a:solidFill>
                            <a:srgbClr val="2B2B2B"/>
                          </a:solidFill>
                          <a:latin typeface="맑은 고딕" pitchFamily="34" charset="0"/>
                          <a:ea typeface="맑은 고딕" pitchFamily="34" charset="-122"/>
                          <a:cs typeface="맑은 고딕" pitchFamily="34" charset="-120"/>
                        </a:rPr>
                        <a:t>유류분에 관한 규정</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01752">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상증법 제9조</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2B2B2B"/>
                          </a:solidFill>
                          <a:latin typeface="맑은 고딕" pitchFamily="34" charset="0"/>
                          <a:ea typeface="맑은 고딕" pitchFamily="34" charset="-122"/>
                          <a:cs typeface="맑은 고딕" pitchFamily="34" charset="-120"/>
                        </a:rPr>
                        <a:t>상속재산으로 보는 신탁재산</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상증법 제33조</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50" dirty="0">
                          <a:solidFill>
                            <a:srgbClr val="2B2B2B"/>
                          </a:solidFill>
                          <a:latin typeface="맑은 고딕" pitchFamily="34" charset="0"/>
                          <a:ea typeface="맑은 고딕" pitchFamily="34" charset="-122"/>
                          <a:cs typeface="맑은 고딕" pitchFamily="34" charset="-120"/>
                        </a:rPr>
                        <a:t>신탁이익의 증여</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301752">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상증법 시행령 제26조의2</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2B2B2B"/>
                          </a:solidFill>
                          <a:latin typeface="맑은 고딕" pitchFamily="34" charset="0"/>
                          <a:ea typeface="맑은 고딕" pitchFamily="34" charset="-122"/>
                          <a:cs typeface="맑은 고딕" pitchFamily="34" charset="-120"/>
                        </a:rPr>
                        <a:t>신탁수익권 평가</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지방세법 제7조, 제9조</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50" dirty="0">
                          <a:solidFill>
                            <a:srgbClr val="2B2B2B"/>
                          </a:solidFill>
                          <a:latin typeface="맑은 고딕" pitchFamily="34" charset="0"/>
                          <a:ea typeface="맑은 고딕" pitchFamily="34" charset="-122"/>
                          <a:cs typeface="맑은 고딕" pitchFamily="34" charset="-120"/>
                        </a:rPr>
                        <a:t>신탁 관련 취득세 과세/비과세 규정</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r h="301752">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소득세법 제59조의4</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2B2B2B"/>
                          </a:solidFill>
                          <a:latin typeface="맑은 고딕" pitchFamily="34" charset="0"/>
                          <a:ea typeface="맑은 고딕" pitchFamily="34" charset="-122"/>
                          <a:cs typeface="맑은 고딕" pitchFamily="34" charset="-120"/>
                        </a:rPr>
                        <a:t>보장성보험료 세액공제</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1752">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상법 제731조</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950" dirty="0">
                          <a:solidFill>
                            <a:srgbClr val="2B2B2B"/>
                          </a:solidFill>
                          <a:latin typeface="맑은 고딕" pitchFamily="34" charset="0"/>
                          <a:ea typeface="맑은 고딕" pitchFamily="34" charset="-122"/>
                          <a:cs typeface="맑은 고딕" pitchFamily="34" charset="-120"/>
                        </a:rPr>
                        <a:t>타인의 생명보험 (피보험자 서면동의)</a:t>
                      </a:r>
                      <a:endParaRPr lang="en-US" sz="950" dirty="0">
                        <a:latin typeface="맑은 고딕" charset="0"/>
                        <a:ea typeface="맑은 고딕" charset="0"/>
                        <a:cs typeface="맑은 고딕" charset="0"/>
                      </a:endParaRPr>
                    </a:p>
                  </a:txBody>
                  <a:tcPr marL="63500" marR="635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10"/>
                  </a:ext>
                </a:extLst>
              </a:tr>
            </a:tbl>
          </a:graphicData>
        </a:graphic>
      </p:graphicFrame>
      <p:sp>
        <p:nvSpPr>
          <p:cNvPr id="7" name="Text 4"/>
          <p:cNvSpPr/>
          <p:nvPr/>
        </p:nvSpPr>
        <p:spPr>
          <a:xfrm>
            <a:off x="457200" y="4526280"/>
            <a:ext cx="8229600" cy="274320"/>
          </a:xfrm>
          <a:prstGeom prst="rect">
            <a:avLst/>
          </a:prstGeom>
          <a:noFill/>
          <a:ln/>
        </p:spPr>
        <p:txBody>
          <a:bodyPr wrap="square" lIns="0" tIns="0" rIns="0" bIns="0" rtlCol="0" anchor="t"/>
          <a:lstStyle/>
          <a:p>
            <a:pPr marL="0" indent="0">
              <a:buNone/>
            </a:pPr>
            <a:r>
              <a:rPr lang="en-US" sz="850" i="1" dirty="0">
                <a:solidFill>
                  <a:srgbClr val="666666"/>
                </a:solidFill>
                <a:latin typeface="맑은 고딕" pitchFamily="34" charset="0"/>
                <a:ea typeface="맑은 고딕" pitchFamily="34" charset="-122"/>
                <a:cs typeface="맑은 고딕" pitchFamily="34" charset="-120"/>
              </a:rPr>
              <a:t>※ 모든 법규는 현행법 기준이며, 법령 개정에 따라 내용이 변경될 수 있습니다. 적용 시점의 최신 법령을 반드시 확인하시기 바랍니다.</a:t>
            </a:r>
            <a:endParaRPr lang="en-US" sz="850" dirty="0"/>
          </a:p>
        </p:txBody>
      </p:sp>
      <p:sp>
        <p:nvSpPr>
          <p:cNvPr id="8"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9"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26 / 27</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rPr>
              <a:t>27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면책 조항 및 유의사항</a:t>
            </a:r>
            <a:endParaRPr lang="en-US" sz="1600" dirty="0"/>
          </a:p>
        </p:txBody>
      </p:sp>
      <p:sp>
        <p:nvSpPr>
          <p:cNvPr id="5" name="Shape 3"/>
          <p:cNvSpPr/>
          <p:nvPr/>
        </p:nvSpPr>
        <p:spPr>
          <a:xfrm>
            <a:off x="457200" y="685800"/>
            <a:ext cx="8229600" cy="34747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800"/>
            <a:ext cx="54864" cy="3474720"/>
          </a:xfrm>
          <a:prstGeom prst="rect">
            <a:avLst/>
          </a:prstGeom>
          <a:solidFill>
            <a:srgbClr val="4A5568"/>
          </a:solidFill>
          <a:ln/>
        </p:spPr>
        <p:txBody>
          <a:bodyPr/>
          <a:lstStyle/>
          <a:p>
            <a:endParaRPr lang="ko-KR" altLang="en-US"/>
          </a:p>
        </p:txBody>
      </p:sp>
      <p:sp>
        <p:nvSpPr>
          <p:cNvPr id="7" name="Text 5"/>
          <p:cNvSpPr/>
          <p:nvPr/>
        </p:nvSpPr>
        <p:spPr>
          <a:xfrm>
            <a:off x="640080" y="777240"/>
            <a:ext cx="7863840" cy="274320"/>
          </a:xfrm>
          <a:prstGeom prst="rect">
            <a:avLst/>
          </a:prstGeom>
          <a:noFill/>
          <a:ln/>
        </p:spPr>
        <p:txBody>
          <a:bodyPr wrap="square" lIns="0" tIns="0" rIns="0" bIns="0" rtlCol="0" anchor="t"/>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면책 조항 및 유의사항</a:t>
            </a:r>
            <a:endParaRPr lang="en-US" sz="1300" dirty="0"/>
          </a:p>
        </p:txBody>
      </p:sp>
      <p:sp>
        <p:nvSpPr>
          <p:cNvPr id="8" name="Text 6"/>
          <p:cNvSpPr/>
          <p:nvPr/>
        </p:nvSpPr>
        <p:spPr>
          <a:xfrm>
            <a:off x="640080" y="1097280"/>
            <a:ext cx="7863840" cy="457200"/>
          </a:xfrm>
          <a:prstGeom prst="rect">
            <a:avLst/>
          </a:prstGeom>
          <a:noFill/>
          <a:ln/>
        </p:spPr>
        <p:txBody>
          <a:bodyPr wrap="square" lIns="0" tIns="0" rIns="0" bIns="0" rtlCol="0" anchor="t"/>
          <a:lstStyle/>
          <a:p>
            <a:pPr marL="0" indent="0">
              <a:buNone/>
            </a:pPr>
            <a:r>
              <a:rPr lang="en-US" sz="950" dirty="0">
                <a:solidFill>
                  <a:srgbClr val="2B2B2B"/>
                </a:solidFill>
                <a:latin typeface="맑은 고딕" pitchFamily="34" charset="0"/>
                <a:ea typeface="맑은 고딕" pitchFamily="34" charset="-122"/>
                <a:cs typeface="맑은 고딕" pitchFamily="34" charset="-120"/>
              </a:rPr>
              <a:t>1. 본 보고서는 '이너서클 멤버십'과 '컨설턴트 홈페이지' 이용회원의 원활한 영업활동을 돕기 위해 가상의 사례를 설정하여 '인공지능'을 통해 제작되었습니다.</a:t>
            </a:r>
            <a:endParaRPr lang="en-US" sz="950" dirty="0"/>
          </a:p>
        </p:txBody>
      </p:sp>
      <p:sp>
        <p:nvSpPr>
          <p:cNvPr id="9" name="Text 7"/>
          <p:cNvSpPr/>
          <p:nvPr/>
        </p:nvSpPr>
        <p:spPr>
          <a:xfrm>
            <a:off x="640080" y="1572768"/>
            <a:ext cx="7863840" cy="457200"/>
          </a:xfrm>
          <a:prstGeom prst="rect">
            <a:avLst/>
          </a:prstGeom>
          <a:noFill/>
          <a:ln/>
        </p:spPr>
        <p:txBody>
          <a:bodyPr wrap="square" lIns="0" tIns="0" rIns="0" bIns="0" rtlCol="0" anchor="t"/>
          <a:lstStyle/>
          <a:p>
            <a:pPr marL="0" indent="0">
              <a:buNone/>
            </a:pPr>
            <a:r>
              <a:rPr lang="en-US" sz="950" dirty="0">
                <a:solidFill>
                  <a:srgbClr val="2B2B2B"/>
                </a:solidFill>
                <a:latin typeface="맑은 고딕" pitchFamily="34" charset="0"/>
                <a:ea typeface="맑은 고딕" pitchFamily="34" charset="-122"/>
                <a:cs typeface="맑은 고딕" pitchFamily="34" charset="-120"/>
              </a:rPr>
              <a:t>2. 본 보고서의 내용은 일반적인 정보 제공 목적이며, 특정 개인 또는 법인에 대한 법률·세무 자문이 아닙니다.</a:t>
            </a:r>
            <a:endParaRPr lang="en-US" sz="950" dirty="0"/>
          </a:p>
        </p:txBody>
      </p:sp>
      <p:sp>
        <p:nvSpPr>
          <p:cNvPr id="10" name="Text 8"/>
          <p:cNvSpPr/>
          <p:nvPr/>
        </p:nvSpPr>
        <p:spPr>
          <a:xfrm>
            <a:off x="640080" y="2048256"/>
            <a:ext cx="7863840" cy="457200"/>
          </a:xfrm>
          <a:prstGeom prst="rect">
            <a:avLst/>
          </a:prstGeom>
          <a:noFill/>
          <a:ln/>
        </p:spPr>
        <p:txBody>
          <a:bodyPr wrap="square" lIns="0" tIns="0" rIns="0" bIns="0" rtlCol="0" anchor="t"/>
          <a:lstStyle/>
          <a:p>
            <a:pPr marL="0" indent="0">
              <a:buNone/>
            </a:pPr>
            <a:r>
              <a:rPr lang="en-US" sz="950" dirty="0">
                <a:solidFill>
                  <a:srgbClr val="2B2B2B"/>
                </a:solidFill>
                <a:latin typeface="맑은 고딕" pitchFamily="34" charset="0"/>
                <a:ea typeface="맑은 고딕" pitchFamily="34" charset="-122"/>
                <a:cs typeface="맑은 고딕" pitchFamily="34" charset="-120"/>
              </a:rPr>
              <a:t>3. AI는 언제든지 오류가 있을 수 있으므로 참고용으로만 사용하시고, 실무 적용 시 세법을 포함한 모든 규정, 제도는 반드시 분야별 전문가(변호사, 세무사, 신탁사, 보험사 등)와 충분히 상담 후 진행하시기 바랍니다.</a:t>
            </a:r>
            <a:endParaRPr lang="en-US" sz="950" dirty="0"/>
          </a:p>
        </p:txBody>
      </p:sp>
      <p:sp>
        <p:nvSpPr>
          <p:cNvPr id="11" name="Text 9"/>
          <p:cNvSpPr/>
          <p:nvPr/>
        </p:nvSpPr>
        <p:spPr>
          <a:xfrm>
            <a:off x="640080" y="2523744"/>
            <a:ext cx="7863840" cy="457200"/>
          </a:xfrm>
          <a:prstGeom prst="rect">
            <a:avLst/>
          </a:prstGeom>
          <a:noFill/>
          <a:ln/>
        </p:spPr>
        <p:txBody>
          <a:bodyPr wrap="square" lIns="0" tIns="0" rIns="0" bIns="0" rtlCol="0" anchor="t"/>
          <a:lstStyle/>
          <a:p>
            <a:pPr marL="0" indent="0">
              <a:buNone/>
            </a:pPr>
            <a:r>
              <a:rPr lang="en-US" sz="950" dirty="0">
                <a:solidFill>
                  <a:srgbClr val="2B2B2B"/>
                </a:solidFill>
                <a:latin typeface="맑은 고딕" pitchFamily="34" charset="0"/>
                <a:ea typeface="맑은 고딕" pitchFamily="34" charset="-122"/>
                <a:cs typeface="맑은 고딕" pitchFamily="34" charset="-120"/>
              </a:rPr>
              <a:t>4. 본 보고서에서 제시하는 효과는 '가능성'이며, 개별 사안의 구체적 상황에 따라 결과가 달라질 수 </a:t>
            </a:r>
            <a:r>
              <a:rPr lang="en-US" sz="950" dirty="0" err="1">
                <a:solidFill>
                  <a:srgbClr val="2B2B2B"/>
                </a:solidFill>
                <a:latin typeface="맑은 고딕" pitchFamily="34" charset="0"/>
                <a:ea typeface="맑은 고딕" pitchFamily="34" charset="-122"/>
                <a:cs typeface="맑은 고딕" pitchFamily="34" charset="-120"/>
              </a:rPr>
              <a:t>있습니다</a:t>
            </a:r>
            <a:r>
              <a:rPr lang="en-US" sz="950" dirty="0">
                <a:solidFill>
                  <a:srgbClr val="2B2B2B"/>
                </a:solidFill>
                <a:latin typeface="맑은 고딕" pitchFamily="34" charset="0"/>
                <a:ea typeface="맑은 고딕" pitchFamily="34" charset="-122"/>
                <a:cs typeface="맑은 고딕" pitchFamily="34" charset="-120"/>
              </a:rPr>
              <a:t>.</a:t>
            </a:r>
          </a:p>
          <a:p>
            <a:pPr marL="0" indent="0">
              <a:buNone/>
            </a:pPr>
            <a:r>
              <a:rPr lang="en-US" sz="950" dirty="0" err="1">
                <a:solidFill>
                  <a:srgbClr val="2B2B2B"/>
                </a:solidFill>
                <a:latin typeface="맑은 고딕" pitchFamily="34" charset="0"/>
                <a:ea typeface="맑은 고딕" pitchFamily="34" charset="-122"/>
                <a:cs typeface="맑은 고딕" pitchFamily="34" charset="-120"/>
              </a:rPr>
              <a:t>확정적·절대적</a:t>
            </a:r>
            <a:r>
              <a:rPr lang="en-US" sz="950" dirty="0">
                <a:solidFill>
                  <a:srgbClr val="2B2B2B"/>
                </a:solidFill>
                <a:latin typeface="맑은 고딕" pitchFamily="34" charset="0"/>
                <a:ea typeface="맑은 고딕" pitchFamily="34" charset="-122"/>
                <a:cs typeface="맑은 고딕" pitchFamily="34" charset="-120"/>
              </a:rPr>
              <a:t> 효과를 보장하지 않습니다.</a:t>
            </a:r>
            <a:endParaRPr lang="en-US" sz="950" dirty="0"/>
          </a:p>
        </p:txBody>
      </p:sp>
      <p:sp>
        <p:nvSpPr>
          <p:cNvPr id="12" name="Text 10"/>
          <p:cNvSpPr/>
          <p:nvPr/>
        </p:nvSpPr>
        <p:spPr>
          <a:xfrm>
            <a:off x="640080" y="2999232"/>
            <a:ext cx="7863840" cy="457200"/>
          </a:xfrm>
          <a:prstGeom prst="rect">
            <a:avLst/>
          </a:prstGeom>
          <a:noFill/>
          <a:ln/>
        </p:spPr>
        <p:txBody>
          <a:bodyPr wrap="square" lIns="0" tIns="0" rIns="0" bIns="0" rtlCol="0" anchor="t"/>
          <a:lstStyle/>
          <a:p>
            <a:pPr marL="0" indent="0">
              <a:buNone/>
            </a:pPr>
            <a:r>
              <a:rPr lang="en-US" sz="950" dirty="0">
                <a:solidFill>
                  <a:srgbClr val="2B2B2B"/>
                </a:solidFill>
                <a:latin typeface="맑은 고딕" pitchFamily="34" charset="0"/>
                <a:ea typeface="맑은 고딕" pitchFamily="34" charset="-122"/>
                <a:cs typeface="맑은 고딕" pitchFamily="34" charset="-120"/>
              </a:rPr>
              <a:t>5. 관련 법령은 수시로 개정될 수 있으므로, 적용 시점의 현행법을 반드시 확인하시기 바랍니다.</a:t>
            </a:r>
            <a:endParaRPr lang="en-US" sz="950" dirty="0"/>
          </a:p>
        </p:txBody>
      </p:sp>
      <p:sp>
        <p:nvSpPr>
          <p:cNvPr id="13" name="Text 11"/>
          <p:cNvSpPr/>
          <p:nvPr/>
        </p:nvSpPr>
        <p:spPr>
          <a:xfrm>
            <a:off x="640080" y="3474720"/>
            <a:ext cx="7863840" cy="457200"/>
          </a:xfrm>
          <a:prstGeom prst="rect">
            <a:avLst/>
          </a:prstGeom>
          <a:noFill/>
          <a:ln/>
        </p:spPr>
        <p:txBody>
          <a:bodyPr wrap="square" lIns="0" tIns="0" rIns="0" bIns="0" rtlCol="0" anchor="t"/>
          <a:lstStyle/>
          <a:p>
            <a:pPr marL="0" indent="0">
              <a:buNone/>
            </a:pPr>
            <a:r>
              <a:rPr lang="en-US" sz="950" dirty="0">
                <a:solidFill>
                  <a:srgbClr val="2B2B2B"/>
                </a:solidFill>
                <a:latin typeface="맑은 고딕" pitchFamily="34" charset="0"/>
                <a:ea typeface="맑은 고딕" pitchFamily="34" charset="-122"/>
                <a:cs typeface="맑은 고딕" pitchFamily="34" charset="-120"/>
              </a:rPr>
              <a:t>6. 사용에 따라 발생되는 문제에 대하여 제작처는 책임이 없음을 알려드립니다.</a:t>
            </a:r>
            <a:endParaRPr lang="en-US" sz="95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자산보호를 위한 신탁 활용전략</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27 / 27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4007</Words>
  <Application>Microsoft Office PowerPoint</Application>
  <PresentationFormat>화면 슬라이드 쇼(16:9)</PresentationFormat>
  <Paragraphs>467</Paragraphs>
  <Slides>27</Slides>
  <Notes>27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27</vt:i4>
      </vt:variant>
    </vt:vector>
  </HeadingPairs>
  <TitlesOfParts>
    <vt:vector size="31" baseType="lpstr">
      <vt:lpstr>맑은 고딕</vt:lpstr>
      <vt:lpstr>Arial</vt:lpstr>
      <vt:lpstr>Georgia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CEO 자산보호를 위한 신탁 활용전략</dc:title>
  <dc:subject>PptxGenJS Presentation</dc:subject>
  <dc:creator>KFPC</dc:creator>
  <cp:lastModifiedBy>에프피센터 한국</cp:lastModifiedBy>
  <cp:revision>2</cp:revision>
  <dcterms:created xsi:type="dcterms:W3CDTF">2026-03-03T06:59:09Z</dcterms:created>
  <dcterms:modified xsi:type="dcterms:W3CDTF">2026-03-03T07:09:59Z</dcterms:modified>
</cp:coreProperties>
</file>