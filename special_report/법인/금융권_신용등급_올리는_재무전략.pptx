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7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00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19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solidFill>
            <a:srgbClr val="C9A2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이슈브리핑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금융권 신용등급 올리는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재무전략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CEO를 위한 맞춤형 재무 컨설팅 보고서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 차 (Table of Contents)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2062" y="1005840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10" name="Text 8"/>
          <p:cNvSpPr/>
          <p:nvPr/>
        </p:nvSpPr>
        <p:spPr>
          <a:xfrm>
            <a:off x="572063" y="1005840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Ⅰ. 기업 개요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2063" y="1335024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13" name="Text 11"/>
          <p:cNvSpPr/>
          <p:nvPr/>
        </p:nvSpPr>
        <p:spPr>
          <a:xfrm>
            <a:off x="572063" y="1335024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350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Executive Summary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2063" y="1664208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16" name="Text 14"/>
          <p:cNvSpPr/>
          <p:nvPr/>
        </p:nvSpPr>
        <p:spPr>
          <a:xfrm>
            <a:off x="572063" y="1664208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664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기업 현황 및 CEO Needs 심층 진단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2063" y="1993392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19" name="Text 17"/>
          <p:cNvSpPr/>
          <p:nvPr/>
        </p:nvSpPr>
        <p:spPr>
          <a:xfrm>
            <a:off x="572063" y="1993392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993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핵심 이슈 및 전략 과제 도출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2063" y="2322576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22" name="Text 20"/>
          <p:cNvSpPr/>
          <p:nvPr/>
        </p:nvSpPr>
        <p:spPr>
          <a:xfrm>
            <a:off x="572063" y="2322576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3225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Ⅴ. 맞춤형 솔루션 및 실행 전략 제안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2063" y="2651760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25" name="Text 23"/>
          <p:cNvSpPr/>
          <p:nvPr/>
        </p:nvSpPr>
        <p:spPr>
          <a:xfrm>
            <a:off x="572063" y="2651760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2651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Ⅵ. 기대효과 및 재무적 영향 분석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2063" y="2980944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28" name="Text 26"/>
          <p:cNvSpPr/>
          <p:nvPr/>
        </p:nvSpPr>
        <p:spPr>
          <a:xfrm>
            <a:off x="572063" y="2980944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29809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Ⅶ. 등급 상향용 비재무 체크리스트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2063" y="3310128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31" name="Text 29"/>
          <p:cNvSpPr/>
          <p:nvPr/>
        </p:nvSpPr>
        <p:spPr>
          <a:xfrm>
            <a:off x="572063" y="3310128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310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Ⅷ. 실행 로드맵 및 추진 일정 (2개년)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2063" y="3639312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34" name="Text 32"/>
          <p:cNvSpPr/>
          <p:nvPr/>
        </p:nvSpPr>
        <p:spPr>
          <a:xfrm>
            <a:off x="572063" y="3639312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36393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Ⅸ. 종합 결론 및 전략적 제언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2063" y="3968496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37" name="Text 35"/>
          <p:cNvSpPr/>
          <p:nvPr/>
        </p:nvSpPr>
        <p:spPr>
          <a:xfrm>
            <a:off x="572063" y="3968496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9684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Ⅹ. 컨설팅 시나리오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72063" y="4297680"/>
            <a:ext cx="388057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900"/>
          </a:p>
        </p:txBody>
      </p:sp>
      <p:sp>
        <p:nvSpPr>
          <p:cNvPr id="40" name="Text 38"/>
          <p:cNvSpPr/>
          <p:nvPr/>
        </p:nvSpPr>
        <p:spPr>
          <a:xfrm>
            <a:off x="572063" y="4297680"/>
            <a:ext cx="38805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" y="4297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Ⅺ. 부록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기업 개요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Ⅰ. 기업 개요 — 법인 기본 정보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회사명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(주)대동정밀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대표이사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박철수 (62세, 2남 중 장남)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정밀기계부품 제조 (자동차·항공·반도체 장비용)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1998년 (업력 27년)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소재지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경남 창원시 성산구 공단로 (창원국가산업단지 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 3개년 평균 약 320억 원 (직전기 350억 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직원수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120명 (정규직 95, 계약직 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자본금/지분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5억 원 / 대표이사 80%, 배우자 15%, 장남 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신용등급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 (NICE평가 기준, 직전 정기평가)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주거래은행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KEB하나은행 창원지점 (여신 잔액 약 80억 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Ⅰ. 기업 개요 — 주요 사업 영역 &amp; 연혁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</a:rPr>
              <a:t> 금융권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840480" cy="34747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사업 영역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초정밀 가공부품 (자동차 변속기·엔진 핵심 부품)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 MRO용 정밀 부품 (AS9100 인증 보유)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장비용 특수 부품 (웨이퍼 스테이지 등)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거래처: 현대·기아 T1 협력사(40%), 한화에어로스페이스(25%), 기타 중견 장비사(35%)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54864" cy="34747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연혁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371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1998년: 대동정밀 설립 (선반 3대로 시작)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2005년: 자동차 부품 T1 협력사 등록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2010년: 항공 부품 시장 진출 (AS9100 인증)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2018년: 반도체 장비 부품 사업 확대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2023년: 연매출 300억 돌파, 직원 120명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현재: 신용등급 BB+, 50억 시설자금 조달 계획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(경영자를 위한 핵심 요약)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</a:rPr>
              <a:t> 금융권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Ⅱ. 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840480" cy="14630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4630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컨설팅 배경 및 목적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(주)대동정밀은 연매출 350억 원의 견실한 제조기업이지만, 현재 신용등급(BB+)이 실제 사업 역량에 비해 낮게 평가되고 있습니다. 본 보고서는 신용등급 상향을 통한 금융비용 절감과 CEO 개인 리스크(연대보증) 해소를 위한 맞춤형 재무전략을 제안합니다.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14630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54864" cy="14630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현황 진단 핵심 (As-Is)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280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부채비율 210%: 가수금 30억이 부채로 과대 계상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85일: 매출채권 회수 지연 → 현금흐름 악화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영업CF 마이너스: 수익성 대비 현금 창출 부족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비재무 평가 미흡: 지배구조, 내부통제 등 개선 필요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3840480" cy="16459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54864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제안 핵심 (To-Be)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926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가수금 30억 출자전환 → 부채비율 150%대 즉시 개선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매출채권 유동화(팩토링 등) → DSO 70일 이내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비재무 체크리스트 항목별 개선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 정기보험 설계 → Key-Man 리스크 방어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3840480" cy="16459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54864" cy="16459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기대효과 핵심 (ROI)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부채비율 210%→150%대, 등급 BB+→BBB- 목표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금리 인하: 연간 약 4,000만~8,000만 원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연대보증 단계적 해제 → CEO 개인 자산 보호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2개년 로드맵: 1차년 Outlook 개선, 2차년 등급 상향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기업 현황 및 CEO Needs 심층 진단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Ⅲ. 재무구조 정밀 분석 — 최근 3개년 요약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28346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283464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23408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2025년(E)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연평균 12% 성장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영업이익률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업종 평균 5% 상회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부채비율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가수금 30억 영향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유동비율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단기 유동성 양호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업종 평균 60일 초과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영업활동CF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매출채권·재고 영향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차입금 의존도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업종 평균 수준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r>
              <a:rPr lang="en-US" sz="1100" b="1" dirty="0" err="1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11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</a:t>
            </a:r>
            <a:endParaRPr lang="en-US" sz="1100" b="1" dirty="0">
              <a:solidFill>
                <a:srgbClr val="E8EC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매출 성장세는 양호하나, 가수금 30억 → 부채비율 왜곡 + DSO 85일 → 매출채권 회수 지연이 신용등급 억제의 주요 원인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Ⅲ. CEO Needs 및 경영 목표 분석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256032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자금 조달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3258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5축 MC·복합가공기 도입 시설자금 50억 원 조달 희망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 BB+ 등급 → 금리 5~6%대, 담보 추가 요구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BBB- 이상 시 금리 1%p 인하 및 담보 완화 기대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56032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914400"/>
            <a:ext cx="54864" cy="3383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74720" y="960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 관리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3258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대표이사 연대보증 약 60억 원 — CEO 개인재산 직결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상향 시 연대보증 단계적 해제 가능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 유고 리스크 대비 필요 (Key-Man Risk)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56032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54864" cy="33832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09360" y="960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승계 준비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3258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장남(32세, 경영학 석사) 입사 3년차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5~10년 내 경영권 이양 계획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승계 전 재무구조 정상화 및 기업가치 적정 평가 필요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지배구조 투명성 확보가 선행 과제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이슈 및 전략 과제 도출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Ⅳ. 핵심 이슈 및 전략 과제 도출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840480" cy="15087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508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매출채권 및 재고자산 관리 부실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85일(업종 평균 60일)로 약 24억 원의 현금이 매출채권에 묶여 있음. 재고회전일수 역시 업종 평균 초과 → 영업CF 마이너스의 직접 원인.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15087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54864" cy="1508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가수금으로 인한 부채비율 왜곡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280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CEO가 회사에 투입한 30억 원이 '가수금(부채)'으로 계상 → 부채비율이 실제보다 약 60%p 높게 표시. 신용평가 재무건전성 점수 대폭 감점.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3840480" cy="15087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54864" cy="1508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비재무적 평가 요소 미흡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971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사외이사 미선임, 내부회계관리 미비, 환경·사회 인증 부재 등 비재무 체크리스트 항목에서 개선 여지 다수. 평가사 정성평가 시 감점 요인.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3840480" cy="15087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606040"/>
            <a:ext cx="54864" cy="1508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현 부채비율에서의 추가 차입 한계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971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부채비율 210%에서 50억 추가 차입 시 240% 초과 → 은행 심사 기준상 대출 승인 극히 어렵고 금리 가산 폭 대폭 확대.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162B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전략 과제: ① 매출채권 유동화로 현금흐름 개선  ② 가수금 출자전환  ③ 비재무 체크리스트 개선  ④ 재무구조 선 개선 후 차입 추진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맞춤형 솔루션 및 실행 전략 제안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Ⅴ-1. 매출채권 유동화를 통한 현금흐름 극대화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목표: DSO 85일 → 70일 이내 / 영업CF 플러스 전환 / 유동비율 130% 이상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8229600" cy="28346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54864" cy="283464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방안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팩토링(Factoring): 비소구·소구·한도형 3가지 유형을 거래처별 신용도에 맞게 적용. 비소구 팩토링은 매출채권 완전 매각(True Sale) → 재무제표에서 매출채권 제거 + 현금 유입 동시 달성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전자결제대행·조기결제 할인: 주요 거래처와 Early Payment Discount 조건 협상 → 실질 회수기간 단축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구매론(구매자금대출): 매출처(구매자) 신용 기반으로 금융기관이 납품대금 선지급. 납품기업 재무제표에 차입금 미계상 → 부채비율 무영향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상생결제: 대기업 1차 협력사 결제대금이 2·3차까지 연쇄 조기 지급 (대·중소기업 협력재단 등 운영)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점검 필수: 민법 제449~452조 채권양도 통지/승낙 요건 확인, 거래처별 '채권양도 금지 특약' 유무 전수 조사 선행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Ⅴ-1. 팩토링 유형 비교 &amp; 선택 가이드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2560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비소구(Non-Recourse)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소구(Recourse)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한도형(Revolving)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채권 매각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완전 매각 (True Sale)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담보부 대출 성격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한도 내 회전 사용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부도 위험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팩터(금융기관)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납품기업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약정에 따라 상이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재무제표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매출채권 제거 (최적)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차입금 계상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구조에 따라 상이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수수료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 (1.5~3%)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 (0.5~1.5%)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 (1~2%)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 대상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신용도 높은 대기업 매출처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거래처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다수 거래처 동시 관리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366728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컨설턴트 유의사항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814809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팩토링을 '비용 절감 수단'이 아닌 '재무제표 체질 개선 수단'으로 포지셔닝하십시오. CFO(현금흐름) 플러스 전환이 핵심 KPI입니다. 양도금지특약이 있는 거래처는 팩토링 대상에서 사전 제외하여 법적 안정성을 확보하십시오.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Ⅴ-2. 가수금 출자전환을 통한 재무구조 정상화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목표: 부채비율 210% → 150%대 / 자본 확충 / 신용평가 재무점수 대폭 개선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840480" cy="19202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54864" cy="192024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절차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정관 점검 — 제3자 배정 조항 확인 및 정비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비상장주식 가치평가 의뢰 (독립 감정평가)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이사회 결의 → 출자전환 실행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4단계: 등기 변경 및 세무 신고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840480" cy="19202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54864" cy="19202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세무 리스크 체크포인트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상증법 제39조: 시가 대비 저가/고가 발행 시 증여세 과세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Rule (시행령 제29조): 증자 후 1주당 평가액과 인수가액 차이 30% 이상이면 과세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법인세법 제52조: 부당행위계산 부인 → 세무 조정 가능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세무 전문가 사전 검토 필수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54864" cy="6858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법적 근거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696343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상법 제416조(신주발행사항 결정), 제418조 제2항(제3자 배정 시 정관 근거), 제421조 제2항(회사 동의 시 상계 가능). 회사의 동의는 이사회 결의 등 적법한 절차로 확보하고, 상계납입 근거자료(채권 존재·변제기·상계합의)를 보관합니다.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Ⅴ-3. 비재무 평가 개선 &amp; 경영인 정기보험 설계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84048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비재무 평가 개선 방안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3258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지배구조: 사외이사 1인 선임, 이사회 정례화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내부통제: 내부회계관리제도 구축 (감사인 검토 대비)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 투명성: 사업보고서·지속가능보고서 자발적 공시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확보: ISO 14001(환경), ISO 45001(안전보건) 추가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 리스크 분산: 전방 산업 다변화 전략 수립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54864" cy="33832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경영인 정기보험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3258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CEO 유고 시 기업 자금 경색 방어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손금산입 3요건 충족 확인 필수: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만기환급금 없는 순수보장성 보험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계약자·수익자 모두 법인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업무관련성 소명 가능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근거: 법인세법 기본통칙 19-19-9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해약환급금 수령 시 익금산입(법인세 과세)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금감원 2024.4월 소비자경보 — '절세상품' 불완전판매 경고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세무 전문가와 사전 설계 후 가입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기대효과 및 재무적 영향 분석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Ⅵ. 정량적 기대효과 — 시뮬레이션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2560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204825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(As-Is)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1차년 목표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2차년 목표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부채비율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영업활동CF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신용등급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 (Outlook↑)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차입금리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이자 절감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4,000만 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8,000만 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 개선 목표 KPI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70일 이내  |  재고회전일수 60일 이내  |  영업CF/매출액 비율 3% 이상  |  EBITDA 대비 이자보상배율 4배 이상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Ⅵ. 정성적 기대효과 &amp; 핵심 메시지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84048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정성적 기대효과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3258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 협상력 강화: 금리·담보·한도 재협상 레버리지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연대보증 단계적 해제: CEO 개인 자산 보호의 첫걸음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가치 재평가: M&amp;A, 투자 유치, IPO 시 핵심 요소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승계 기반 마련: 재무 건전한 기업 이양이 최대 자산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신뢰 강화: 장기 계약 안정성에도 기여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54864" cy="33832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핵심 메시지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371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 금리는 '기준금리'보다 우리 회사의 '리스크 프리미엄'이 더 큽니다.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통제 가능한 변수(DSO, 가수금, 약정구조)를 바꾸면, 심사에서 불리한 해석을 줄일 수 있습니다.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신용등급 상승 = 연대보증 해제 = CEO 개인 자산의 안전판 확보.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이 보고서의 궁극적 목표입니다.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등급 상향용 비재무 체크리스트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Ⅶ. 등급 상향용 비재무 체크리스트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29260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지배구조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사외이사 선임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1인 이상 (업계 전문가)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이사회 정례화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비정기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월1회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의사록 작성·보관 체계화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내부통제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내부회계관리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외부감사인 검토 대비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자금 집행 결재 체계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전결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금액별 결재 라인 분리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경영투명성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사업보고서 공시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미공시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자발적 공시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평가사 브리핑 시 활용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14001/45001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미보유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환경·안전보건 인증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AS9100 (기보유)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갱신유지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항공 부품 필수 인증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리스크관리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 정기보험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미가입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Key-Man 리스크 대비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BCP(사업연속성계획)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미수립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E7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재해·유고 시 사업 계속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로드맵 및 추진 일정 (2개년)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Ⅷ. 1차 연도 — 재무구조 정상화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10515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0515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960120"/>
            <a:ext cx="914400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960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결산 전 (1~2개월)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점검(제3자 배정 조항 확인 및 정비), 가수금 규모 확정 및 비상장주식 가치평가 의뢰, 출자전환을 위한 이사회 결의, 세무 전문가 사전 검토(증여세·법인세 리스크), 이월결손금 보유 여부 확인, 주요 거래처별 기본계약서 전수 조사(채권양도 금지 특약 유무 확인 — 양도금지특약이 있는 거래처는 팩토링 대상에서 사전 제외하여 법적 안정성 확보)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10515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54864" cy="105156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148840"/>
            <a:ext cx="914400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2148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결산기 (2~3개월)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매출채권 유동화 실행(팩토링·전자결제대행·조기결제 할인 병행), 거래처 계약서 채권양도 제한 조항 및 통지 프로세스 점검(민법 제449~452조), 기말 현금흐름 플러스 전환 및 미회수 채권 대손 처리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105156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54864" cy="105156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3337560"/>
            <a:ext cx="914400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337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결산 후 (1~2개월)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개선된 재무제표를 바탕으로 신용평가사 대면 브리핑, 등급 전망(Outlook) 긍정적 변화 유도. 1차 연도 목표: 등급 전망 '안정적(Stable) → 긍정적(Positive)'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Ⅷ. 유의사항 &amp; 2차 연도 계획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컨설턴트 유의사항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139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개선 이후에도 실제 금리 재협상까지 추가 시간이 소요되므로, CEO에게 "재무지표 개선 → 결산 확정 → 평가 반영 → 금리 인하까지 최소 6개월~1년의 시차가 존재한다"는 점을 재확인하여 기대치를 조율하는 것이 중요합니다.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3840480" cy="24688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54864" cy="2468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914400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1874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2차 연도 상반기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2402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70일 이내·재고회전일수 60일 이내 달성 관리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비재무 체크리스트 항목별 개선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 정기보험 설계 및 가입 (손금산입 3요건 충족 확인)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828800"/>
            <a:ext cx="3840480" cy="24688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54864" cy="24688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29200" y="1874520"/>
            <a:ext cx="914400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0" y="1874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0760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2차 연도 하반기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2402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2개년 연속 개선 재무제표 기반 정기평가 대응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BB+ → BBB- 등급 상향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50억 시설자금 조달 추진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 목표: BBB 구간 안정화 후 A- 도전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종합 결론 및 전략적 제언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Ⅸ. 종합 결론 및 전략적 제언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0058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신용등급은 기업의 '성적표'가 아니라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'미래 가치'를 담보로 하는 '경제적 신분'입니다.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54864" cy="1097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(주)대동정밀은 현재의 견고한 매출 기반 위에 재무적 투명성과 현금흐름 관리라는 시스템만 얹는다면 중기적으로 BBB 구간 안정화를 거쳐 A- 등급까지 도전할 수 있는 잠재력이 있습니다. 다만, 이는 재무·비재무·지배구조·산업리스크 등 다방면의 동시 개선이 필요하므로, 단계적 로드맵에 따른 꾸준한 실행이 핵심입니다.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"단순히 세금을 줄이는 재무가 아니라, '돈을 빌려주는 사람이 안심하는 재무'로 관점을 전환하십시오. 그것이 CEO의 개인 자산을 보호하고 기업의 100년 기틀을 마련하는 유일한 길입니다."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컨설팅 시나리오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Ⅹ. 컨설팅 시나리오 — "금리 1% 낮추는 재무 성형 전략"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29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840480" cy="16002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600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상담 시작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2344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우리 회사가 은행에 지불하는 '가산금리'는 오직 우리 회사의 신용등급에만 달려 있습니다. 기준금리보다 더 큰 비중을 차지하는 것이 '리스크 프리미엄'입니다. 등급을 한 단계만 올려도 매년 고급 세단 한 대 값의 이자가 통장에 남을 수 있습니다."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16002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54864" cy="1600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인식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2344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"매출은 아주 좋습니다. 하지만 가수금이 '언제든 빠져나갈 수 있는 빚'으로, 매출채권 회수 지연이 '현금 창출 능력 부족'으로 오해받아 BB+에 머물러 계십니다. 부채비율 210%에서 50억을 바로 빌리기는 현실적으로 어렵습니다. 재무구조를 먼저 개선해야 합니다."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3840480" cy="16002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54864" cy="1600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제안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"해결책은 세 가지입니다. 첫째, 가수금을 자본으로 바꿔 부채비율을 150%대로 낮추겠습니다. 둘째, 팩토링·전자결제대행·조기결제 할인을 병행하여 매출채권 회수 기간을 구조적으로 단축합니다. 셋째, 경영자 유고 시에도 신용을 방어할 리스크 관리 플랜을 마련합니다."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697480"/>
            <a:ext cx="3840480" cy="16002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54864" cy="16002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동의 유도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0175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과정은 단순히 장부 숫자를 바꾸는 것이 아니라, 대표님의 개인 자산을 지키는 안전판을 만드는 과정입니다. 신용등급이 올라가면 연대보증을 단계적으로 줄여나갈 수 있고, 그것이야말로 대표님의 재산을 진정으로 보호하는 길입니다."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Ⅺ. 부록 — 전문용어 설명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31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0515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매출채권 팩토링: 매출채권을 금융기관에 매각하여 현금 조달. 비소구·부분소구·한도형 등 다양한 형태가 있으며, 회계처리와 약정 설계에 따라 재무제표 표시가 달라짐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가수금 출자전환: 법인의 가수금을 자본금으로 전환하여 주식 발행. 상법 제421조 제2항이 법적 근거. 비상장주식 가치평가 선행 및 세무 검토 필수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(Cash Flow from Operations): 영업활동현금흐름. 신용평가에서 순이익보다 중요한 지표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(Days Sales Outstanding): 매출채권회수일수. 낮을수록 현금 회수가 빠름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Rule: 상증법 시행령 제29조에 따른 증여세 과세 기준. 증자 후 1주당 평가액과 인수가액의 차이가 30% 이상이면 과세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구매론(구매자금대출): 매출처(구매자) 신용 기반 금융기관 선지급 구조. 납품기업 재무제표에 차입금 미계상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ko-KR" altLang="en-US" sz="1000" dirty="0">
                <a:solidFill>
                  <a:schemeClr val="bg1"/>
                </a:solidFill>
              </a:rPr>
              <a:t>상생결제</a:t>
            </a:r>
            <a:r>
              <a:rPr lang="en-US" altLang="ko-KR" sz="1000" dirty="0">
                <a:solidFill>
                  <a:schemeClr val="bg1"/>
                </a:solidFill>
              </a:rPr>
              <a:t>: </a:t>
            </a:r>
            <a:r>
              <a:rPr lang="ko-KR" altLang="en-US" sz="1000" dirty="0">
                <a:solidFill>
                  <a:schemeClr val="bg1"/>
                </a:solidFill>
              </a:rPr>
              <a:t>대기업이 </a:t>
            </a:r>
            <a:r>
              <a:rPr lang="en-US" altLang="ko-KR" sz="1000" dirty="0">
                <a:solidFill>
                  <a:schemeClr val="bg1"/>
                </a:solidFill>
              </a:rPr>
              <a:t>1</a:t>
            </a:r>
            <a:r>
              <a:rPr lang="ko-KR" altLang="en-US" sz="1000" dirty="0">
                <a:solidFill>
                  <a:schemeClr val="bg1"/>
                </a:solidFill>
              </a:rPr>
              <a:t>차 협력사에 지급한 결제대금이 </a:t>
            </a:r>
            <a:r>
              <a:rPr lang="en-US" altLang="ko-KR" sz="1000" dirty="0">
                <a:solidFill>
                  <a:schemeClr val="bg1"/>
                </a:solidFill>
              </a:rPr>
              <a:t>2·3</a:t>
            </a:r>
            <a:r>
              <a:rPr lang="ko-KR" altLang="en-US" sz="1000" dirty="0">
                <a:solidFill>
                  <a:schemeClr val="bg1"/>
                </a:solidFill>
              </a:rPr>
              <a:t>차 협력사까지 연쇄적으로 조기 지급되는 제도</a:t>
            </a:r>
            <a:r>
              <a:rPr lang="en-US" altLang="ko-KR" sz="1000" dirty="0">
                <a:solidFill>
                  <a:schemeClr val="bg1"/>
                </a:solidFill>
              </a:rPr>
              <a:t>. </a:t>
            </a:r>
            <a:r>
              <a:rPr lang="ko-KR" altLang="en-US" sz="1000" b="1" dirty="0">
                <a:solidFill>
                  <a:schemeClr val="bg1"/>
                </a:solidFill>
              </a:rPr>
              <a:t>대</a:t>
            </a:r>
            <a:r>
              <a:rPr lang="en-US" altLang="ko-KR" sz="1000" b="1" dirty="0">
                <a:solidFill>
                  <a:schemeClr val="bg1"/>
                </a:solidFill>
              </a:rPr>
              <a:t>·</a:t>
            </a:r>
            <a:r>
              <a:rPr lang="ko-KR" altLang="en-US" sz="1000" b="1" dirty="0">
                <a:solidFill>
                  <a:schemeClr val="bg1"/>
                </a:solidFill>
              </a:rPr>
              <a:t>중소기업 협력재단 등을 통해 운영되며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납품기업의 차입 부담 없이 현금흐름을 개선할 수 있습니다</a:t>
            </a:r>
            <a:r>
              <a:rPr lang="en-US" altLang="ko-KR" sz="1000" b="1" dirty="0">
                <a:solidFill>
                  <a:schemeClr val="bg1"/>
                </a:solidFill>
              </a:rPr>
              <a:t>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Ⅺ. 부록 — FAQ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32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가수금을 자본화하면 세금이 나오나요?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원칙적으로 가수금 자본화 자체로 법인세가 발생하지는 않습니다. 다만, ① 상증법 제39조에 따른 증여세, ② 법인세법 제52조 부당행위계산 부인, ③ 시행령 제72조 제2항 취득주식 시가·장부가액 차이 과세 이슈가 발생할 수 있습니다. 비상장주식 가치평가를 선행하고 세무 전문가 검토가 필수입니다.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신용등급 반영까지 얼마나 걸리나요?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정기평가는 통상 결산 확정 이후 반영됩니다. 등급 전망(Outlook)은 수시평가를 통해 중간 상향 가능하므로, 1차 연도에 Outlook 개선, 2차 연도에 본격적 등급 상향을 추진하는 2단계 접근이 현실적입니다.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경영인 정기보험 보험료는 전액 비용 처리가 되나요?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단순히 전액 비용 처리라고 단정하기 어렵습니다. 손금산입 3요건(① 순수보장성, ② 계약자·수익자 모두 법인, ③ 업무관련성)을 모두 충족해야 합니다. 해약환급금 수령 시 익금산입됩니다. 금감원 2024.4월 소비자경보에 따라 반드시 세무 전문가와 사전 설계 후 가입하십시오.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Ⅺ. 부록 — 관련 법규 및 출처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33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0515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상법 제416조 (주식의 발행사항의 결정): 신주 발행 및 출자전환의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r>
              <a:rPr lang="en-US" altLang="ko-KR" sz="1000" b="1" dirty="0">
                <a:solidFill>
                  <a:schemeClr val="bg1"/>
                </a:solidFill>
              </a:rPr>
              <a:t>(2011.4.14. </a:t>
            </a:r>
            <a:r>
              <a:rPr lang="ko-KR" altLang="en-US" sz="1000" b="1" dirty="0">
                <a:solidFill>
                  <a:schemeClr val="bg1"/>
                </a:solidFill>
              </a:rPr>
              <a:t>개정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현행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상법 제418조 제2항 (신주의 인수): 제3자 배정 시 정관 근거 및 주주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통지·공고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요건</a:t>
            </a:r>
            <a:r>
              <a:rPr lang="en-US" altLang="ko-KR" sz="1000" b="1" dirty="0">
                <a:solidFill>
                  <a:schemeClr val="bg1"/>
                </a:solidFill>
              </a:rPr>
              <a:t>(2011.4.14. </a:t>
            </a:r>
            <a:r>
              <a:rPr lang="ko-KR" altLang="en-US" sz="1000" b="1" dirty="0">
                <a:solidFill>
                  <a:schemeClr val="bg1"/>
                </a:solidFill>
              </a:rPr>
              <a:t>개정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현행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상법 제421조 제2항 (주식에 대한 납입): 회사 동의 시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상계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r>
              <a:rPr lang="en-US" altLang="ko-KR" sz="1000" dirty="0">
                <a:solidFill>
                  <a:schemeClr val="bg1"/>
                </a:solidFill>
              </a:rPr>
              <a:t>(2011.4.14. </a:t>
            </a:r>
            <a:r>
              <a:rPr lang="ko-KR" altLang="en-US" sz="1000" dirty="0">
                <a:solidFill>
                  <a:schemeClr val="bg1"/>
                </a:solidFill>
              </a:rPr>
              <a:t>개정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현행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상증법 제39조 (증자에 따른 이익의 증여): 시가 대비 저가/고가 발행 시 증여세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과세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법률 제</a:t>
            </a:r>
            <a:r>
              <a:rPr lang="en-US" altLang="ko-KR" sz="1000" b="1" dirty="0">
                <a:solidFill>
                  <a:schemeClr val="bg1"/>
                </a:solidFill>
              </a:rPr>
              <a:t>20777</a:t>
            </a:r>
            <a:r>
              <a:rPr lang="ko-KR" altLang="en-US" sz="1000" b="1" dirty="0">
                <a:solidFill>
                  <a:schemeClr val="bg1"/>
                </a:solidFill>
              </a:rPr>
              <a:t>호</a:t>
            </a:r>
            <a:r>
              <a:rPr lang="en-US" altLang="ko-KR" sz="1000" b="1" dirty="0">
                <a:solidFill>
                  <a:schemeClr val="bg1"/>
                </a:solidFill>
              </a:rPr>
              <a:t>, 2025.3.14. </a:t>
            </a:r>
            <a:r>
              <a:rPr lang="ko-KR" altLang="en-US" sz="1000" b="1" dirty="0">
                <a:solidFill>
                  <a:schemeClr val="bg1"/>
                </a:solidFill>
              </a:rPr>
              <a:t>일부개정 기준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상증법 제42조의2 (법인 자본 증가 거래에 따른 이익의 증여): 포괄적 자본거래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증여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법률 제</a:t>
            </a:r>
            <a:r>
              <a:rPr lang="en-US" altLang="ko-KR" sz="1000" b="1" dirty="0">
                <a:solidFill>
                  <a:schemeClr val="bg1"/>
                </a:solidFill>
              </a:rPr>
              <a:t>20777</a:t>
            </a:r>
            <a:r>
              <a:rPr lang="ko-KR" altLang="en-US" sz="1000" b="1" dirty="0">
                <a:solidFill>
                  <a:schemeClr val="bg1"/>
                </a:solidFill>
              </a:rPr>
              <a:t>호</a:t>
            </a:r>
            <a:r>
              <a:rPr lang="en-US" altLang="ko-KR" sz="1000" b="1" dirty="0">
                <a:solidFill>
                  <a:schemeClr val="bg1"/>
                </a:solidFill>
              </a:rPr>
              <a:t>, 2025.3.14. </a:t>
            </a:r>
            <a:r>
              <a:rPr lang="ko-KR" altLang="en-US" sz="1000" b="1" dirty="0">
                <a:solidFill>
                  <a:schemeClr val="bg1"/>
                </a:solidFill>
              </a:rPr>
              <a:t>일부개정 기준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상증법 시행령 제29조: 증자 시 증여세 과세 기준(30% Rule)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산정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대통령령 제</a:t>
            </a:r>
            <a:r>
              <a:rPr lang="en-US" altLang="ko-KR" sz="1000" b="1" dirty="0">
                <a:solidFill>
                  <a:schemeClr val="bg1"/>
                </a:solidFill>
              </a:rPr>
              <a:t>35351</a:t>
            </a:r>
            <a:r>
              <a:rPr lang="ko-KR" altLang="en-US" sz="1000" b="1" dirty="0">
                <a:solidFill>
                  <a:schemeClr val="bg1"/>
                </a:solidFill>
              </a:rPr>
              <a:t>호</a:t>
            </a:r>
            <a:r>
              <a:rPr lang="en-US" altLang="ko-KR" sz="1000" b="1" dirty="0">
                <a:solidFill>
                  <a:schemeClr val="bg1"/>
                </a:solidFill>
              </a:rPr>
              <a:t>, 2025.2.28. </a:t>
            </a:r>
            <a:r>
              <a:rPr lang="ko-KR" altLang="en-US" sz="1000" b="1" dirty="0">
                <a:solidFill>
                  <a:schemeClr val="bg1"/>
                </a:solidFill>
              </a:rPr>
              <a:t>일부개정 기준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법인세법 제52조 (부당행위계산의 부인): 특수관계인 간 시가 차이 거래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현행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법인세법 시행령 제72조 제2항 제4호의2: 출자전환 취득주식 취득가액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산정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현행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법인세법 기본통칙 19-19-9: 경영인 정기보험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손금산입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요건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현행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민법 제449~452조: 채권양도 및 통지/승낙 요건 (팩토링 법적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현행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Ⅺ. 부록 — 면책 및 주의사항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A0AEC0"/>
                </a:solidFill>
              </a:rPr>
              <a:t>금융권</a:t>
            </a:r>
            <a:r>
              <a:rPr lang="en-US" sz="800" dirty="0">
                <a:solidFill>
                  <a:srgbClr val="A0AEC0"/>
                </a:solidFill>
              </a:rPr>
              <a:t> 신용등급 올리는 재무전략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</a:rPr>
              <a:t>34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【면책 및 주의사항】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보고서는 '이너서클 멤버십'과 '컨설턴트 홈페이지' 이용회원의 원활한 영업활동을 돕기 위해서 가상의 사례(회사, 개인 등의 정보 등...)를 설정하여 '인공지능'을 통해 제작되었습니다.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언제든지 오류가 있을 수 있으므로 참고용으로 사용하여 주시고, 실무 사용시 세법을 포함한 모든 규정, 제도들은 반드시 분야별 전문가와 충분히 상담을 하신 후 진행하시기 바랍니다.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사용에 따라 발생되는 문제에 대하여 제작처는 책임이 없음을 알려드립니다.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금융권 신용등급 올리는 재무전략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3366</Words>
  <Application>Microsoft Office PowerPoint</Application>
  <PresentationFormat>화면 슬라이드 쇼(16:9)</PresentationFormat>
  <Paragraphs>502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금융권 신용등급 올리는 재무전략</dc:title>
  <dc:subject>PptxGenJS Presentation</dc:subject>
  <dc:creator>(주)한국FP센터</dc:creator>
  <cp:lastModifiedBy>광호 이</cp:lastModifiedBy>
  <cp:revision>5</cp:revision>
  <dcterms:created xsi:type="dcterms:W3CDTF">2026-02-11T02:50:10Z</dcterms:created>
  <dcterms:modified xsi:type="dcterms:W3CDTF">2026-02-11T03:59:06Z</dcterms:modified>
</cp:coreProperties>
</file>