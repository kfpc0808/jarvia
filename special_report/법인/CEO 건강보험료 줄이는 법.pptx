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C8962E"/>
          </a:solidFill>
          <a:ln w="12700">
            <a:solidFill>
              <a:srgbClr val="C8962E"/>
            </a:solidFill>
            <a:prstDash val="solid"/>
          </a:ln>
        </p:spPr>
      </p:sp>
      <p:sp>
        <p:nvSpPr>
          <p:cNvPr id="3" name="Text 1"/>
          <p:cNvSpPr/>
          <p:nvPr/>
        </p:nvSpPr>
        <p:spPr>
          <a:xfrm>
            <a:off x="731520" y="640080"/>
            <a:ext cx="7680960" cy="548640"/>
          </a:xfrm>
          <a:prstGeom prst="rect">
            <a:avLst/>
          </a:prstGeom>
          <a:noFill/>
          <a:ln/>
        </p:spPr>
        <p:txBody>
          <a:bodyPr wrap="square" rtlCol="0" anchor="ctr"/>
          <a:lstStyle/>
          <a:p>
            <a:pPr algn="ctr" indent="0" marL="0">
              <a:buNone/>
            </a:pPr>
            <a:r>
              <a:rPr lang="en-US" sz="1600" dirty="0">
                <a:solidFill>
                  <a:srgbClr val="CBD5E1"/>
                </a:solidFill>
                <a:latin typeface="맑은 고딕" pitchFamily="34" charset="0"/>
                <a:ea typeface="맑은 고딕" pitchFamily="34" charset="-122"/>
                <a:cs typeface="맑은 고딕" pitchFamily="34" charset="-120"/>
              </a:rPr>
              <a:t>컨설팅 특급보고서</a:t>
            </a:r>
            <a:endParaRPr lang="en-US" sz="1600" dirty="0"/>
          </a:p>
        </p:txBody>
      </p:sp>
      <p:sp>
        <p:nvSpPr>
          <p:cNvPr id="4" name="Text 2"/>
          <p:cNvSpPr/>
          <p:nvPr/>
        </p:nvSpPr>
        <p:spPr>
          <a:xfrm>
            <a:off x="731520" y="1097280"/>
            <a:ext cx="7680960" cy="411480"/>
          </a:xfrm>
          <a:prstGeom prst="rect">
            <a:avLst/>
          </a:prstGeom>
          <a:noFill/>
          <a:ln/>
        </p:spPr>
        <p:txBody>
          <a:bodyPr wrap="square" rtlCol="0" anchor="ctr"/>
          <a:lstStyle/>
          <a:p>
            <a:pPr algn="ctr" indent="0" marL="0">
              <a:buNone/>
            </a:pPr>
            <a:r>
              <a:rPr lang="en-US" sz="1300" dirty="0">
                <a:solidFill>
                  <a:srgbClr val="94A3B8"/>
                </a:solidFill>
                <a:latin typeface="맑은 고딕" pitchFamily="34" charset="0"/>
                <a:ea typeface="맑은 고딕" pitchFamily="34" charset="-122"/>
                <a:cs typeface="맑은 고딕" pitchFamily="34" charset="-120"/>
              </a:rPr>
              <a:t>기업의 지속가능 성장 및 CEO 자산가치 극대화를 위한</a:t>
            </a:r>
            <a:endParaRPr lang="en-US" sz="1300" dirty="0"/>
          </a:p>
        </p:txBody>
      </p:sp>
      <p:sp>
        <p:nvSpPr>
          <p:cNvPr id="5" name="Text 3"/>
          <p:cNvSpPr/>
          <p:nvPr/>
        </p:nvSpPr>
        <p:spPr>
          <a:xfrm>
            <a:off x="731520" y="1554480"/>
            <a:ext cx="7680960" cy="1463040"/>
          </a:xfrm>
          <a:prstGeom prst="rect">
            <a:avLst/>
          </a:prstGeom>
          <a:noFill/>
          <a:ln/>
        </p:spPr>
        <p:txBody>
          <a:bodyPr wrap="square" rtlCol="0" anchor="ctr"/>
          <a:lstStyle/>
          <a:p>
            <a:pPr algn="ctr" indent="0" marL="0">
              <a:buNone/>
            </a:pPr>
            <a:r>
              <a:rPr lang="en-US" sz="3200" b="1" dirty="0">
                <a:solidFill>
                  <a:srgbClr val="C8962E"/>
                </a:solidFill>
                <a:latin typeface="맑은 고딕" pitchFamily="34" charset="0"/>
                <a:ea typeface="맑은 고딕" pitchFamily="34" charset="-122"/>
                <a:cs typeface="맑은 고딕" pitchFamily="34" charset="-120"/>
              </a:rPr>
              <a:t>CEO 건강보험료 절감을 위한</a:t>
            </a:r>
            <a:endParaRPr lang="en-US" sz="3200" dirty="0"/>
          </a:p>
          <a:p>
            <a:pPr algn="ctr" indent="0" marL="0">
              <a:buNone/>
            </a:pPr>
            <a:r>
              <a:rPr lang="en-US" sz="3200" b="1" dirty="0">
                <a:solidFill>
                  <a:srgbClr val="C8962E"/>
                </a:solidFill>
                <a:latin typeface="맑은 고딕" pitchFamily="34" charset="0"/>
                <a:ea typeface="맑은 고딕" pitchFamily="34" charset="-122"/>
                <a:cs typeface="맑은 고딕" pitchFamily="34" charset="-120"/>
              </a:rPr>
              <a:t>소득 구조 최적화 전략</a:t>
            </a:r>
            <a:endParaRPr lang="en-US" sz="3200" dirty="0"/>
          </a:p>
        </p:txBody>
      </p:sp>
      <p:sp>
        <p:nvSpPr>
          <p:cNvPr id="6" name="Text 4"/>
          <p:cNvSpPr/>
          <p:nvPr/>
        </p:nvSpPr>
        <p:spPr>
          <a:xfrm>
            <a:off x="731520" y="3200400"/>
            <a:ext cx="7680960" cy="411480"/>
          </a:xfrm>
          <a:prstGeom prst="rect">
            <a:avLst/>
          </a:prstGeom>
          <a:noFill/>
          <a:ln/>
        </p:spPr>
        <p:txBody>
          <a:bodyPr wrap="square" rtlCol="0" anchor="ctr"/>
          <a:lstStyle/>
          <a:p>
            <a:pPr algn="ctr" indent="0" marL="0">
              <a:buNone/>
            </a:pPr>
            <a:r>
              <a:rPr lang="en-US" sz="1300" dirty="0">
                <a:solidFill>
                  <a:srgbClr val="CBD5E1"/>
                </a:solidFill>
                <a:latin typeface="맑은 고딕" pitchFamily="34" charset="0"/>
                <a:ea typeface="맑은 고딕" pitchFamily="34" charset="-122"/>
                <a:cs typeface="맑은 고딕" pitchFamily="34" charset="-120"/>
              </a:rPr>
              <a:t>2025년 기준 | KFPC 기업컨설팅 이슈브리핑 시리즈</a:t>
            </a:r>
            <a:endParaRPr lang="en-US" sz="1300" dirty="0"/>
          </a:p>
        </p:txBody>
      </p:sp>
      <p:sp>
        <p:nvSpPr>
          <p:cNvPr id="7" name="Text 5"/>
          <p:cNvSpPr/>
          <p:nvPr/>
        </p:nvSpPr>
        <p:spPr>
          <a:xfrm>
            <a:off x="731520" y="4434840"/>
            <a:ext cx="7680960" cy="274320"/>
          </a:xfrm>
          <a:prstGeom prst="rect">
            <a:avLst/>
          </a:prstGeom>
          <a:noFill/>
          <a:ln/>
        </p:spPr>
        <p:txBody>
          <a:bodyPr wrap="square" lIns="0" tIns="0" rIns="0" bIns="0" rtlCol="0" anchor="ctr"/>
          <a:lstStyle/>
          <a:p>
            <a:pPr algn="ctr" indent="0" marL="0">
              <a:buNone/>
            </a:pPr>
            <a:r>
              <a:rPr lang="en-US" sz="750" i="1" dirty="0">
                <a:solidFill>
                  <a:srgbClr val="1B2A4A"/>
                </a:solidFill>
                <a:latin typeface="맑은 고딕" pitchFamily="34" charset="0"/>
                <a:ea typeface="맑은 고딕" pitchFamily="34" charset="-122"/>
                <a:cs typeface="맑은 고딕" pitchFamily="34" charset="-120"/>
              </a:rPr>
              <a:t>본 자료는 AI 보조 도구를 활용하여 생성되었습니다. 실제 적용 전 전문가 확인이 필요합니다.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 서론: CEO 건강보험료 절감 전략</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본 보고서의 목적 및 배경</a:t>
            </a:r>
            <a:endParaRPr lang="en-US" sz="1400" dirty="0"/>
          </a:p>
        </p:txBody>
      </p:sp>
      <p:sp>
        <p:nvSpPr>
          <p:cNvPr id="8" name="Text 6"/>
          <p:cNvSpPr/>
          <p:nvPr/>
        </p:nvSpPr>
        <p:spPr>
          <a:xfrm>
            <a:off x="457200" y="1097280"/>
            <a:ext cx="8229600" cy="91440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본 보고서는 높은 소득으로 인해 과도한 건강보험료를 부담하고 있는 CEO들을 위해 합법적이고 전략적인 절감 방안을 제시하는 것을 목적으로 합니다. 많은 CEO들이 급여와 상여 중심의 단편적인 소득 구조로 인해, 매월 수백만 원에 달하는 건강보험료를 납부하며 실질 가처분 소득의 손실을 겪고 있습니다.</a:t>
            </a:r>
            <a:endParaRPr lang="en-US" sz="1200" dirty="0"/>
          </a:p>
        </p:txBody>
      </p:sp>
      <p:sp>
        <p:nvSpPr>
          <p:cNvPr id="9" name="Text 7"/>
          <p:cNvSpPr/>
          <p:nvPr/>
        </p:nvSpPr>
        <p:spPr>
          <a:xfrm>
            <a:off x="457200" y="21031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핵심 전략 방향</a:t>
            </a:r>
            <a:endParaRPr lang="en-US" sz="1400" dirty="0"/>
          </a:p>
        </p:txBody>
      </p:sp>
      <p:sp>
        <p:nvSpPr>
          <p:cNvPr id="10" name="Text 8"/>
          <p:cNvSpPr/>
          <p:nvPr/>
        </p:nvSpPr>
        <p:spPr>
          <a:xfrm>
            <a:off x="457200" y="2514600"/>
            <a:ext cx="8229600" cy="128016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현행 법규와 제도를 기반으로 근로소득 중심의 포트폴리오를 퇴직소득, 배당소득, 비과세 소득으로 다변화하는 구체적인 실행 전략을 제안합니다.</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건강보험료 부과 대상에서 제외되는 '임원 퇴직금' 재원을 전략적으로 적립하는 방안을 핵심 솔루션으로 제시합니다.</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단기적인 비용 절감을 넘어 CEO의 장기적인 자산 형성 및 기업의 재무 건전성 강화라는 두 가지 목표를 동시에 달성할 수 있는 로드맵을 제공합니다.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48640"/>
            <a:ext cx="8229600" cy="411480"/>
          </a:xfrm>
          <a:prstGeom prst="rect">
            <a:avLst/>
          </a:prstGeom>
          <a:noFill/>
          <a:ln/>
        </p:spPr>
        <p:txBody>
          <a:bodyPr wrap="square" rtlCol="0" anchor="ctr"/>
          <a:lstStyle/>
          <a:p>
            <a:pPr indent="0" marL="0">
              <a:buNone/>
            </a:pPr>
            <a:r>
              <a:rPr lang="en-US" sz="1800" b="1" dirty="0">
                <a:solidFill>
                  <a:srgbClr val="1B2A4A"/>
                </a:solidFill>
                <a:latin typeface="맑은 고딕" pitchFamily="34" charset="0"/>
                <a:ea typeface="맑은 고딕" pitchFamily="34" charset="-122"/>
                <a:cs typeface="맑은 고딕" pitchFamily="34" charset="-120"/>
              </a:rPr>
              <a:t>💡 자료 읽기에 앞서</a:t>
            </a:r>
            <a:endParaRPr lang="en-US" sz="1800" dirty="0"/>
          </a:p>
        </p:txBody>
      </p:sp>
      <p:sp>
        <p:nvSpPr>
          <p:cNvPr id="5" name="Text 3"/>
          <p:cNvSpPr/>
          <p:nvPr/>
        </p:nvSpPr>
        <p:spPr>
          <a:xfrm>
            <a:off x="457200" y="1005840"/>
            <a:ext cx="8229600" cy="100584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컨설턴트 여러분, 우리가 만나는 수많은 CEO들의 공통된 고민 중 하나가 바로 '세금과 4대 보험료'입니다. 특히 건강보험료는 소득이 높을수록 상한선까지 부과되어, 실질적으로는 '제2의 세금'처럼 느껴지는 것이 현실입니다. 본 자료는 이러한 CEO의 구체적인 '고충(Pain Point)'에서 출발하는 가장 강력한 영업 도구입니다.</a:t>
            </a:r>
            <a:endParaRPr lang="en-US" sz="1200" dirty="0"/>
          </a:p>
        </p:txBody>
      </p:sp>
      <p:sp>
        <p:nvSpPr>
          <p:cNvPr id="6" name="Text 4"/>
          <p:cNvSpPr/>
          <p:nvPr/>
        </p:nvSpPr>
        <p:spPr>
          <a:xfrm>
            <a:off x="457200" y="21031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 보고서의 핵심 전략</a:t>
            </a:r>
            <a:endParaRPr lang="en-US" sz="1400" dirty="0"/>
          </a:p>
        </p:txBody>
      </p:sp>
      <p:sp>
        <p:nvSpPr>
          <p:cNvPr id="7" name="Text 5"/>
          <p:cNvSpPr/>
          <p:nvPr/>
        </p:nvSpPr>
        <p:spPr>
          <a:xfrm>
            <a:off x="457200" y="2514600"/>
            <a:ext cx="8229600" cy="164592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이 보고서는 단순한 상품 제안서가 아닙니다. CEO의 소득 구조 전체를 진단하고, 법과 제도라는 합법적인 틀 안에서 가장 효율적인 대안을 제시하는 '종합 재무 컨설팅 제안서'입니다. 특히 '퇴직소득'이라는 키워드는 단기적인 건보료 절감 이슈를 넘어, CEO의 은퇴 플랜, 기업의 출구 전략, 그리고 이 모든 것을 안정적으로 준비하기 위한 '보험'의 필요성으로 자연스럽게 연결되는 핵심적인 교두보 역할을 할 것입니다. 본 자료를 깊이 숙지하여, CEO에게 단순한 비용 절감을 넘어 기업과 개인의 미래를 설계하는 파트너로 인정받으시기 바랍니다.</a:t>
            </a:r>
            <a:endParaRPr lang="en-US" sz="1200" dirty="0"/>
          </a:p>
        </p:txBody>
      </p:sp>
      <p:sp>
        <p:nvSpPr>
          <p:cNvPr id="8" name="Text 6"/>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 / 40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 경영자를 위한 핵심 요약 (Executive Summary)</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4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1. 컨설팅 배경 및 목적</a:t>
            </a:r>
            <a:endParaRPr lang="en-US" sz="1400" dirty="0"/>
          </a:p>
        </p:txBody>
      </p:sp>
      <p:sp>
        <p:nvSpPr>
          <p:cNvPr id="8" name="Text 6"/>
          <p:cNvSpPr/>
          <p:nvPr/>
        </p:nvSpPr>
        <p:spPr>
          <a:xfrm>
            <a:off x="457200" y="1051560"/>
            <a:ext cx="8229600" cy="91440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대표이사는 연봉 2억 4천만 원 및 비정기 상여금 약 1억 원으로 연간 3억 4천만 원의 높은 근로소득을 수령하고 있습니다. 이로 인해 매월 건강보험료 최고액(2025년 기준 가입자 본인부담분 월 약 450만 원, 정확히는 4,504,170원)을 납부하고 있어, 실질 소득 증대를 위한 소득 구조 재설계가 시급한 상황입니다.</a:t>
            </a:r>
            <a:endParaRPr lang="en-US" sz="1200" dirty="0"/>
          </a:p>
        </p:txBody>
      </p:sp>
      <p:sp>
        <p:nvSpPr>
          <p:cNvPr id="9" name="Text 7"/>
          <p:cNvSpPr/>
          <p:nvPr/>
        </p:nvSpPr>
        <p:spPr>
          <a:xfrm>
            <a:off x="457200" y="205740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2. 현황 진단 핵심 요약 (As-Is)</a:t>
            </a:r>
            <a:endParaRPr lang="en-US" sz="1400" dirty="0"/>
          </a:p>
        </p:txBody>
      </p:sp>
      <p:sp>
        <p:nvSpPr>
          <p:cNvPr id="10" name="Text 8"/>
          <p:cNvSpPr/>
          <p:nvPr/>
        </p:nvSpPr>
        <p:spPr>
          <a:xfrm>
            <a:off x="457200" y="2468880"/>
            <a:ext cx="8229600" cy="1188720"/>
          </a:xfrm>
          <a:prstGeom prst="rect">
            <a:avLst/>
          </a:prstGeom>
          <a:noFill/>
          <a:ln/>
        </p:spPr>
        <p:txBody>
          <a:bodyPr wrap="square" rtlCol="0" anchor="t"/>
          <a:lstStyle/>
          <a:p>
            <a:pPr indent="0" marL="0">
              <a:buNone/>
            </a:pPr>
            <a:r>
              <a:rPr lang="en-US" sz="1200" dirty="0">
                <a:solidFill>
                  <a:srgbClr val="D4382C"/>
                </a:solidFill>
                <a:latin typeface="맑은 고딕" pitchFamily="34" charset="0"/>
                <a:ea typeface="맑은 고딕" pitchFamily="34" charset="-122"/>
                <a:cs typeface="맑은 고딕" pitchFamily="34" charset="-120"/>
              </a:rPr>
              <a:t>❌ 과도한 건보료 부담: 소득 대부분이 건보료 부과 대상인 '근로소득'에 집중되어 불필요한 현금 유출 발생.</a:t>
            </a:r>
            <a:endParaRPr lang="en-US" sz="1200" dirty="0"/>
          </a:p>
          <a:p>
            <a:pPr indent="0" marL="0">
              <a:buNone/>
            </a:pPr>
            <a:r>
              <a:rPr lang="en-US" sz="1200" dirty="0">
                <a:solidFill>
                  <a:srgbClr val="D4382C"/>
                </a:solidFill>
                <a:latin typeface="맑은 고딕" pitchFamily="34" charset="0"/>
                <a:ea typeface="맑은 고딕" pitchFamily="34" charset="-122"/>
                <a:cs typeface="맑은 고딕" pitchFamily="34" charset="-120"/>
              </a:rPr>
              <a:t>❌ CEO 출구전략 부재: 공식적인 임원 퇴직금 규정이 없어, 향후 CEO 퇴직 시 막대한 세금 부담 및 법인 자금 유출 리스크 상존.</a:t>
            </a:r>
            <a:endParaRPr lang="en-US" sz="1200" dirty="0"/>
          </a:p>
          <a:p>
            <a:pPr indent="0" marL="0">
              <a:buNone/>
            </a:pPr>
            <a:r>
              <a:rPr lang="en-US" sz="1200" dirty="0">
                <a:solidFill>
                  <a:srgbClr val="D4382C"/>
                </a:solidFill>
                <a:latin typeface="맑은 고딕" pitchFamily="34" charset="0"/>
                <a:ea typeface="맑은 고딕" pitchFamily="34" charset="-122"/>
                <a:cs typeface="맑은 고딕" pitchFamily="34" charset="-120"/>
              </a:rPr>
              <a:t>❌ 비효율적 비용 구조: 비과세 소득 항목을 활용하지 않아 절세 기회 상실.</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 경영자를 위한 핵심 요약 — 솔루션 및 기대효과</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5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3. 솔루션 제안 핵심 요약 (To-Be)</a:t>
            </a:r>
            <a:endParaRPr lang="en-US" sz="1400" dirty="0"/>
          </a:p>
        </p:txBody>
      </p:sp>
      <p:sp>
        <p:nvSpPr>
          <p:cNvPr id="8" name="Text 6"/>
          <p:cNvSpPr/>
          <p:nvPr/>
        </p:nvSpPr>
        <p:spPr>
          <a:xfrm>
            <a:off x="457200" y="1051560"/>
            <a:ext cx="8229600" cy="182880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소득 포트폴리오 다변화: 급여 일부 조정, 비정기 상여금의 배당 전환, 비과세 소득(차량유지비 등) 신설을 통해 건보료 부과 기준 소득 축소. 단, 배당 전환은 금융소득종합과세 및 소득월액보험료 부과 기준(보수 외 소득 연 2,000만 원 초과)을 함께 고려하여 총 세부담 및 총 보험료를 최적화하는 방향으로 설계.</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임원 퇴직금 제도 도입: 정관 및 관련 규정 정비를 통해 건보료가 부과되지 않는 퇴직소득 재원을 매년 합법적으로 적립. 단, 정관 미비 또는 특정 임원에 대한 차별적 배수 설정 시 손금부인 및 상여처분 가능성 주의.</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최적 금융 솔루션 활용: 법인 명의의 CEO 보험(경영인정기보험 등)을 활용하여 퇴직금 재원을 안정적으로 마련하고, CEO 유고 시 법인 리스크 방어. (보험상품별 손금/익금/상여처분 이슈를 반드시 검토)</a:t>
            </a:r>
            <a:endParaRPr lang="en-US" sz="1100" dirty="0"/>
          </a:p>
        </p:txBody>
      </p:sp>
      <p:sp>
        <p:nvSpPr>
          <p:cNvPr id="9" name="Text 7"/>
          <p:cNvSpPr/>
          <p:nvPr/>
        </p:nvSpPr>
        <p:spPr>
          <a:xfrm>
            <a:off x="457200" y="297180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4. 기대효과 핵심 요약 (ROI)</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8229600" cy="914400"/>
        </p:xfrm>
        <a:graphic>
          <a:graphicData uri="http://schemas.openxmlformats.org/drawingml/2006/table">
            <a:tbl>
              <a:tblPr/>
              <a:tblGrid>
                <a:gridCol w="2286000"/>
                <a:gridCol w="1828800"/>
                <a:gridCol w="4114800"/>
              </a:tblGrid>
              <a:tr h="384048">
                <a:tc>
                  <a:txBody>
                    <a:bodyPr/>
                    <a:lstStyle/>
                    <a:p>
                      <a:pPr algn="ctr" indent="0" marL="0">
                        <a:buNone/>
                      </a:pPr>
                      <a:r>
                        <a:rPr lang="en-US" sz="1200" b="1" dirty="0">
                          <a:solidFill>
                            <a:srgbClr val="FFFFFF"/>
                          </a:solidFill>
                        </a:rPr>
                        <a:t>구분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연간 기대효과</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비고</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84048">
                <a:tc>
                  <a:txBody>
                    <a:bodyPr/>
                    <a:lstStyle/>
                    <a:p>
                      <a:pPr indent="0" marL="0">
                        <a:buNone/>
                      </a:pPr>
                      <a:r>
                        <a:rPr lang="en-US" sz="1200" dirty="0">
                          <a:solidFill>
                            <a:srgbClr val="2B2B2B"/>
                          </a:solidFill>
                        </a:rPr>
                        <a:t>CEO 건강보험료 절감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6B4A"/>
                          </a:solidFill>
                        </a:rPr>
                        <a:t>약 4,044만 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rPr>
                        <a:t>급여 조정 및 퇴직금 재원 활용에 따른 절감 (건강보험료+장기요양보험료)</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rPr>
                        <a:t>법인세 절감 효과</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1A6B4A"/>
                          </a:solidFill>
                        </a:rPr>
                        <a:t>약 1,254만 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000" dirty="0">
                          <a:solidFill>
                            <a:srgbClr val="2B2B2B"/>
                          </a:solidFill>
                        </a:rPr>
                        <a:t>임원 퇴직금 재원 적립(연 6천만 원)에 따른 손금 인정 효과 (법인세율 20.9% 적용)</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384048">
                <a:tc>
                  <a:txBody>
                    <a:bodyPr/>
                    <a:lstStyle/>
                    <a:p>
                      <a:pPr indent="0" marL="0">
                        <a:buNone/>
                      </a:pPr>
                      <a:r>
                        <a:rPr lang="en-US" sz="1200" dirty="0">
                          <a:solidFill>
                            <a:srgbClr val="2B2B2B"/>
                          </a:solidFill>
                        </a:rPr>
                        <a:t>CEO 실질 소득 증대</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6B4A"/>
                          </a:solidFill>
                        </a:rPr>
                        <a:t>연 4,044만 원 + α</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rPr>
                        <a:t>건보료 절감분 직접 확보 및 장기적인 퇴직소득(비과세) 재원 마련</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rPr>
                        <a:t>기업 재무 건전성 강화</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ctr" indent="0" marL="0">
                        <a:buNone/>
                      </a:pPr>
                      <a:r>
                        <a:rPr lang="en-US" sz="1200" dirty="0">
                          <a:solidFill>
                            <a:srgbClr val="2B2B2B"/>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000" dirty="0">
                          <a:solidFill>
                            <a:srgbClr val="2B2B2B"/>
                          </a:solidFill>
                        </a:rPr>
                        <a:t>CEO 유고 시 Risk Hedge, 안정적 승계 재원 마련</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 기대효과 KPI 핵심 요약</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6 / 40</a:t>
            </a:r>
            <a:endParaRPr lang="en-US" sz="800" dirty="0"/>
          </a:p>
        </p:txBody>
      </p:sp>
      <p:sp>
        <p:nvSpPr>
          <p:cNvPr id="7" name="Text 5"/>
          <p:cNvSpPr/>
          <p:nvPr/>
        </p:nvSpPr>
        <p:spPr>
          <a:xfrm>
            <a:off x="457200" y="594360"/>
            <a:ext cx="8229600" cy="274320"/>
          </a:xfrm>
          <a:prstGeom prst="rect">
            <a:avLst/>
          </a:prstGeom>
          <a:noFill/>
          <a:ln/>
        </p:spPr>
        <p:txBody>
          <a:bodyPr wrap="square" rtlCol="0" anchor="ctr"/>
          <a:lstStyle/>
          <a:p>
            <a:pPr indent="0" marL="0">
              <a:buNone/>
            </a:pPr>
            <a:r>
              <a:rPr lang="en-US" sz="900" i="1" dirty="0">
                <a:solidFill>
                  <a:srgbClr val="4A5568"/>
                </a:solidFill>
                <a:latin typeface="맑은 고딕" pitchFamily="34" charset="0"/>
                <a:ea typeface="맑은 고딕" pitchFamily="34" charset="-122"/>
                <a:cs typeface="맑은 고딕" pitchFamily="34" charset="-120"/>
              </a:rPr>
              <a:t>※ 본 기대효과는 제시된 가상 기업의 재무 데이터를 기반으로 한 시뮬레이션 결과이며, 실제 기업 상황에 따라 변동될 수 있습니다.</a:t>
            </a:r>
            <a:endParaRPr lang="en-US" sz="900" dirty="0"/>
          </a:p>
        </p:txBody>
      </p:sp>
      <p:sp>
        <p:nvSpPr>
          <p:cNvPr id="8" name="Shape 6"/>
          <p:cNvSpPr/>
          <p:nvPr/>
        </p:nvSpPr>
        <p:spPr>
          <a:xfrm>
            <a:off x="365760" y="960120"/>
            <a:ext cx="2651760" cy="2743200"/>
          </a:xfrm>
          <a:prstGeom prst="rect">
            <a:avLst/>
          </a:prstGeom>
          <a:solidFill>
            <a:srgbClr val="1B2A4A"/>
          </a:solidFill>
          <a:ln/>
          <a:effectLst>
            <a:outerShdw sx="100000" sy="100000" kx="0" ky="0" algn="bl" rotWithShape="0" blurRad="50800" dist="25400" dir="8100000">
              <a:srgbClr val="000000">
                <a:alpha val="10000"/>
              </a:srgbClr>
            </a:outerShdw>
          </a:effectLst>
        </p:spPr>
      </p:sp>
      <p:sp>
        <p:nvSpPr>
          <p:cNvPr id="9" name="Text 7"/>
          <p:cNvSpPr/>
          <p:nvPr/>
        </p:nvSpPr>
        <p:spPr>
          <a:xfrm>
            <a:off x="365760" y="1005840"/>
            <a:ext cx="2651760" cy="457200"/>
          </a:xfrm>
          <a:prstGeom prst="rect">
            <a:avLst/>
          </a:prstGeom>
          <a:noFill/>
          <a:ln/>
        </p:spPr>
        <p:txBody>
          <a:bodyPr wrap="square" rtlCol="0" anchor="ctr"/>
          <a:lstStyle/>
          <a:p>
            <a:pPr algn="ctr" indent="0" marL="0">
              <a:buNone/>
            </a:pPr>
            <a:r>
              <a:rPr lang="en-US" sz="1200" b="1" dirty="0">
                <a:solidFill>
                  <a:srgbClr val="C8962E"/>
                </a:solidFill>
                <a:latin typeface="맑은 고딕" pitchFamily="34" charset="0"/>
                <a:ea typeface="맑은 고딕" pitchFamily="34" charset="-122"/>
                <a:cs typeface="맑은 고딕" pitchFamily="34" charset="-120"/>
              </a:rPr>
              <a:t>연간 건보료 절감</a:t>
            </a:r>
            <a:endParaRPr lang="en-US" sz="1200" dirty="0"/>
          </a:p>
        </p:txBody>
      </p:sp>
      <p:sp>
        <p:nvSpPr>
          <p:cNvPr id="10" name="Text 8"/>
          <p:cNvSpPr/>
          <p:nvPr/>
        </p:nvSpPr>
        <p:spPr>
          <a:xfrm>
            <a:off x="365760" y="1554480"/>
            <a:ext cx="2651760" cy="82296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~4,044</a:t>
            </a:r>
            <a:endParaRPr lang="en-US" sz="3600" dirty="0"/>
          </a:p>
        </p:txBody>
      </p:sp>
      <p:sp>
        <p:nvSpPr>
          <p:cNvPr id="11" name="Text 9"/>
          <p:cNvSpPr/>
          <p:nvPr/>
        </p:nvSpPr>
        <p:spPr>
          <a:xfrm>
            <a:off x="365760" y="2423160"/>
            <a:ext cx="2651760" cy="365760"/>
          </a:xfrm>
          <a:prstGeom prst="rect">
            <a:avLst/>
          </a:prstGeom>
          <a:noFill/>
          <a:ln/>
        </p:spPr>
        <p:txBody>
          <a:bodyPr wrap="square" rtlCol="0" anchor="ctr"/>
          <a:lstStyle/>
          <a:p>
            <a:pPr algn="ctr" indent="0" marL="0">
              <a:buNone/>
            </a:pPr>
            <a:r>
              <a:rPr lang="en-US" sz="1600" b="1" dirty="0">
                <a:solidFill>
                  <a:srgbClr val="C8962E"/>
                </a:solidFill>
                <a:latin typeface="맑은 고딕" pitchFamily="34" charset="0"/>
                <a:ea typeface="맑은 고딕" pitchFamily="34" charset="-122"/>
                <a:cs typeface="맑은 고딕" pitchFamily="34" charset="-120"/>
              </a:rPr>
              <a:t>만원</a:t>
            </a:r>
            <a:endParaRPr lang="en-US" sz="1600" dirty="0"/>
          </a:p>
        </p:txBody>
      </p:sp>
      <p:sp>
        <p:nvSpPr>
          <p:cNvPr id="12" name="Text 10"/>
          <p:cNvSpPr/>
          <p:nvPr/>
        </p:nvSpPr>
        <p:spPr>
          <a:xfrm>
            <a:off x="365760" y="2880360"/>
            <a:ext cx="2651760" cy="457200"/>
          </a:xfrm>
          <a:prstGeom prst="rect">
            <a:avLst/>
          </a:prstGeom>
          <a:noFill/>
          <a:ln/>
        </p:spPr>
        <p:txBody>
          <a:bodyPr wrap="square" rtlCol="0" anchor="ctr"/>
          <a:lstStyle/>
          <a:p>
            <a:pPr algn="ctr" indent="0" marL="0">
              <a:buNone/>
            </a:pPr>
            <a:r>
              <a:rPr lang="en-US" sz="1000" dirty="0">
                <a:solidFill>
                  <a:srgbClr val="CBD5E1"/>
                </a:solidFill>
                <a:latin typeface="맑은 고딕" pitchFamily="34" charset="0"/>
                <a:ea typeface="맑은 고딕" pitchFamily="34" charset="-122"/>
                <a:cs typeface="맑은 고딕" pitchFamily="34" charset="-120"/>
              </a:rPr>
              <a:t>급여 조정 + 퇴직금 적립</a:t>
            </a:r>
            <a:endParaRPr lang="en-US" sz="1000" dirty="0"/>
          </a:p>
        </p:txBody>
      </p:sp>
      <p:sp>
        <p:nvSpPr>
          <p:cNvPr id="13" name="Shape 11"/>
          <p:cNvSpPr/>
          <p:nvPr/>
        </p:nvSpPr>
        <p:spPr>
          <a:xfrm>
            <a:off x="3200400" y="960120"/>
            <a:ext cx="2651760" cy="2743200"/>
          </a:xfrm>
          <a:prstGeom prst="rect">
            <a:avLst/>
          </a:prstGeom>
          <a:solidFill>
            <a:srgbClr val="1B2A4A"/>
          </a:solidFill>
          <a:ln/>
          <a:effectLst>
            <a:outerShdw sx="100000" sy="100000" kx="0" ky="0" algn="bl" rotWithShape="0" blurRad="50800" dist="25400" dir="8100000">
              <a:srgbClr val="000000">
                <a:alpha val="10000"/>
              </a:srgbClr>
            </a:outerShdw>
          </a:effectLst>
        </p:spPr>
      </p:sp>
      <p:sp>
        <p:nvSpPr>
          <p:cNvPr id="14" name="Text 12"/>
          <p:cNvSpPr/>
          <p:nvPr/>
        </p:nvSpPr>
        <p:spPr>
          <a:xfrm>
            <a:off x="3200400" y="1005840"/>
            <a:ext cx="2651760" cy="457200"/>
          </a:xfrm>
          <a:prstGeom prst="rect">
            <a:avLst/>
          </a:prstGeom>
          <a:noFill/>
          <a:ln/>
        </p:spPr>
        <p:txBody>
          <a:bodyPr wrap="square" rtlCol="0" anchor="ctr"/>
          <a:lstStyle/>
          <a:p>
            <a:pPr algn="ctr" indent="0" marL="0">
              <a:buNone/>
            </a:pPr>
            <a:r>
              <a:rPr lang="en-US" sz="1200" b="1" dirty="0">
                <a:solidFill>
                  <a:srgbClr val="C8962E"/>
                </a:solidFill>
                <a:latin typeface="맑은 고딕" pitchFamily="34" charset="0"/>
                <a:ea typeface="맑은 고딕" pitchFamily="34" charset="-122"/>
                <a:cs typeface="맑은 고딕" pitchFamily="34" charset="-120"/>
              </a:rPr>
              <a:t>연간 법인세 절감</a:t>
            </a:r>
            <a:endParaRPr lang="en-US" sz="1200" dirty="0"/>
          </a:p>
        </p:txBody>
      </p:sp>
      <p:sp>
        <p:nvSpPr>
          <p:cNvPr id="15" name="Text 13"/>
          <p:cNvSpPr/>
          <p:nvPr/>
        </p:nvSpPr>
        <p:spPr>
          <a:xfrm>
            <a:off x="3200400" y="1554480"/>
            <a:ext cx="2651760" cy="82296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~1,254</a:t>
            </a:r>
            <a:endParaRPr lang="en-US" sz="3600" dirty="0"/>
          </a:p>
        </p:txBody>
      </p:sp>
      <p:sp>
        <p:nvSpPr>
          <p:cNvPr id="16" name="Text 14"/>
          <p:cNvSpPr/>
          <p:nvPr/>
        </p:nvSpPr>
        <p:spPr>
          <a:xfrm>
            <a:off x="3200400" y="2423160"/>
            <a:ext cx="2651760" cy="365760"/>
          </a:xfrm>
          <a:prstGeom prst="rect">
            <a:avLst/>
          </a:prstGeom>
          <a:noFill/>
          <a:ln/>
        </p:spPr>
        <p:txBody>
          <a:bodyPr wrap="square" rtlCol="0" anchor="ctr"/>
          <a:lstStyle/>
          <a:p>
            <a:pPr algn="ctr" indent="0" marL="0">
              <a:buNone/>
            </a:pPr>
            <a:r>
              <a:rPr lang="en-US" sz="1600" b="1" dirty="0">
                <a:solidFill>
                  <a:srgbClr val="C8962E"/>
                </a:solidFill>
                <a:latin typeface="맑은 고딕" pitchFamily="34" charset="0"/>
                <a:ea typeface="맑은 고딕" pitchFamily="34" charset="-122"/>
                <a:cs typeface="맑은 고딕" pitchFamily="34" charset="-120"/>
              </a:rPr>
              <a:t>만원</a:t>
            </a:r>
            <a:endParaRPr lang="en-US" sz="1600" dirty="0"/>
          </a:p>
        </p:txBody>
      </p:sp>
      <p:sp>
        <p:nvSpPr>
          <p:cNvPr id="17" name="Text 15"/>
          <p:cNvSpPr/>
          <p:nvPr/>
        </p:nvSpPr>
        <p:spPr>
          <a:xfrm>
            <a:off x="3200400" y="2880360"/>
            <a:ext cx="2651760" cy="457200"/>
          </a:xfrm>
          <a:prstGeom prst="rect">
            <a:avLst/>
          </a:prstGeom>
          <a:noFill/>
          <a:ln/>
        </p:spPr>
        <p:txBody>
          <a:bodyPr wrap="square" rtlCol="0" anchor="ctr"/>
          <a:lstStyle/>
          <a:p>
            <a:pPr algn="ctr" indent="0" marL="0">
              <a:buNone/>
            </a:pPr>
            <a:r>
              <a:rPr lang="en-US" sz="1000" dirty="0">
                <a:solidFill>
                  <a:srgbClr val="CBD5E1"/>
                </a:solidFill>
                <a:latin typeface="맑은 고딕" pitchFamily="34" charset="0"/>
                <a:ea typeface="맑은 고딕" pitchFamily="34" charset="-122"/>
                <a:cs typeface="맑은 고딕" pitchFamily="34" charset="-120"/>
              </a:rPr>
              <a:t>퇴직금 비용 처리 (20.9% 세율)</a:t>
            </a:r>
            <a:endParaRPr lang="en-US" sz="1000" dirty="0"/>
          </a:p>
        </p:txBody>
      </p:sp>
      <p:sp>
        <p:nvSpPr>
          <p:cNvPr id="18" name="Shape 16"/>
          <p:cNvSpPr/>
          <p:nvPr/>
        </p:nvSpPr>
        <p:spPr>
          <a:xfrm>
            <a:off x="6035040" y="960120"/>
            <a:ext cx="2651760" cy="2743200"/>
          </a:xfrm>
          <a:prstGeom prst="rect">
            <a:avLst/>
          </a:prstGeom>
          <a:solidFill>
            <a:srgbClr val="1B2A4A"/>
          </a:solidFill>
          <a:ln/>
          <a:effectLst>
            <a:outerShdw sx="100000" sy="100000" kx="0" ky="0" algn="bl" rotWithShape="0" blurRad="50800" dist="25400" dir="8100000">
              <a:srgbClr val="000000">
                <a:alpha val="10000"/>
              </a:srgbClr>
            </a:outerShdw>
          </a:effectLst>
        </p:spPr>
      </p:sp>
      <p:sp>
        <p:nvSpPr>
          <p:cNvPr id="19" name="Text 17"/>
          <p:cNvSpPr/>
          <p:nvPr/>
        </p:nvSpPr>
        <p:spPr>
          <a:xfrm>
            <a:off x="6035040" y="1005840"/>
            <a:ext cx="2651760" cy="457200"/>
          </a:xfrm>
          <a:prstGeom prst="rect">
            <a:avLst/>
          </a:prstGeom>
          <a:noFill/>
          <a:ln/>
        </p:spPr>
        <p:txBody>
          <a:bodyPr wrap="square" rtlCol="0" anchor="ctr"/>
          <a:lstStyle/>
          <a:p>
            <a:pPr algn="ctr" indent="0" marL="0">
              <a:buNone/>
            </a:pPr>
            <a:r>
              <a:rPr lang="en-US" sz="1200" b="1" dirty="0">
                <a:solidFill>
                  <a:srgbClr val="C8962E"/>
                </a:solidFill>
                <a:latin typeface="맑은 고딕" pitchFamily="34" charset="0"/>
                <a:ea typeface="맑은 고딕" pitchFamily="34" charset="-122"/>
                <a:cs typeface="맑은 고딕" pitchFamily="34" charset="-120"/>
              </a:rPr>
              <a:t>총 재무 개선 (연)</a:t>
            </a:r>
            <a:endParaRPr lang="en-US" sz="1200" dirty="0"/>
          </a:p>
        </p:txBody>
      </p:sp>
      <p:sp>
        <p:nvSpPr>
          <p:cNvPr id="20" name="Text 18"/>
          <p:cNvSpPr/>
          <p:nvPr/>
        </p:nvSpPr>
        <p:spPr>
          <a:xfrm>
            <a:off x="6035040" y="1554480"/>
            <a:ext cx="2651760" cy="82296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~5,298</a:t>
            </a:r>
            <a:endParaRPr lang="en-US" sz="3600" dirty="0"/>
          </a:p>
        </p:txBody>
      </p:sp>
      <p:sp>
        <p:nvSpPr>
          <p:cNvPr id="21" name="Text 19"/>
          <p:cNvSpPr/>
          <p:nvPr/>
        </p:nvSpPr>
        <p:spPr>
          <a:xfrm>
            <a:off x="6035040" y="2423160"/>
            <a:ext cx="2651760" cy="365760"/>
          </a:xfrm>
          <a:prstGeom prst="rect">
            <a:avLst/>
          </a:prstGeom>
          <a:noFill/>
          <a:ln/>
        </p:spPr>
        <p:txBody>
          <a:bodyPr wrap="square" rtlCol="0" anchor="ctr"/>
          <a:lstStyle/>
          <a:p>
            <a:pPr algn="ctr" indent="0" marL="0">
              <a:buNone/>
            </a:pPr>
            <a:r>
              <a:rPr lang="en-US" sz="1600" b="1" dirty="0">
                <a:solidFill>
                  <a:srgbClr val="C8962E"/>
                </a:solidFill>
                <a:latin typeface="맑은 고딕" pitchFamily="34" charset="0"/>
                <a:ea typeface="맑은 고딕" pitchFamily="34" charset="-122"/>
                <a:cs typeface="맑은 고딕" pitchFamily="34" charset="-120"/>
              </a:rPr>
              <a:t>만원</a:t>
            </a:r>
            <a:endParaRPr lang="en-US" sz="1600" dirty="0"/>
          </a:p>
        </p:txBody>
      </p:sp>
      <p:sp>
        <p:nvSpPr>
          <p:cNvPr id="22" name="Text 20"/>
          <p:cNvSpPr/>
          <p:nvPr/>
        </p:nvSpPr>
        <p:spPr>
          <a:xfrm>
            <a:off x="6035040" y="2880360"/>
            <a:ext cx="2651760" cy="457200"/>
          </a:xfrm>
          <a:prstGeom prst="rect">
            <a:avLst/>
          </a:prstGeom>
          <a:noFill/>
          <a:ln/>
        </p:spPr>
        <p:txBody>
          <a:bodyPr wrap="square" rtlCol="0" anchor="ctr"/>
          <a:lstStyle/>
          <a:p>
            <a:pPr algn="ctr" indent="0" marL="0">
              <a:buNone/>
            </a:pPr>
            <a:r>
              <a:rPr lang="en-US" sz="1000" dirty="0">
                <a:solidFill>
                  <a:srgbClr val="CBD5E1"/>
                </a:solidFill>
                <a:latin typeface="맑은 고딕" pitchFamily="34" charset="0"/>
                <a:ea typeface="맑은 고딕" pitchFamily="34" charset="-122"/>
                <a:cs typeface="맑은 고딕" pitchFamily="34" charset="-120"/>
              </a:rPr>
              <a:t>CEO 실질 소득 증대</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III. 기업 분석 및 진단 — 1. 법인 기본 정보</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7 / 40</a:t>
            </a:r>
            <a:endParaRPr lang="en-US" sz="800" dirty="0"/>
          </a:p>
        </p:txBody>
      </p:sp>
      <p:sp>
        <p:nvSpPr>
          <p:cNvPr id="7" name="Text 5"/>
          <p:cNvSpPr/>
          <p:nvPr/>
        </p:nvSpPr>
        <p:spPr>
          <a:xfrm>
            <a:off x="457200" y="594360"/>
            <a:ext cx="8229600" cy="457200"/>
          </a:xfrm>
          <a:prstGeom prst="rect">
            <a:avLst/>
          </a:prstGeom>
          <a:noFill/>
          <a:ln/>
        </p:spPr>
        <p:txBody>
          <a:bodyPr wrap="square" rtlCol="0" anchor="ctr"/>
          <a:lstStyle/>
          <a:p>
            <a:pPr indent="0" marL="0">
              <a:buNone/>
            </a:pPr>
            <a:r>
              <a:rPr lang="en-US" sz="1100" i="1" dirty="0">
                <a:solidFill>
                  <a:srgbClr val="4A5568"/>
                </a:solidFill>
                <a:latin typeface="맑은 고딕" pitchFamily="34" charset="0"/>
                <a:ea typeface="맑은 고딕" pitchFamily="34" charset="-122"/>
                <a:cs typeface="맑은 고딕" pitchFamily="34" charset="-120"/>
              </a:rPr>
              <a:t>컨설팅의 신뢰는 고객에 대한 깊이 있는 이해에서 시작됩니다. 본 보고서는 아래 가상 기업의 현황을 기반으로 작성되었으며, 실제 컨설팅 시에는 대상 기업의 정보로 대체하여 활용하시기 바랍니다.</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5943600"/>
              </a:tblGrid>
              <a:tr h="402336">
                <a:tc>
                  <a:txBody>
                    <a:bodyPr/>
                    <a:lstStyle/>
                    <a:p>
                      <a:pPr algn="ctr" indent="0" marL="0">
                        <a:buNone/>
                      </a:pPr>
                      <a:r>
                        <a:rPr lang="en-US" sz="1200" b="1" dirty="0">
                          <a:solidFill>
                            <a:srgbClr val="FFFFFF"/>
                          </a:solidFill>
                        </a:rPr>
                        <a:t>구분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내용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402336">
                <a:tc>
                  <a:txBody>
                    <a:bodyPr/>
                    <a:lstStyle/>
                    <a:p>
                      <a:pPr indent="0" marL="0">
                        <a:buNone/>
                      </a:pPr>
                      <a:r>
                        <a:rPr lang="en-US" sz="1200" b="1" dirty="0">
                          <a:solidFill>
                            <a:srgbClr val="1B2A4A"/>
                          </a:solidFill>
                        </a:rPr>
                        <a:t>법인명</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(주)넥스트비전테크</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B2A4A"/>
                          </a:solidFill>
                        </a:rPr>
                        <a:t>대표이사</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김영준 (만 50세)</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402336">
                <a:tc>
                  <a:txBody>
                    <a:bodyPr/>
                    <a:lstStyle/>
                    <a:p>
                      <a:pPr indent="0" marL="0">
                        <a:buNone/>
                      </a:pPr>
                      <a:r>
                        <a:rPr lang="en-US" sz="1200" b="1" dirty="0">
                          <a:solidFill>
                            <a:srgbClr val="1B2A4A"/>
                          </a:solidFill>
                        </a:rPr>
                        <a:t>업종</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소프트웨어 개발 및 IT 솔루션 공급</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B2A4A"/>
                          </a:solidFill>
                        </a:rPr>
                        <a:t>설립일</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2010년 5월 3일</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402336">
                <a:tc>
                  <a:txBody>
                    <a:bodyPr/>
                    <a:lstStyle/>
                    <a:p>
                      <a:pPr indent="0" marL="0">
                        <a:buNone/>
                      </a:pPr>
                      <a:r>
                        <a:rPr lang="en-US" sz="1200" b="1" dirty="0">
                          <a:solidFill>
                            <a:srgbClr val="1B2A4A"/>
                          </a:solidFill>
                        </a:rPr>
                        <a:t>소재지</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서울특별시 강남구</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B2A4A"/>
                          </a:solidFill>
                        </a:rPr>
                        <a:t>연혁</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2010년 설립, 2018년 벤처기업 인증, 2022년 연 매출 150억 원 달성</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402336">
                <a:tc>
                  <a:txBody>
                    <a:bodyPr/>
                    <a:lstStyle/>
                    <a:p>
                      <a:pPr indent="0" marL="0">
                        <a:buNone/>
                      </a:pPr>
                      <a:r>
                        <a:rPr lang="en-US" sz="1200" b="1" dirty="0">
                          <a:solidFill>
                            <a:srgbClr val="1B2A4A"/>
                          </a:solidFill>
                        </a:rPr>
                        <a:t>주주 구성</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대표이사 김영준 100%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4480560"/>
            <a:ext cx="8229600" cy="274320"/>
          </a:xfrm>
          <a:prstGeom prst="rect">
            <a:avLst/>
          </a:prstGeom>
          <a:noFill/>
          <a:ln/>
        </p:spPr>
        <p:txBody>
          <a:bodyPr wrap="square" rtlCol="0" anchor="ctr"/>
          <a:lstStyle/>
          <a:p>
            <a:pPr indent="0" marL="0">
              <a:buNone/>
            </a:pPr>
            <a:r>
              <a:rPr lang="en-US" sz="1200" b="1" dirty="0">
                <a:solidFill>
                  <a:srgbClr val="1B2A4A"/>
                </a:solidFill>
                <a:latin typeface="맑은 고딕" pitchFamily="34" charset="0"/>
                <a:ea typeface="맑은 고딕" pitchFamily="34" charset="-122"/>
                <a:cs typeface="맑은 고딕" pitchFamily="34" charset="-120"/>
              </a:rPr>
              <a:t>2. 사업 영역 및 핵심 경쟁력 분석</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III. 기업 분석 — 사업 영역 및 재무구조 분석</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8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2. 사업 영역 및 핵심 경쟁력 분석</a:t>
            </a:r>
            <a:endParaRPr lang="en-US" sz="1400" dirty="0"/>
          </a:p>
        </p:txBody>
      </p:sp>
      <p:sp>
        <p:nvSpPr>
          <p:cNvPr id="8" name="Text 6"/>
          <p:cNvSpPr/>
          <p:nvPr/>
        </p:nvSpPr>
        <p:spPr>
          <a:xfrm>
            <a:off x="457200" y="1051560"/>
            <a:ext cx="8229600" cy="68580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(주)넥스트비전테크는 인공지능(AI) 기반의 물류 자동화 솔루션을 개발하여 국내외 유수 기업에 공급하고 있습니다. 독자적인 기술력을 바탕으로 업계 내에서 높은 시장 점유율을 확보하고 있으며, 꾸준한 R&amp;D 투자를 통해 지속적인 성장을 이어나가고 있는 유망 중소기업입니다.</a:t>
            </a:r>
            <a:endParaRPr lang="en-US" sz="1200" dirty="0"/>
          </a:p>
        </p:txBody>
      </p:sp>
      <p:sp>
        <p:nvSpPr>
          <p:cNvPr id="9" name="Text 7"/>
          <p:cNvSpPr/>
          <p:nvPr/>
        </p:nvSpPr>
        <p:spPr>
          <a:xfrm>
            <a:off x="457200" y="18745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3. 재무구조 정밀 분석 (최근 3개년 요약) — 단위: 백만 원</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3200400"/>
                <a:gridCol w="1676095"/>
                <a:gridCol w="1676095"/>
                <a:gridCol w="1677010"/>
              </a:tblGrid>
              <a:tr h="347472">
                <a:tc>
                  <a:txBody>
                    <a:bodyPr/>
                    <a:lstStyle/>
                    <a:p>
                      <a:pPr algn="ctr" indent="0" marL="0">
                        <a:buNone/>
                      </a:pPr>
                      <a:r>
                        <a:rPr lang="en-US" sz="1200" b="1" dirty="0">
                          <a:solidFill>
                            <a:srgbClr val="FFFFFF"/>
                          </a:solidFill>
                        </a:rPr>
                        <a:t>계정과목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2022년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2023년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2024년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47472">
                <a:tc>
                  <a:txBody>
                    <a:bodyPr/>
                    <a:lstStyle/>
                    <a:p>
                      <a:pPr indent="0" marL="0">
                        <a:buNone/>
                      </a:pPr>
                      <a:r>
                        <a:rPr lang="en-US" sz="1200" dirty="0">
                          <a:solidFill>
                            <a:srgbClr val="2B2B2B"/>
                          </a:solidFill>
                        </a:rPr>
                        <a:t>매출액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12,500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14,800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15,200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영업이익</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1,100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1,350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1,400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347472">
                <a:tc>
                  <a:txBody>
                    <a:bodyPr/>
                    <a:lstStyle/>
                    <a:p>
                      <a:pPr indent="0" marL="0">
                        <a:buNone/>
                      </a:pPr>
                      <a:r>
                        <a:rPr lang="en-US" sz="1200" dirty="0">
                          <a:solidFill>
                            <a:srgbClr val="2B2B2B"/>
                          </a:solidFill>
                        </a:rPr>
                        <a:t>당기순이익</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850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1,050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1,100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자산총계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7,500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8,800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10,100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347472">
                <a:tc>
                  <a:txBody>
                    <a:bodyPr/>
                    <a:lstStyle/>
                    <a:p>
                      <a:pPr indent="0" marL="0">
                        <a:buNone/>
                      </a:pPr>
                      <a:r>
                        <a:rPr lang="en-US" sz="1200" dirty="0">
                          <a:solidFill>
                            <a:srgbClr val="2B2B2B"/>
                          </a:solidFill>
                        </a:rPr>
                        <a:t>부채총계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3,500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3,900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4,200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자본총계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4,000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4,900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5,900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347472">
                <a:tc>
                  <a:txBody>
                    <a:bodyPr/>
                    <a:lstStyle/>
                    <a:p>
                      <a:pPr indent="0" marL="0">
                        <a:buNone/>
                      </a:pPr>
                      <a:r>
                        <a:rPr lang="en-US" sz="1200" b="1" dirty="0">
                          <a:solidFill>
                            <a:srgbClr val="C8962E"/>
                          </a:solidFill>
                        </a:rPr>
                        <a:t>미처분이익잉여금</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8962E"/>
                          </a:solidFill>
                        </a:rPr>
                        <a:t>2,800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8962E"/>
                          </a:solidFill>
                        </a:rPr>
                        <a:t>3,850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8962E"/>
                          </a:solidFill>
                        </a:rPr>
                        <a:t>4,950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III. 기업 분석 — 진단 요약 및 CEO Needs</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9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진단 요약</a:t>
            </a:r>
            <a:endParaRPr lang="en-US" sz="1400" dirty="0"/>
          </a:p>
        </p:txBody>
      </p:sp>
      <p:sp>
        <p:nvSpPr>
          <p:cNvPr id="8" name="Text 6"/>
          <p:cNvSpPr/>
          <p:nvPr/>
        </p:nvSpPr>
        <p:spPr>
          <a:xfrm>
            <a:off x="457200" y="1051560"/>
            <a:ext cx="8229600" cy="128016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성장성/수익성: 매출과 이익이 꾸준히 성장하는 안정적인 재무구조 보유.</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안정성: 부채비율이 동종업계 대비 양호한 수준이나, 미처분이익잉여금이 매년 급격히 증가하고 있어 향후 상속/증여 및 주식가치 평가 시 세금 리스크로 작용할 가능성 높음.</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현금흐름 체크 필요: 연 6천만 원(월 500만 원)의 퇴직금 재원 적립이 영업현금흐름, 기존 보험/리스/차입 약정과 충돌하지 않는지 DSCR(부채상환능력비율) 및 가용현금 체크리스트로 선행 점검 필요.</a:t>
            </a:r>
            <a:endParaRPr lang="en-US" sz="1200" dirty="0"/>
          </a:p>
        </p:txBody>
      </p:sp>
      <p:sp>
        <p:nvSpPr>
          <p:cNvPr id="9" name="Text 7"/>
          <p:cNvSpPr/>
          <p:nvPr/>
        </p:nvSpPr>
        <p:spPr>
          <a:xfrm>
            <a:off x="457200" y="24688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4. CEO Needs 및 경영 목표 분석</a:t>
            </a:r>
            <a:endParaRPr lang="en-US" sz="1400" dirty="0"/>
          </a:p>
        </p:txBody>
      </p:sp>
      <p:sp>
        <p:nvSpPr>
          <p:cNvPr id="10" name="Text 8"/>
          <p:cNvSpPr/>
          <p:nvPr/>
        </p:nvSpPr>
        <p:spPr>
          <a:xfrm>
            <a:off x="457200" y="2880360"/>
            <a:ext cx="8229600" cy="73152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개인 재무 목표: 현재의 과도한 세금 및 건강보험료 부담을 줄여 가처분 소득을 늘리고, 65세경 안정적인 은퇴를 위한 자금 마련 희망.</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기업 경영 목표: 지속적인 회사 성장 및 향후 자녀에게 안정적인 가업 승계 고려.</a:t>
            </a:r>
            <a:endParaRPr lang="en-US" sz="1200" dirty="0"/>
          </a:p>
        </p:txBody>
      </p:sp>
      <p:sp>
        <p:nvSpPr>
          <p:cNvPr id="11" name="Shape 9"/>
          <p:cNvSpPr/>
          <p:nvPr/>
        </p:nvSpPr>
        <p:spPr>
          <a:xfrm>
            <a:off x="457200" y="3749040"/>
            <a:ext cx="54864" cy="640080"/>
          </a:xfrm>
          <a:prstGeom prst="rect">
            <a:avLst/>
          </a:prstGeom>
          <a:solidFill>
            <a:srgbClr val="C8962E"/>
          </a:solidFill>
          <a:ln w="12700">
            <a:solidFill>
              <a:srgbClr val="C8962E"/>
            </a:solidFill>
            <a:prstDash val="solid"/>
          </a:ln>
        </p:spPr>
      </p:sp>
      <p:sp>
        <p:nvSpPr>
          <p:cNvPr id="12" name="Shape 10"/>
          <p:cNvSpPr/>
          <p:nvPr/>
        </p:nvSpPr>
        <p:spPr>
          <a:xfrm>
            <a:off x="548640" y="3749040"/>
            <a:ext cx="8138160" cy="640080"/>
          </a:xfrm>
          <a:prstGeom prst="rect">
            <a:avLst/>
          </a:prstGeom>
          <a:solidFill>
            <a:srgbClr val="F7F8FA"/>
          </a:solidFill>
          <a:ln w="12700">
            <a:solidFill>
              <a:srgbClr val="E2E8F0"/>
            </a:solidFill>
            <a:prstDash val="solid"/>
          </a:ln>
        </p:spPr>
      </p:sp>
      <p:sp>
        <p:nvSpPr>
          <p:cNvPr id="13" name="Text 11"/>
          <p:cNvSpPr/>
          <p:nvPr/>
        </p:nvSpPr>
        <p:spPr>
          <a:xfrm>
            <a:off x="685800" y="3794760"/>
            <a:ext cx="7955280" cy="548640"/>
          </a:xfrm>
          <a:prstGeom prst="rect">
            <a:avLst/>
          </a:prstGeom>
          <a:noFill/>
          <a:ln/>
        </p:spPr>
        <p:txBody>
          <a:bodyPr wrap="square" rtlCol="0" anchor="ctr"/>
          <a:lstStyle/>
          <a:p>
            <a:pPr indent="0" marL="0">
              <a:buNone/>
            </a:pPr>
            <a:r>
              <a:rPr lang="en-US" sz="1200" i="1" dirty="0">
                <a:solidFill>
                  <a:srgbClr val="2B2B2B"/>
                </a:solidFill>
                <a:latin typeface="맑은 고딕" pitchFamily="34" charset="0"/>
                <a:ea typeface="맑은 고딕" pitchFamily="34" charset="-122"/>
                <a:cs typeface="맑은 고딕" pitchFamily="34" charset="-120"/>
              </a:rPr>
              <a:t>CEO 애로사항: "매년 이익은 나는데, 정작 내 손에 쥐는 돈은 세금과 건보료 때문에 얼마 안 되는 것 같다. 회사를 위해 열심히 일한 대가를 제대로 인정받고 싶다."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III. 기업 분석 — 핵심 이슈 및 전략 과제 도출</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10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300" b="1" dirty="0">
                <a:solidFill>
                  <a:srgbClr val="D4382C"/>
                </a:solidFill>
                <a:latin typeface="맑은 고딕" pitchFamily="34" charset="0"/>
                <a:ea typeface="맑은 고딕" pitchFamily="34" charset="-122"/>
                <a:cs typeface="맑은 고딕" pitchFamily="34" charset="-120"/>
              </a:rPr>
              <a:t>5.1. CEO 관련 리스크: 과도한 건강보험료 부담</a:t>
            </a:r>
            <a:endParaRPr lang="en-US" sz="1300" dirty="0"/>
          </a:p>
        </p:txBody>
      </p:sp>
      <p:sp>
        <p:nvSpPr>
          <p:cNvPr id="8" name="Text 6"/>
          <p:cNvSpPr/>
          <p:nvPr/>
        </p:nvSpPr>
        <p:spPr>
          <a:xfrm>
            <a:off x="457200" y="1051560"/>
            <a:ext cx="8229600" cy="118872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현황: 연 소득 3억 4천만 원 전체가 근로소득으로 책정되어, 건강보험료 월 상한액 납부.</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문제점: 소득 구조의 비효율성으로 인해 연간 약 5,940만 원 (건보료 약 5,405만 원 + 장기요양보험료 약 496만 원, 2025년 기준)의 건강보험료 발생. 이는 동일 소득을 다른 형태로 수령할 경우보다 훨씬 높은 금액.</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근본 원인: 소득 유형별 건강보험료 부과 체계에 대한 이해 부족 및 관련 제도 미비.</a:t>
            </a:r>
            <a:endParaRPr lang="en-US" sz="1200" dirty="0"/>
          </a:p>
        </p:txBody>
      </p:sp>
      <p:sp>
        <p:nvSpPr>
          <p:cNvPr id="9" name="Text 7"/>
          <p:cNvSpPr/>
          <p:nvPr/>
        </p:nvSpPr>
        <p:spPr>
          <a:xfrm>
            <a:off x="457200" y="2377440"/>
            <a:ext cx="8229600" cy="365760"/>
          </a:xfrm>
          <a:prstGeom prst="rect">
            <a:avLst/>
          </a:prstGeom>
          <a:noFill/>
          <a:ln/>
        </p:spPr>
        <p:txBody>
          <a:bodyPr wrap="square" rtlCol="0" anchor="ctr"/>
          <a:lstStyle/>
          <a:p>
            <a:pPr indent="0" marL="0">
              <a:buNone/>
            </a:pPr>
            <a:r>
              <a:rPr lang="en-US" sz="1300" b="1" dirty="0">
                <a:solidFill>
                  <a:srgbClr val="D4382C"/>
                </a:solidFill>
                <a:latin typeface="맑은 고딕" pitchFamily="34" charset="0"/>
                <a:ea typeface="맑은 고딕" pitchFamily="34" charset="-122"/>
                <a:cs typeface="맑은 고딕" pitchFamily="34" charset="-120"/>
              </a:rPr>
              <a:t>5.2. 재무구조 리스크: 출구전략 부재 및 미처분이익잉여금 누적</a:t>
            </a:r>
            <a:endParaRPr lang="en-US" sz="1300" dirty="0"/>
          </a:p>
        </p:txBody>
      </p:sp>
      <p:sp>
        <p:nvSpPr>
          <p:cNvPr id="10" name="Text 8"/>
          <p:cNvSpPr/>
          <p:nvPr/>
        </p:nvSpPr>
        <p:spPr>
          <a:xfrm>
            <a:off x="457200" y="2788920"/>
            <a:ext cx="8229600" cy="91440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현황: 정관에 임원 퇴직금에 대한 구체적인 지급 규정이 없음.</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문제점: CEO 퇴직 시 거액의 퇴직금을 지급할 법적 근거가 미약하며, 지급하더라도 세법상 한도를 초과할 경우 비용으로 인정받지 못해 법인세 부담 가중. 또한 정관 미비 또는 특정 임원에 대한 불합리한 차등 지급 시 손금부인 및 상여처분 리스크 존재. 누적된 이익잉여금은 기업의 주식 가치를 상승시켜 미래의 상속/증여세 부담을 폭발적으로 증가시킴.</a:t>
            </a:r>
            <a:endParaRPr lang="en-US" sz="1200" dirty="0"/>
          </a:p>
        </p:txBody>
      </p:sp>
      <p:sp>
        <p:nvSpPr>
          <p:cNvPr id="11" name="Text 9"/>
          <p:cNvSpPr/>
          <p:nvPr/>
        </p:nvSpPr>
        <p:spPr>
          <a:xfrm>
            <a:off x="457200" y="3840480"/>
            <a:ext cx="8229600" cy="36576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5.3. 우선 과제 선정 — 🎯 최우선 전략 과제</a:t>
            </a:r>
            <a:endParaRPr lang="en-US" sz="1300" dirty="0"/>
          </a:p>
        </p:txBody>
      </p:sp>
      <p:sp>
        <p:nvSpPr>
          <p:cNvPr id="12" name="Shape 10"/>
          <p:cNvSpPr/>
          <p:nvPr/>
        </p:nvSpPr>
        <p:spPr>
          <a:xfrm>
            <a:off x="457200" y="4251960"/>
            <a:ext cx="54864" cy="640080"/>
          </a:xfrm>
          <a:prstGeom prst="rect">
            <a:avLst/>
          </a:prstGeom>
          <a:solidFill>
            <a:srgbClr val="1A6B4A"/>
          </a:solidFill>
          <a:ln w="12700">
            <a:solidFill>
              <a:srgbClr val="1A6B4A"/>
            </a:solidFill>
            <a:prstDash val="solid"/>
          </a:ln>
        </p:spPr>
      </p:sp>
      <p:sp>
        <p:nvSpPr>
          <p:cNvPr id="13" name="Shape 11"/>
          <p:cNvSpPr/>
          <p:nvPr/>
        </p:nvSpPr>
        <p:spPr>
          <a:xfrm>
            <a:off x="548640" y="4251960"/>
            <a:ext cx="8138160" cy="640080"/>
          </a:xfrm>
          <a:prstGeom prst="rect">
            <a:avLst/>
          </a:prstGeom>
          <a:solidFill>
            <a:srgbClr val="F0FDF4"/>
          </a:solidFill>
          <a:ln w="12700">
            <a:solidFill>
              <a:srgbClr val="E2E8F0"/>
            </a:solidFill>
            <a:prstDash val="solid"/>
          </a:ln>
        </p:spPr>
      </p:sp>
      <p:sp>
        <p:nvSpPr>
          <p:cNvPr id="14" name="Text 12"/>
          <p:cNvSpPr/>
          <p:nvPr/>
        </p:nvSpPr>
        <p:spPr>
          <a:xfrm>
            <a:off x="685800" y="4297680"/>
            <a:ext cx="7955280" cy="548640"/>
          </a:xfrm>
          <a:prstGeom prst="rect">
            <a:avLst/>
          </a:prstGeom>
          <a:noFill/>
          <a:ln/>
        </p:spPr>
        <p:txBody>
          <a:bodyPr wrap="square" rtlCol="0" anchor="ctr"/>
          <a:lstStyle/>
          <a:p>
            <a:pPr indent="0" marL="0">
              <a:buNone/>
            </a:pPr>
            <a:r>
              <a:rPr lang="en-US" sz="1100" b="1" dirty="0">
                <a:solidFill>
                  <a:srgbClr val="1A6B4A"/>
                </a:solidFill>
                <a:latin typeface="맑은 고딕" pitchFamily="34" charset="0"/>
                <a:ea typeface="맑은 고딕" pitchFamily="34" charset="-122"/>
                <a:cs typeface="맑은 고딕" pitchFamily="34" charset="-120"/>
              </a:rPr>
              <a:t>CEO 소득 구조 최적화를 통한 건강보험료 절감 및 합법적인 퇴직금 재원 마련.</a:t>
            </a:r>
            <a:endParaRPr lang="en-US" sz="1100" dirty="0"/>
          </a:p>
          <a:p>
            <a:pPr indent="0" marL="0">
              <a:buNone/>
            </a:pPr>
            <a:r>
              <a:rPr lang="en-US" sz="1100" b="1" dirty="0">
                <a:solidFill>
                  <a:srgbClr val="1A6B4A"/>
                </a:solidFill>
                <a:latin typeface="맑은 고딕" pitchFamily="34" charset="0"/>
                <a:ea typeface="맑은 고딕" pitchFamily="34" charset="-122"/>
                <a:cs typeface="맑은 고딕" pitchFamily="34" charset="-120"/>
              </a:rPr>
              <a:t>선정 근거: 이는 CEO의 가장 시급한 니즈(Needs)를 해결하는 동시에, 기업의 장기적인 재무 리스크(미처분이익잉여금, 출구전략)를 해소하는 출발점이기 때문. 단기적, 장기적 효과를 동시에 거둘 수 있는 가장 효율적인 전략.</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IV. 맞춤형 솔루션 및 실행 전략 — 기본 방향</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11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1. 솔루션 기본 방향 및 목표 설정</a:t>
            </a:r>
            <a:endParaRPr lang="en-US" sz="1400" dirty="0"/>
          </a:p>
        </p:txBody>
      </p:sp>
      <p:sp>
        <p:nvSpPr>
          <p:cNvPr id="8" name="Text 6"/>
          <p:cNvSpPr/>
          <p:nvPr/>
        </p:nvSpPr>
        <p:spPr>
          <a:xfrm>
            <a:off x="457200" y="1051560"/>
            <a:ext cx="8229600" cy="54864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기본 방향: CEO 소득을 '근로소득 집중형'에서 '종합소득 분산형'으로 재설계하되, 분기 및 사업연도 단위의 현실적인 실행 계획 수립.</a:t>
            </a:r>
            <a:endParaRPr lang="en-US" sz="1200" dirty="0"/>
          </a:p>
        </p:txBody>
      </p:sp>
      <p:sp>
        <p:nvSpPr>
          <p:cNvPr id="9" name="Text 7"/>
          <p:cNvSpPr/>
          <p:nvPr/>
        </p:nvSpPr>
        <p:spPr>
          <a:xfrm>
            <a:off x="457200" y="169164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세부 목표</a:t>
            </a:r>
            <a:endParaRPr lang="en-US" sz="1300" dirty="0"/>
          </a:p>
        </p:txBody>
      </p:sp>
      <p:sp>
        <p:nvSpPr>
          <p:cNvPr id="10" name="Text 8"/>
          <p:cNvSpPr/>
          <p:nvPr/>
        </p:nvSpPr>
        <p:spPr>
          <a:xfrm>
            <a:off x="457200" y="2057400"/>
            <a:ext cx="8229600" cy="109728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건강보험료 부과 대상 소득 최소화.</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건강보험료 비과세 소득인 '퇴직소득' 재원 확보.</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법인세법상 비용으로 인정받는 항목을 최대화하여 법인세 절감.</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금융소득종합과세 및 소득월액보험료 부과 기준을 동시 고려한 총 세부담 및 총 보험료 최적화.</a:t>
            </a:r>
            <a:endParaRPr lang="en-US" sz="1200" dirty="0"/>
          </a:p>
        </p:txBody>
      </p:sp>
      <p:sp>
        <p:nvSpPr>
          <p:cNvPr id="11" name="Text 9"/>
          <p:cNvSpPr/>
          <p:nvPr/>
        </p:nvSpPr>
        <p:spPr>
          <a:xfrm>
            <a:off x="457200" y="329184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2. 핵심 전략 제안 — 3대 전략 개요</a:t>
            </a:r>
            <a:endParaRPr lang="en-US" sz="1400" dirty="0"/>
          </a:p>
        </p:txBody>
      </p:sp>
      <p:sp>
        <p:nvSpPr>
          <p:cNvPr id="12" name="Shape 10"/>
          <p:cNvSpPr/>
          <p:nvPr/>
        </p:nvSpPr>
        <p:spPr>
          <a:xfrm>
            <a:off x="457200" y="3703320"/>
            <a:ext cx="2651760" cy="1097280"/>
          </a:xfrm>
          <a:prstGeom prst="rect">
            <a:avLst/>
          </a:prstGeom>
          <a:solidFill>
            <a:srgbClr val="3B5BDB"/>
          </a:solidFill>
          <a:ln/>
          <a:effectLst>
            <a:outerShdw sx="100000" sy="100000" kx="0" ky="0" algn="bl" rotWithShape="0" blurRad="50800" dist="25400" dir="8100000">
              <a:srgbClr val="000000">
                <a:alpha val="10000"/>
              </a:srgbClr>
            </a:outerShdw>
          </a:effectLst>
        </p:spPr>
      </p:sp>
      <p:sp>
        <p:nvSpPr>
          <p:cNvPr id="13" name="Text 11"/>
          <p:cNvSpPr/>
          <p:nvPr/>
        </p:nvSpPr>
        <p:spPr>
          <a:xfrm>
            <a:off x="457200" y="3749040"/>
            <a:ext cx="2651760" cy="365760"/>
          </a:xfrm>
          <a:prstGeom prst="rect">
            <a:avLst/>
          </a:prstGeom>
          <a:noFill/>
          <a:ln/>
        </p:spPr>
        <p:txBody>
          <a:bodyPr wrap="square" rtlCol="0" anchor="ctr"/>
          <a:lstStyle/>
          <a:p>
            <a:pPr algn="ctr" indent="0" marL="0">
              <a:buNone/>
            </a:pPr>
            <a:r>
              <a:rPr lang="en-US" sz="1200" b="1" dirty="0">
                <a:solidFill>
                  <a:srgbClr val="C8962E"/>
                </a:solidFill>
                <a:latin typeface="맑은 고딕" pitchFamily="34" charset="0"/>
                <a:ea typeface="맑은 고딕" pitchFamily="34" charset="-122"/>
                <a:cs typeface="맑은 고딕" pitchFamily="34" charset="-120"/>
              </a:rPr>
              <a:t>📄 전략 1</a:t>
            </a:r>
            <a:endParaRPr lang="en-US" sz="1200" dirty="0"/>
          </a:p>
        </p:txBody>
      </p:sp>
      <p:sp>
        <p:nvSpPr>
          <p:cNvPr id="14" name="Text 12"/>
          <p:cNvSpPr/>
          <p:nvPr/>
        </p:nvSpPr>
        <p:spPr>
          <a:xfrm>
            <a:off x="457200" y="4160520"/>
            <a:ext cx="2651760" cy="45720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비과세 활용</a:t>
            </a:r>
            <a:endParaRPr lang="en-US" sz="1600" dirty="0"/>
          </a:p>
        </p:txBody>
      </p:sp>
      <p:sp>
        <p:nvSpPr>
          <p:cNvPr id="15" name="Shape 13"/>
          <p:cNvSpPr/>
          <p:nvPr/>
        </p:nvSpPr>
        <p:spPr>
          <a:xfrm>
            <a:off x="3291840" y="3703320"/>
            <a:ext cx="2651760" cy="1097280"/>
          </a:xfrm>
          <a:prstGeom prst="rect">
            <a:avLst/>
          </a:prstGeom>
          <a:solidFill>
            <a:srgbClr val="1B2A4A"/>
          </a:solidFill>
          <a:ln/>
          <a:effectLst>
            <a:outerShdw sx="100000" sy="100000" kx="0" ky="0" algn="bl" rotWithShape="0" blurRad="50800" dist="25400" dir="8100000">
              <a:srgbClr val="000000">
                <a:alpha val="10000"/>
              </a:srgbClr>
            </a:outerShdw>
          </a:effectLst>
        </p:spPr>
      </p:sp>
      <p:sp>
        <p:nvSpPr>
          <p:cNvPr id="16" name="Text 14"/>
          <p:cNvSpPr/>
          <p:nvPr/>
        </p:nvSpPr>
        <p:spPr>
          <a:xfrm>
            <a:off x="3291840" y="3749040"/>
            <a:ext cx="2651760" cy="365760"/>
          </a:xfrm>
          <a:prstGeom prst="rect">
            <a:avLst/>
          </a:prstGeom>
          <a:noFill/>
          <a:ln/>
        </p:spPr>
        <p:txBody>
          <a:bodyPr wrap="square" rtlCol="0" anchor="ctr"/>
          <a:lstStyle/>
          <a:p>
            <a:pPr algn="ctr" indent="0" marL="0">
              <a:buNone/>
            </a:pPr>
            <a:r>
              <a:rPr lang="en-US" sz="1200" b="1" dirty="0">
                <a:solidFill>
                  <a:srgbClr val="C8962E"/>
                </a:solidFill>
                <a:latin typeface="맑은 고딕" pitchFamily="34" charset="0"/>
                <a:ea typeface="맑은 고딕" pitchFamily="34" charset="-122"/>
                <a:cs typeface="맑은 고딕" pitchFamily="34" charset="-120"/>
              </a:rPr>
              <a:t>📊 전략 2</a:t>
            </a:r>
            <a:endParaRPr lang="en-US" sz="1200" dirty="0"/>
          </a:p>
        </p:txBody>
      </p:sp>
      <p:sp>
        <p:nvSpPr>
          <p:cNvPr id="17" name="Text 15"/>
          <p:cNvSpPr/>
          <p:nvPr/>
        </p:nvSpPr>
        <p:spPr>
          <a:xfrm>
            <a:off x="3291840" y="4160520"/>
            <a:ext cx="2651760" cy="45720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배당 전환</a:t>
            </a:r>
            <a:endParaRPr lang="en-US" sz="1600" dirty="0"/>
          </a:p>
        </p:txBody>
      </p:sp>
      <p:sp>
        <p:nvSpPr>
          <p:cNvPr id="18" name="Shape 16"/>
          <p:cNvSpPr/>
          <p:nvPr/>
        </p:nvSpPr>
        <p:spPr>
          <a:xfrm>
            <a:off x="6126480" y="3703320"/>
            <a:ext cx="2651760" cy="1097280"/>
          </a:xfrm>
          <a:prstGeom prst="rect">
            <a:avLst/>
          </a:prstGeom>
          <a:solidFill>
            <a:srgbClr val="1A6B4A"/>
          </a:solidFill>
          <a:ln/>
          <a:effectLst>
            <a:outerShdw sx="100000" sy="100000" kx="0" ky="0" algn="bl" rotWithShape="0" blurRad="50800" dist="25400" dir="8100000">
              <a:srgbClr val="000000">
                <a:alpha val="10000"/>
              </a:srgbClr>
            </a:outerShdw>
          </a:effectLst>
        </p:spPr>
      </p:sp>
      <p:sp>
        <p:nvSpPr>
          <p:cNvPr id="19" name="Text 17"/>
          <p:cNvSpPr/>
          <p:nvPr/>
        </p:nvSpPr>
        <p:spPr>
          <a:xfrm>
            <a:off x="6126480" y="3749040"/>
            <a:ext cx="2651760" cy="365760"/>
          </a:xfrm>
          <a:prstGeom prst="rect">
            <a:avLst/>
          </a:prstGeom>
          <a:noFill/>
          <a:ln/>
        </p:spPr>
        <p:txBody>
          <a:bodyPr wrap="square" rtlCol="0" anchor="ctr"/>
          <a:lstStyle/>
          <a:p>
            <a:pPr algn="ctr" indent="0" marL="0">
              <a:buNone/>
            </a:pPr>
            <a:r>
              <a:rPr lang="en-US" sz="1200" b="1" dirty="0">
                <a:solidFill>
                  <a:srgbClr val="C8962E"/>
                </a:solidFill>
                <a:latin typeface="맑은 고딕" pitchFamily="34" charset="0"/>
                <a:ea typeface="맑은 고딕" pitchFamily="34" charset="-122"/>
                <a:cs typeface="맑은 고딕" pitchFamily="34" charset="-120"/>
              </a:rPr>
              <a:t>⭐ 전략 3 (핵심)</a:t>
            </a:r>
            <a:endParaRPr lang="en-US" sz="1200" dirty="0"/>
          </a:p>
        </p:txBody>
      </p:sp>
      <p:sp>
        <p:nvSpPr>
          <p:cNvPr id="20" name="Text 18"/>
          <p:cNvSpPr/>
          <p:nvPr/>
        </p:nvSpPr>
        <p:spPr>
          <a:xfrm>
            <a:off x="6126480" y="4160520"/>
            <a:ext cx="2651760" cy="45720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퇴직금 제도</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IV. 핵심 전략 1 — 비과세 근로소득 활용</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12 / 40</a:t>
            </a:r>
            <a:endParaRPr lang="en-US" sz="800" dirty="0"/>
          </a:p>
        </p:txBody>
      </p:sp>
      <p:sp>
        <p:nvSpPr>
          <p:cNvPr id="7" name="Text 5"/>
          <p:cNvSpPr/>
          <p:nvPr/>
        </p:nvSpPr>
        <p:spPr>
          <a:xfrm>
            <a:off x="457200" y="64008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 원칙 및 근거</a:t>
            </a:r>
            <a:endParaRPr lang="en-US" sz="1300" dirty="0"/>
          </a:p>
        </p:txBody>
      </p:sp>
      <p:sp>
        <p:nvSpPr>
          <p:cNvPr id="8" name="Text 6"/>
          <p:cNvSpPr/>
          <p:nvPr/>
        </p:nvSpPr>
        <p:spPr>
          <a:xfrm>
            <a:off x="457200" y="1005840"/>
            <a:ext cx="8229600" cy="59436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소득세법에서는 특정 항목에 대해 소득세를 비과세하며, 이는 건강보험료 산정 기준인 보수월액에서도 제외됩니다.</a:t>
            </a:r>
            <a:endParaRPr lang="en-US" sz="1200" dirty="0"/>
          </a:p>
          <a:p>
            <a:pPr indent="0" marL="0">
              <a:buNone/>
            </a:pPr>
            <a:r>
              <a:rPr lang="en-US" sz="1200" dirty="0">
                <a:solidFill>
                  <a:srgbClr val="2B2B2B"/>
                </a:solidFill>
                <a:latin typeface="맑은 고딕" pitchFamily="34" charset="0"/>
                <a:ea typeface="맑은 고딕" pitchFamily="34" charset="-122"/>
                <a:cs typeface="맑은 고딕" pitchFamily="34" charset="-120"/>
              </a:rPr>
              <a:t>※ 출처: 법제처, 소득세법 제12조, 동법 시행령 제12조 (2025.08 기준)</a:t>
            </a:r>
            <a:endParaRPr lang="en-US" sz="1200" dirty="0"/>
          </a:p>
        </p:txBody>
      </p:sp>
      <p:sp>
        <p:nvSpPr>
          <p:cNvPr id="9" name="Text 7"/>
          <p:cNvSpPr/>
          <p:nvPr/>
        </p:nvSpPr>
        <p:spPr>
          <a:xfrm>
            <a:off x="457200" y="169164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 실행 방안</a:t>
            </a:r>
            <a:endParaRPr lang="en-US" sz="1300" dirty="0"/>
          </a:p>
        </p:txBody>
      </p:sp>
      <p:sp>
        <p:nvSpPr>
          <p:cNvPr id="10" name="Text 8"/>
          <p:cNvSpPr/>
          <p:nvPr/>
        </p:nvSpPr>
        <p:spPr>
          <a:xfrm>
            <a:off x="457200" y="2057400"/>
            <a:ext cx="8229600" cy="68580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차량유지비: 월 20만 원 한도 내에서 실비변상적 급여로 처리 (연 240만 원).</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식대: 월 20만 원 한도 내에서 비과세 처리 (연 240만 원).</a:t>
            </a:r>
            <a:endParaRPr lang="en-US" sz="1200" dirty="0"/>
          </a:p>
        </p:txBody>
      </p:sp>
      <p:sp>
        <p:nvSpPr>
          <p:cNvPr id="11" name="Text 9"/>
          <p:cNvSpPr/>
          <p:nvPr/>
        </p:nvSpPr>
        <p:spPr>
          <a:xfrm>
            <a:off x="457200" y="2834640"/>
            <a:ext cx="8229600" cy="320040"/>
          </a:xfrm>
          <a:prstGeom prst="rect">
            <a:avLst/>
          </a:prstGeom>
          <a:noFill/>
          <a:ln/>
        </p:spPr>
        <p:txBody>
          <a:bodyPr wrap="square" rtlCol="0" anchor="ctr"/>
          <a:lstStyle/>
          <a:p>
            <a:pPr indent="0" marL="0">
              <a:buNone/>
            </a:pPr>
            <a:r>
              <a:rPr lang="en-US" sz="1300" b="1" dirty="0">
                <a:solidFill>
                  <a:srgbClr val="D4382C"/>
                </a:solidFill>
                <a:latin typeface="맑은 고딕" pitchFamily="34" charset="0"/>
                <a:ea typeface="맑은 고딕" pitchFamily="34" charset="-122"/>
                <a:cs typeface="맑은 고딕" pitchFamily="34" charset="-120"/>
              </a:rPr>
              <a:t>⚠️ 주의사항 및 체크리스트</a:t>
            </a:r>
            <a:endParaRPr lang="en-US" sz="1300" dirty="0"/>
          </a:p>
        </p:txBody>
      </p:sp>
      <p:sp>
        <p:nvSpPr>
          <p:cNvPr id="12" name="Text 10"/>
          <p:cNvSpPr/>
          <p:nvPr/>
        </p:nvSpPr>
        <p:spPr>
          <a:xfrm>
            <a:off x="457200" y="3200400"/>
            <a:ext cx="8229600" cy="128016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 차량유지비는 반드시 법인 명의 또는 대표이사 개인 명의 차량을 업무에 사용하는 경우에만 해당하며, 관련 증빙(운행일지 등)을 구비해야 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 식대는 현물 식사 제공 없이 급여에 포함하여 지급하는 경우에 적용됩니다.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 전사 정책 선행 필수: 비과세 항목은 전 직원 또는 특정 직무군에 합리적이고 형평성 있게 적용되어야 하며, CEO에게만 차별적으로 적용 시 노무 및 세무 리스크(부인 가능성)가 발생할 수 있습니다. 따라서 전사 인사규정 정비 및 증빙 관리 시스템(운행일지, 카드사용 증빙 등) 구축이 선행되어야 합니다.</a:t>
            </a:r>
            <a:endParaRPr lang="en-US" sz="1100" dirty="0"/>
          </a:p>
        </p:txBody>
      </p:sp>
      <p:sp>
        <p:nvSpPr>
          <p:cNvPr id="13" name="Text 11"/>
          <p:cNvSpPr/>
          <p:nvPr/>
        </p:nvSpPr>
        <p:spPr>
          <a:xfrm>
            <a:off x="457200" y="4572000"/>
            <a:ext cx="8229600" cy="32004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 실행 체크리스트</a:t>
            </a:r>
            <a:endParaRPr lang="en-US" sz="1300" dirty="0"/>
          </a:p>
        </p:txBody>
      </p:sp>
      <p:sp>
        <p:nvSpPr>
          <p:cNvPr id="14" name="Text 12"/>
          <p:cNvSpPr/>
          <p:nvPr/>
        </p:nvSpPr>
        <p:spPr>
          <a:xfrm>
            <a:off x="457200" y="4937760"/>
            <a:ext cx="8229600" cy="82296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전사 인사규정에 비과세 항목 지급 기준 명시</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대상 직원/직무군 정의 및 형평성 검토</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차량 운행일지 양식 및 관리 프로세스 마련</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식대 지급 방식(현금/카드) 및 증빙 방법 확정</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IV. 핵심 전략 2 — 상여금의 배당 전환</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13 / 40</a:t>
            </a:r>
            <a:endParaRPr lang="en-US" sz="800" dirty="0"/>
          </a:p>
        </p:txBody>
      </p:sp>
      <p:sp>
        <p:nvSpPr>
          <p:cNvPr id="7" name="Text 5"/>
          <p:cNvSpPr/>
          <p:nvPr/>
        </p:nvSpPr>
        <p:spPr>
          <a:xfrm>
            <a:off x="457200" y="64008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 원칙 및 근거</a:t>
            </a:r>
            <a:endParaRPr lang="en-US" sz="1300" dirty="0"/>
          </a:p>
        </p:txBody>
      </p:sp>
      <p:sp>
        <p:nvSpPr>
          <p:cNvPr id="8" name="Text 6"/>
          <p:cNvSpPr/>
          <p:nvPr/>
        </p:nvSpPr>
        <p:spPr>
          <a:xfrm>
            <a:off x="457200" y="1005840"/>
            <a:ext cx="8229600" cy="118872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상여금은 근로소득으로 합산되어 건강보험료가 부과되지만, 배당소득은 분리되어 '소득월액' 보험료 대상으로 별도 산정됩니다.</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소득월액 보험료는 보수 외 소득(이자, 배당, 사업소득, 기타소득 등의 합)이 연간 2,000만 원을 초과하는 경우에만 부과됩니다.</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이자소득과 배당소득의 합계가 1,000만 원 이하인 경우 소득월액 산정에서 제외되므로, 이를 전략적으로 활용하면 건보료 절감 효과가 발생할 수 있습니다.</a:t>
            </a:r>
            <a:endParaRPr lang="en-US" sz="1200" dirty="0"/>
          </a:p>
          <a:p>
            <a:pPr indent="0" marL="0">
              <a:buNone/>
            </a:pPr>
            <a:r>
              <a:rPr lang="en-US" sz="1200" i="1" dirty="0">
                <a:solidFill>
                  <a:srgbClr val="4A5568"/>
                </a:solidFill>
                <a:latin typeface="맑은 고딕" pitchFamily="34" charset="0"/>
                <a:ea typeface="맑은 고딕" pitchFamily="34" charset="-122"/>
                <a:cs typeface="맑은 고딕" pitchFamily="34" charset="-120"/>
              </a:rPr>
              <a:t>※ 출처: 법제처, 국민건강보험법 제71조 (2025.08 기준), 국민건강보험공단 소득월액보험료 부과 기준</a:t>
            </a:r>
            <a:endParaRPr lang="en-US" sz="1200" dirty="0"/>
          </a:p>
        </p:txBody>
      </p:sp>
      <p:sp>
        <p:nvSpPr>
          <p:cNvPr id="9" name="Text 7"/>
          <p:cNvSpPr/>
          <p:nvPr/>
        </p:nvSpPr>
        <p:spPr>
          <a:xfrm>
            <a:off x="457200" y="228600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 실행 방안</a:t>
            </a:r>
            <a:endParaRPr lang="en-US" sz="1300" dirty="0"/>
          </a:p>
        </p:txBody>
      </p:sp>
      <p:sp>
        <p:nvSpPr>
          <p:cNvPr id="10" name="Text 8"/>
          <p:cNvSpPr/>
          <p:nvPr/>
        </p:nvSpPr>
        <p:spPr>
          <a:xfrm>
            <a:off x="457200" y="2651760"/>
            <a:ext cx="8229600" cy="82296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연 1억 원의 비정기 상여금을 주주총회 결의를 통해 '중간배당' 또는 '결산배당'으로 지급합니다.</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배당 전환은 정관 정비, 배당가능이익 확인, 주주총회 절차 등 법적 요건을 충족해야 하므로, 최소 분기 또는 사업연도 단위로 실행 계획을 수립해야 합니다. "다음 달부터 즉시" 실행은 불가능합니다.</a:t>
            </a:r>
            <a:endParaRPr lang="en-US" sz="1200" dirty="0"/>
          </a:p>
        </p:txBody>
      </p:sp>
      <p:sp>
        <p:nvSpPr>
          <p:cNvPr id="11" name="Text 9"/>
          <p:cNvSpPr/>
          <p:nvPr/>
        </p:nvSpPr>
        <p:spPr>
          <a:xfrm>
            <a:off x="457200" y="3566160"/>
            <a:ext cx="8229600" cy="320040"/>
          </a:xfrm>
          <a:prstGeom prst="rect">
            <a:avLst/>
          </a:prstGeom>
          <a:noFill/>
          <a:ln/>
        </p:spPr>
        <p:txBody>
          <a:bodyPr wrap="square" rtlCol="0" anchor="ctr"/>
          <a:lstStyle/>
          <a:p>
            <a:pPr indent="0" marL="0">
              <a:buNone/>
            </a:pPr>
            <a:r>
              <a:rPr lang="en-US" sz="1300" b="1" dirty="0">
                <a:solidFill>
                  <a:srgbClr val="D4382C"/>
                </a:solidFill>
                <a:latin typeface="맑은 고딕" pitchFamily="34" charset="0"/>
                <a:ea typeface="맑은 고딕" pitchFamily="34" charset="-122"/>
                <a:cs typeface="맑은 고딕" pitchFamily="34" charset="-120"/>
              </a:rPr>
              <a:t>⚠️ 주요 주의사항</a:t>
            </a:r>
            <a:endParaRPr lang="en-US" sz="1300" dirty="0"/>
          </a:p>
        </p:txBody>
      </p:sp>
      <p:sp>
        <p:nvSpPr>
          <p:cNvPr id="12" name="Text 10"/>
          <p:cNvSpPr/>
          <p:nvPr/>
        </p:nvSpPr>
        <p:spPr>
          <a:xfrm>
            <a:off x="457200" y="3931920"/>
            <a:ext cx="8229600" cy="118872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정관 및 절차: 정관에 배당 관련 규정이 있어야 하며, 상법상 배당가능이익 범위 내에서 이사회 결의 및 주주총회 결의를 거쳐야 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금융소득종합과세: 연간 금융소득(이자+배당)이 2,000만 원을 초과하면 금융소득종합과세 대상이 되어 최고 49.5%의 세율이 적용될 수 있습니다.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소득월액보험료 트리거: 배당 1억 원 수령 시 보수 외 소득이 2,000만 원을 초과하므로 소득월액보험료가 부과됩니다. 총 세부담(소득세)과 총 보험료(보수월액+소득월액+장기요양)를 동시에 시뮬레이션하여 최적 구조를 설계해야 합니다.</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IV. 전략 2 — 배당 전환 체크리스트 및 주의사항</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14 / 40</a:t>
            </a:r>
            <a:endParaRPr lang="en-US" sz="800" dirty="0"/>
          </a:p>
        </p:txBody>
      </p:sp>
      <p:sp>
        <p:nvSpPr>
          <p:cNvPr id="7" name="Text 5"/>
          <p:cNvSpPr/>
          <p:nvPr/>
        </p:nvSpPr>
        <p:spPr>
          <a:xfrm>
            <a:off x="457200" y="640080"/>
            <a:ext cx="8229600" cy="320040"/>
          </a:xfrm>
          <a:prstGeom prst="rect">
            <a:avLst/>
          </a:prstGeom>
          <a:noFill/>
          <a:ln/>
        </p:spPr>
        <p:txBody>
          <a:bodyPr wrap="square" rtlCol="0" anchor="ctr"/>
          <a:lstStyle/>
          <a:p>
            <a:pPr indent="0" marL="0">
              <a:buNone/>
            </a:pPr>
            <a:r>
              <a:rPr lang="en-US" sz="1300" b="1" dirty="0">
                <a:solidFill>
                  <a:srgbClr val="D4382C"/>
                </a:solidFill>
                <a:latin typeface="맑은 고딕" pitchFamily="34" charset="0"/>
                <a:ea typeface="맑은 고딕" pitchFamily="34" charset="-122"/>
                <a:cs typeface="맑은 고딕" pitchFamily="34" charset="-120"/>
              </a:rPr>
              <a:t>⚠️ 추가 주의사항</a:t>
            </a:r>
            <a:endParaRPr lang="en-US" sz="1300" dirty="0"/>
          </a:p>
        </p:txBody>
      </p:sp>
      <p:sp>
        <p:nvSpPr>
          <p:cNvPr id="8" name="Text 6"/>
          <p:cNvSpPr/>
          <p:nvPr/>
        </p:nvSpPr>
        <p:spPr>
          <a:xfrm>
            <a:off x="457200" y="1005840"/>
            <a:ext cx="8229600" cy="54864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배당 전환은 조건부 유리: 배당 전환이 모든 경우에 무조건 유리한 것은 아니며, CEO의 다른 금융소득, 과세표준 구간, 보수월액 상한 도달 여부 등을 종합적으로 고려한 맞춤형 설계가 필요합니다.</a:t>
            </a:r>
            <a:endParaRPr lang="en-US" sz="1200" dirty="0"/>
          </a:p>
        </p:txBody>
      </p:sp>
      <p:sp>
        <p:nvSpPr>
          <p:cNvPr id="9" name="Text 7"/>
          <p:cNvSpPr/>
          <p:nvPr/>
        </p:nvSpPr>
        <p:spPr>
          <a:xfrm>
            <a:off x="457200" y="1691640"/>
            <a:ext cx="8229600" cy="32004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 실행 체크리스트</a:t>
            </a:r>
            <a:endParaRPr lang="en-US" sz="1300" dirty="0"/>
          </a:p>
        </p:txBody>
      </p:sp>
      <p:sp>
        <p:nvSpPr>
          <p:cNvPr id="10" name="Text 8"/>
          <p:cNvSpPr/>
          <p:nvPr/>
        </p:nvSpPr>
        <p:spPr>
          <a:xfrm>
            <a:off x="457200" y="2057400"/>
            <a:ext cx="8229600" cy="146304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정관 배당 조항 확인 및 필요시 개정(중간배당 포함 여부)</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최근 사업연도 배당가능이익 산정 (대차대조표 기준)</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배당 전환 시뮬레이션: 소득세, 보수월액보험료, 소득월액보험료, 장기요양보험료 총합 비교</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이사회 및 주주총회 소집 절차 및 일정 수립</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의사록 양식 준비 (이사회 배당안 결의, 주총 배당 승인)</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IV. 핵심 전략 3 — 임원 퇴직금 제도 도입 (⭐ 핵심 솔루션)</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15 / 40</a:t>
            </a:r>
            <a:endParaRPr lang="en-US" sz="800" dirty="0"/>
          </a:p>
        </p:txBody>
      </p:sp>
      <p:sp>
        <p:nvSpPr>
          <p:cNvPr id="7" name="Text 5"/>
          <p:cNvSpPr/>
          <p:nvPr/>
        </p:nvSpPr>
        <p:spPr>
          <a:xfrm>
            <a:off x="457200" y="64008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 원칙 및 근거</a:t>
            </a:r>
            <a:endParaRPr lang="en-US" sz="1300" dirty="0"/>
          </a:p>
        </p:txBody>
      </p:sp>
      <p:sp>
        <p:nvSpPr>
          <p:cNvPr id="8" name="Text 6"/>
          <p:cNvSpPr/>
          <p:nvPr/>
        </p:nvSpPr>
        <p:spPr>
          <a:xfrm>
            <a:off x="457200" y="1005840"/>
            <a:ext cx="8229600" cy="91440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퇴직소득은 소득세법상 다른 소득과 합산하지 않고 분류과세하며, 건강보험료 부과 대상에서 완전히 제외됩니다.</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법인은 정관에 정해진 임원퇴직금 지급규정에 따라 적립하는 퇴직금을 비용(손금)으로 인정받을 수 있습니다.</a:t>
            </a:r>
            <a:endParaRPr lang="en-US" sz="1200" dirty="0"/>
          </a:p>
          <a:p>
            <a:pPr indent="0" marL="0">
              <a:buNone/>
            </a:pPr>
            <a:r>
              <a:rPr lang="en-US" sz="1200" i="1" dirty="0">
                <a:solidFill>
                  <a:srgbClr val="4A5568"/>
                </a:solidFill>
                <a:latin typeface="맑은 고딕" pitchFamily="34" charset="0"/>
                <a:ea typeface="맑은 고딕" pitchFamily="34" charset="-122"/>
                <a:cs typeface="맑은 고딕" pitchFamily="34" charset="-120"/>
              </a:rPr>
              <a:t>※ 출처: 법제처, 소득세법 제22조, 법인세법 시행령 제44조 (2025.08 기준)</a:t>
            </a:r>
            <a:endParaRPr lang="en-US" sz="1200" dirty="0"/>
          </a:p>
        </p:txBody>
      </p:sp>
      <p:sp>
        <p:nvSpPr>
          <p:cNvPr id="9" name="Text 7"/>
          <p:cNvSpPr/>
          <p:nvPr/>
        </p:nvSpPr>
        <p:spPr>
          <a:xfrm>
            <a:off x="457200" y="201168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 실행 방안</a:t>
            </a:r>
            <a:endParaRPr lang="en-US" sz="1300" dirty="0"/>
          </a:p>
        </p:txBody>
      </p:sp>
      <p:sp>
        <p:nvSpPr>
          <p:cNvPr id="10" name="Text 8"/>
          <p:cNvSpPr/>
          <p:nvPr/>
        </p:nvSpPr>
        <p:spPr>
          <a:xfrm>
            <a:off x="457200" y="2377440"/>
            <a:ext cx="8229600" cy="201168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정관 개정: 주주총회 특별결의(출석 주주 의결권의 2/3 이상 및 발행주식총수의 1/3 이상)를 통해 '임원퇴직금 지급규정'을 신설 또는 개정합니다.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지급 배수 설정: 2020년 1월 1일 이후 근무분에 대해서는 퇴직 전 3년간 연평균 환산급여액(총급여액 × 10%)의 '2배수' 이내로 설정 시, 전액 손금으로 인정받아 법인세 절감 효과를 극대화할 수 있습니다. (※ 2019년 12월 31일까지 근무분에 대해서는 3배수 적용 가능)</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재원 마련: 매년 발생하는 퇴직금 추계액을 법인 명의의 경영인정기보험 등을 활용하여 안정적으로 적립합니다. 단, 보험 상품의 보장성/저축성 구분, 수익자 설정, 해지환급금 처리 등에 따라 손금/익금/상여처분 이슈가 다르므로, 보험상품별 회계·세무처리 매트릭스를 사전에 검토해야 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현금흐름 검증: 연 6천만 원(월 500만 원) 재원 적립이 회사의 영업현금흐름, 기존 금융 약정(대출, 리스 등), DSCR에 미치는 영향을 재무 KPI 및 가용현금 체크리스트로 사전 점검합니다.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IV. 전략 3 — 임원 퇴직금 주의사항 및 체크리스트</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16 / 40</a:t>
            </a:r>
            <a:endParaRPr lang="en-US" sz="800" dirty="0"/>
          </a:p>
        </p:txBody>
      </p:sp>
      <p:sp>
        <p:nvSpPr>
          <p:cNvPr id="7" name="Text 5"/>
          <p:cNvSpPr/>
          <p:nvPr/>
        </p:nvSpPr>
        <p:spPr>
          <a:xfrm>
            <a:off x="457200" y="640080"/>
            <a:ext cx="8229600" cy="320040"/>
          </a:xfrm>
          <a:prstGeom prst="rect">
            <a:avLst/>
          </a:prstGeom>
          <a:noFill/>
          <a:ln/>
        </p:spPr>
        <p:txBody>
          <a:bodyPr wrap="square" rtlCol="0" anchor="ctr"/>
          <a:lstStyle/>
          <a:p>
            <a:pPr indent="0" marL="0">
              <a:buNone/>
            </a:pPr>
            <a:r>
              <a:rPr lang="en-US" sz="1300" b="1" dirty="0">
                <a:solidFill>
                  <a:srgbClr val="D4382C"/>
                </a:solidFill>
                <a:latin typeface="맑은 고딕" pitchFamily="34" charset="0"/>
                <a:ea typeface="맑은 고딕" pitchFamily="34" charset="-122"/>
                <a:cs typeface="맑은 고딕" pitchFamily="34" charset="-120"/>
              </a:rPr>
              <a:t>⚠️ 주의사항</a:t>
            </a:r>
            <a:endParaRPr lang="en-US" sz="1300" dirty="0"/>
          </a:p>
        </p:txBody>
      </p:sp>
      <p:sp>
        <p:nvSpPr>
          <p:cNvPr id="8" name="Text 6"/>
          <p:cNvSpPr/>
          <p:nvPr/>
        </p:nvSpPr>
        <p:spPr>
          <a:xfrm>
            <a:off x="457200" y="1005840"/>
            <a:ext cx="8229600" cy="173736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절차적 정당성 확보: 반드시 상법상 절차(주주총회 특별결의, 의사록 작성 및 보관)를 준수해야 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손금부인 리스크: 정관 또는 규정 미비 시, 또는 특정 임원에게만 정당한 사유 없이 차별적으로 높은 지급 배수를 적용할 경우, 세무 당국으로부터 손금부인 및 상여처분될 리스크가 있습니다. 동종업계 유사 직위 임원의 보수 수준, CEO의 회사 기여도 등을 객관적으로 입증할 자료를 준비하고, 모든 의사결정을 문서화해야 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소급 적용: 규정 신설 이전에 근무한 기간에 대해서도 소급하여 퇴직금을 산정할 수 있으므로, 세무사 등 전문가와 상의하여 최적의 배수 및 소급 적용 기간을 설계해야 합니다.</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2배수 한도: 2020년 1월 1일 이후 근무분은 2배수가 손금인정 한도이므로, 이를 초과하는 부분은 비용 인정이 거부될 수 있습니다.</a:t>
            </a:r>
            <a:endParaRPr lang="en-US" sz="1100" dirty="0"/>
          </a:p>
        </p:txBody>
      </p:sp>
      <p:sp>
        <p:nvSpPr>
          <p:cNvPr id="9" name="Text 7"/>
          <p:cNvSpPr/>
          <p:nvPr/>
        </p:nvSpPr>
        <p:spPr>
          <a:xfrm>
            <a:off x="457200" y="2880360"/>
            <a:ext cx="8229600" cy="32004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 실행 체크리스트</a:t>
            </a:r>
            <a:endParaRPr lang="en-US" sz="1300" dirty="0"/>
          </a:p>
        </p:txBody>
      </p:sp>
      <p:sp>
        <p:nvSpPr>
          <p:cNvPr id="10" name="Text 8"/>
          <p:cNvSpPr/>
          <p:nvPr/>
        </p:nvSpPr>
        <p:spPr>
          <a:xfrm>
            <a:off x="457200" y="3246120"/>
            <a:ext cx="8229600" cy="146304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현행 정관 임원 보수/퇴직금 조항 검토</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임원퇴직금 지급규정 초안 작성 (배수, 산정 기준, 지급 시기 등)</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법무사/세무사 검토 및 자문</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주주총회 특별결의 소집 공고 및 의사록 양식 준비</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퇴직금 추계액 산정 시트 작성 (근속연수, 최근 3년 평균 총급여, 배수 적용)</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법인 명의 보험 상품 비교 및 세무처리 방식 확인</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현금흐름 시뮬레이션 (DSCR, 가용현금 체크)</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48640"/>
            <a:ext cx="8229600" cy="365760"/>
          </a:xfrm>
          <a:prstGeom prst="rect">
            <a:avLst/>
          </a:prstGeom>
          <a:noFill/>
          <a:ln/>
        </p:spPr>
        <p:txBody>
          <a:bodyPr wrap="square" rtlCol="0" anchor="ctr"/>
          <a:lstStyle/>
          <a:p>
            <a:pPr indent="0" marL="0">
              <a:buNone/>
            </a:pPr>
            <a:r>
              <a:rPr lang="en-US" sz="1600" b="1" dirty="0">
                <a:solidFill>
                  <a:srgbClr val="1B2A4A"/>
                </a:solidFill>
                <a:latin typeface="맑은 고딕" pitchFamily="34" charset="0"/>
                <a:ea typeface="맑은 고딕" pitchFamily="34" charset="-122"/>
                <a:cs typeface="맑은 고딕" pitchFamily="34" charset="-120"/>
              </a:rPr>
              <a:t>3. [전문가 의견]</a:t>
            </a:r>
            <a:endParaRPr lang="en-US" sz="1600" dirty="0"/>
          </a:p>
        </p:txBody>
      </p:sp>
      <p:sp>
        <p:nvSpPr>
          <p:cNvPr id="5" name="Shape 3"/>
          <p:cNvSpPr/>
          <p:nvPr/>
        </p:nvSpPr>
        <p:spPr>
          <a:xfrm>
            <a:off x="457200" y="1005840"/>
            <a:ext cx="54864" cy="3474720"/>
          </a:xfrm>
          <a:prstGeom prst="rect">
            <a:avLst/>
          </a:prstGeom>
          <a:solidFill>
            <a:srgbClr val="3B5BDB"/>
          </a:solidFill>
          <a:ln w="12700">
            <a:solidFill>
              <a:srgbClr val="3B5BDB"/>
            </a:solidFill>
            <a:prstDash val="solid"/>
          </a:ln>
        </p:spPr>
      </p:sp>
      <p:sp>
        <p:nvSpPr>
          <p:cNvPr id="6" name="Text 4"/>
          <p:cNvSpPr/>
          <p:nvPr/>
        </p:nvSpPr>
        <p:spPr>
          <a:xfrm>
            <a:off x="640080" y="1051560"/>
            <a:ext cx="8046720" cy="3291840"/>
          </a:xfrm>
          <a:prstGeom prst="rect">
            <a:avLst/>
          </a:prstGeom>
          <a:noFill/>
          <a:ln/>
        </p:spPr>
        <p:txBody>
          <a:bodyPr wrap="square" rtlCol="0" anchor="t"/>
          <a:lstStyle/>
          <a:p>
            <a:pPr indent="0" marL="0">
              <a:buNone/>
            </a:pPr>
            <a:r>
              <a:rPr lang="en-US" sz="1200" dirty="0">
                <a:solidFill>
                  <a:srgbClr val="2B2B2B"/>
                </a:solidFill>
                <a:latin typeface="맑은 고딕" pitchFamily="34" charset="0"/>
                <a:ea typeface="맑은 고딕" pitchFamily="34" charset="-122"/>
                <a:cs typeface="맑은 고딕" pitchFamily="34" charset="-120"/>
              </a:rPr>
              <a:t>💬 CEO의 건강보험료 절감은 단순한 비용 절약의 문제가 아닙니다. 이는 기업의 이익을 CEO 개인의 자산으로 가장 효율적이고 합법적으로 이전하는 '자산화 전략'의 시작점입니다. 특히, '임원 퇴직금' 플랜은 건보료 절감, 법인세 절감, CEO 노후자금 마련이라는 1석 3조의 효과를 가진 가장 강력한 솔루션입니다.</a:t>
            </a:r>
            <a:endParaRPr lang="en-US" sz="1200" dirty="0"/>
          </a:p>
          <a:p>
            <a:pPr indent="0" marL="0">
              <a:buNone/>
            </a:pPr>
            <a:endParaRPr lang="en-US" sz="1200" dirty="0"/>
          </a:p>
          <a:p>
            <a:pPr indent="0" marL="0">
              <a:buNone/>
            </a:pPr>
            <a:r>
              <a:rPr lang="en-US" sz="1200" dirty="0">
                <a:solidFill>
                  <a:srgbClr val="2B2B2B"/>
                </a:solidFill>
                <a:latin typeface="맑은 고딕" pitchFamily="34" charset="0"/>
                <a:ea typeface="맑은 고딕" pitchFamily="34" charset="-122"/>
                <a:cs typeface="맑은 고딕" pitchFamily="34" charset="-120"/>
              </a:rPr>
              <a:t>다만, 이러한 전략은 정관 정비, 주주총회 결의, 배당가능이익 확인, 전사 인사규정 정비, 증빙 관리, 보험상품 세무검토 등 여러 법적·실무적 절차가 선행되어야 하므로, "다음 달부터 즉시"가 아닌 "분기 및 사업연도 단위의 체계적인 로드맵"으로 접근해야 합니다.</a:t>
            </a:r>
            <a:endParaRPr lang="en-US" sz="1200" dirty="0"/>
          </a:p>
          <a:p>
            <a:pPr indent="0" marL="0">
              <a:buNone/>
            </a:pPr>
            <a:endParaRPr lang="en-US" sz="1200" dirty="0"/>
          </a:p>
          <a:p>
            <a:pPr indent="0" marL="0">
              <a:buNone/>
            </a:pPr>
            <a:r>
              <a:rPr lang="en-US" sz="1200" dirty="0">
                <a:solidFill>
                  <a:srgbClr val="2B2B2B"/>
                </a:solidFill>
                <a:latin typeface="맑은 고딕" pitchFamily="34" charset="0"/>
                <a:ea typeface="맑은 고딕" pitchFamily="34" charset="-122"/>
                <a:cs typeface="맑은 고딕" pitchFamily="34" charset="-120"/>
              </a:rPr>
              <a:t>지금 당장 실행 가능한 비과세 소득 활용(단, 전사 정책 정비 필요)부터 시작하여, 중기적으로는 배당 전환(정관·절차 정비 후), 그리고 임원 퇴직금 제도 구축이라는 단계적 전략을 제안합니다.</a:t>
            </a:r>
            <a:endParaRPr lang="en-US" sz="1200" dirty="0"/>
          </a:p>
        </p:txBody>
      </p:sp>
      <p:sp>
        <p:nvSpPr>
          <p:cNvPr id="7" name="Text 5"/>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17 / 40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 기대효과 및 재무적 영향 분석 — 정성적 효과 및 가정</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18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1. 정성적 기대효과</a:t>
            </a:r>
            <a:endParaRPr lang="en-US" sz="1400" dirty="0"/>
          </a:p>
        </p:txBody>
      </p:sp>
      <p:sp>
        <p:nvSpPr>
          <p:cNvPr id="8" name="Text 6"/>
          <p:cNvSpPr/>
          <p:nvPr/>
        </p:nvSpPr>
        <p:spPr>
          <a:xfrm>
            <a:off x="457200" y="1051560"/>
            <a:ext cx="8229600" cy="822960"/>
          </a:xfrm>
          <a:prstGeom prst="rect">
            <a:avLst/>
          </a:prstGeom>
          <a:noFill/>
          <a:ln/>
        </p:spPr>
        <p:txBody>
          <a:bodyPr wrap="square" rtlCol="0" anchor="t"/>
          <a:lstStyle/>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기업 측면: CEO 만족도 제고, 예측 가능한 비용 관리, 안정적인 CEO 퇴직금 재원 마련을 통한 재무 건전성 강화.</a:t>
            </a:r>
            <a:endParaRPr lang="en-US" sz="1200" dirty="0"/>
          </a:p>
          <a:p>
            <a:pPr marL="342900" indent="-342900">
              <a:buSzPct val="100000"/>
              <a:buChar char="•"/>
            </a:pPr>
            <a:r>
              <a:rPr lang="en-US" sz="1200" dirty="0">
                <a:solidFill>
                  <a:srgbClr val="2B2B2B"/>
                </a:solidFill>
                <a:latin typeface="맑은 고딕" pitchFamily="34" charset="0"/>
                <a:ea typeface="맑은 고딕" pitchFamily="34" charset="-122"/>
                <a:cs typeface="맑은 고딕" pitchFamily="34" charset="-120"/>
              </a:rPr>
              <a:t>CEO 측면: 실질 가처분 소득 증대, 과도한 건보료 부담에 대한 심리적 스트레스 해소, 안정적인 노후자산 확보.</a:t>
            </a:r>
            <a:endParaRPr lang="en-US" sz="1200" dirty="0"/>
          </a:p>
        </p:txBody>
      </p:sp>
      <p:sp>
        <p:nvSpPr>
          <p:cNvPr id="9" name="Text 7"/>
          <p:cNvSpPr/>
          <p:nvPr/>
        </p:nvSpPr>
        <p:spPr>
          <a:xfrm>
            <a:off x="457200" y="20116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2. 정량적 기대효과 (시뮬레이션) — 📝 기본 가정</a:t>
            </a:r>
            <a:endParaRPr lang="en-US" sz="1400" dirty="0"/>
          </a:p>
        </p:txBody>
      </p:sp>
      <p:sp>
        <p:nvSpPr>
          <p:cNvPr id="10" name="Text 8"/>
          <p:cNvSpPr/>
          <p:nvPr/>
        </p:nvSpPr>
        <p:spPr>
          <a:xfrm>
            <a:off x="457200" y="2423160"/>
            <a:ext cx="3931920" cy="320040"/>
          </a:xfrm>
          <a:prstGeom prst="rect">
            <a:avLst/>
          </a:prstGeom>
          <a:noFill/>
          <a:ln/>
        </p:spPr>
        <p:txBody>
          <a:bodyPr wrap="square" rtlCol="0" anchor="ctr"/>
          <a:lstStyle/>
          <a:p>
            <a:pPr indent="0" marL="0">
              <a:buNone/>
            </a:pPr>
            <a:r>
              <a:rPr lang="en-US" sz="1200" b="1" dirty="0">
                <a:solidFill>
                  <a:srgbClr val="1B2A4A"/>
                </a:solidFill>
                <a:latin typeface="맑은 고딕" pitchFamily="34" charset="0"/>
                <a:ea typeface="맑은 고딕" pitchFamily="34" charset="-122"/>
                <a:cs typeface="맑은 고딕" pitchFamily="34" charset="-120"/>
              </a:rPr>
              <a:t>💰 소득 구조 변경</a:t>
            </a:r>
            <a:endParaRPr lang="en-US" sz="1200" dirty="0"/>
          </a:p>
        </p:txBody>
      </p:sp>
      <p:sp>
        <p:nvSpPr>
          <p:cNvPr id="11" name="Text 9"/>
          <p:cNvSpPr/>
          <p:nvPr/>
        </p:nvSpPr>
        <p:spPr>
          <a:xfrm>
            <a:off x="4572000" y="2423160"/>
            <a:ext cx="4114800" cy="320040"/>
          </a:xfrm>
          <a:prstGeom prst="rect">
            <a:avLst/>
          </a:prstGeom>
          <a:noFill/>
          <a:ln/>
        </p:spPr>
        <p:txBody>
          <a:bodyPr wrap="square" rtlCol="0" anchor="ctr"/>
          <a:lstStyle/>
          <a:p>
            <a:pPr indent="0" marL="0">
              <a:buNone/>
            </a:pPr>
            <a:r>
              <a:rPr lang="en-US" sz="1200" b="1" dirty="0">
                <a:solidFill>
                  <a:srgbClr val="1B2A4A"/>
                </a:solidFill>
                <a:latin typeface="맑은 고딕" pitchFamily="34" charset="0"/>
                <a:ea typeface="맑은 고딕" pitchFamily="34" charset="-122"/>
                <a:cs typeface="맑은 고딕" pitchFamily="34" charset="-120"/>
              </a:rPr>
              <a:t>📊 적용 요율 (2025년 기준)</a:t>
            </a:r>
            <a:endParaRPr lang="en-US" sz="1200" dirty="0"/>
          </a:p>
        </p:txBody>
      </p:sp>
      <p:sp>
        <p:nvSpPr>
          <p:cNvPr id="12" name="Text 10"/>
          <p:cNvSpPr/>
          <p:nvPr/>
        </p:nvSpPr>
        <p:spPr>
          <a:xfrm>
            <a:off x="457200" y="2788920"/>
            <a:ext cx="3931920" cy="128016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CEO 연봉: 2.4억 → 1.8억으로 조정</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비정기 상여 1억 → 배당 1억으로 전환</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비과세 소득 신설: 연 480만 원</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임원 퇴직금 재원 적립: 연 6천만 원 법인 비용 처리</a:t>
            </a:r>
            <a:endParaRPr lang="en-US" sz="1100" dirty="0"/>
          </a:p>
        </p:txBody>
      </p:sp>
      <p:sp>
        <p:nvSpPr>
          <p:cNvPr id="13" name="Text 11"/>
          <p:cNvSpPr/>
          <p:nvPr/>
        </p:nvSpPr>
        <p:spPr>
          <a:xfrm>
            <a:off x="4572000" y="2788920"/>
            <a:ext cx="4114800" cy="155448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건강보험료율: 7.09% (본인 3.545%)</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장기요양보험료율: 12.95% (건보료의 12.95%)</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월 보수월액 상한액: 1억 1,500만 원 (본인부담 월 건보료 상한 4,504,170원)</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소득월액보험료 부과 기준: 보수 외 소득 연 2,000만 원 초과분</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법인세율 (과표 2억~200억): 20.9%</a:t>
            </a:r>
            <a:endParaRPr lang="en-US" sz="1100" dirty="0"/>
          </a:p>
          <a:p>
            <a:pPr indent="0" marL="0">
              <a:buNone/>
            </a:pPr>
            <a:r>
              <a:rPr lang="en-US" sz="1000" i="1" dirty="0">
                <a:solidFill>
                  <a:srgbClr val="4A5568"/>
                </a:solidFill>
                <a:latin typeface="맑은 고딕" pitchFamily="34" charset="0"/>
                <a:ea typeface="맑은 고딕" pitchFamily="34" charset="-122"/>
                <a:cs typeface="맑은 고딕" pitchFamily="34" charset="-120"/>
              </a:rPr>
              <a:t>※ 소득월액보험료(배당 1억 기준): 연간 약 641만 원 (월 약 53.4만 원) - 전액 본인 부담</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 기대효과 — 📉 현황 (As-Is): 현재 건보료 부담</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19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D4382C"/>
                </a:solidFill>
                <a:latin typeface="맑은 고딕" pitchFamily="34" charset="0"/>
                <a:ea typeface="맑은 고딕" pitchFamily="34" charset="-122"/>
                <a:cs typeface="맑은 고딕" pitchFamily="34" charset="-120"/>
              </a:rPr>
              <a:t>📉 현황 (As-Is): 현재 건보료 부담 — 월 상한액 기준 (장기요양 포함)</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45920"/>
                <a:gridCol w="3200400"/>
                <a:gridCol w="1828800"/>
                <a:gridCol w="1554480"/>
              </a:tblGrid>
              <a:tr h="502920">
                <a:tc>
                  <a:txBody>
                    <a:bodyPr/>
                    <a:lstStyle/>
                    <a:p>
                      <a:pPr algn="ctr" indent="0" marL="0">
                        <a:buNone/>
                      </a:pPr>
                      <a:r>
                        <a:rPr lang="en-US" sz="1200" b="1" dirty="0">
                          <a:solidFill>
                            <a:srgbClr val="FFFFFF"/>
                          </a:solidFill>
                        </a:rPr>
                        <a:t>구분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상세 내용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월 본인부담액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연간 본인부담액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502920">
                <a:tc>
                  <a:txBody>
                    <a:bodyPr/>
                    <a:lstStyle/>
                    <a:p>
                      <a:pPr indent="0" marL="0">
                        <a:buNone/>
                      </a:pPr>
                      <a:r>
                        <a:rPr lang="en-US" sz="1200" b="1" dirty="0">
                          <a:solidFill>
                            <a:srgbClr val="D4382C"/>
                          </a:solidFill>
                        </a:rPr>
                        <a:t>총 보험료</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indent="0" marL="0">
                        <a:buNone/>
                      </a:pPr>
                      <a:r>
                        <a:rPr lang="en-US" sz="1200" dirty="0">
                          <a:solidFill>
                            <a:srgbClr val="2B2B2B"/>
                          </a:solidFill>
                        </a:rPr>
                        <a:t>건강보험료 + 장기요양보험료</a:t>
                      </a:r>
                      <a:endParaRPr lang="en-US" sz="1200" dirty="0"/>
                    </a:p>
                    <a:p>
                      <a:pPr indent="0" marL="0">
                        <a:buNone/>
                      </a:pPr>
                      <a:r>
                        <a:rPr lang="en-US" sz="1200" dirty="0">
                          <a:solidFill>
                            <a:srgbClr val="2B2B2B"/>
                          </a:solidFill>
                        </a:rPr>
                        <a:t>(4,504,170원 + 583,290원)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r" indent="0" marL="0">
                        <a:buNone/>
                      </a:pPr>
                      <a:r>
                        <a:rPr lang="en-US" sz="1200" b="1" dirty="0">
                          <a:solidFill>
                            <a:srgbClr val="D4382C"/>
                          </a:solidFill>
                        </a:rPr>
                        <a:t>5,087,460원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r" indent="0" marL="0">
                        <a:buNone/>
                      </a:pPr>
                      <a:r>
                        <a:rPr lang="en-US" sz="1200" b="1" dirty="0">
                          <a:solidFill>
                            <a:srgbClr val="D4382C"/>
                          </a:solidFill>
                        </a:rPr>
                        <a:t>약 6,105만 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r>
            </a:tbl>
          </a:graphicData>
        </a:graphic>
      </p:graphicFrame>
      <p:sp>
        <p:nvSpPr>
          <p:cNvPr id="9" name="Text 6"/>
          <p:cNvSpPr/>
          <p:nvPr/>
        </p:nvSpPr>
        <p:spPr>
          <a:xfrm>
            <a:off x="457200" y="2377440"/>
            <a:ext cx="8229600" cy="365760"/>
          </a:xfrm>
          <a:prstGeom prst="rect">
            <a:avLst/>
          </a:prstGeom>
          <a:noFill/>
          <a:ln/>
        </p:spPr>
        <p:txBody>
          <a:bodyPr wrap="square" rtlCol="0" anchor="ctr"/>
          <a:lstStyle/>
          <a:p>
            <a:pPr indent="0" marL="0">
              <a:buNone/>
            </a:pPr>
            <a:r>
              <a:rPr lang="en-US" sz="1400" b="1" dirty="0">
                <a:solidFill>
                  <a:srgbClr val="1A6B4A"/>
                </a:solidFill>
                <a:latin typeface="맑은 고딕" pitchFamily="34" charset="0"/>
                <a:ea typeface="맑은 고딕" pitchFamily="34" charset="-122"/>
                <a:cs typeface="맑은 고딕" pitchFamily="34" charset="-120"/>
              </a:rPr>
              <a:t>📈 솔루션 실행 후 (To-Be): 예상 건보료 부담 — 소득 구조 변경 후 (장기요양 포함)</a:t>
            </a:r>
            <a:endParaRPr lang="en-US" sz="14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2834640"/>
          <a:ext cx="8229600" cy="914400"/>
        </p:xfrm>
        <a:graphic>
          <a:graphicData uri="http://schemas.openxmlformats.org/drawingml/2006/table">
            <a:tbl>
              <a:tblPr/>
              <a:tblGrid>
                <a:gridCol w="2011680"/>
                <a:gridCol w="3017520"/>
                <a:gridCol w="1645920"/>
                <a:gridCol w="1554480"/>
              </a:tblGrid>
              <a:tr h="502920">
                <a:tc>
                  <a:txBody>
                    <a:bodyPr/>
                    <a:lstStyle/>
                    <a:p>
                      <a:pPr algn="ctr" indent="0" marL="0">
                        <a:buNone/>
                      </a:pPr>
                      <a:r>
                        <a:rPr lang="en-US" sz="1200" b="1" dirty="0">
                          <a:solidFill>
                            <a:srgbClr val="FFFFFF"/>
                          </a:solidFill>
                        </a:rPr>
                        <a:t>구분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상세 내역</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월 본인부담액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연간 본인부담액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502920">
                <a:tc>
                  <a:txBody>
                    <a:bodyPr/>
                    <a:lstStyle/>
                    <a:p>
                      <a:pPr indent="0" marL="0">
                        <a:buNone/>
                      </a:pPr>
                      <a:r>
                        <a:rPr lang="en-US" sz="1200" b="1" dirty="0">
                          <a:solidFill>
                            <a:srgbClr val="1B2A4A"/>
                          </a:solidFill>
                        </a:rPr>
                        <a:t>[A] 근로소득분 (보수월액)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rPr>
                        <a:t>월 급여 1,500만 원 기준</a:t>
                      </a:r>
                      <a:endParaRPr lang="en-US" sz="1000" dirty="0"/>
                    </a:p>
                    <a:p>
                      <a:pPr indent="0" marL="0">
                        <a:buNone/>
                      </a:pPr>
                      <a:r>
                        <a:rPr lang="en-US" sz="1000" dirty="0">
                          <a:solidFill>
                            <a:srgbClr val="2B2B2B"/>
                          </a:solidFill>
                        </a:rPr>
                        <a:t>건보료(50%): 531,750원</a:t>
                      </a:r>
                      <a:endParaRPr lang="en-US" sz="1000" dirty="0"/>
                    </a:p>
                    <a:p>
                      <a:pPr indent="0" marL="0">
                        <a:buNone/>
                      </a:pPr>
                      <a:r>
                        <a:rPr lang="en-US" sz="1000" dirty="0">
                          <a:solidFill>
                            <a:srgbClr val="2B2B2B"/>
                          </a:solidFill>
                        </a:rPr>
                        <a:t>장기요양(50%): 68,862원</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6B4A"/>
                          </a:solidFill>
                        </a:rPr>
                        <a:t>600,612원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6B4A"/>
                          </a:solidFill>
                        </a:rPr>
                        <a:t>연간 합계: 약 1,361만 원</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B2A4A"/>
                          </a:solidFill>
                        </a:rPr>
                        <a:t>[B] 배당소득분 (소득월액)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000" dirty="0">
                          <a:solidFill>
                            <a:srgbClr val="2B2B2B"/>
                          </a:solidFill>
                        </a:rPr>
                        <a:t>연 배당 1억 중 8천만 원 기준</a:t>
                      </a:r>
                      <a:endParaRPr lang="en-US" sz="1000" dirty="0"/>
                    </a:p>
                    <a:p>
                      <a:pPr indent="0" marL="0">
                        <a:buNone/>
                      </a:pPr>
                      <a:r>
                        <a:rPr lang="en-US" sz="1000" dirty="0">
                          <a:solidFill>
                            <a:srgbClr val="2B2B2B"/>
                          </a:solidFill>
                        </a:rPr>
                        <a:t>건보료(100%): 472,667원</a:t>
                      </a:r>
                      <a:endParaRPr lang="en-US" sz="1000" dirty="0"/>
                    </a:p>
                    <a:p>
                      <a:pPr indent="0" marL="0">
                        <a:buNone/>
                      </a:pPr>
                      <a:r>
                        <a:rPr lang="en-US" sz="1000" dirty="0">
                          <a:solidFill>
                            <a:srgbClr val="2B2B2B"/>
                          </a:solidFill>
                        </a:rPr>
                        <a:t>장기요양(100%): 61,211원</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1A6B4A"/>
                          </a:solidFill>
                        </a:rPr>
                        <a:t>533,878원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ctr" indent="0" marL="0">
                        <a:buNone/>
                      </a:pPr>
                      <a:r>
                        <a:rPr lang="en-US" sz="1200" dirty="0">
                          <a:solidFill>
                            <a:srgbClr val="4A5568"/>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502920">
                <a:tc>
                  <a:txBody>
                    <a:bodyPr/>
                    <a:lstStyle/>
                    <a:p>
                      <a:pPr indent="0" marL="0">
                        <a:buNone/>
                      </a:pPr>
                      <a:r>
                        <a:rPr lang="en-US" sz="1200" b="1" dirty="0">
                          <a:solidFill>
                            <a:srgbClr val="FFFFFF"/>
                          </a:solidFill>
                        </a:rPr>
                        <a:t>월 납부 총액 (A+B)</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4A"/>
                    </a:solidFill>
                  </a:tcPr>
                </a:tc>
                <a:tc>
                  <a:txBody>
                    <a:bodyPr/>
                    <a:lstStyle/>
                    <a:p>
                      <a:pPr algn="ctr" indent="0" marL="0">
                        <a:buNone/>
                      </a:pPr>
                      <a:r>
                        <a:rPr lang="en-US" sz="1200" b="1" dirty="0">
                          <a:solidFill>
                            <a:srgbClr val="FFFFFF"/>
                          </a:solidFill>
                        </a:rPr>
                        <a:t>= 1,134,490원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4A"/>
                    </a:solidFill>
                  </a:tcPr>
                </a:tc>
                <a:tc>
                  <a:txBody>
                    <a:bodyPr/>
                    <a:lstStyle/>
                    <a:p>
                      <a:pPr algn="r" indent="0" marL="0">
                        <a:buNone/>
                      </a:pPr>
                      <a:r>
                        <a:rPr lang="en-US" sz="1200" b="1" dirty="0">
                          <a:solidFill>
                            <a:srgbClr val="FFFFFF"/>
                          </a:solidFill>
                        </a:rPr>
                        <a:t>1,134,490원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4A"/>
                    </a:solidFill>
                  </a:tcPr>
                </a:tc>
                <a:tc>
                  <a:txBody>
                    <a:bodyPr/>
                    <a:lstStyle/>
                    <a:p>
                      <a:pPr algn="ctr" indent="0" marL="0">
                        <a:buNone/>
                      </a:pPr>
                      <a:r>
                        <a:rPr lang="en-US" sz="1200" dirty="0">
                          <a:solidFill>
                            <a:srgbClr val="FFFFFF"/>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4A"/>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 기대효과 — 💰 최종 재무개선 효과 종합 (연간 기준)</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20 / 40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640080"/>
          <a:ext cx="8229600" cy="914400"/>
        </p:xfrm>
        <a:graphic>
          <a:graphicData uri="http://schemas.openxmlformats.org/drawingml/2006/table">
            <a:tbl>
              <a:tblPr/>
              <a:tblGrid>
                <a:gridCol w="2286000"/>
                <a:gridCol w="1828800"/>
                <a:gridCol w="1828800"/>
                <a:gridCol w="2286000"/>
              </a:tblGrid>
              <a:tr h="457200">
                <a:tc>
                  <a:txBody>
                    <a:bodyPr/>
                    <a:lstStyle/>
                    <a:p>
                      <a:pPr algn="ctr" indent="0" marL="0">
                        <a:buNone/>
                      </a:pPr>
                      <a:r>
                        <a:rPr lang="en-US" sz="1200" b="1" dirty="0">
                          <a:solidFill>
                            <a:srgbClr val="FFFFFF"/>
                          </a:solidFill>
                        </a:rPr>
                        <a:t>항목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Before</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382C"/>
                    </a:solidFill>
                  </a:tcPr>
                </a:tc>
                <a:tc>
                  <a:txBody>
                    <a:bodyPr/>
                    <a:lstStyle/>
                    <a:p>
                      <a:pPr algn="ctr" indent="0" marL="0">
                        <a:buNone/>
                      </a:pPr>
                      <a:r>
                        <a:rPr lang="en-US" sz="1200" b="1" dirty="0">
                          <a:solidFill>
                            <a:srgbClr val="FFFFFF"/>
                          </a:solidFill>
                        </a:rPr>
                        <a:t>After</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4A"/>
                    </a:solidFill>
                  </a:tcPr>
                </a:tc>
                <a:tc>
                  <a:txBody>
                    <a:bodyPr/>
                    <a:lstStyle/>
                    <a:p>
                      <a:pPr algn="ctr" indent="0" marL="0">
                        <a:buNone/>
                      </a:pPr>
                      <a:r>
                        <a:rPr lang="en-US" sz="1200" b="1" dirty="0">
                          <a:solidFill>
                            <a:srgbClr val="FFFFFF"/>
                          </a:solidFill>
                        </a:rPr>
                        <a:t>연간 개선 효과</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457200">
                <a:tc>
                  <a:txBody>
                    <a:bodyPr/>
                    <a:lstStyle/>
                    <a:p>
                      <a:pPr indent="0" marL="0">
                        <a:buNone/>
                      </a:pPr>
                      <a:r>
                        <a:rPr lang="en-US" sz="1200" dirty="0">
                          <a:solidFill>
                            <a:srgbClr val="2B2B2B"/>
                          </a:solidFill>
                        </a:rPr>
                        <a:t>CEO 건보료+장기요양</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4382C"/>
                          </a:solidFill>
                        </a:rPr>
                        <a:t>약 6,105만 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ctr" indent="0" marL="0">
                        <a:buNone/>
                      </a:pPr>
                      <a:r>
                        <a:rPr lang="en-US" sz="1200" b="1" dirty="0">
                          <a:solidFill>
                            <a:srgbClr val="1A6B4A"/>
                          </a:solidFill>
                        </a:rPr>
                        <a:t>약 1,361만 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200" b="1" dirty="0">
                          <a:solidFill>
                            <a:srgbClr val="1A6B4A"/>
                          </a:solidFill>
                        </a:rPr>
                        <a:t>🔻 약 4,744만 원 절감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B2B2B"/>
                          </a:solidFill>
                        </a:rPr>
                        <a:t>법인세 (비용증가분)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ctr" indent="0" marL="0">
                        <a:buNone/>
                      </a:pPr>
                      <a:r>
                        <a:rPr lang="en-US" sz="1200" dirty="0">
                          <a:solidFill>
                            <a:srgbClr val="4A5568"/>
                          </a:solidFill>
                        </a:rPr>
                        <a:t>-</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ctr" indent="0" marL="0">
                        <a:buNone/>
                      </a:pPr>
                      <a:r>
                        <a:rPr lang="en-US" sz="1000" dirty="0">
                          <a:solidFill>
                            <a:srgbClr val="1A6B4A"/>
                          </a:solidFill>
                        </a:rPr>
                        <a:t>(퇴직금 적립 6천만 원)</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algn="ctr" indent="0" marL="0">
                        <a:buNone/>
                      </a:pPr>
                      <a:r>
                        <a:rPr lang="en-US" sz="1200" b="1" dirty="0">
                          <a:solidFill>
                            <a:srgbClr val="1A6B4A"/>
                          </a:solidFill>
                        </a:rPr>
                        <a:t>🔻 약 1,254만 원 절감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457200">
                <a:tc>
                  <a:txBody>
                    <a:bodyPr/>
                    <a:lstStyle/>
                    <a:p>
                      <a:pPr indent="0" marL="0">
                        <a:buNone/>
                      </a:pPr>
                      <a:r>
                        <a:rPr lang="en-US" sz="1200" b="1" dirty="0">
                          <a:solidFill>
                            <a:srgbClr val="FFFFFF"/>
                          </a:solidFill>
                        </a:rPr>
                        <a:t>총 재무개선 효과</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400" b="1" dirty="0">
                          <a:solidFill>
                            <a:srgbClr val="C8962E"/>
                          </a:solidFill>
                        </a:rPr>
                        <a:t>✅ 연간 약 5,998만 원</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bl>
          </a:graphicData>
        </a:graphic>
      </p:graphicFrame>
      <p:sp>
        <p:nvSpPr>
          <p:cNvPr id="8" name="Text 5"/>
          <p:cNvSpPr/>
          <p:nvPr/>
        </p:nvSpPr>
        <p:spPr>
          <a:xfrm>
            <a:off x="457200" y="2926080"/>
            <a:ext cx="8229600" cy="365760"/>
          </a:xfrm>
          <a:prstGeom prst="rect">
            <a:avLst/>
          </a:prstGeom>
          <a:noFill/>
          <a:ln/>
        </p:spPr>
        <p:txBody>
          <a:bodyPr wrap="square" rtlCol="0" anchor="ctr"/>
          <a:lstStyle/>
          <a:p>
            <a:pPr indent="0" marL="0">
              <a:buNone/>
            </a:pPr>
            <a:r>
              <a:rPr lang="en-US" sz="900" i="1" dirty="0">
                <a:solidFill>
                  <a:srgbClr val="4A5568"/>
                </a:solidFill>
                <a:latin typeface="맑은 고딕" pitchFamily="34" charset="0"/>
                <a:ea typeface="맑은 고딕" pitchFamily="34" charset="-122"/>
                <a:cs typeface="맑은 고딕" pitchFamily="34" charset="-120"/>
              </a:rPr>
              <a:t>※ 위 시뮬레이션은 2025년 기준 세율 및 보험료율을 가정한 것이며, 실제 결과는 개별 상황에 따라 달라질 수 있으므로 반드시 전문가와 정밀 시뮬레이션을 진행해야 합니다.</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21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 기대효과 — 3. 솔루션 실행 전후 요약</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21 / 40</a:t>
            </a:r>
            <a:endParaRPr lang="en-US" sz="800" dirty="0"/>
          </a:p>
        </p:txBody>
      </p:sp>
      <p:sp>
        <p:nvSpPr>
          <p:cNvPr id="7" name="Shape 5"/>
          <p:cNvSpPr/>
          <p:nvPr/>
        </p:nvSpPr>
        <p:spPr>
          <a:xfrm>
            <a:off x="365760" y="640080"/>
            <a:ext cx="3931920" cy="3474720"/>
          </a:xfrm>
          <a:prstGeom prst="rect">
            <a:avLst/>
          </a:prstGeom>
          <a:solidFill>
            <a:srgbClr val="FFF1F2"/>
          </a:solidFill>
          <a:ln w="12700">
            <a:solidFill>
              <a:srgbClr val="D4382C"/>
            </a:solidFill>
            <a:prstDash val="solid"/>
          </a:ln>
        </p:spPr>
      </p:sp>
      <p:sp>
        <p:nvSpPr>
          <p:cNvPr id="8" name="Shape 6"/>
          <p:cNvSpPr/>
          <p:nvPr/>
        </p:nvSpPr>
        <p:spPr>
          <a:xfrm>
            <a:off x="365760" y="640080"/>
            <a:ext cx="3931920" cy="457200"/>
          </a:xfrm>
          <a:prstGeom prst="rect">
            <a:avLst/>
          </a:prstGeom>
          <a:solidFill>
            <a:srgbClr val="D4382C"/>
          </a:solidFill>
          <a:ln w="12700">
            <a:solidFill>
              <a:srgbClr val="D4382C"/>
            </a:solidFill>
            <a:prstDash val="solid"/>
          </a:ln>
        </p:spPr>
      </p:sp>
      <p:sp>
        <p:nvSpPr>
          <p:cNvPr id="9" name="Text 7"/>
          <p:cNvSpPr/>
          <p:nvPr/>
        </p:nvSpPr>
        <p:spPr>
          <a:xfrm>
            <a:off x="457200" y="685800"/>
            <a:ext cx="37490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 Before (실행 전)</a:t>
            </a:r>
            <a:endParaRPr lang="en-US" sz="1400" dirty="0"/>
          </a:p>
        </p:txBody>
      </p:sp>
      <p:sp>
        <p:nvSpPr>
          <p:cNvPr id="10" name="Text 8"/>
          <p:cNvSpPr/>
          <p:nvPr/>
        </p:nvSpPr>
        <p:spPr>
          <a:xfrm>
            <a:off x="457200" y="1188720"/>
            <a:ext cx="3749040" cy="2743200"/>
          </a:xfrm>
          <a:prstGeom prst="rect">
            <a:avLst/>
          </a:prstGeom>
          <a:noFill/>
          <a:ln/>
        </p:spPr>
        <p:txBody>
          <a:bodyPr wrap="square" rtlCol="0" anchor="t"/>
          <a:lstStyle/>
          <a:p>
            <a:pPr marL="342900" indent="-342900">
              <a:buSzPct val="100000"/>
              <a:buChar char="•"/>
            </a:pPr>
            <a:r>
              <a:rPr lang="en-US" sz="1200" dirty="0">
                <a:solidFill>
                  <a:srgbClr val="D4382C"/>
                </a:solidFill>
                <a:latin typeface="맑은 고딕" pitchFamily="34" charset="0"/>
                <a:ea typeface="맑은 고딕" pitchFamily="34" charset="-122"/>
                <a:cs typeface="맑은 고딕" pitchFamily="34" charset="-120"/>
              </a:rPr>
              <a:t>소득 구조: 근로소득(급여/상여)에 100% 집중</a:t>
            </a:r>
            <a:endParaRPr lang="en-US" sz="1200" dirty="0"/>
          </a:p>
          <a:p>
            <a:pPr marL="342900" indent="-342900">
              <a:buSzPct val="100000"/>
              <a:buChar char="•"/>
            </a:pPr>
            <a:r>
              <a:rPr lang="en-US" sz="1200" dirty="0">
                <a:solidFill>
                  <a:srgbClr val="D4382C"/>
                </a:solidFill>
                <a:latin typeface="맑은 고딕" pitchFamily="34" charset="0"/>
                <a:ea typeface="맑은 고딕" pitchFamily="34" charset="-122"/>
                <a:cs typeface="맑은 고딕" pitchFamily="34" charset="-120"/>
              </a:rPr>
              <a:t>건강보험료: 연간 약 6,105만 원 납부 (상한액)</a:t>
            </a:r>
            <a:endParaRPr lang="en-US" sz="1200" dirty="0"/>
          </a:p>
          <a:p>
            <a:pPr marL="342900" indent="-342900">
              <a:buSzPct val="100000"/>
              <a:buChar char="•"/>
            </a:pPr>
            <a:r>
              <a:rPr lang="en-US" sz="1200" dirty="0">
                <a:solidFill>
                  <a:srgbClr val="D4382C"/>
                </a:solidFill>
                <a:latin typeface="맑은 고딕" pitchFamily="34" charset="0"/>
                <a:ea typeface="맑은 고딕" pitchFamily="34" charset="-122"/>
                <a:cs typeface="맑은 고딕" pitchFamily="34" charset="-120"/>
              </a:rPr>
              <a:t>법인세: 퇴직금 재원 적립 없어 절세 기회 상실</a:t>
            </a:r>
            <a:endParaRPr lang="en-US" sz="1200" dirty="0"/>
          </a:p>
          <a:p>
            <a:pPr marL="342900" indent="-342900">
              <a:buSzPct val="100000"/>
              <a:buChar char="•"/>
            </a:pPr>
            <a:r>
              <a:rPr lang="en-US" sz="1200" dirty="0">
                <a:solidFill>
                  <a:srgbClr val="D4382C"/>
                </a:solidFill>
                <a:latin typeface="맑은 고딕" pitchFamily="34" charset="0"/>
                <a:ea typeface="맑은 고딕" pitchFamily="34" charset="-122"/>
                <a:cs typeface="맑은 고딕" pitchFamily="34" charset="-120"/>
              </a:rPr>
              <a:t>CEO 은퇴: 공식적인 퇴직금 재원 0원</a:t>
            </a:r>
            <a:endParaRPr lang="en-US" sz="1200" dirty="0"/>
          </a:p>
          <a:p>
            <a:pPr marL="342900" indent="-342900">
              <a:buSzPct val="100000"/>
              <a:buChar char="•"/>
            </a:pPr>
            <a:r>
              <a:rPr lang="en-US" sz="1200" dirty="0">
                <a:solidFill>
                  <a:srgbClr val="D4382C"/>
                </a:solidFill>
                <a:latin typeface="맑은 고딕" pitchFamily="34" charset="0"/>
                <a:ea typeface="맑은 고딕" pitchFamily="34" charset="-122"/>
                <a:cs typeface="맑은 고딕" pitchFamily="34" charset="-120"/>
              </a:rPr>
              <a:t>결론: 높은 현금 유출, 미래 준비 부재</a:t>
            </a:r>
            <a:endParaRPr lang="en-US" sz="1200" dirty="0"/>
          </a:p>
        </p:txBody>
      </p:sp>
      <p:sp>
        <p:nvSpPr>
          <p:cNvPr id="11" name="Shape 9"/>
          <p:cNvSpPr/>
          <p:nvPr/>
        </p:nvSpPr>
        <p:spPr>
          <a:xfrm>
            <a:off x="4846320" y="640080"/>
            <a:ext cx="3931920" cy="3474720"/>
          </a:xfrm>
          <a:prstGeom prst="rect">
            <a:avLst/>
          </a:prstGeom>
          <a:solidFill>
            <a:srgbClr val="F0FDF4"/>
          </a:solidFill>
          <a:ln w="12700">
            <a:solidFill>
              <a:srgbClr val="1A6B4A"/>
            </a:solidFill>
            <a:prstDash val="solid"/>
          </a:ln>
        </p:spPr>
      </p:sp>
      <p:sp>
        <p:nvSpPr>
          <p:cNvPr id="12" name="Shape 10"/>
          <p:cNvSpPr/>
          <p:nvPr/>
        </p:nvSpPr>
        <p:spPr>
          <a:xfrm>
            <a:off x="4846320" y="640080"/>
            <a:ext cx="3931920" cy="457200"/>
          </a:xfrm>
          <a:prstGeom prst="rect">
            <a:avLst/>
          </a:prstGeom>
          <a:solidFill>
            <a:srgbClr val="1A6B4A"/>
          </a:solidFill>
          <a:ln w="12700">
            <a:solidFill>
              <a:srgbClr val="1A6B4A"/>
            </a:solidFill>
            <a:prstDash val="solid"/>
          </a:ln>
        </p:spPr>
      </p:sp>
      <p:sp>
        <p:nvSpPr>
          <p:cNvPr id="13" name="Text 11"/>
          <p:cNvSpPr/>
          <p:nvPr/>
        </p:nvSpPr>
        <p:spPr>
          <a:xfrm>
            <a:off x="4937760" y="685800"/>
            <a:ext cx="37490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 After (실행 후)</a:t>
            </a:r>
            <a:endParaRPr lang="en-US" sz="1400" dirty="0"/>
          </a:p>
        </p:txBody>
      </p:sp>
      <p:sp>
        <p:nvSpPr>
          <p:cNvPr id="14" name="Text 12"/>
          <p:cNvSpPr/>
          <p:nvPr/>
        </p:nvSpPr>
        <p:spPr>
          <a:xfrm>
            <a:off x="4937760" y="1188720"/>
            <a:ext cx="3749040" cy="2743200"/>
          </a:xfrm>
          <a:prstGeom prst="rect">
            <a:avLst/>
          </a:prstGeom>
          <a:noFill/>
          <a:ln/>
        </p:spPr>
        <p:txBody>
          <a:bodyPr wrap="square" rtlCol="0" anchor="t"/>
          <a:lstStyle/>
          <a:p>
            <a:pPr marL="342900" indent="-342900">
              <a:buSzPct val="100000"/>
              <a:buChar char="•"/>
            </a:pPr>
            <a:r>
              <a:rPr lang="en-US" sz="1200" dirty="0">
                <a:solidFill>
                  <a:srgbClr val="1A6B4A"/>
                </a:solidFill>
                <a:latin typeface="맑은 고딕" pitchFamily="34" charset="0"/>
                <a:ea typeface="맑은 고딕" pitchFamily="34" charset="-122"/>
                <a:cs typeface="맑은 고딕" pitchFamily="34" charset="-120"/>
              </a:rPr>
              <a:t>소득 구조: 근로소득 + 퇴직소득 + 배당(검토) + 비과세</a:t>
            </a:r>
            <a:endParaRPr lang="en-US" sz="1200" dirty="0"/>
          </a:p>
          <a:p>
            <a:pPr marL="342900" indent="-342900">
              <a:buSzPct val="100000"/>
              <a:buChar char="•"/>
            </a:pPr>
            <a:r>
              <a:rPr lang="en-US" sz="1200" dirty="0">
                <a:solidFill>
                  <a:srgbClr val="1A6B4A"/>
                </a:solidFill>
                <a:latin typeface="맑은 고딕" pitchFamily="34" charset="0"/>
                <a:ea typeface="맑은 고딕" pitchFamily="34" charset="-122"/>
                <a:cs typeface="맑은 고딕" pitchFamily="34" charset="-120"/>
              </a:rPr>
              <a:t>건강보험료: 연간 약 1,361만 원으로 감소</a:t>
            </a:r>
            <a:endParaRPr lang="en-US" sz="1200" dirty="0"/>
          </a:p>
          <a:p>
            <a:pPr marL="342900" indent="-342900">
              <a:buSzPct val="100000"/>
              <a:buChar char="•"/>
            </a:pPr>
            <a:r>
              <a:rPr lang="en-US" sz="1200" dirty="0">
                <a:solidFill>
                  <a:srgbClr val="1A6B4A"/>
                </a:solidFill>
                <a:latin typeface="맑은 고딕" pitchFamily="34" charset="0"/>
                <a:ea typeface="맑은 고딕" pitchFamily="34" charset="-122"/>
                <a:cs typeface="맑은 고딕" pitchFamily="34" charset="-120"/>
              </a:rPr>
              <a:t>법인세: 퇴직금 적립으로 연 1,254만 원 절감</a:t>
            </a:r>
            <a:endParaRPr lang="en-US" sz="1200" dirty="0"/>
          </a:p>
          <a:p>
            <a:pPr marL="342900" indent="-342900">
              <a:buSzPct val="100000"/>
              <a:buChar char="•"/>
            </a:pPr>
            <a:r>
              <a:rPr lang="en-US" sz="1200" dirty="0">
                <a:solidFill>
                  <a:srgbClr val="1A6B4A"/>
                </a:solidFill>
                <a:latin typeface="맑은 고딕" pitchFamily="34" charset="0"/>
                <a:ea typeface="맑은 고딕" pitchFamily="34" charset="-122"/>
                <a:cs typeface="맑은 고딕" pitchFamily="34" charset="-120"/>
              </a:rPr>
              <a:t>CEO 은퇴: 건보료 비과세 퇴직금 재원 연 6천만 원 합법적 적립</a:t>
            </a:r>
            <a:endParaRPr lang="en-US" sz="1200" dirty="0"/>
          </a:p>
          <a:p>
            <a:pPr marL="342900" indent="-342900">
              <a:buSzPct val="100000"/>
              <a:buChar char="•"/>
            </a:pPr>
            <a:r>
              <a:rPr lang="en-US" sz="1200" dirty="0">
                <a:solidFill>
                  <a:srgbClr val="1A6B4A"/>
                </a:solidFill>
                <a:latin typeface="맑은 고딕" pitchFamily="34" charset="0"/>
                <a:ea typeface="맑은 고딕" pitchFamily="34" charset="-122"/>
                <a:cs typeface="맑은 고딕" pitchFamily="34" charset="-120"/>
              </a:rPr>
              <a:t>결론: 연 5,998만 원 재무 개선</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22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 기대효과 — 4. 잠재 리스크 및 대응 방안</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22 / 40</a:t>
            </a:r>
            <a:endParaRPr lang="en-US" sz="800" dirty="0"/>
          </a:p>
        </p:txBody>
      </p:sp>
      <p:sp>
        <p:nvSpPr>
          <p:cNvPr id="7" name="Shape 5"/>
          <p:cNvSpPr/>
          <p:nvPr/>
        </p:nvSpPr>
        <p:spPr>
          <a:xfrm>
            <a:off x="457200" y="640080"/>
            <a:ext cx="54864" cy="822960"/>
          </a:xfrm>
          <a:prstGeom prst="rect">
            <a:avLst/>
          </a:prstGeom>
          <a:solidFill>
            <a:srgbClr val="C8962E"/>
          </a:solidFill>
          <a:ln w="12700">
            <a:solidFill>
              <a:srgbClr val="C8962E"/>
            </a:solidFill>
            <a:prstDash val="solid"/>
          </a:ln>
        </p:spPr>
      </p:sp>
      <p:sp>
        <p:nvSpPr>
          <p:cNvPr id="8" name="Text 6"/>
          <p:cNvSpPr/>
          <p:nvPr/>
        </p:nvSpPr>
        <p:spPr>
          <a:xfrm>
            <a:off x="640080" y="640080"/>
            <a:ext cx="8046720" cy="320040"/>
          </a:xfrm>
          <a:prstGeom prst="rect">
            <a:avLst/>
          </a:prstGeom>
          <a:noFill/>
          <a:ln/>
        </p:spPr>
        <p:txBody>
          <a:bodyPr wrap="square" rtlCol="0" anchor="ctr"/>
          <a:lstStyle/>
          <a:p>
            <a:pPr indent="0" marL="0">
              <a:buNone/>
            </a:pPr>
            <a:r>
              <a:rPr lang="en-US" sz="1200" b="1" dirty="0">
                <a:solidFill>
                  <a:srgbClr val="D4382C"/>
                </a:solidFill>
                <a:latin typeface="맑은 고딕" pitchFamily="34" charset="0"/>
                <a:ea typeface="맑은 고딕" pitchFamily="34" charset="-122"/>
                <a:cs typeface="맑은 고딕" pitchFamily="34" charset="-120"/>
              </a:rPr>
              <a:t>리스크 1: 세무 당국의 과도한 보수/퇴직금 부인</a:t>
            </a:r>
            <a:endParaRPr lang="en-US" sz="1200" dirty="0"/>
          </a:p>
        </p:txBody>
      </p:sp>
      <p:sp>
        <p:nvSpPr>
          <p:cNvPr id="9" name="Text 7"/>
          <p:cNvSpPr/>
          <p:nvPr/>
        </p:nvSpPr>
        <p:spPr>
          <a:xfrm>
            <a:off x="640080" y="987552"/>
            <a:ext cx="8046720" cy="502920"/>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대응 방안: 동종업계 유사 직위의 임원 보수 현황, 회사의 성장 기여도 등을 객관적으로 입증할 수 있는 자료를 준비합니다. 모든 의사결정 과정을 상법상 절차(주주총회, 이사회 의사록)에 따라 명확하게 문서화하여 절차적 정당성을 확보합니다. 특정 임원에게만 차별적으로 높은 배수를 적용하지 않으며, 정관 및 규정을 명확히 정비합니다.</a:t>
            </a:r>
            <a:endParaRPr lang="en-US" sz="1050" dirty="0"/>
          </a:p>
        </p:txBody>
      </p:sp>
      <p:sp>
        <p:nvSpPr>
          <p:cNvPr id="10" name="Shape 8"/>
          <p:cNvSpPr/>
          <p:nvPr/>
        </p:nvSpPr>
        <p:spPr>
          <a:xfrm>
            <a:off x="457200" y="1600200"/>
            <a:ext cx="54864" cy="822960"/>
          </a:xfrm>
          <a:prstGeom prst="rect">
            <a:avLst/>
          </a:prstGeom>
          <a:solidFill>
            <a:srgbClr val="C8962E"/>
          </a:solidFill>
          <a:ln w="12700">
            <a:solidFill>
              <a:srgbClr val="C8962E"/>
            </a:solidFill>
            <a:prstDash val="solid"/>
          </a:ln>
        </p:spPr>
      </p:sp>
      <p:sp>
        <p:nvSpPr>
          <p:cNvPr id="11" name="Text 9"/>
          <p:cNvSpPr/>
          <p:nvPr/>
        </p:nvSpPr>
        <p:spPr>
          <a:xfrm>
            <a:off x="640080" y="1600200"/>
            <a:ext cx="8046720" cy="320040"/>
          </a:xfrm>
          <a:prstGeom prst="rect">
            <a:avLst/>
          </a:prstGeom>
          <a:noFill/>
          <a:ln/>
        </p:spPr>
        <p:txBody>
          <a:bodyPr wrap="square" rtlCol="0" anchor="ctr"/>
          <a:lstStyle/>
          <a:p>
            <a:pPr indent="0" marL="0">
              <a:buNone/>
            </a:pPr>
            <a:r>
              <a:rPr lang="en-US" sz="1200" b="1" dirty="0">
                <a:solidFill>
                  <a:srgbClr val="D4382C"/>
                </a:solidFill>
                <a:latin typeface="맑은 고딕" pitchFamily="34" charset="0"/>
                <a:ea typeface="맑은 고딕" pitchFamily="34" charset="-122"/>
                <a:cs typeface="맑은 고딕" pitchFamily="34" charset="-120"/>
              </a:rPr>
              <a:t>리스크 2: 배당 전환 시 소득세 증가 (금융소득종합과세)</a:t>
            </a:r>
            <a:endParaRPr lang="en-US" sz="1200" dirty="0"/>
          </a:p>
        </p:txBody>
      </p:sp>
      <p:sp>
        <p:nvSpPr>
          <p:cNvPr id="12" name="Text 10"/>
          <p:cNvSpPr/>
          <p:nvPr/>
        </p:nvSpPr>
        <p:spPr>
          <a:xfrm>
            <a:off x="640080" y="1947672"/>
            <a:ext cx="8046720" cy="502920"/>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대응 방안: 배당 전환 전 개인 소득세 시뮬레이션을 실시하여 총 세부담(소득세 + 건보료)이 실제로 줄어드는지 확인합니다. 필요 시 배당 금액을 조절하여 금융소득 2,000만 원 이하로 관리하거나, 다른 금융소득과의 합산을 고려합니다.</a:t>
            </a:r>
            <a:endParaRPr lang="en-US" sz="1050" dirty="0"/>
          </a:p>
        </p:txBody>
      </p:sp>
      <p:sp>
        <p:nvSpPr>
          <p:cNvPr id="13" name="Shape 11"/>
          <p:cNvSpPr/>
          <p:nvPr/>
        </p:nvSpPr>
        <p:spPr>
          <a:xfrm>
            <a:off x="457200" y="2560320"/>
            <a:ext cx="54864" cy="822960"/>
          </a:xfrm>
          <a:prstGeom prst="rect">
            <a:avLst/>
          </a:prstGeom>
          <a:solidFill>
            <a:srgbClr val="C8962E"/>
          </a:solidFill>
          <a:ln w="12700">
            <a:solidFill>
              <a:srgbClr val="C8962E"/>
            </a:solidFill>
            <a:prstDash val="solid"/>
          </a:ln>
        </p:spPr>
      </p:sp>
      <p:sp>
        <p:nvSpPr>
          <p:cNvPr id="14" name="Text 12"/>
          <p:cNvSpPr/>
          <p:nvPr/>
        </p:nvSpPr>
        <p:spPr>
          <a:xfrm>
            <a:off x="640080" y="2560320"/>
            <a:ext cx="8046720" cy="320040"/>
          </a:xfrm>
          <a:prstGeom prst="rect">
            <a:avLst/>
          </a:prstGeom>
          <a:noFill/>
          <a:ln/>
        </p:spPr>
        <p:txBody>
          <a:bodyPr wrap="square" rtlCol="0" anchor="ctr"/>
          <a:lstStyle/>
          <a:p>
            <a:pPr indent="0" marL="0">
              <a:buNone/>
            </a:pPr>
            <a:r>
              <a:rPr lang="en-US" sz="1200" b="1" dirty="0">
                <a:solidFill>
                  <a:srgbClr val="D4382C"/>
                </a:solidFill>
                <a:latin typeface="맑은 고딕" pitchFamily="34" charset="0"/>
                <a:ea typeface="맑은 고딕" pitchFamily="34" charset="-122"/>
                <a:cs typeface="맑은 고딕" pitchFamily="34" charset="-120"/>
              </a:rPr>
              <a:t>리스크 3: 비과세 항목 형평성 문제 (노무/세무 리스크)</a:t>
            </a:r>
            <a:endParaRPr lang="en-US" sz="1200" dirty="0"/>
          </a:p>
        </p:txBody>
      </p:sp>
      <p:sp>
        <p:nvSpPr>
          <p:cNvPr id="15" name="Text 13"/>
          <p:cNvSpPr/>
          <p:nvPr/>
        </p:nvSpPr>
        <p:spPr>
          <a:xfrm>
            <a:off x="640080" y="2907792"/>
            <a:ext cx="8046720" cy="502920"/>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대응 방안: 전 직원 또는 특정 직무군에 합리적으로 비과세 항목을 적용하는 전사 인사규정을 먼저 정비합니다. 운행일지, 카드 사용 증빙 등 증빙 관리 시스템을 구축하여 세무조사 시 소명 가능하도록 준비합니다.</a:t>
            </a:r>
            <a:endParaRPr lang="en-US" sz="1050" dirty="0"/>
          </a:p>
        </p:txBody>
      </p:sp>
      <p:sp>
        <p:nvSpPr>
          <p:cNvPr id="16" name="Shape 14"/>
          <p:cNvSpPr/>
          <p:nvPr/>
        </p:nvSpPr>
        <p:spPr>
          <a:xfrm>
            <a:off x="457200" y="3520440"/>
            <a:ext cx="54864" cy="822960"/>
          </a:xfrm>
          <a:prstGeom prst="rect">
            <a:avLst/>
          </a:prstGeom>
          <a:solidFill>
            <a:srgbClr val="C8962E"/>
          </a:solidFill>
          <a:ln w="12700">
            <a:solidFill>
              <a:srgbClr val="C8962E"/>
            </a:solidFill>
            <a:prstDash val="solid"/>
          </a:ln>
        </p:spPr>
      </p:sp>
      <p:sp>
        <p:nvSpPr>
          <p:cNvPr id="17" name="Text 15"/>
          <p:cNvSpPr/>
          <p:nvPr/>
        </p:nvSpPr>
        <p:spPr>
          <a:xfrm>
            <a:off x="640080" y="3520440"/>
            <a:ext cx="8046720" cy="320040"/>
          </a:xfrm>
          <a:prstGeom prst="rect">
            <a:avLst/>
          </a:prstGeom>
          <a:noFill/>
          <a:ln/>
        </p:spPr>
        <p:txBody>
          <a:bodyPr wrap="square" rtlCol="0" anchor="ctr"/>
          <a:lstStyle/>
          <a:p>
            <a:pPr indent="0" marL="0">
              <a:buNone/>
            </a:pPr>
            <a:r>
              <a:rPr lang="en-US" sz="1200" b="1" dirty="0">
                <a:solidFill>
                  <a:srgbClr val="D4382C"/>
                </a:solidFill>
                <a:latin typeface="맑은 고딕" pitchFamily="34" charset="0"/>
                <a:ea typeface="맑은 고딕" pitchFamily="34" charset="-122"/>
                <a:cs typeface="맑은 고딕" pitchFamily="34" charset="-120"/>
              </a:rPr>
              <a:t>리스크 4: 퇴직금 적립으로 인한 현금흐름 부담</a:t>
            </a:r>
            <a:endParaRPr lang="en-US" sz="1200" dirty="0"/>
          </a:p>
        </p:txBody>
      </p:sp>
      <p:sp>
        <p:nvSpPr>
          <p:cNvPr id="18" name="Text 16"/>
          <p:cNvSpPr/>
          <p:nvPr/>
        </p:nvSpPr>
        <p:spPr>
          <a:xfrm>
            <a:off x="640080" y="3867912"/>
            <a:ext cx="8046720" cy="502920"/>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대응 방안: 사전에 영업현금흐름, DSCR, 기존 금융 약정과의 충돌 가능성을 재무 KPI 및 가용현금 체크리스트로 점검합니다. 필요 시 적립 금액을 단계적으로 조정하거나, 회사의 현금흐름 개선 후 본격 실행합니다.</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23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VI. 실행 로드맵 및 추진 일정</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23 / 40</a:t>
            </a:r>
            <a:endParaRPr lang="en-US" sz="800" dirty="0"/>
          </a:p>
        </p:txBody>
      </p:sp>
      <p:sp>
        <p:nvSpPr>
          <p:cNvPr id="7" name="Shape 5"/>
          <p:cNvSpPr/>
          <p:nvPr/>
        </p:nvSpPr>
        <p:spPr>
          <a:xfrm>
            <a:off x="274320" y="640080"/>
            <a:ext cx="2834640" cy="457200"/>
          </a:xfrm>
          <a:prstGeom prst="rect">
            <a:avLst/>
          </a:prstGeom>
          <a:solidFill>
            <a:srgbClr val="1B2A4A"/>
          </a:solidFill>
          <a:ln w="12700">
            <a:solidFill>
              <a:srgbClr val="1B2A4A"/>
            </a:solidFill>
            <a:prstDash val="solid"/>
          </a:ln>
        </p:spPr>
      </p:sp>
      <p:sp>
        <p:nvSpPr>
          <p:cNvPr id="8" name="Text 6"/>
          <p:cNvSpPr/>
          <p:nvPr/>
        </p:nvSpPr>
        <p:spPr>
          <a:xfrm>
            <a:off x="274320" y="658368"/>
            <a:ext cx="2834640" cy="411480"/>
          </a:xfrm>
          <a:prstGeom prst="rect">
            <a:avLst/>
          </a:prstGeom>
          <a:noFill/>
          <a:ln/>
        </p:spPr>
        <p:txBody>
          <a:bodyPr wrap="square"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  Phase 1: 진단 및 계획</a:t>
            </a:r>
            <a:endParaRPr lang="en-US" sz="1100" dirty="0"/>
          </a:p>
        </p:txBody>
      </p:sp>
      <p:sp>
        <p:nvSpPr>
          <p:cNvPr id="9" name="Shape 7"/>
          <p:cNvSpPr/>
          <p:nvPr/>
        </p:nvSpPr>
        <p:spPr>
          <a:xfrm>
            <a:off x="3264408" y="640080"/>
            <a:ext cx="2834640" cy="457200"/>
          </a:xfrm>
          <a:prstGeom prst="rect">
            <a:avLst/>
          </a:prstGeom>
          <a:solidFill>
            <a:srgbClr val="1B2A4A"/>
          </a:solidFill>
          <a:ln w="12700">
            <a:solidFill>
              <a:srgbClr val="1B2A4A"/>
            </a:solidFill>
            <a:prstDash val="solid"/>
          </a:ln>
        </p:spPr>
      </p:sp>
      <p:sp>
        <p:nvSpPr>
          <p:cNvPr id="10" name="Text 8"/>
          <p:cNvSpPr/>
          <p:nvPr/>
        </p:nvSpPr>
        <p:spPr>
          <a:xfrm>
            <a:off x="3264408" y="658368"/>
            <a:ext cx="2834640" cy="411480"/>
          </a:xfrm>
          <a:prstGeom prst="rect">
            <a:avLst/>
          </a:prstGeom>
          <a:noFill/>
          <a:ln/>
        </p:spPr>
        <p:txBody>
          <a:bodyPr wrap="square"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  Phase 2: 제도 정비</a:t>
            </a:r>
            <a:endParaRPr lang="en-US" sz="1100" dirty="0"/>
          </a:p>
        </p:txBody>
      </p:sp>
      <p:sp>
        <p:nvSpPr>
          <p:cNvPr id="11" name="Shape 9"/>
          <p:cNvSpPr/>
          <p:nvPr/>
        </p:nvSpPr>
        <p:spPr>
          <a:xfrm>
            <a:off x="6254496" y="640080"/>
            <a:ext cx="2834640" cy="457200"/>
          </a:xfrm>
          <a:prstGeom prst="rect">
            <a:avLst/>
          </a:prstGeom>
          <a:solidFill>
            <a:srgbClr val="1B2A4A"/>
          </a:solidFill>
          <a:ln w="12700">
            <a:solidFill>
              <a:srgbClr val="1B2A4A"/>
            </a:solidFill>
            <a:prstDash val="solid"/>
          </a:ln>
        </p:spPr>
      </p:sp>
      <p:sp>
        <p:nvSpPr>
          <p:cNvPr id="12" name="Text 10"/>
          <p:cNvSpPr/>
          <p:nvPr/>
        </p:nvSpPr>
        <p:spPr>
          <a:xfrm>
            <a:off x="6254496" y="658368"/>
            <a:ext cx="2834640" cy="411480"/>
          </a:xfrm>
          <a:prstGeom prst="rect">
            <a:avLst/>
          </a:prstGeom>
          <a:noFill/>
          <a:ln/>
        </p:spPr>
        <p:txBody>
          <a:bodyPr wrap="square"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  Phase 3: 실행 및 관리</a:t>
            </a:r>
            <a:endParaRPr lang="en-US" sz="1100" dirty="0"/>
          </a:p>
        </p:txBody>
      </p:sp>
      <p:sp>
        <p:nvSpPr>
          <p:cNvPr id="13" name="Shape 11"/>
          <p:cNvSpPr/>
          <p:nvPr/>
        </p:nvSpPr>
        <p:spPr>
          <a:xfrm>
            <a:off x="274320" y="1143000"/>
            <a:ext cx="2834640" cy="3291840"/>
          </a:xfrm>
          <a:prstGeom prst="rect">
            <a:avLst/>
          </a:prstGeom>
          <a:solidFill>
            <a:srgbClr val="F7F8FA"/>
          </a:solidFill>
          <a:ln w="12700">
            <a:solidFill>
              <a:srgbClr val="E2E8F0"/>
            </a:solidFill>
            <a:prstDash val="solid"/>
          </a:ln>
        </p:spPr>
      </p:sp>
      <p:sp>
        <p:nvSpPr>
          <p:cNvPr id="14" name="Text 12"/>
          <p:cNvSpPr/>
          <p:nvPr/>
        </p:nvSpPr>
        <p:spPr>
          <a:xfrm>
            <a:off x="320040" y="1188720"/>
            <a:ext cx="2743200" cy="274320"/>
          </a:xfrm>
          <a:prstGeom prst="rect">
            <a:avLst/>
          </a:prstGeom>
          <a:noFill/>
          <a:ln/>
        </p:spPr>
        <p:txBody>
          <a:bodyPr wrap="square" rtlCol="0" anchor="ctr"/>
          <a:lstStyle/>
          <a:p>
            <a:pPr indent="0" marL="0">
              <a:buNone/>
            </a:pPr>
            <a:r>
              <a:rPr lang="en-US" sz="1000" b="1" dirty="0">
                <a:solidFill>
                  <a:srgbClr val="C8962E"/>
                </a:solidFill>
                <a:latin typeface="맑은 고딕" pitchFamily="34" charset="0"/>
                <a:ea typeface="맑은 고딕" pitchFamily="34" charset="-122"/>
                <a:cs typeface="맑은 고딕" pitchFamily="34" charset="-120"/>
              </a:rPr>
              <a:t>예상 소요 기간: 1~2주</a:t>
            </a:r>
            <a:endParaRPr lang="en-US" sz="1000" dirty="0"/>
          </a:p>
        </p:txBody>
      </p:sp>
      <p:sp>
        <p:nvSpPr>
          <p:cNvPr id="15" name="Text 13"/>
          <p:cNvSpPr/>
          <p:nvPr/>
        </p:nvSpPr>
        <p:spPr>
          <a:xfrm>
            <a:off x="320040" y="1490472"/>
            <a:ext cx="2743200" cy="2880360"/>
          </a:xfrm>
          <a:prstGeom prst="rect">
            <a:avLst/>
          </a:prstGeom>
          <a:noFill/>
          <a:ln/>
        </p:spPr>
        <p:txBody>
          <a:bodyPr wrap="square" rtlCol="0" anchor="t"/>
          <a:lstStyle/>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CEO 재무 현황 및 니즈 심층 분석</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소득 구조 최적화 시뮬레이션 및 전략 수립</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현금흐름 영향 분석 (DSCR, 가용현금 체크)</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배당가능이익 산정 및 정관 조항 검토</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담당 주체: 컨설턴트, CEO, 재무팀</a:t>
            </a:r>
            <a:endParaRPr lang="en-US" sz="1000" dirty="0"/>
          </a:p>
        </p:txBody>
      </p:sp>
      <p:sp>
        <p:nvSpPr>
          <p:cNvPr id="16" name="Shape 14"/>
          <p:cNvSpPr/>
          <p:nvPr/>
        </p:nvSpPr>
        <p:spPr>
          <a:xfrm>
            <a:off x="3264408" y="1143000"/>
            <a:ext cx="2834640" cy="3291840"/>
          </a:xfrm>
          <a:prstGeom prst="rect">
            <a:avLst/>
          </a:prstGeom>
          <a:solidFill>
            <a:srgbClr val="F7F8FA"/>
          </a:solidFill>
          <a:ln w="12700">
            <a:solidFill>
              <a:srgbClr val="E2E8F0"/>
            </a:solidFill>
            <a:prstDash val="solid"/>
          </a:ln>
        </p:spPr>
      </p:sp>
      <p:sp>
        <p:nvSpPr>
          <p:cNvPr id="17" name="Text 15"/>
          <p:cNvSpPr/>
          <p:nvPr/>
        </p:nvSpPr>
        <p:spPr>
          <a:xfrm>
            <a:off x="3310128" y="1188720"/>
            <a:ext cx="2743200" cy="274320"/>
          </a:xfrm>
          <a:prstGeom prst="rect">
            <a:avLst/>
          </a:prstGeom>
          <a:noFill/>
          <a:ln/>
        </p:spPr>
        <p:txBody>
          <a:bodyPr wrap="square" rtlCol="0" anchor="ctr"/>
          <a:lstStyle/>
          <a:p>
            <a:pPr indent="0" marL="0">
              <a:buNone/>
            </a:pPr>
            <a:r>
              <a:rPr lang="en-US" sz="1000" b="1" dirty="0">
                <a:solidFill>
                  <a:srgbClr val="C8962E"/>
                </a:solidFill>
                <a:latin typeface="맑은 고딕" pitchFamily="34" charset="0"/>
                <a:ea typeface="맑은 고딕" pitchFamily="34" charset="-122"/>
                <a:cs typeface="맑은 고딕" pitchFamily="34" charset="-120"/>
              </a:rPr>
              <a:t>예상 소요 기간: 3~6주</a:t>
            </a:r>
            <a:endParaRPr lang="en-US" sz="1000" dirty="0"/>
          </a:p>
        </p:txBody>
      </p:sp>
      <p:sp>
        <p:nvSpPr>
          <p:cNvPr id="18" name="Text 16"/>
          <p:cNvSpPr/>
          <p:nvPr/>
        </p:nvSpPr>
        <p:spPr>
          <a:xfrm>
            <a:off x="3310128" y="1490472"/>
            <a:ext cx="2743200" cy="2880360"/>
          </a:xfrm>
          <a:prstGeom prst="rect">
            <a:avLst/>
          </a:prstGeom>
          <a:noFill/>
          <a:ln/>
        </p:spPr>
        <p:txBody>
          <a:bodyPr wrap="square" rtlCol="0" anchor="t"/>
          <a:lstStyle/>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정관 및 임원 보수/퇴직금 규정 개정(안) 작성</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전사 인사규정(비과세 항목) 정비</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법무사/세무사 검토</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이사회 및 주주총회 소집/결의</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배당 결의 (중간배당 또는 결산배당)</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담당 주체: 컨설턴트, 법무사, 세무사, CEO</a:t>
            </a:r>
            <a:endParaRPr lang="en-US" sz="1000" dirty="0"/>
          </a:p>
        </p:txBody>
      </p:sp>
      <p:sp>
        <p:nvSpPr>
          <p:cNvPr id="19" name="Shape 17"/>
          <p:cNvSpPr/>
          <p:nvPr/>
        </p:nvSpPr>
        <p:spPr>
          <a:xfrm>
            <a:off x="6254496" y="1143000"/>
            <a:ext cx="2834640" cy="3291840"/>
          </a:xfrm>
          <a:prstGeom prst="rect">
            <a:avLst/>
          </a:prstGeom>
          <a:solidFill>
            <a:srgbClr val="F7F8FA"/>
          </a:solidFill>
          <a:ln w="12700">
            <a:solidFill>
              <a:srgbClr val="E2E8F0"/>
            </a:solidFill>
            <a:prstDash val="solid"/>
          </a:ln>
        </p:spPr>
      </p:sp>
      <p:sp>
        <p:nvSpPr>
          <p:cNvPr id="20" name="Text 18"/>
          <p:cNvSpPr/>
          <p:nvPr/>
        </p:nvSpPr>
        <p:spPr>
          <a:xfrm>
            <a:off x="6300216" y="1188720"/>
            <a:ext cx="2743200" cy="274320"/>
          </a:xfrm>
          <a:prstGeom prst="rect">
            <a:avLst/>
          </a:prstGeom>
          <a:noFill/>
          <a:ln/>
        </p:spPr>
        <p:txBody>
          <a:bodyPr wrap="square" rtlCol="0" anchor="ctr"/>
          <a:lstStyle/>
          <a:p>
            <a:pPr indent="0" marL="0">
              <a:buNone/>
            </a:pPr>
            <a:r>
              <a:rPr lang="en-US" sz="1000" b="1" dirty="0">
                <a:solidFill>
                  <a:srgbClr val="C8962E"/>
                </a:solidFill>
                <a:latin typeface="맑은 고딕" pitchFamily="34" charset="0"/>
                <a:ea typeface="맑은 고딕" pitchFamily="34" charset="-122"/>
                <a:cs typeface="맑은 고딕" pitchFamily="34" charset="-120"/>
              </a:rPr>
              <a:t>예상 소요 기간: 즉시 실행 후 지속</a:t>
            </a:r>
            <a:endParaRPr lang="en-US" sz="1000" dirty="0"/>
          </a:p>
        </p:txBody>
      </p:sp>
      <p:sp>
        <p:nvSpPr>
          <p:cNvPr id="21" name="Text 19"/>
          <p:cNvSpPr/>
          <p:nvPr/>
        </p:nvSpPr>
        <p:spPr>
          <a:xfrm>
            <a:off x="6300216" y="1490472"/>
            <a:ext cx="2743200" cy="2880360"/>
          </a:xfrm>
          <a:prstGeom prst="rect">
            <a:avLst/>
          </a:prstGeom>
          <a:noFill/>
          <a:ln/>
        </p:spPr>
        <p:txBody>
          <a:bodyPr wrap="square" rtlCol="0" anchor="t"/>
          <a:lstStyle/>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개정된 정관 등기</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급여 시스템 반영 (비과세 항목 포함)</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퇴직금 재원 적립(보험 가입) 실행</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배당 지급 실행 (분기 또는 연 단위)</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분기별 모니터링 및 피드백 (세법 변경, 건보료율 조정 등 반영)</a:t>
            </a:r>
            <a:endParaRPr lang="en-US" sz="1000" dirty="0"/>
          </a:p>
          <a:p>
            <a:pPr marL="342900" indent="-342900">
              <a:buSzPct val="100000"/>
              <a:buChar char="•"/>
            </a:pPr>
            <a:r>
              <a:rPr lang="en-US" sz="1000" dirty="0">
                <a:solidFill>
                  <a:srgbClr val="2B2B2B"/>
                </a:solidFill>
                <a:latin typeface="맑은 고딕" pitchFamily="34" charset="0"/>
                <a:ea typeface="맑은 고딕" pitchFamily="34" charset="-122"/>
                <a:cs typeface="맑은 고딕" pitchFamily="34" charset="-120"/>
              </a:rPr>
              <a:t>담당 주체: CEO, 재무팀, 컨설턴트</a:t>
            </a:r>
            <a:endParaRPr lang="en-US" sz="1000" dirty="0"/>
          </a:p>
        </p:txBody>
      </p:sp>
      <p:sp>
        <p:nvSpPr>
          <p:cNvPr id="22" name="Text 20"/>
          <p:cNvSpPr/>
          <p:nvPr/>
        </p:nvSpPr>
        <p:spPr>
          <a:xfrm>
            <a:off x="457200" y="4526280"/>
            <a:ext cx="8229600" cy="274320"/>
          </a:xfrm>
          <a:prstGeom prst="rect">
            <a:avLst/>
          </a:prstGeom>
          <a:noFill/>
          <a:ln/>
        </p:spPr>
        <p:txBody>
          <a:bodyPr wrap="square" rtlCol="0" anchor="ctr"/>
          <a:lstStyle/>
          <a:p>
            <a:pPr indent="0" marL="0">
              <a:buNone/>
            </a:pPr>
            <a:r>
              <a:rPr lang="en-US" sz="900" i="1" dirty="0">
                <a:solidFill>
                  <a:srgbClr val="4A5568"/>
                </a:solidFill>
                <a:latin typeface="맑은 고딕" pitchFamily="34" charset="0"/>
                <a:ea typeface="맑은 고딕" pitchFamily="34" charset="-122"/>
                <a:cs typeface="맑은 고딕" pitchFamily="34" charset="-120"/>
              </a:rPr>
              <a:t>※ 상여금의 배당 전환은 정관·주총 절차를 거쳐야 하므로 분기 또는 사업연도 단위로 실행되며, "다음 달부터 즉시"는 불가능합니다.</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sp>
      <p:sp>
        <p:nvSpPr>
          <p:cNvPr id="3" name="Text 1"/>
          <p:cNvSpPr/>
          <p:nvPr/>
        </p:nvSpPr>
        <p:spPr>
          <a:xfrm>
            <a:off x="137160" y="45720"/>
            <a:ext cx="365760" cy="411480"/>
          </a:xfrm>
          <a:prstGeom prst="rect">
            <a:avLst/>
          </a:prstGeom>
          <a:noFill/>
          <a:ln/>
        </p:spPr>
        <p:txBody>
          <a:bodyPr wrap="square" lIns="0" tIns="0" rIns="0" bIns="0" rtlCol="0" anchor="ctr"/>
          <a:lstStyle/>
          <a:p>
            <a:pPr algn="ctr" indent="0" marL="0">
              <a:buNone/>
            </a:pPr>
            <a:r>
              <a:rPr lang="en-US" sz="900" b="1" dirty="0">
                <a:solidFill>
                  <a:srgbClr val="C8962E"/>
                </a:solidFill>
              </a:rPr>
              <a:t>24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algn="l" indent="0" marL="0">
              <a:buNone/>
            </a:pPr>
            <a:r>
              <a:rPr lang="en-US" sz="1500" b="1" dirty="0">
                <a:solidFill>
                  <a:srgbClr val="FFFFFF"/>
                </a:solidFill>
                <a:latin typeface="맑은 고딕" pitchFamily="34" charset="0"/>
                <a:ea typeface="맑은 고딕" pitchFamily="34" charset="-122"/>
                <a:cs typeface="맑은 고딕" pitchFamily="34" charset="-120"/>
              </a:rPr>
              <a:t>VII. 종합 결론 및 전략적 제언</a:t>
            </a:r>
            <a:endParaRPr lang="en-US" sz="1500" dirty="0"/>
          </a:p>
        </p:txBody>
      </p:sp>
      <p:sp>
        <p:nvSpPr>
          <p:cNvPr id="5" name="Text 3"/>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24 / 40</a:t>
            </a:r>
            <a:endParaRPr lang="en-US" sz="800" dirty="0"/>
          </a:p>
        </p:txBody>
      </p:sp>
      <p:sp>
        <p:nvSpPr>
          <p:cNvPr id="7" name="Text 5"/>
          <p:cNvSpPr/>
          <p:nvPr/>
        </p:nvSpPr>
        <p:spPr>
          <a:xfrm>
            <a:off x="457200" y="64008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1. 컨설팅 핵심 요약 및 결론 — 🏆 최종 요약</a:t>
            </a:r>
            <a:endParaRPr lang="en-US" sz="1400" dirty="0"/>
          </a:p>
        </p:txBody>
      </p:sp>
      <p:sp>
        <p:nvSpPr>
          <p:cNvPr id="8" name="Shape 6"/>
          <p:cNvSpPr/>
          <p:nvPr/>
        </p:nvSpPr>
        <p:spPr>
          <a:xfrm>
            <a:off x="457200" y="1051560"/>
            <a:ext cx="54864" cy="1645920"/>
          </a:xfrm>
          <a:prstGeom prst="rect">
            <a:avLst/>
          </a:prstGeom>
          <a:solidFill>
            <a:srgbClr val="C8962E"/>
          </a:solidFill>
          <a:ln w="12700">
            <a:solidFill>
              <a:srgbClr val="C8962E"/>
            </a:solidFill>
            <a:prstDash val="solid"/>
          </a:ln>
        </p:spPr>
      </p:sp>
      <p:sp>
        <p:nvSpPr>
          <p:cNvPr id="9" name="Text 7"/>
          <p:cNvSpPr/>
          <p:nvPr/>
        </p:nvSpPr>
        <p:spPr>
          <a:xfrm>
            <a:off x="640080" y="1051560"/>
            <a:ext cx="8046720" cy="1600200"/>
          </a:xfrm>
          <a:prstGeom prst="rect">
            <a:avLst/>
          </a:prstGeom>
          <a:noFill/>
          <a:ln/>
        </p:spPr>
        <p:txBody>
          <a:bodyPr wrap="square" rtlCol="0" anchor="t"/>
          <a:lstStyle/>
          <a:p>
            <a:pPr indent="0" marL="0">
              <a:buNone/>
            </a:pPr>
            <a:r>
              <a:rPr lang="en-US" sz="1200" dirty="0">
                <a:solidFill>
                  <a:srgbClr val="2B2B2B"/>
                </a:solidFill>
                <a:latin typeface="맑은 고딕" pitchFamily="34" charset="0"/>
                <a:ea typeface="맑은 고딕" pitchFamily="34" charset="-122"/>
                <a:cs typeface="맑은 고딕" pitchFamily="34" charset="-120"/>
              </a:rPr>
              <a:t>본 컨설팅은 CEO의 과도한 건강보험료 부담이라는 명확한 문제점에서 출발하여, 단순 비용 절감을 넘어 소득 구조의 전략적 재설계라는 근본적인 해결책을 제시했습니다. 근로소득에 집중된 현재 구조를 퇴직소득, 배당소득, 비과세 소득으로 다변화함으로써, 연간 약 5,998만 원의 실질적인 재무개선 효과(CEO 건보료 절감 약 4,744만 원 + 법인세 절감 약 1,254만 원)를 창출할 수 있음을 확인했습니다. 이는 단순한 절약이 아닌, 기업의 자원을 가장 효율적으로 활용하여 CEO 개인의 자산 증대와 기업의 재무 건전성을 동시에 달성하는 '고도의 재무 전략'입니다.</a:t>
            </a:r>
            <a:endParaRPr lang="en-US" sz="1200" dirty="0"/>
          </a:p>
          <a:p>
            <a:pPr indent="0" marL="0">
              <a:buNone/>
            </a:pPr>
            <a:endParaRPr lang="en-US" sz="1200" dirty="0"/>
          </a:p>
          <a:p>
            <a:pPr indent="0" marL="0">
              <a:buNone/>
            </a:pPr>
            <a:r>
              <a:rPr lang="en-US" sz="1200" dirty="0">
                <a:solidFill>
                  <a:srgbClr val="2B2B2B"/>
                </a:solidFill>
                <a:latin typeface="맑은 고딕" pitchFamily="34" charset="0"/>
                <a:ea typeface="맑은 고딕" pitchFamily="34" charset="-122"/>
                <a:cs typeface="맑은 고딕" pitchFamily="34" charset="-120"/>
              </a:rPr>
              <a:t>다만, 이러한 전략은 정관 정비, 주주총회 결의, 전사 인사규정 정비, 현금흐름 검증, 보험상품 세무검토 등 여러 법적·실무적 절차를 선행해야 하므로, 체계적이고 현실적인 로드맵에 따라 분기 및 사업연도 단위로 단계적으로 실행되어야 합니다.</a:t>
            </a:r>
            <a:endParaRPr lang="en-US" sz="1200" dirty="0"/>
          </a:p>
        </p:txBody>
      </p:sp>
      <p:sp>
        <p:nvSpPr>
          <p:cNvPr id="10" name="Text 8"/>
          <p:cNvSpPr/>
          <p:nvPr/>
        </p:nvSpPr>
        <p:spPr>
          <a:xfrm>
            <a:off x="457200" y="2788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2. 장기적 관점에서의 추가 제언</a:t>
            </a:r>
            <a:endParaRPr lang="en-US" sz="1400" dirty="0"/>
          </a:p>
        </p:txBody>
      </p:sp>
      <p:sp>
        <p:nvSpPr>
          <p:cNvPr id="11" name="Text 9"/>
          <p:cNvSpPr/>
          <p:nvPr/>
        </p:nvSpPr>
        <p:spPr>
          <a:xfrm>
            <a:off x="457200" y="3200400"/>
            <a:ext cx="8229600" cy="68580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이번 소득 구조 최적화는 시작에 불과합니다. 향후 누적되는 미처분이익잉여금을 활용한 자사주 매입, 특허 자본화 등의 전략을 추가적으로 실행하여 주식 가치를 조절하고, 안정적인 가업 승계를 위한 장기적인 플랜을 수립해야 합니다.</a:t>
            </a:r>
            <a:endParaRPr lang="en-US" sz="1200" dirty="0"/>
          </a:p>
        </p:txBody>
      </p:sp>
      <p:sp>
        <p:nvSpPr>
          <p:cNvPr id="12" name="Text 10"/>
          <p:cNvSpPr/>
          <p:nvPr/>
        </p:nvSpPr>
        <p:spPr>
          <a:xfrm>
            <a:off x="457200" y="402336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3. 성공적인 실행을 위한 CEO의 리더십과 역할 강조</a:t>
            </a:r>
            <a:endParaRPr lang="en-US" sz="1400" dirty="0"/>
          </a:p>
        </p:txBody>
      </p:sp>
      <p:sp>
        <p:nvSpPr>
          <p:cNvPr id="13" name="Text 11"/>
          <p:cNvSpPr/>
          <p:nvPr/>
        </p:nvSpPr>
        <p:spPr>
          <a:xfrm>
            <a:off x="457200" y="4434840"/>
            <a:ext cx="8229600" cy="822960"/>
          </a:xfrm>
          <a:prstGeom prst="rect">
            <a:avLst/>
          </a:prstGeom>
          <a:noFill/>
          <a:ln/>
        </p:spPr>
        <p:txBody>
          <a:bodyPr wrap="square" rtlCol="0" anchor="ctr"/>
          <a:lstStyle/>
          <a:p>
            <a:pPr indent="0" marL="0">
              <a:buNone/>
            </a:pPr>
            <a:r>
              <a:rPr lang="en-US" sz="1200" dirty="0">
                <a:solidFill>
                  <a:srgbClr val="2B2B2B"/>
                </a:solidFill>
                <a:latin typeface="맑은 고딕" pitchFamily="34" charset="0"/>
                <a:ea typeface="맑은 고딕" pitchFamily="34" charset="-122"/>
                <a:cs typeface="맑은 고딕" pitchFamily="34" charset="-120"/>
              </a:rPr>
              <a:t>🔑 이 모든 전략의 성공적인 실행은 CEO의 확고한 의지와 신속한 의사결정에 달려 있습니다. 제안된 솔루션들은 법과 제도가 허용하는 테두리 안에서 이루어지는 합법적이고 안전한 방법입니다. 컨설턴트를 전략적 파트너로 믿고 제안된 로드맵에 따라 실행에 옮기신다면, 기대 이상의 재무적 성과와 함께 안정적인 기업의 미래를 설계하실 수 있을 것입니다.</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
        <p:nvSpPr>
          <p:cNvPr id="3" name="Text 1"/>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25 / 40</a:t>
            </a:r>
            <a:endParaRPr lang="en-US" sz="800" dirty="0"/>
          </a:p>
        </p:txBody>
      </p:sp>
      <p:sp>
        <p:nvSpPr>
          <p:cNvPr id="4" name="Shape 2"/>
          <p:cNvSpPr/>
          <p:nvPr/>
        </p:nvSpPr>
        <p:spPr>
          <a:xfrm>
            <a:off x="0" y="0"/>
            <a:ext cx="9144000" cy="502920"/>
          </a:xfrm>
          <a:prstGeom prst="rect">
            <a:avLst/>
          </a:prstGeom>
          <a:solidFill>
            <a:srgbClr val="C8962E"/>
          </a:solidFill>
          <a:ln w="12700">
            <a:solidFill>
              <a:srgbClr val="C8962E"/>
            </a:solidFill>
            <a:prstDash val="solid"/>
          </a:ln>
        </p:spPr>
      </p:sp>
      <p:sp>
        <p:nvSpPr>
          <p:cNvPr id="5" name="Text 3"/>
          <p:cNvSpPr/>
          <p:nvPr/>
        </p:nvSpPr>
        <p:spPr>
          <a:xfrm>
            <a:off x="274320" y="45720"/>
            <a:ext cx="8595360" cy="411480"/>
          </a:xfrm>
          <a:prstGeom prst="rect">
            <a:avLst/>
          </a:prstGeom>
          <a:noFill/>
          <a:ln/>
        </p:spPr>
        <p:txBody>
          <a:bodyPr wrap="square" rtlCol="0" anchor="ctr"/>
          <a:lstStyle/>
          <a:p>
            <a:pPr algn="l" indent="0" marL="0">
              <a:buNone/>
            </a:pPr>
            <a:r>
              <a:rPr lang="en-US" sz="1600" b="1" dirty="0">
                <a:solidFill>
                  <a:srgbClr val="1B2A4A"/>
                </a:solidFill>
                <a:latin typeface="맑은 고딕" pitchFamily="34" charset="0"/>
                <a:ea typeface="맑은 고딕" pitchFamily="34" charset="-122"/>
                <a:cs typeface="맑은 고딕" pitchFamily="34" charset="-120"/>
              </a:rPr>
              <a:t>VIII. 핵심 요약 (One-Page Summary)</a:t>
            </a:r>
            <a:endParaRPr lang="en-US" sz="1600" dirty="0"/>
          </a:p>
        </p:txBody>
      </p:sp>
      <p:sp>
        <p:nvSpPr>
          <p:cNvPr id="6" name="Shape 4"/>
          <p:cNvSpPr/>
          <p:nvPr/>
        </p:nvSpPr>
        <p:spPr>
          <a:xfrm>
            <a:off x="457200" y="685800"/>
            <a:ext cx="8229600" cy="685800"/>
          </a:xfrm>
          <a:prstGeom prst="rect">
            <a:avLst/>
          </a:prstGeom>
          <a:solidFill>
            <a:srgbClr val="233552"/>
          </a:solidFill>
          <a:ln w="12700">
            <a:solidFill>
              <a:srgbClr val="2E4065"/>
            </a:solidFill>
            <a:prstDash val="solid"/>
          </a:ln>
        </p:spPr>
      </p:sp>
      <p:sp>
        <p:nvSpPr>
          <p:cNvPr id="7" name="Text 5"/>
          <p:cNvSpPr/>
          <p:nvPr/>
        </p:nvSpPr>
        <p:spPr>
          <a:xfrm>
            <a:off x="548640" y="777240"/>
            <a:ext cx="2286000" cy="502920"/>
          </a:xfrm>
          <a:prstGeom prst="rect">
            <a:avLst/>
          </a:prstGeom>
          <a:noFill/>
          <a:ln/>
        </p:spPr>
        <p:txBody>
          <a:bodyPr wrap="square" rtlCol="0" anchor="ctr"/>
          <a:lstStyle/>
          <a:p>
            <a:pPr indent="0" marL="0">
              <a:buNone/>
            </a:pPr>
            <a:r>
              <a:rPr lang="en-US" sz="1200" b="1" dirty="0">
                <a:solidFill>
                  <a:srgbClr val="C8962E"/>
                </a:solidFill>
                <a:latin typeface="맑은 고딕" pitchFamily="34" charset="0"/>
                <a:ea typeface="맑은 고딕" pitchFamily="34" charset="-122"/>
                <a:cs typeface="맑은 고딕" pitchFamily="34" charset="-120"/>
              </a:rPr>
              <a:t>핵심 과제</a:t>
            </a:r>
            <a:endParaRPr lang="en-US" sz="1200" dirty="0"/>
          </a:p>
        </p:txBody>
      </p:sp>
      <p:sp>
        <p:nvSpPr>
          <p:cNvPr id="8" name="Text 6"/>
          <p:cNvSpPr/>
          <p:nvPr/>
        </p:nvSpPr>
        <p:spPr>
          <a:xfrm>
            <a:off x="2926080" y="777240"/>
            <a:ext cx="5669280" cy="502920"/>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연간 약 6,105만 원의 과도한 건강보험료 부담 및 CEO 출구전략 부재.</a:t>
            </a:r>
            <a:endParaRPr lang="en-US" sz="1200" dirty="0"/>
          </a:p>
        </p:txBody>
      </p:sp>
      <p:sp>
        <p:nvSpPr>
          <p:cNvPr id="9" name="Shape 7"/>
          <p:cNvSpPr/>
          <p:nvPr/>
        </p:nvSpPr>
        <p:spPr>
          <a:xfrm>
            <a:off x="457200" y="1463040"/>
            <a:ext cx="8229600" cy="685800"/>
          </a:xfrm>
          <a:prstGeom prst="rect">
            <a:avLst/>
          </a:prstGeom>
          <a:solidFill>
            <a:srgbClr val="1E2F46"/>
          </a:solidFill>
          <a:ln w="12700">
            <a:solidFill>
              <a:srgbClr val="2E4065"/>
            </a:solidFill>
            <a:prstDash val="solid"/>
          </a:ln>
        </p:spPr>
      </p:sp>
      <p:sp>
        <p:nvSpPr>
          <p:cNvPr id="10" name="Text 8"/>
          <p:cNvSpPr/>
          <p:nvPr/>
        </p:nvSpPr>
        <p:spPr>
          <a:xfrm>
            <a:off x="548640" y="1554480"/>
            <a:ext cx="2286000" cy="502920"/>
          </a:xfrm>
          <a:prstGeom prst="rect">
            <a:avLst/>
          </a:prstGeom>
          <a:noFill/>
          <a:ln/>
        </p:spPr>
        <p:txBody>
          <a:bodyPr wrap="square" rtlCol="0" anchor="ctr"/>
          <a:lstStyle/>
          <a:p>
            <a:pPr indent="0" marL="0">
              <a:buNone/>
            </a:pPr>
            <a:r>
              <a:rPr lang="en-US" sz="1200" b="1" dirty="0">
                <a:solidFill>
                  <a:srgbClr val="C8962E"/>
                </a:solidFill>
                <a:latin typeface="맑은 고딕" pitchFamily="34" charset="0"/>
                <a:ea typeface="맑은 고딕" pitchFamily="34" charset="-122"/>
                <a:cs typeface="맑은 고딕" pitchFamily="34" charset="-120"/>
              </a:rPr>
              <a:t>해결 구조</a:t>
            </a:r>
            <a:endParaRPr lang="en-US" sz="1200" dirty="0"/>
          </a:p>
        </p:txBody>
      </p:sp>
      <p:sp>
        <p:nvSpPr>
          <p:cNvPr id="11" name="Text 9"/>
          <p:cNvSpPr/>
          <p:nvPr/>
        </p:nvSpPr>
        <p:spPr>
          <a:xfrm>
            <a:off x="2926080" y="1554480"/>
            <a:ext cx="5669280" cy="502920"/>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소득 다변화 (급여 조정, 비과세) + 건보료 제외 '임원 퇴직금' 재원 확보 (연 6천만 원).</a:t>
            </a:r>
            <a:endParaRPr lang="en-US" sz="1200" dirty="0"/>
          </a:p>
        </p:txBody>
      </p:sp>
      <p:sp>
        <p:nvSpPr>
          <p:cNvPr id="12" name="Shape 10"/>
          <p:cNvSpPr/>
          <p:nvPr/>
        </p:nvSpPr>
        <p:spPr>
          <a:xfrm>
            <a:off x="457200" y="2240280"/>
            <a:ext cx="8229600" cy="685800"/>
          </a:xfrm>
          <a:prstGeom prst="rect">
            <a:avLst/>
          </a:prstGeom>
          <a:solidFill>
            <a:srgbClr val="233552"/>
          </a:solidFill>
          <a:ln w="12700">
            <a:solidFill>
              <a:srgbClr val="2E4065"/>
            </a:solidFill>
            <a:prstDash val="solid"/>
          </a:ln>
        </p:spPr>
      </p:sp>
      <p:sp>
        <p:nvSpPr>
          <p:cNvPr id="13" name="Text 11"/>
          <p:cNvSpPr/>
          <p:nvPr/>
        </p:nvSpPr>
        <p:spPr>
          <a:xfrm>
            <a:off x="548640" y="2331720"/>
            <a:ext cx="2286000" cy="502920"/>
          </a:xfrm>
          <a:prstGeom prst="rect">
            <a:avLst/>
          </a:prstGeom>
          <a:noFill/>
          <a:ln/>
        </p:spPr>
        <p:txBody>
          <a:bodyPr wrap="square" rtlCol="0" anchor="ctr"/>
          <a:lstStyle/>
          <a:p>
            <a:pPr indent="0" marL="0">
              <a:buNone/>
            </a:pPr>
            <a:r>
              <a:rPr lang="en-US" sz="1200" b="1" dirty="0">
                <a:solidFill>
                  <a:srgbClr val="C8962E"/>
                </a:solidFill>
                <a:latin typeface="맑은 고딕" pitchFamily="34" charset="0"/>
                <a:ea typeface="맑은 고딕" pitchFamily="34" charset="-122"/>
                <a:cs typeface="맑은 고딕" pitchFamily="34" charset="-120"/>
              </a:rPr>
              <a:t>CEO 건보료 절감</a:t>
            </a:r>
            <a:endParaRPr lang="en-US" sz="1200" dirty="0"/>
          </a:p>
        </p:txBody>
      </p:sp>
      <p:sp>
        <p:nvSpPr>
          <p:cNvPr id="14" name="Text 12"/>
          <p:cNvSpPr/>
          <p:nvPr/>
        </p:nvSpPr>
        <p:spPr>
          <a:xfrm>
            <a:off x="2926080" y="2331720"/>
            <a:ext cx="5669280" cy="502920"/>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(Before) 연 6,105만 원 → (After) 연 1,361만 원 = 🔻 연 4,744만 원 절감</a:t>
            </a:r>
            <a:endParaRPr lang="en-US" sz="1200" dirty="0"/>
          </a:p>
        </p:txBody>
      </p:sp>
      <p:sp>
        <p:nvSpPr>
          <p:cNvPr id="15" name="Shape 13"/>
          <p:cNvSpPr/>
          <p:nvPr/>
        </p:nvSpPr>
        <p:spPr>
          <a:xfrm>
            <a:off x="457200" y="3017520"/>
            <a:ext cx="8229600" cy="685800"/>
          </a:xfrm>
          <a:prstGeom prst="rect">
            <a:avLst/>
          </a:prstGeom>
          <a:solidFill>
            <a:srgbClr val="1E2F46"/>
          </a:solidFill>
          <a:ln w="12700">
            <a:solidFill>
              <a:srgbClr val="2E4065"/>
            </a:solidFill>
            <a:prstDash val="solid"/>
          </a:ln>
        </p:spPr>
      </p:sp>
      <p:sp>
        <p:nvSpPr>
          <p:cNvPr id="16" name="Text 14"/>
          <p:cNvSpPr/>
          <p:nvPr/>
        </p:nvSpPr>
        <p:spPr>
          <a:xfrm>
            <a:off x="548640" y="3108960"/>
            <a:ext cx="2286000" cy="502920"/>
          </a:xfrm>
          <a:prstGeom prst="rect">
            <a:avLst/>
          </a:prstGeom>
          <a:noFill/>
          <a:ln/>
        </p:spPr>
        <p:txBody>
          <a:bodyPr wrap="square" rtlCol="0" anchor="ctr"/>
          <a:lstStyle/>
          <a:p>
            <a:pPr indent="0" marL="0">
              <a:buNone/>
            </a:pPr>
            <a:r>
              <a:rPr lang="en-US" sz="1200" b="1" dirty="0">
                <a:solidFill>
                  <a:srgbClr val="C8962E"/>
                </a:solidFill>
                <a:latin typeface="맑은 고딕" pitchFamily="34" charset="0"/>
                <a:ea typeface="맑은 고딕" pitchFamily="34" charset="-122"/>
                <a:cs typeface="맑은 고딕" pitchFamily="34" charset="-120"/>
              </a:rPr>
              <a:t>법인세 절감</a:t>
            </a:r>
            <a:endParaRPr lang="en-US" sz="1200" dirty="0"/>
          </a:p>
        </p:txBody>
      </p:sp>
      <p:sp>
        <p:nvSpPr>
          <p:cNvPr id="17" name="Text 15"/>
          <p:cNvSpPr/>
          <p:nvPr/>
        </p:nvSpPr>
        <p:spPr>
          <a:xfrm>
            <a:off x="2926080" y="3108960"/>
            <a:ext cx="5669280" cy="502920"/>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퇴직금 재원 비용 처리 → 🔻 연 1,254만 원 절감</a:t>
            </a:r>
            <a:endParaRPr lang="en-US" sz="1200" dirty="0"/>
          </a:p>
        </p:txBody>
      </p:sp>
      <p:sp>
        <p:nvSpPr>
          <p:cNvPr id="18" name="Shape 16"/>
          <p:cNvSpPr/>
          <p:nvPr/>
        </p:nvSpPr>
        <p:spPr>
          <a:xfrm>
            <a:off x="457200" y="3794760"/>
            <a:ext cx="8229600" cy="685800"/>
          </a:xfrm>
          <a:prstGeom prst="rect">
            <a:avLst/>
          </a:prstGeom>
          <a:solidFill>
            <a:srgbClr val="233552"/>
          </a:solidFill>
          <a:ln w="12700">
            <a:solidFill>
              <a:srgbClr val="2E4065"/>
            </a:solidFill>
            <a:prstDash val="solid"/>
          </a:ln>
        </p:spPr>
      </p:sp>
      <p:sp>
        <p:nvSpPr>
          <p:cNvPr id="19" name="Text 17"/>
          <p:cNvSpPr/>
          <p:nvPr/>
        </p:nvSpPr>
        <p:spPr>
          <a:xfrm>
            <a:off x="548640" y="3886200"/>
            <a:ext cx="2286000" cy="502920"/>
          </a:xfrm>
          <a:prstGeom prst="rect">
            <a:avLst/>
          </a:prstGeom>
          <a:noFill/>
          <a:ln/>
        </p:spPr>
        <p:txBody>
          <a:bodyPr wrap="square" rtlCol="0" anchor="ctr"/>
          <a:lstStyle/>
          <a:p>
            <a:pPr indent="0" marL="0">
              <a:buNone/>
            </a:pPr>
            <a:r>
              <a:rPr lang="en-US" sz="1200" b="1" dirty="0">
                <a:solidFill>
                  <a:srgbClr val="C8962E"/>
                </a:solidFill>
                <a:latin typeface="맑은 고딕" pitchFamily="34" charset="0"/>
                <a:ea typeface="맑은 고딕" pitchFamily="34" charset="-122"/>
                <a:cs typeface="맑은 고딕" pitchFamily="34" charset="-120"/>
              </a:rPr>
              <a:t>총 재무개선 효과</a:t>
            </a:r>
            <a:endParaRPr lang="en-US" sz="1200" dirty="0"/>
          </a:p>
        </p:txBody>
      </p:sp>
      <p:sp>
        <p:nvSpPr>
          <p:cNvPr id="20" name="Text 18"/>
          <p:cNvSpPr/>
          <p:nvPr/>
        </p:nvSpPr>
        <p:spPr>
          <a:xfrm>
            <a:off x="2926080" y="3886200"/>
            <a:ext cx="5669280" cy="502920"/>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 연간 약 5,998만 원 (4,744 + 1,254)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600" b="1" dirty="0">
                <a:solidFill>
                  <a:srgbClr val="1B2A4A"/>
                </a:solidFill>
                <a:latin typeface="맑은 고딕" pitchFamily="34" charset="0"/>
                <a:ea typeface="맑은 고딕" pitchFamily="34" charset="-122"/>
                <a:cs typeface="맑은 고딕" pitchFamily="34" charset="-120"/>
              </a:rPr>
              <a:t>IX. 컨설팅 시나리오</a:t>
            </a:r>
            <a:endParaRPr lang="en-US" sz="1600" dirty="0"/>
          </a:p>
        </p:txBody>
      </p:sp>
      <p:sp>
        <p:nvSpPr>
          <p:cNvPr id="5" name="Text 3"/>
          <p:cNvSpPr/>
          <p:nvPr/>
        </p:nvSpPr>
        <p:spPr>
          <a:xfrm>
            <a:off x="457200" y="914400"/>
            <a:ext cx="8229600" cy="457200"/>
          </a:xfrm>
          <a:prstGeom prst="rect">
            <a:avLst/>
          </a:prstGeom>
          <a:noFill/>
          <a:ln/>
        </p:spPr>
        <p:txBody>
          <a:bodyPr wrap="square" rtlCol="0" anchor="ctr"/>
          <a:lstStyle/>
          <a:p>
            <a:pPr indent="0" marL="0">
              <a:buNone/>
            </a:pPr>
            <a:r>
              <a:rPr lang="en-US" sz="1100" i="1" dirty="0">
                <a:solidFill>
                  <a:srgbClr val="4A5568"/>
                </a:solidFill>
                <a:latin typeface="맑은 고딕" pitchFamily="34" charset="0"/>
                <a:ea typeface="맑은 고딕" pitchFamily="34" charset="-122"/>
                <a:cs typeface="맑은 고딕" pitchFamily="34" charset="-120"/>
              </a:rPr>
              <a:t>상담주제: "대표님, 월급보다 '건보료 과표에서 배제되는 퇴직소득 중심의 장기자산'을 만드셔야 합니다: 건보료 절감과 퇴직금 마련 동시 해결 전략"</a:t>
            </a:r>
            <a:endParaRPr lang="en-US" sz="1100" dirty="0"/>
          </a:p>
        </p:txBody>
      </p:sp>
      <p:sp>
        <p:nvSpPr>
          <p:cNvPr id="6" name="Text 4"/>
          <p:cNvSpPr/>
          <p:nvPr/>
        </p:nvSpPr>
        <p:spPr>
          <a:xfrm>
            <a:off x="457200" y="146304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1. 상담 시작: 공감대 형성 및 문제 제기</a:t>
            </a:r>
            <a:endParaRPr lang="en-US" sz="1300" dirty="0"/>
          </a:p>
        </p:txBody>
      </p:sp>
      <p:sp>
        <p:nvSpPr>
          <p:cNvPr id="7" name="Shape 5"/>
          <p:cNvSpPr/>
          <p:nvPr/>
        </p:nvSpPr>
        <p:spPr>
          <a:xfrm>
            <a:off x="457200" y="1828800"/>
            <a:ext cx="8046720" cy="960120"/>
          </a:xfrm>
          <a:prstGeom prst="rect">
            <a:avLst/>
          </a:prstGeom>
          <a:solidFill>
            <a:srgbClr val="FFFFFF"/>
          </a:solidFill>
          <a:ln w="25400">
            <a:solidFill>
              <a:srgbClr val="3B5BDB"/>
            </a:solidFill>
            <a:prstDash val="solid"/>
          </a:ln>
        </p:spPr>
      </p:sp>
      <p:sp>
        <p:nvSpPr>
          <p:cNvPr id="8" name="Shape 6"/>
          <p:cNvSpPr/>
          <p:nvPr/>
        </p:nvSpPr>
        <p:spPr>
          <a:xfrm>
            <a:off x="457200" y="1828800"/>
            <a:ext cx="54864" cy="960120"/>
          </a:xfrm>
          <a:prstGeom prst="rect">
            <a:avLst/>
          </a:prstGeom>
          <a:solidFill>
            <a:srgbClr val="3B5BDB"/>
          </a:solidFill>
          <a:ln w="12700">
            <a:solidFill>
              <a:srgbClr val="3B5BDB"/>
            </a:solidFill>
            <a:prstDash val="solid"/>
          </a:ln>
        </p:spPr>
      </p:sp>
      <p:sp>
        <p:nvSpPr>
          <p:cNvPr id="9" name="Text 7"/>
          <p:cNvSpPr/>
          <p:nvPr/>
        </p:nvSpPr>
        <p:spPr>
          <a:xfrm>
            <a:off x="594360" y="1874520"/>
            <a:ext cx="2743200" cy="228600"/>
          </a:xfrm>
          <a:prstGeom prst="rect">
            <a:avLst/>
          </a:prstGeom>
          <a:noFill/>
          <a:ln/>
        </p:spPr>
        <p:txBody>
          <a:bodyPr wrap="square" rtlCol="0" anchor="ctr"/>
          <a:lstStyle/>
          <a:p>
            <a:pPr indent="0" marL="0">
              <a:buNone/>
            </a:pPr>
            <a:r>
              <a:rPr lang="en-US" sz="1000" b="1" dirty="0">
                <a:solidFill>
                  <a:srgbClr val="3B5BDB"/>
                </a:solidFill>
                <a:latin typeface="맑은 고딕" pitchFamily="34" charset="0"/>
                <a:ea typeface="맑은 고딕" pitchFamily="34" charset="-122"/>
                <a:cs typeface="맑은 고딕" pitchFamily="34" charset="-120"/>
              </a:rPr>
              <a:t>💼 컨설턴트</a:t>
            </a:r>
            <a:endParaRPr lang="en-US" sz="1000" dirty="0"/>
          </a:p>
        </p:txBody>
      </p:sp>
      <p:sp>
        <p:nvSpPr>
          <p:cNvPr id="10" name="Text 8"/>
          <p:cNvSpPr/>
          <p:nvPr/>
        </p:nvSpPr>
        <p:spPr>
          <a:xfrm>
            <a:off x="594360" y="2103120"/>
            <a:ext cx="7909560" cy="64008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"대표님, 올해도 회사 실적이 참 좋습니다. 정말 대단하십니다. 그런데 대표님, 이렇게 회사가 성장하고 대표님 소득이 늘어날수록 혹시 더 커지는 고민은 없으신가요? 제가 많은 대표님들을 뵙다 보니, 소득이 높아질수록 '건강보험료'가 거의 세금처럼 느껴진다고들 하십니다. 아마 대표님께서도 현재 월 건보료 상한액인 450만 원(정확히는 4,504,170원)에 장기요양보험료까지 합쳐 월 약 491만 원 가까이 내고 계실 텐데, 연간으로 보면 거의 6천만 원에 가까운 큰돈입니다."</a:t>
            </a:r>
            <a:endParaRPr lang="en-US" sz="1000" dirty="0"/>
          </a:p>
        </p:txBody>
      </p:sp>
      <p:sp>
        <p:nvSpPr>
          <p:cNvPr id="11" name="Shape 9"/>
          <p:cNvSpPr/>
          <p:nvPr/>
        </p:nvSpPr>
        <p:spPr>
          <a:xfrm>
            <a:off x="457200" y="2852928"/>
            <a:ext cx="8046720" cy="457200"/>
          </a:xfrm>
          <a:prstGeom prst="rect">
            <a:avLst/>
          </a:prstGeom>
          <a:solidFill>
            <a:srgbClr val="FDF4FF"/>
          </a:solidFill>
          <a:ln w="25400">
            <a:solidFill>
              <a:srgbClr val="A855F7"/>
            </a:solidFill>
            <a:prstDash val="solid"/>
          </a:ln>
        </p:spPr>
      </p:sp>
      <p:sp>
        <p:nvSpPr>
          <p:cNvPr id="12" name="Shape 10"/>
          <p:cNvSpPr/>
          <p:nvPr/>
        </p:nvSpPr>
        <p:spPr>
          <a:xfrm>
            <a:off x="457200" y="2852928"/>
            <a:ext cx="54864" cy="457200"/>
          </a:xfrm>
          <a:prstGeom prst="rect">
            <a:avLst/>
          </a:prstGeom>
          <a:solidFill>
            <a:srgbClr val="A855F7"/>
          </a:solidFill>
          <a:ln w="12700">
            <a:solidFill>
              <a:srgbClr val="A855F7"/>
            </a:solidFill>
            <a:prstDash val="solid"/>
          </a:ln>
        </p:spPr>
      </p:sp>
      <p:sp>
        <p:nvSpPr>
          <p:cNvPr id="13" name="Text 11"/>
          <p:cNvSpPr/>
          <p:nvPr/>
        </p:nvSpPr>
        <p:spPr>
          <a:xfrm>
            <a:off x="594360" y="2880360"/>
            <a:ext cx="7909560" cy="39319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CEO (고객) "아... 그거 정말 제 얘기네요. 매달 고지서 볼 때마다 한숨이 나옵니다. 월급에서 빠져나가는 돈이 너무 커요."</a:t>
            </a:r>
            <a:endParaRPr lang="en-US" sz="10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26 / 40</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2. 문제 인식: 구체적인 데이터로 심각성 환기</a:t>
            </a:r>
            <a:endParaRPr lang="en-US" sz="1300" dirty="0"/>
          </a:p>
        </p:txBody>
      </p:sp>
      <p:sp>
        <p:nvSpPr>
          <p:cNvPr id="5" name="Shape 3"/>
          <p:cNvSpPr/>
          <p:nvPr/>
        </p:nvSpPr>
        <p:spPr>
          <a:xfrm>
            <a:off x="457200" y="868680"/>
            <a:ext cx="8046720" cy="685800"/>
          </a:xfrm>
          <a:prstGeom prst="rect">
            <a:avLst/>
          </a:prstGeom>
          <a:solidFill>
            <a:srgbClr val="FFFFFF"/>
          </a:solidFill>
          <a:ln w="25400">
            <a:solidFill>
              <a:srgbClr val="3B5BDB"/>
            </a:solidFill>
            <a:prstDash val="solid"/>
          </a:ln>
        </p:spPr>
      </p:sp>
      <p:sp>
        <p:nvSpPr>
          <p:cNvPr id="6" name="Shape 4"/>
          <p:cNvSpPr/>
          <p:nvPr/>
        </p:nvSpPr>
        <p:spPr>
          <a:xfrm>
            <a:off x="457200" y="868680"/>
            <a:ext cx="54864" cy="685800"/>
          </a:xfrm>
          <a:prstGeom prst="rect">
            <a:avLst/>
          </a:prstGeom>
          <a:solidFill>
            <a:srgbClr val="3B5BDB"/>
          </a:solidFill>
          <a:ln w="12700">
            <a:solidFill>
              <a:srgbClr val="3B5BDB"/>
            </a:solidFill>
            <a:prstDash val="solid"/>
          </a:ln>
        </p:spPr>
      </p:sp>
      <p:sp>
        <p:nvSpPr>
          <p:cNvPr id="7" name="Text 5"/>
          <p:cNvSpPr/>
          <p:nvPr/>
        </p:nvSpPr>
        <p:spPr>
          <a:xfrm>
            <a:off x="594360" y="896112"/>
            <a:ext cx="7909560" cy="62179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컨설턴트 "이 6천만 원에 가까운 돈은, 대표님께서 수령하시는 급여와 상여가 모두 '근로소득'으로 잡히기 때문에 발생하는 비용입니다. 사실상 동일한 금액을 벌더라도, 어떤 형태로 받으시는지에 따라 이 비용은 수천만 원까지 차이가 날 수 있습니다. 현재 대표님의 소득 구조는 세금과 보험료 측면에서 가장 불리한 구조라고 할 수 있습니다. 이대로 두시면, 앞으로 10년간 건보료로만 5억 원 이상을 납부하시게 될 수도 있습니다."</a:t>
            </a:r>
            <a:endParaRPr lang="en-US" sz="1000" dirty="0"/>
          </a:p>
        </p:txBody>
      </p:sp>
      <p:sp>
        <p:nvSpPr>
          <p:cNvPr id="8" name="Shape 6"/>
          <p:cNvSpPr/>
          <p:nvPr/>
        </p:nvSpPr>
        <p:spPr>
          <a:xfrm>
            <a:off x="457200" y="1600200"/>
            <a:ext cx="8046720" cy="384048"/>
          </a:xfrm>
          <a:prstGeom prst="rect">
            <a:avLst/>
          </a:prstGeom>
          <a:solidFill>
            <a:srgbClr val="FDF4FF"/>
          </a:solidFill>
          <a:ln w="25400">
            <a:solidFill>
              <a:srgbClr val="A855F7"/>
            </a:solidFill>
            <a:prstDash val="solid"/>
          </a:ln>
        </p:spPr>
      </p:sp>
      <p:sp>
        <p:nvSpPr>
          <p:cNvPr id="9" name="Shape 7"/>
          <p:cNvSpPr/>
          <p:nvPr/>
        </p:nvSpPr>
        <p:spPr>
          <a:xfrm>
            <a:off x="457200" y="1600200"/>
            <a:ext cx="54864" cy="384048"/>
          </a:xfrm>
          <a:prstGeom prst="rect">
            <a:avLst/>
          </a:prstGeom>
          <a:solidFill>
            <a:srgbClr val="A855F7"/>
          </a:solidFill>
          <a:ln w="12700">
            <a:solidFill>
              <a:srgbClr val="A855F7"/>
            </a:solidFill>
            <a:prstDash val="solid"/>
          </a:ln>
        </p:spPr>
      </p:sp>
      <p:sp>
        <p:nvSpPr>
          <p:cNvPr id="10" name="Text 8"/>
          <p:cNvSpPr/>
          <p:nvPr/>
        </p:nvSpPr>
        <p:spPr>
          <a:xfrm>
            <a:off x="594360" y="1627632"/>
            <a:ext cx="7909560" cy="33832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CEO (고객) "10년에 5억이라니... 그렇게 계산해 본 적은 없는데, 정말 심각하네요. 방법이 없을까요?"</a:t>
            </a:r>
            <a:endParaRPr lang="en-US" sz="1000" dirty="0"/>
          </a:p>
        </p:txBody>
      </p:sp>
      <p:sp>
        <p:nvSpPr>
          <p:cNvPr id="11" name="Text 9"/>
          <p:cNvSpPr/>
          <p:nvPr/>
        </p:nvSpPr>
        <p:spPr>
          <a:xfrm>
            <a:off x="457200" y="205740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3. 솔루션 제언: 명확한 대안과 기대효과 제시</a:t>
            </a:r>
            <a:endParaRPr lang="en-US" sz="1300" dirty="0"/>
          </a:p>
        </p:txBody>
      </p:sp>
      <p:sp>
        <p:nvSpPr>
          <p:cNvPr id="12" name="Shape 10"/>
          <p:cNvSpPr/>
          <p:nvPr/>
        </p:nvSpPr>
        <p:spPr>
          <a:xfrm>
            <a:off x="457200" y="2423160"/>
            <a:ext cx="8046720" cy="1325880"/>
          </a:xfrm>
          <a:prstGeom prst="rect">
            <a:avLst/>
          </a:prstGeom>
          <a:solidFill>
            <a:srgbClr val="FFFFFF"/>
          </a:solidFill>
          <a:ln w="25400">
            <a:solidFill>
              <a:srgbClr val="3B5BDB"/>
            </a:solidFill>
            <a:prstDash val="solid"/>
          </a:ln>
        </p:spPr>
      </p:sp>
      <p:sp>
        <p:nvSpPr>
          <p:cNvPr id="13" name="Shape 11"/>
          <p:cNvSpPr/>
          <p:nvPr/>
        </p:nvSpPr>
        <p:spPr>
          <a:xfrm>
            <a:off x="457200" y="2423160"/>
            <a:ext cx="54864" cy="1325880"/>
          </a:xfrm>
          <a:prstGeom prst="rect">
            <a:avLst/>
          </a:prstGeom>
          <a:solidFill>
            <a:srgbClr val="3B5BDB"/>
          </a:solidFill>
          <a:ln w="12700">
            <a:solidFill>
              <a:srgbClr val="3B5BDB"/>
            </a:solidFill>
            <a:prstDash val="solid"/>
          </a:ln>
        </p:spPr>
      </p:sp>
      <p:sp>
        <p:nvSpPr>
          <p:cNvPr id="14" name="Text 12"/>
          <p:cNvSpPr/>
          <p:nvPr/>
        </p:nvSpPr>
        <p:spPr>
          <a:xfrm>
            <a:off x="594360" y="2450592"/>
            <a:ext cx="7909560" cy="126187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컨설턴트 "이러한 고민을 해결해 드릴 수 있는 핵심 전략으로, 대표님의 소득 구조를 최적화하는 방안을 제안 드립니다. 첫째, 급여 수준을 일부 조정하고 비과세 항목을 적극 활용하여 보수월액 자체를 낮춥니다. 둘째, 상여금을 '배당'으로 전환하는 방안을 검토해야 합니다. 다만 이 부분은 신중한 접근이 필요합니다. 대표님처럼 이미 보수월액 상한에 도달하신 경우, 상여금은 추가 건보료가 없지만 배당은 '소득월액보험료'가 연간 약 716만 원 별도로 부과됩니다. 따라서 총 세부담과 보험료를 정밀하게 계산하여 실익을 따져보는 과정이 반드시 필요합니다. 그리고 가장 확실하고 효과적인 세 번째 전략은, 건강보험료가 전혀 부과되지 않는 '임원 퇴직금' 재원을 매년 합법적으로 쌓아가는 것입니다."</a:t>
            </a:r>
            <a:endParaRPr lang="en-US" sz="1000" dirty="0"/>
          </a:p>
        </p:txBody>
      </p:sp>
      <p:sp>
        <p:nvSpPr>
          <p:cNvPr id="15" name="Shape 13"/>
          <p:cNvSpPr/>
          <p:nvPr/>
        </p:nvSpPr>
        <p:spPr>
          <a:xfrm>
            <a:off x="457200" y="3794760"/>
            <a:ext cx="8046720" cy="384048"/>
          </a:xfrm>
          <a:prstGeom prst="rect">
            <a:avLst/>
          </a:prstGeom>
          <a:solidFill>
            <a:srgbClr val="FDF4FF"/>
          </a:solidFill>
          <a:ln w="25400">
            <a:solidFill>
              <a:srgbClr val="A855F7"/>
            </a:solidFill>
            <a:prstDash val="solid"/>
          </a:ln>
        </p:spPr>
      </p:sp>
      <p:sp>
        <p:nvSpPr>
          <p:cNvPr id="16" name="Shape 14"/>
          <p:cNvSpPr/>
          <p:nvPr/>
        </p:nvSpPr>
        <p:spPr>
          <a:xfrm>
            <a:off x="457200" y="3794760"/>
            <a:ext cx="54864" cy="384048"/>
          </a:xfrm>
          <a:prstGeom prst="rect">
            <a:avLst/>
          </a:prstGeom>
          <a:solidFill>
            <a:srgbClr val="A855F7"/>
          </a:solidFill>
          <a:ln w="12700">
            <a:solidFill>
              <a:srgbClr val="A855F7"/>
            </a:solidFill>
            <a:prstDash val="solid"/>
          </a:ln>
        </p:spPr>
      </p:sp>
      <p:sp>
        <p:nvSpPr>
          <p:cNvPr id="17" name="Text 15"/>
          <p:cNvSpPr/>
          <p:nvPr/>
        </p:nvSpPr>
        <p:spPr>
          <a:xfrm>
            <a:off x="594360" y="3822192"/>
            <a:ext cx="7909560" cy="33832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CEO (고객) "듣고 보니 솔깃하네요. 특히 퇴직금은 건보료가 안 붙는다는 게 매력적인데... 그럼 당장 제 급여를 줄이고 그걸 다 퇴직금으로 적립하면 되는 겁니까? 그리고 배당은 오히려 보험료가 더 나온다니, 그건 안 하는 게 낫겠네요?"</a:t>
            </a:r>
            <a:endParaRPr lang="en-US" sz="10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27 / 40</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4. 현실성 강조: 실행 타임라인 명확화</a:t>
            </a:r>
            <a:endParaRPr lang="en-US" sz="1300" dirty="0"/>
          </a:p>
        </p:txBody>
      </p:sp>
      <p:sp>
        <p:nvSpPr>
          <p:cNvPr id="5" name="Shape 3"/>
          <p:cNvSpPr/>
          <p:nvPr/>
        </p:nvSpPr>
        <p:spPr>
          <a:xfrm>
            <a:off x="457200" y="868680"/>
            <a:ext cx="8046720" cy="1371600"/>
          </a:xfrm>
          <a:prstGeom prst="rect">
            <a:avLst/>
          </a:prstGeom>
          <a:solidFill>
            <a:srgbClr val="FFFFFF"/>
          </a:solidFill>
          <a:ln w="25400">
            <a:solidFill>
              <a:srgbClr val="3B5BDB"/>
            </a:solidFill>
            <a:prstDash val="solid"/>
          </a:ln>
        </p:spPr>
      </p:sp>
      <p:sp>
        <p:nvSpPr>
          <p:cNvPr id="6" name="Shape 4"/>
          <p:cNvSpPr/>
          <p:nvPr/>
        </p:nvSpPr>
        <p:spPr>
          <a:xfrm>
            <a:off x="457200" y="868680"/>
            <a:ext cx="54864" cy="1371600"/>
          </a:xfrm>
          <a:prstGeom prst="rect">
            <a:avLst/>
          </a:prstGeom>
          <a:solidFill>
            <a:srgbClr val="3B5BDB"/>
          </a:solidFill>
          <a:ln w="12700">
            <a:solidFill>
              <a:srgbClr val="3B5BDB"/>
            </a:solidFill>
            <a:prstDash val="solid"/>
          </a:ln>
        </p:spPr>
      </p:sp>
      <p:sp>
        <p:nvSpPr>
          <p:cNvPr id="7" name="Text 5"/>
          <p:cNvSpPr/>
          <p:nvPr/>
        </p:nvSpPr>
        <p:spPr>
          <a:xfrm>
            <a:off x="594360" y="896112"/>
            <a:ext cx="7909560" cy="130759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컨설턴트 "대표님, 아주 핵심적인 질문 두 가지를 주셨네요. 정확히 답변드리겠습니다. 먼저 '당장 급여를 줄여 퇴직금으로 적립'하는 것은, '다음 달부터 즉시' 실행할 수는 없습니다. 법적으로 안전하게 비용 인정을 받으려면 반드시 정관 변경과 주주총회 결의가 필요한데, 이게 바로 저희가 제안 드리는 '제도 정비' 단계입니다. 그래서 분기/사업연도 단위의 로드맵이 필요합니다. 그리고 '배당' 문제는 정말 예리하십니다. 대표님처럼 이미 보수월액 상한액을 내고 계신 분은, 상여금은 추가 건보료가 없지만 배당은 '소득월액보험료'가 새로 발생하기 때문에, 말씀하신 대로 배당 카드는 쓰지 않는 것이 더 유리합니다. 다만, 다른 대표님들은 상황에 따라 배당이 유리할 수도 있어 항상 비교가 필요합니다. 따라서 저희의 최적 전략은 '비과세 항목'을 먼저 챙기고, '배당은 보류'하되, '임원 퇴직금 제도'를 구축하는 데 집중하는 것입니다. 이 모든 과정을 현금흐름에 무리 없이 안전하게 진행하겠습니다."</a:t>
            </a:r>
            <a:endParaRPr lang="en-US" sz="1000" dirty="0"/>
          </a:p>
        </p:txBody>
      </p:sp>
      <p:sp>
        <p:nvSpPr>
          <p:cNvPr id="8" name="Text 6"/>
          <p:cNvSpPr/>
          <p:nvPr/>
        </p:nvSpPr>
        <p:spPr>
          <a:xfrm>
            <a:off x="457200" y="233172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5. 동의 유도: 실행 촉구 및 다음 단계 제안</a:t>
            </a:r>
            <a:endParaRPr lang="en-US" sz="1300" dirty="0"/>
          </a:p>
        </p:txBody>
      </p:sp>
      <p:sp>
        <p:nvSpPr>
          <p:cNvPr id="9" name="Shape 7"/>
          <p:cNvSpPr/>
          <p:nvPr/>
        </p:nvSpPr>
        <p:spPr>
          <a:xfrm>
            <a:off x="457200" y="2697480"/>
            <a:ext cx="8046720" cy="685800"/>
          </a:xfrm>
          <a:prstGeom prst="rect">
            <a:avLst/>
          </a:prstGeom>
          <a:solidFill>
            <a:srgbClr val="FFFFFF"/>
          </a:solidFill>
          <a:ln w="25400">
            <a:solidFill>
              <a:srgbClr val="3B5BDB"/>
            </a:solidFill>
            <a:prstDash val="solid"/>
          </a:ln>
        </p:spPr>
      </p:sp>
      <p:sp>
        <p:nvSpPr>
          <p:cNvPr id="10" name="Shape 8"/>
          <p:cNvSpPr/>
          <p:nvPr/>
        </p:nvSpPr>
        <p:spPr>
          <a:xfrm>
            <a:off x="457200" y="2697480"/>
            <a:ext cx="54864" cy="685800"/>
          </a:xfrm>
          <a:prstGeom prst="rect">
            <a:avLst/>
          </a:prstGeom>
          <a:solidFill>
            <a:srgbClr val="3B5BDB"/>
          </a:solidFill>
          <a:ln w="12700">
            <a:solidFill>
              <a:srgbClr val="3B5BDB"/>
            </a:solidFill>
            <a:prstDash val="solid"/>
          </a:ln>
        </p:spPr>
      </p:sp>
      <p:sp>
        <p:nvSpPr>
          <p:cNvPr id="11" name="Text 9"/>
          <p:cNvSpPr/>
          <p:nvPr/>
        </p:nvSpPr>
        <p:spPr>
          <a:xfrm>
            <a:off x="594360" y="2724912"/>
            <a:ext cx="7909560" cy="62179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컨설턴트 "대표님께서 연간 수천만 원의 현금 흐름을 바꾸고, 동시에 안정적인 노후자산까지 확보하실 수 있는 기회입니다. 제가 오늘 말씀드린 내용을 바탕으로 대표님만을 위한 구체적인 실행 계획안과 정관 개정안 초안, 그리고 현금흐름 시뮬레이션을 준비해 드릴까요? 검토해보시고 결정만 하시면 됩니다."</a:t>
            </a:r>
            <a:endParaRPr lang="en-US" sz="1000" dirty="0"/>
          </a:p>
        </p:txBody>
      </p:sp>
      <p:sp>
        <p:nvSpPr>
          <p:cNvPr id="12" name="Text 10"/>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28 / 40</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심화 응대 기법: 고객 반론 대응 (Q&amp;A)</a:t>
            </a:r>
            <a:endParaRPr lang="en-US" sz="1400" dirty="0"/>
          </a:p>
        </p:txBody>
      </p:sp>
      <p:sp>
        <p:nvSpPr>
          <p:cNvPr id="5" name="Text 3"/>
          <p:cNvSpPr/>
          <p:nvPr/>
        </p:nvSpPr>
        <p:spPr>
          <a:xfrm>
            <a:off x="457200" y="960120"/>
            <a:ext cx="8229600" cy="320040"/>
          </a:xfrm>
          <a:prstGeom prst="rect">
            <a:avLst/>
          </a:prstGeom>
          <a:noFill/>
          <a:ln/>
        </p:spPr>
        <p:txBody>
          <a:bodyPr wrap="square" rtlCol="0" anchor="ctr"/>
          <a:lstStyle/>
          <a:p>
            <a:pPr indent="0" marL="0">
              <a:buNone/>
            </a:pPr>
            <a:r>
              <a:rPr lang="en-US" sz="1100" b="1" dirty="0">
                <a:solidFill>
                  <a:srgbClr val="D4382C"/>
                </a:solidFill>
                <a:latin typeface="맑은 고딕" pitchFamily="34" charset="0"/>
                <a:ea typeface="맑은 고딕" pitchFamily="34" charset="-122"/>
                <a:cs typeface="맑은 고딕" pitchFamily="34" charset="-120"/>
              </a:rPr>
              <a:t>💸 비용 반론: "월 500만 원씩 퇴직금 재원을 적립하는 건 현금흐름에 부담됩니다."</a:t>
            </a:r>
            <a:endParaRPr lang="en-US" sz="1100" dirty="0"/>
          </a:p>
        </p:txBody>
      </p:sp>
      <p:sp>
        <p:nvSpPr>
          <p:cNvPr id="6" name="Shape 4"/>
          <p:cNvSpPr/>
          <p:nvPr/>
        </p:nvSpPr>
        <p:spPr>
          <a:xfrm>
            <a:off x="457200" y="1307592"/>
            <a:ext cx="8229600" cy="868680"/>
          </a:xfrm>
          <a:prstGeom prst="rect">
            <a:avLst/>
          </a:prstGeom>
          <a:solidFill>
            <a:srgbClr val="FFFFFF"/>
          </a:solidFill>
          <a:ln w="12700">
            <a:solidFill>
              <a:srgbClr val="3B5BDB"/>
            </a:solidFill>
            <a:prstDash val="solid"/>
          </a:ln>
        </p:spPr>
      </p:sp>
      <p:sp>
        <p:nvSpPr>
          <p:cNvPr id="7" name="Shape 5"/>
          <p:cNvSpPr/>
          <p:nvPr/>
        </p:nvSpPr>
        <p:spPr>
          <a:xfrm>
            <a:off x="457200" y="1307592"/>
            <a:ext cx="54864" cy="868680"/>
          </a:xfrm>
          <a:prstGeom prst="rect">
            <a:avLst/>
          </a:prstGeom>
          <a:solidFill>
            <a:srgbClr val="3B5BDB"/>
          </a:solidFill>
          <a:ln w="12700">
            <a:solidFill>
              <a:srgbClr val="3B5BDB"/>
            </a:solidFill>
            <a:prstDash val="solid"/>
          </a:ln>
        </p:spPr>
      </p:sp>
      <p:sp>
        <p:nvSpPr>
          <p:cNvPr id="8" name="Text 6"/>
          <p:cNvSpPr/>
          <p:nvPr/>
        </p:nvSpPr>
        <p:spPr>
          <a:xfrm>
            <a:off x="594360" y="1353312"/>
            <a:ext cx="8001000" cy="77724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응대법: "물론입니다, 대표님. 가장 중요한 것은 플랜을 '안정적으로 유지'하는 것입니다. 월 500만 원이 부담되신다면, 우선 월 200~300만 원 수준에서 시작하여 회사의 현금흐름이 안정되는 시점에 증액하는 '단계적 적립 방식'을 적용할 수 있습니다. 연간 6천만 원의 법인세 절감 효과(약 1,254만 원)를 전부 누리지 못하더라도, 일단 제도를 마련하고 적은 금액이라도 시작하는 것이 '0원'인 상태보다 훨씬 유리합니다. 대표님의 현금흐름에 가장 적합한 최적의 플랜을 함께 찾아보겠습니다."</a:t>
            </a:r>
            <a:endParaRPr lang="en-US" sz="1000" dirty="0"/>
          </a:p>
        </p:txBody>
      </p:sp>
      <p:sp>
        <p:nvSpPr>
          <p:cNvPr id="9" name="Text 7"/>
          <p:cNvSpPr/>
          <p:nvPr/>
        </p:nvSpPr>
        <p:spPr>
          <a:xfrm>
            <a:off x="457200" y="2313432"/>
            <a:ext cx="8229600" cy="320040"/>
          </a:xfrm>
          <a:prstGeom prst="rect">
            <a:avLst/>
          </a:prstGeom>
          <a:noFill/>
          <a:ln/>
        </p:spPr>
        <p:txBody>
          <a:bodyPr wrap="square" rtlCol="0" anchor="ctr"/>
          <a:lstStyle/>
          <a:p>
            <a:pPr indent="0" marL="0">
              <a:buNone/>
            </a:pPr>
            <a:r>
              <a:rPr lang="en-US" sz="1100" b="1" dirty="0">
                <a:solidFill>
                  <a:srgbClr val="D4382C"/>
                </a:solidFill>
                <a:latin typeface="맑은 고딕" pitchFamily="34" charset="0"/>
                <a:ea typeface="맑은 고딕" pitchFamily="34" charset="-122"/>
                <a:cs typeface="맑은 고딕" pitchFamily="34" charset="-120"/>
              </a:rPr>
              <a:t>🤔 필요성 반론: "어차피 건보료 상한액 내고 있는데, 상여금을 더 받아도 보험료는 그대로 아닌가요?"</a:t>
            </a:r>
            <a:endParaRPr lang="en-US" sz="1100" dirty="0"/>
          </a:p>
        </p:txBody>
      </p:sp>
      <p:sp>
        <p:nvSpPr>
          <p:cNvPr id="10" name="Shape 8"/>
          <p:cNvSpPr/>
          <p:nvPr/>
        </p:nvSpPr>
        <p:spPr>
          <a:xfrm>
            <a:off x="457200" y="2660904"/>
            <a:ext cx="8229600" cy="868680"/>
          </a:xfrm>
          <a:prstGeom prst="rect">
            <a:avLst/>
          </a:prstGeom>
          <a:solidFill>
            <a:srgbClr val="FFFFFF"/>
          </a:solidFill>
          <a:ln w="12700">
            <a:solidFill>
              <a:srgbClr val="3B5BDB"/>
            </a:solidFill>
            <a:prstDash val="solid"/>
          </a:ln>
        </p:spPr>
      </p:sp>
      <p:sp>
        <p:nvSpPr>
          <p:cNvPr id="11" name="Shape 9"/>
          <p:cNvSpPr/>
          <p:nvPr/>
        </p:nvSpPr>
        <p:spPr>
          <a:xfrm>
            <a:off x="457200" y="2660904"/>
            <a:ext cx="54864" cy="868680"/>
          </a:xfrm>
          <a:prstGeom prst="rect">
            <a:avLst/>
          </a:prstGeom>
          <a:solidFill>
            <a:srgbClr val="3B5BDB"/>
          </a:solidFill>
          <a:ln w="12700">
            <a:solidFill>
              <a:srgbClr val="3B5BDB"/>
            </a:solidFill>
            <a:prstDash val="solid"/>
          </a:ln>
        </p:spPr>
      </p:sp>
      <p:sp>
        <p:nvSpPr>
          <p:cNvPr id="12" name="Text 10"/>
          <p:cNvSpPr/>
          <p:nvPr/>
        </p:nvSpPr>
        <p:spPr>
          <a:xfrm>
            <a:off x="594360" y="2706624"/>
            <a:ext cx="8001000" cy="77724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응대법: "매우 정확한 지적이십니다. 맞습니다, 이미 상한액을 내고 계셔서 상여금을 더 받으셔도 '보수월액 보험료'는 오르지 않습니다. 하지만 바로 그 점이 이 플랜의 핵심입니다. 현재 상한액을 초과하는 급여(약 1억 원의 상여금 등)는 사실상 '건보료 없이' 가져가시는 셈입니다. 만약 이 금액을 '퇴직금 재원'으로 돌린다면, 이 돈은 '건보료 없이' 적립되는 동시에 '법인세 절감' 효과까지 추가로 얻게 됩니다. 즉, '건보료 없는 소득'을 '건보료 없고 법인세까지 절감되는 소득'으로 바꾸는, 훨씬 더 효율적인 자산 이전 전략이 되는 것입니다."</a:t>
            </a:r>
            <a:endParaRPr lang="en-US" sz="1000" dirty="0"/>
          </a:p>
        </p:txBody>
      </p:sp>
      <p:sp>
        <p:nvSpPr>
          <p:cNvPr id="13" name="Text 11"/>
          <p:cNvSpPr/>
          <p:nvPr/>
        </p:nvSpPr>
        <p:spPr>
          <a:xfrm>
            <a:off x="457200" y="3666744"/>
            <a:ext cx="8229600" cy="320040"/>
          </a:xfrm>
          <a:prstGeom prst="rect">
            <a:avLst/>
          </a:prstGeom>
          <a:noFill/>
          <a:ln/>
        </p:spPr>
        <p:txBody>
          <a:bodyPr wrap="square" rtlCol="0" anchor="ctr"/>
          <a:lstStyle/>
          <a:p>
            <a:pPr indent="0" marL="0">
              <a:buNone/>
            </a:pPr>
            <a:r>
              <a:rPr lang="en-US" sz="1100" b="1" dirty="0">
                <a:solidFill>
                  <a:srgbClr val="D4382C"/>
                </a:solidFill>
                <a:latin typeface="맑은 고딕" pitchFamily="34" charset="0"/>
                <a:ea typeface="맑은 고딕" pitchFamily="34" charset="-122"/>
                <a:cs typeface="맑은 고딕" pitchFamily="34" charset="-120"/>
              </a:rPr>
              <a:t>🕒 실행 지연 반론: "좋은 건 알겠는데, 너무 복잡하네요. 내년에 다시 검토해 봅시다."</a:t>
            </a:r>
            <a:endParaRPr lang="en-US" sz="1100" dirty="0"/>
          </a:p>
        </p:txBody>
      </p:sp>
      <p:sp>
        <p:nvSpPr>
          <p:cNvPr id="14" name="Shape 12"/>
          <p:cNvSpPr/>
          <p:nvPr/>
        </p:nvSpPr>
        <p:spPr>
          <a:xfrm>
            <a:off x="457200" y="4014216"/>
            <a:ext cx="8229600" cy="868680"/>
          </a:xfrm>
          <a:prstGeom prst="rect">
            <a:avLst/>
          </a:prstGeom>
          <a:solidFill>
            <a:srgbClr val="FFFFFF"/>
          </a:solidFill>
          <a:ln w="12700">
            <a:solidFill>
              <a:srgbClr val="3B5BDB"/>
            </a:solidFill>
            <a:prstDash val="solid"/>
          </a:ln>
        </p:spPr>
      </p:sp>
      <p:sp>
        <p:nvSpPr>
          <p:cNvPr id="15" name="Shape 13"/>
          <p:cNvSpPr/>
          <p:nvPr/>
        </p:nvSpPr>
        <p:spPr>
          <a:xfrm>
            <a:off x="457200" y="4014216"/>
            <a:ext cx="54864" cy="868680"/>
          </a:xfrm>
          <a:prstGeom prst="rect">
            <a:avLst/>
          </a:prstGeom>
          <a:solidFill>
            <a:srgbClr val="3B5BDB"/>
          </a:solidFill>
          <a:ln w="12700">
            <a:solidFill>
              <a:srgbClr val="3B5BDB"/>
            </a:solidFill>
            <a:prstDash val="solid"/>
          </a:ln>
        </p:spPr>
      </p:sp>
      <p:sp>
        <p:nvSpPr>
          <p:cNvPr id="16" name="Text 14"/>
          <p:cNvSpPr/>
          <p:nvPr/>
        </p:nvSpPr>
        <p:spPr>
          <a:xfrm>
            <a:off x="594360" y="4059936"/>
            <a:ext cx="8001000" cy="77724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 응대법: "네, 대표님. 절차 정비가 필요해 복잡하게 느끼실 수 있습니다. 하지만 이 플랜을 1년 미루시면 어떤 결과가 발생할까요? 첫째, 확정된 건보료 절감액 약 4,744만 원과 법인세 절감액 약 1,254만 원, 즉 연간 6천만 원에 가까운 재무개선 기회를 잃게 됩니다. 둘째, '임원 퇴직금'은 근속연수가 핵심인데, 1년을 미루시면 그만큼 인정받을 수 있는 퇴직소득 한도가 줄어들게 됩니다. 복잡한 서류 작업과 절차는 제가 전문가들과 함께 모두 처리해 드릴 수 있습니다. 대표님께서는 '결정'만 하시면, 이 모든 재무적 이익을 올해부터 바로 누리실 수 있습니다."</a:t>
            </a:r>
            <a:endParaRPr lang="en-US" sz="10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29 / 40</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(Appendix) — 1. 전문용어 설명</a:t>
            </a:r>
            <a:endParaRPr lang="en-US" sz="1400" dirty="0"/>
          </a:p>
        </p:txBody>
      </p:sp>
      <p:sp>
        <p:nvSpPr>
          <p:cNvPr id="5" name="Shape 3"/>
          <p:cNvSpPr/>
          <p:nvPr/>
        </p:nvSpPr>
        <p:spPr>
          <a:xfrm>
            <a:off x="457200" y="960120"/>
            <a:ext cx="54864" cy="685800"/>
          </a:xfrm>
          <a:prstGeom prst="rect">
            <a:avLst/>
          </a:prstGeom>
          <a:solidFill>
            <a:srgbClr val="C8962E"/>
          </a:solidFill>
          <a:ln w="12700">
            <a:solidFill>
              <a:srgbClr val="C8962E"/>
            </a:solidFill>
            <a:prstDash val="solid"/>
          </a:ln>
        </p:spPr>
      </p:sp>
      <p:sp>
        <p:nvSpPr>
          <p:cNvPr id="6" name="Shape 4"/>
          <p:cNvSpPr/>
          <p:nvPr/>
        </p:nvSpPr>
        <p:spPr>
          <a:xfrm>
            <a:off x="548640" y="960120"/>
            <a:ext cx="8138160" cy="685800"/>
          </a:xfrm>
          <a:prstGeom prst="rect">
            <a:avLst/>
          </a:prstGeom>
          <a:solidFill>
            <a:srgbClr val="FFFFFF"/>
          </a:solidFill>
          <a:ln w="12700">
            <a:solidFill>
              <a:srgbClr val="E2E8F0"/>
            </a:solidFill>
            <a:prstDash val="solid"/>
          </a:ln>
        </p:spPr>
      </p:sp>
      <p:sp>
        <p:nvSpPr>
          <p:cNvPr id="7" name="Text 5"/>
          <p:cNvSpPr/>
          <p:nvPr/>
        </p:nvSpPr>
        <p:spPr>
          <a:xfrm>
            <a:off x="640080" y="987552"/>
            <a:ext cx="18288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보수월액</a:t>
            </a:r>
            <a:endParaRPr lang="en-US" sz="1100" dirty="0"/>
          </a:p>
        </p:txBody>
      </p:sp>
      <p:sp>
        <p:nvSpPr>
          <p:cNvPr id="8" name="Text 6"/>
          <p:cNvSpPr/>
          <p:nvPr/>
        </p:nvSpPr>
        <p:spPr>
          <a:xfrm>
            <a:off x="2468880" y="1005840"/>
            <a:ext cx="6126480" cy="59436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직장가입자의 건강보험료 산정 기준이 되는 금액으로, 해당 연도에 받은 보수 총액을 근무 개월 수로 나눈 금액. 근로소득에서 비과세 소득을 제외한 금액을 의미. 2025년 기준 월 상한액은 1억 1,500만 원.</a:t>
            </a:r>
            <a:endParaRPr lang="en-US" sz="1000" dirty="0"/>
          </a:p>
        </p:txBody>
      </p:sp>
      <p:sp>
        <p:nvSpPr>
          <p:cNvPr id="9" name="Shape 7"/>
          <p:cNvSpPr/>
          <p:nvPr/>
        </p:nvSpPr>
        <p:spPr>
          <a:xfrm>
            <a:off x="457200" y="1737360"/>
            <a:ext cx="54864" cy="685800"/>
          </a:xfrm>
          <a:prstGeom prst="rect">
            <a:avLst/>
          </a:prstGeom>
          <a:solidFill>
            <a:srgbClr val="C8962E"/>
          </a:solidFill>
          <a:ln w="12700">
            <a:solidFill>
              <a:srgbClr val="C8962E"/>
            </a:solidFill>
            <a:prstDash val="solid"/>
          </a:ln>
        </p:spPr>
      </p:sp>
      <p:sp>
        <p:nvSpPr>
          <p:cNvPr id="10" name="Shape 8"/>
          <p:cNvSpPr/>
          <p:nvPr/>
        </p:nvSpPr>
        <p:spPr>
          <a:xfrm>
            <a:off x="548640" y="1737360"/>
            <a:ext cx="8138160" cy="685800"/>
          </a:xfrm>
          <a:prstGeom prst="rect">
            <a:avLst/>
          </a:prstGeom>
          <a:solidFill>
            <a:srgbClr val="FFFFFF"/>
          </a:solidFill>
          <a:ln w="12700">
            <a:solidFill>
              <a:srgbClr val="E2E8F0"/>
            </a:solidFill>
            <a:prstDash val="solid"/>
          </a:ln>
        </p:spPr>
      </p:sp>
      <p:sp>
        <p:nvSpPr>
          <p:cNvPr id="11" name="Text 9"/>
          <p:cNvSpPr/>
          <p:nvPr/>
        </p:nvSpPr>
        <p:spPr>
          <a:xfrm>
            <a:off x="640080" y="1764792"/>
            <a:ext cx="18288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소득월액</a:t>
            </a:r>
            <a:endParaRPr lang="en-US" sz="1100" dirty="0"/>
          </a:p>
        </p:txBody>
      </p:sp>
      <p:sp>
        <p:nvSpPr>
          <p:cNvPr id="12" name="Text 10"/>
          <p:cNvSpPr/>
          <p:nvPr/>
        </p:nvSpPr>
        <p:spPr>
          <a:xfrm>
            <a:off x="2468880" y="1783080"/>
            <a:ext cx="6126480" cy="59436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직장가입자가 보수 외에 얻는 소득(이자, 배당, 사업, 기타소득 등의 합)이 연간 2,000만 원을 초과할 경우, 초과분에 대해 별도로 부과되는 보험료의 산정 기준. 다만, 이자소득과 배당소득의 합계가 1,000만 원 이하인 경우 소득월액 산정에서 제외됨.</a:t>
            </a:r>
            <a:endParaRPr lang="en-US" sz="1000" dirty="0"/>
          </a:p>
        </p:txBody>
      </p:sp>
      <p:sp>
        <p:nvSpPr>
          <p:cNvPr id="13" name="Shape 11"/>
          <p:cNvSpPr/>
          <p:nvPr/>
        </p:nvSpPr>
        <p:spPr>
          <a:xfrm>
            <a:off x="457200" y="2514600"/>
            <a:ext cx="54864" cy="685800"/>
          </a:xfrm>
          <a:prstGeom prst="rect">
            <a:avLst/>
          </a:prstGeom>
          <a:solidFill>
            <a:srgbClr val="C8962E"/>
          </a:solidFill>
          <a:ln w="12700">
            <a:solidFill>
              <a:srgbClr val="C8962E"/>
            </a:solidFill>
            <a:prstDash val="solid"/>
          </a:ln>
        </p:spPr>
      </p:sp>
      <p:sp>
        <p:nvSpPr>
          <p:cNvPr id="14" name="Shape 12"/>
          <p:cNvSpPr/>
          <p:nvPr/>
        </p:nvSpPr>
        <p:spPr>
          <a:xfrm>
            <a:off x="548640" y="2514600"/>
            <a:ext cx="8138160" cy="685800"/>
          </a:xfrm>
          <a:prstGeom prst="rect">
            <a:avLst/>
          </a:prstGeom>
          <a:solidFill>
            <a:srgbClr val="FFFFFF"/>
          </a:solidFill>
          <a:ln w="12700">
            <a:solidFill>
              <a:srgbClr val="E2E8F0"/>
            </a:solidFill>
            <a:prstDash val="solid"/>
          </a:ln>
        </p:spPr>
      </p:sp>
      <p:sp>
        <p:nvSpPr>
          <p:cNvPr id="15" name="Text 13"/>
          <p:cNvSpPr/>
          <p:nvPr/>
        </p:nvSpPr>
        <p:spPr>
          <a:xfrm>
            <a:off x="640080" y="2542032"/>
            <a:ext cx="18288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임원퇴직금 지급규정</a:t>
            </a:r>
            <a:endParaRPr lang="en-US" sz="1100" dirty="0"/>
          </a:p>
        </p:txBody>
      </p:sp>
      <p:sp>
        <p:nvSpPr>
          <p:cNvPr id="16" name="Text 14"/>
          <p:cNvSpPr/>
          <p:nvPr/>
        </p:nvSpPr>
        <p:spPr>
          <a:xfrm>
            <a:off x="2468880" y="2560320"/>
            <a:ext cx="6126480" cy="59436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법인의 정관 또는 정관의 위임에 따라 임원의 퇴직금 산정 방식 및 지급 절차를 명시한 내부 규정. 이 규정에 따라 지급되는 퇴직금은 법인의 비용(손금)으로 인정됨. 2020년 1월 1일 이후 근무분에 대해서는 2배수 이내로 설정 시 손금 인정.</a:t>
            </a:r>
            <a:endParaRPr lang="en-US" sz="1000" dirty="0"/>
          </a:p>
        </p:txBody>
      </p:sp>
      <p:sp>
        <p:nvSpPr>
          <p:cNvPr id="17" name="Shape 15"/>
          <p:cNvSpPr/>
          <p:nvPr/>
        </p:nvSpPr>
        <p:spPr>
          <a:xfrm>
            <a:off x="457200" y="3291840"/>
            <a:ext cx="54864" cy="685800"/>
          </a:xfrm>
          <a:prstGeom prst="rect">
            <a:avLst/>
          </a:prstGeom>
          <a:solidFill>
            <a:srgbClr val="C8962E"/>
          </a:solidFill>
          <a:ln w="12700">
            <a:solidFill>
              <a:srgbClr val="C8962E"/>
            </a:solidFill>
            <a:prstDash val="solid"/>
          </a:ln>
        </p:spPr>
      </p:sp>
      <p:sp>
        <p:nvSpPr>
          <p:cNvPr id="18" name="Shape 16"/>
          <p:cNvSpPr/>
          <p:nvPr/>
        </p:nvSpPr>
        <p:spPr>
          <a:xfrm>
            <a:off x="548640" y="3291840"/>
            <a:ext cx="8138160" cy="685800"/>
          </a:xfrm>
          <a:prstGeom prst="rect">
            <a:avLst/>
          </a:prstGeom>
          <a:solidFill>
            <a:srgbClr val="FFFFFF"/>
          </a:solidFill>
          <a:ln w="12700">
            <a:solidFill>
              <a:srgbClr val="E2E8F0"/>
            </a:solidFill>
            <a:prstDash val="solid"/>
          </a:ln>
        </p:spPr>
      </p:sp>
      <p:sp>
        <p:nvSpPr>
          <p:cNvPr id="19" name="Text 17"/>
          <p:cNvSpPr/>
          <p:nvPr/>
        </p:nvSpPr>
        <p:spPr>
          <a:xfrm>
            <a:off x="640080" y="3319272"/>
            <a:ext cx="18288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장기요양보험료</a:t>
            </a:r>
            <a:endParaRPr lang="en-US" sz="1100" dirty="0"/>
          </a:p>
        </p:txBody>
      </p:sp>
      <p:sp>
        <p:nvSpPr>
          <p:cNvPr id="20" name="Text 18"/>
          <p:cNvSpPr/>
          <p:nvPr/>
        </p:nvSpPr>
        <p:spPr>
          <a:xfrm>
            <a:off x="2468880" y="3337560"/>
            <a:ext cx="6126480" cy="59436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건강보험료에 장기요양보험료율(2025년 기준 12.95%)을 곱하여 산정되는 보험료로, 건강보험료와 함께 납부됨.</a:t>
            </a:r>
            <a:endParaRPr lang="en-US" sz="1000" dirty="0"/>
          </a:p>
        </p:txBody>
      </p:sp>
      <p:sp>
        <p:nvSpPr>
          <p:cNvPr id="21" name="Shape 19"/>
          <p:cNvSpPr/>
          <p:nvPr/>
        </p:nvSpPr>
        <p:spPr>
          <a:xfrm>
            <a:off x="457200" y="4069080"/>
            <a:ext cx="54864" cy="685800"/>
          </a:xfrm>
          <a:prstGeom prst="rect">
            <a:avLst/>
          </a:prstGeom>
          <a:solidFill>
            <a:srgbClr val="C8962E"/>
          </a:solidFill>
          <a:ln w="12700">
            <a:solidFill>
              <a:srgbClr val="C8962E"/>
            </a:solidFill>
            <a:prstDash val="solid"/>
          </a:ln>
        </p:spPr>
      </p:sp>
      <p:sp>
        <p:nvSpPr>
          <p:cNvPr id="22" name="Shape 20"/>
          <p:cNvSpPr/>
          <p:nvPr/>
        </p:nvSpPr>
        <p:spPr>
          <a:xfrm>
            <a:off x="548640" y="4069080"/>
            <a:ext cx="8138160" cy="685800"/>
          </a:xfrm>
          <a:prstGeom prst="rect">
            <a:avLst/>
          </a:prstGeom>
          <a:solidFill>
            <a:srgbClr val="FFFFFF"/>
          </a:solidFill>
          <a:ln w="12700">
            <a:solidFill>
              <a:srgbClr val="E2E8F0"/>
            </a:solidFill>
            <a:prstDash val="solid"/>
          </a:ln>
        </p:spPr>
      </p:sp>
      <p:sp>
        <p:nvSpPr>
          <p:cNvPr id="23" name="Text 21"/>
          <p:cNvSpPr/>
          <p:nvPr/>
        </p:nvSpPr>
        <p:spPr>
          <a:xfrm>
            <a:off x="640080" y="4096512"/>
            <a:ext cx="18288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금융소득종합과세</a:t>
            </a:r>
            <a:endParaRPr lang="en-US" sz="1100" dirty="0"/>
          </a:p>
        </p:txBody>
      </p:sp>
      <p:sp>
        <p:nvSpPr>
          <p:cNvPr id="24" name="Text 22"/>
          <p:cNvSpPr/>
          <p:nvPr/>
        </p:nvSpPr>
        <p:spPr>
          <a:xfrm>
            <a:off x="2468880" y="4114800"/>
            <a:ext cx="6126480" cy="59436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연간 금융소득(이자+배당)이 2,000만 원을 초과하는 경우, 다른 종합소득과 합산하여 누진세율(최고 49.5%)로 과세되는 제도.</a:t>
            </a:r>
            <a:endParaRPr lang="en-US" sz="1000" dirty="0"/>
          </a:p>
        </p:txBody>
      </p:sp>
      <p:sp>
        <p:nvSpPr>
          <p:cNvPr id="25" name="Text 23"/>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30 / 40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2. FAQ (1~3)</a:t>
            </a:r>
            <a:endParaRPr lang="en-US" sz="1400" dirty="0"/>
          </a:p>
        </p:txBody>
      </p:sp>
      <p:sp>
        <p:nvSpPr>
          <p:cNvPr id="5" name="Text 3"/>
          <p:cNvSpPr/>
          <p:nvPr/>
        </p:nvSpPr>
        <p:spPr>
          <a:xfrm>
            <a:off x="457200" y="914400"/>
            <a:ext cx="82296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Q1. 이렇게 소득 구조를 변경하는 것이 법적으로 안전한가요?</a:t>
            </a:r>
            <a:endParaRPr lang="en-US" sz="1100" dirty="0"/>
          </a:p>
        </p:txBody>
      </p:sp>
      <p:sp>
        <p:nvSpPr>
          <p:cNvPr id="6" name="Shape 4"/>
          <p:cNvSpPr/>
          <p:nvPr/>
        </p:nvSpPr>
        <p:spPr>
          <a:xfrm>
            <a:off x="457200" y="1216152"/>
            <a:ext cx="8229600" cy="640080"/>
          </a:xfrm>
          <a:prstGeom prst="rect">
            <a:avLst/>
          </a:prstGeom>
          <a:solidFill>
            <a:srgbClr val="FFFFFF"/>
          </a:solidFill>
          <a:ln w="12700">
            <a:solidFill>
              <a:srgbClr val="E2E8F0"/>
            </a:solidFill>
            <a:prstDash val="solid"/>
          </a:ln>
        </p:spPr>
      </p:sp>
      <p:sp>
        <p:nvSpPr>
          <p:cNvPr id="7" name="Text 5"/>
          <p:cNvSpPr/>
          <p:nvPr/>
        </p:nvSpPr>
        <p:spPr>
          <a:xfrm>
            <a:off x="548640" y="1261872"/>
            <a:ext cx="8046720" cy="54864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A: 네, 매우 안전합니다. 본 보고서에서 제안하는 모든 방법은 소득세법, 법인세법, 상법 등 현행법 테두리 안에서 인정되는 합법적인 '절세 계획(Tax Planning)'입니다. 세금 탈세(Tax Evasion)와는 근본적으로 다릅니다. 다만, 모든 절차는 주주총회 의사록 작성 등 상법상 요건을 철저히 준수해야 법적 안정성을 확보할 수 있습니다. 특히 임원 퇴직금의 경우, 정관 미비 또는 불합리한 차등 지급 시 손금부인 리스크가 있으므로 절차적 정당성과 객관적 근거를 확보해야 합니다.</a:t>
            </a:r>
            <a:endParaRPr lang="en-US" sz="1000" dirty="0"/>
          </a:p>
        </p:txBody>
      </p:sp>
      <p:sp>
        <p:nvSpPr>
          <p:cNvPr id="8" name="Text 6"/>
          <p:cNvSpPr/>
          <p:nvPr/>
        </p:nvSpPr>
        <p:spPr>
          <a:xfrm>
            <a:off x="457200" y="1965960"/>
            <a:ext cx="82296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Q2. 임원 퇴직금을 중간에 인출해서 사용할 수도 있나요?</a:t>
            </a:r>
            <a:endParaRPr lang="en-US" sz="1100" dirty="0"/>
          </a:p>
        </p:txBody>
      </p:sp>
      <p:sp>
        <p:nvSpPr>
          <p:cNvPr id="9" name="Shape 7"/>
          <p:cNvSpPr/>
          <p:nvPr/>
        </p:nvSpPr>
        <p:spPr>
          <a:xfrm>
            <a:off x="457200" y="2267712"/>
            <a:ext cx="8229600" cy="640080"/>
          </a:xfrm>
          <a:prstGeom prst="rect">
            <a:avLst/>
          </a:prstGeom>
          <a:solidFill>
            <a:srgbClr val="FFFFFF"/>
          </a:solidFill>
          <a:ln w="12700">
            <a:solidFill>
              <a:srgbClr val="E2E8F0"/>
            </a:solidFill>
            <a:prstDash val="solid"/>
          </a:ln>
        </p:spPr>
      </p:sp>
      <p:sp>
        <p:nvSpPr>
          <p:cNvPr id="10" name="Text 8"/>
          <p:cNvSpPr/>
          <p:nvPr/>
        </p:nvSpPr>
        <p:spPr>
          <a:xfrm>
            <a:off x="548640" y="2313432"/>
            <a:ext cx="8046720" cy="54864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A: 원칙적으로 퇴직금은 현실적인 퇴직(대표이사 사임 등)이 발생했을 때 지급받는 것입니다. 법적으로 '퇴직금 중간정산'은 무주택자의 주택 구입 등 특정 사유가 엄격히 제한되므로, 중간 인출보다는 CEO의 은퇴 시점 또는 가업 승계 시점에 활용하는 출구전략으로 계획하는 것이 바람직합니다.</a:t>
            </a:r>
            <a:endParaRPr lang="en-US" sz="1000" dirty="0"/>
          </a:p>
        </p:txBody>
      </p:sp>
      <p:sp>
        <p:nvSpPr>
          <p:cNvPr id="11" name="Text 9"/>
          <p:cNvSpPr/>
          <p:nvPr/>
        </p:nvSpPr>
        <p:spPr>
          <a:xfrm>
            <a:off x="457200" y="3017520"/>
            <a:ext cx="82296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Q3. 상여금을 배당으로 바꾸면 소득세가 더 늘어나는 것 아닌가요?</a:t>
            </a:r>
            <a:endParaRPr lang="en-US" sz="1100" dirty="0"/>
          </a:p>
        </p:txBody>
      </p:sp>
      <p:sp>
        <p:nvSpPr>
          <p:cNvPr id="12" name="Shape 10"/>
          <p:cNvSpPr/>
          <p:nvPr/>
        </p:nvSpPr>
        <p:spPr>
          <a:xfrm>
            <a:off x="457200" y="3319272"/>
            <a:ext cx="8229600" cy="1005840"/>
          </a:xfrm>
          <a:prstGeom prst="rect">
            <a:avLst/>
          </a:prstGeom>
          <a:solidFill>
            <a:srgbClr val="FFFFFF"/>
          </a:solidFill>
          <a:ln w="12700">
            <a:solidFill>
              <a:srgbClr val="E2E8F0"/>
            </a:solidFill>
            <a:prstDash val="solid"/>
          </a:ln>
        </p:spPr>
      </p:sp>
      <p:sp>
        <p:nvSpPr>
          <p:cNvPr id="13" name="Text 11"/>
          <p:cNvSpPr/>
          <p:nvPr/>
        </p:nvSpPr>
        <p:spPr>
          <a:xfrm>
            <a:off x="548640" y="3364992"/>
            <a:ext cx="8046720" cy="914400"/>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A. 네, 경우에 따라 유리할 수도, 불리할 수도 있어 면밀한 검토가 필요합니다. 상여금에 적용되는 근로소득세율(최고 49.5%)과 배당소득세율(금융소득종합과세 시 최고 49.5%)이 비슷해 큰 차이가 없어 보일 수 있습니다. 하지만 핵심은 '건강보험료' 부과 방식에 있습니다. 이미 보수월액 상한에 도달한 경우, 추가 상여금에는 보수월액 보험료가 오르지 않지만, 배당소득은 '소득월액보험료'라는 별도 기준으로 계산됩니다. 예를 들어 배당 1억 원을 받으시면, 2,000만 원을 제외한 8,000만 원에 대해 연간 약 641만 원(건강보험료 약 568만 원 + 장기요양보험료 약 73만 원)의 보험료가 추가로 발생합니다. 따라서 이미 보수월액 상한을 내고 계신 대표님의 경우, 건보료 측면만 보면 상여금을 배당으로 전환하는 것이 오히려 불리할 수 있습니다. 배당 전환의 최종적인 유불리는 총 세부담과 총 보험료를 종합적으로 시뮬레이션하여 판단해야 합니다.</a:t>
            </a:r>
            <a:endParaRPr lang="en-US" sz="10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31 / 40</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2. FAQ (4~6)</a:t>
            </a:r>
            <a:endParaRPr lang="en-US" sz="1400" dirty="0"/>
          </a:p>
        </p:txBody>
      </p:sp>
      <p:sp>
        <p:nvSpPr>
          <p:cNvPr id="5" name="Text 3"/>
          <p:cNvSpPr/>
          <p:nvPr/>
        </p:nvSpPr>
        <p:spPr>
          <a:xfrm>
            <a:off x="457200" y="914400"/>
            <a:ext cx="82296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Q4. 비과세 항목(식대, 차량유지비)을 CEO에게만 적용해도 되나요?</a:t>
            </a:r>
            <a:endParaRPr lang="en-US" sz="1100" dirty="0"/>
          </a:p>
        </p:txBody>
      </p:sp>
      <p:sp>
        <p:nvSpPr>
          <p:cNvPr id="6" name="Shape 4"/>
          <p:cNvSpPr/>
          <p:nvPr/>
        </p:nvSpPr>
        <p:spPr>
          <a:xfrm>
            <a:off x="457200" y="1216152"/>
            <a:ext cx="8229600" cy="658368"/>
          </a:xfrm>
          <a:prstGeom prst="rect">
            <a:avLst/>
          </a:prstGeom>
          <a:solidFill>
            <a:srgbClr val="FFFFFF"/>
          </a:solidFill>
          <a:ln w="12700">
            <a:solidFill>
              <a:srgbClr val="E2E8F0"/>
            </a:solidFill>
            <a:prstDash val="solid"/>
          </a:ln>
        </p:spPr>
      </p:sp>
      <p:sp>
        <p:nvSpPr>
          <p:cNvPr id="7" name="Text 5"/>
          <p:cNvSpPr/>
          <p:nvPr/>
        </p:nvSpPr>
        <p:spPr>
          <a:xfrm>
            <a:off x="548640" y="1261872"/>
            <a:ext cx="8046720" cy="56692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A: 아닙니다. 비과세 항목은 전 직원 또는 특정 직무군에 합리적이고 형평성 있게 적용되어야 합니다. CEO에게만 차별적으로 적용 시 노무 리스크 및 세무 리스크(부인 가능성)가 발생할 수 있으므로, 전사 인사규정 정비 및 증빙 관리 시스템(운행일지, 카드 증빙 등) 구축이 선행되어야 합니다.</a:t>
            </a:r>
            <a:endParaRPr lang="en-US" sz="1000" dirty="0"/>
          </a:p>
        </p:txBody>
      </p:sp>
      <p:sp>
        <p:nvSpPr>
          <p:cNvPr id="8" name="Text 6"/>
          <p:cNvSpPr/>
          <p:nvPr/>
        </p:nvSpPr>
        <p:spPr>
          <a:xfrm>
            <a:off x="457200" y="2011680"/>
            <a:ext cx="82296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Q5. 배당 전환을 다음 달부터 즉시 실행할 수 있나요?</a:t>
            </a:r>
            <a:endParaRPr lang="en-US" sz="1100" dirty="0"/>
          </a:p>
        </p:txBody>
      </p:sp>
      <p:sp>
        <p:nvSpPr>
          <p:cNvPr id="9" name="Shape 7"/>
          <p:cNvSpPr/>
          <p:nvPr/>
        </p:nvSpPr>
        <p:spPr>
          <a:xfrm>
            <a:off x="457200" y="2313432"/>
            <a:ext cx="8229600" cy="658368"/>
          </a:xfrm>
          <a:prstGeom prst="rect">
            <a:avLst/>
          </a:prstGeom>
          <a:solidFill>
            <a:srgbClr val="FFFFFF"/>
          </a:solidFill>
          <a:ln w="12700">
            <a:solidFill>
              <a:srgbClr val="E2E8F0"/>
            </a:solidFill>
            <a:prstDash val="solid"/>
          </a:ln>
        </p:spPr>
      </p:sp>
      <p:sp>
        <p:nvSpPr>
          <p:cNvPr id="10" name="Text 8"/>
          <p:cNvSpPr/>
          <p:nvPr/>
        </p:nvSpPr>
        <p:spPr>
          <a:xfrm>
            <a:off x="548640" y="2359152"/>
            <a:ext cx="8046720" cy="56692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A: 불가능합니다. 배당은 정관에 배당 조항(중간배당 포함 시 별도 조항 필요)이 있어야 하고, 배당가능이익 범위 내에서 이사회 결의 및 주주총회 결의를 거쳐야 합니다. 따라서 최소 분기 또는 사업연도 단위로 실행 계획을 수립해야 하며, 정관 정비부터 시작하여 단계적으로 진행됩니다.</a:t>
            </a:r>
            <a:endParaRPr lang="en-US" sz="1000" dirty="0"/>
          </a:p>
        </p:txBody>
      </p:sp>
      <p:sp>
        <p:nvSpPr>
          <p:cNvPr id="11" name="Text 9"/>
          <p:cNvSpPr/>
          <p:nvPr/>
        </p:nvSpPr>
        <p:spPr>
          <a:xfrm>
            <a:off x="457200" y="3108960"/>
            <a:ext cx="8229600" cy="274320"/>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Q6. 월 500만 원씩 퇴직금을 적립하면 회사 현금흐름에 문제가 생기지 않을까요?</a:t>
            </a:r>
            <a:endParaRPr lang="en-US" sz="1100" dirty="0"/>
          </a:p>
        </p:txBody>
      </p:sp>
      <p:sp>
        <p:nvSpPr>
          <p:cNvPr id="12" name="Shape 10"/>
          <p:cNvSpPr/>
          <p:nvPr/>
        </p:nvSpPr>
        <p:spPr>
          <a:xfrm>
            <a:off x="457200" y="3410712"/>
            <a:ext cx="8229600" cy="658368"/>
          </a:xfrm>
          <a:prstGeom prst="rect">
            <a:avLst/>
          </a:prstGeom>
          <a:solidFill>
            <a:srgbClr val="FFFFFF"/>
          </a:solidFill>
          <a:ln w="12700">
            <a:solidFill>
              <a:srgbClr val="E2E8F0"/>
            </a:solidFill>
            <a:prstDash val="solid"/>
          </a:ln>
        </p:spPr>
      </p:sp>
      <p:sp>
        <p:nvSpPr>
          <p:cNvPr id="13" name="Text 11"/>
          <p:cNvSpPr/>
          <p:nvPr/>
        </p:nvSpPr>
        <p:spPr>
          <a:xfrm>
            <a:off x="548640" y="3456432"/>
            <a:ext cx="8046720" cy="56692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A: 중요한 질문입니다. 퇴직금 재원 적립(연 6천만 원)이 회사의 영업현금흐름, 기존 금융 약정(대출, 리스 등), DSCR(부채상환능력비율)에 미치는 영향을 재무 KPI 및 가용현금 체크리스트로 사전 점검해야 합니다. 필요 시 적립 금액을 단계적으로 조정하거나, 회사의 현금흐름 개선 후 본격 실행하는 방안을 검토할 수 있습니다.</a:t>
            </a:r>
            <a:endParaRPr lang="en-US" sz="10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32 / 40</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3. 관련 법규·출처 (1/2)</a:t>
            </a:r>
            <a:endParaRPr lang="en-US" sz="1400" dirty="0"/>
          </a:p>
        </p:txBody>
      </p:sp>
      <p:sp>
        <p:nvSpPr>
          <p:cNvPr id="5" name="Shape 3"/>
          <p:cNvSpPr/>
          <p:nvPr/>
        </p:nvSpPr>
        <p:spPr>
          <a:xfrm>
            <a:off x="457200" y="914400"/>
            <a:ext cx="54864" cy="640080"/>
          </a:xfrm>
          <a:prstGeom prst="rect">
            <a:avLst/>
          </a:prstGeom>
          <a:solidFill>
            <a:srgbClr val="3B5BDB"/>
          </a:solidFill>
          <a:ln w="12700">
            <a:solidFill>
              <a:srgbClr val="3B5BDB"/>
            </a:solidFill>
            <a:prstDash val="solid"/>
          </a:ln>
        </p:spPr>
      </p:sp>
      <p:sp>
        <p:nvSpPr>
          <p:cNvPr id="6" name="Text 4"/>
          <p:cNvSpPr/>
          <p:nvPr/>
        </p:nvSpPr>
        <p:spPr>
          <a:xfrm>
            <a:off x="594360" y="914400"/>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국민건강보험법 제69조 (보험료)</a:t>
            </a:r>
            <a:endParaRPr lang="en-US" sz="1100" dirty="0"/>
          </a:p>
        </p:txBody>
      </p:sp>
      <p:sp>
        <p:nvSpPr>
          <p:cNvPr id="7" name="Text 5"/>
          <p:cNvSpPr/>
          <p:nvPr/>
        </p:nvSpPr>
        <p:spPr>
          <a:xfrm>
            <a:off x="594360" y="1188720"/>
            <a:ext cx="8092440" cy="34747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직장가입자의 보험료는 보수월액보험료와 소득월액보험료로 구성됨을 명시하고 있습니다.</a:t>
            </a:r>
            <a:endParaRPr lang="en-US" sz="1000" dirty="0"/>
          </a:p>
        </p:txBody>
      </p:sp>
      <p:sp>
        <p:nvSpPr>
          <p:cNvPr id="8" name="Shape 6"/>
          <p:cNvSpPr/>
          <p:nvPr/>
        </p:nvSpPr>
        <p:spPr>
          <a:xfrm>
            <a:off x="457200" y="1664208"/>
            <a:ext cx="54864" cy="640080"/>
          </a:xfrm>
          <a:prstGeom prst="rect">
            <a:avLst/>
          </a:prstGeom>
          <a:solidFill>
            <a:srgbClr val="3B5BDB"/>
          </a:solidFill>
          <a:ln w="12700">
            <a:solidFill>
              <a:srgbClr val="3B5BDB"/>
            </a:solidFill>
            <a:prstDash val="solid"/>
          </a:ln>
        </p:spPr>
      </p:sp>
      <p:sp>
        <p:nvSpPr>
          <p:cNvPr id="9" name="Text 7"/>
          <p:cNvSpPr/>
          <p:nvPr/>
        </p:nvSpPr>
        <p:spPr>
          <a:xfrm>
            <a:off x="594360" y="1664208"/>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국민건강보험법 제71조 (소득월액보험료)</a:t>
            </a:r>
            <a:endParaRPr lang="en-US" sz="1100" dirty="0"/>
          </a:p>
        </p:txBody>
      </p:sp>
      <p:sp>
        <p:nvSpPr>
          <p:cNvPr id="10" name="Text 8"/>
          <p:cNvSpPr/>
          <p:nvPr/>
        </p:nvSpPr>
        <p:spPr>
          <a:xfrm>
            <a:off x="594360" y="1938528"/>
            <a:ext cx="8092440" cy="34747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직장가입자가 보수 외 소득이 연간 2,000만 원을 초과하는 경우 소득월액보험료를 부과하되, 이자소득과 배당소득의 합계가 1,000만 원 이하인 경우 소득월액 산정에서 제외함을 규정.</a:t>
            </a:r>
            <a:endParaRPr lang="en-US" sz="1000" dirty="0"/>
          </a:p>
        </p:txBody>
      </p:sp>
      <p:sp>
        <p:nvSpPr>
          <p:cNvPr id="11" name="Shape 9"/>
          <p:cNvSpPr/>
          <p:nvPr/>
        </p:nvSpPr>
        <p:spPr>
          <a:xfrm>
            <a:off x="457200" y="2414016"/>
            <a:ext cx="54864" cy="640080"/>
          </a:xfrm>
          <a:prstGeom prst="rect">
            <a:avLst/>
          </a:prstGeom>
          <a:solidFill>
            <a:srgbClr val="3B5BDB"/>
          </a:solidFill>
          <a:ln w="12700">
            <a:solidFill>
              <a:srgbClr val="3B5BDB"/>
            </a:solidFill>
            <a:prstDash val="solid"/>
          </a:ln>
        </p:spPr>
      </p:sp>
      <p:sp>
        <p:nvSpPr>
          <p:cNvPr id="12" name="Text 10"/>
          <p:cNvSpPr/>
          <p:nvPr/>
        </p:nvSpPr>
        <p:spPr>
          <a:xfrm>
            <a:off x="594360" y="2414016"/>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노인장기요양보험법 제8조 (장기요양보험료)</a:t>
            </a:r>
            <a:endParaRPr lang="en-US" sz="1100" dirty="0"/>
          </a:p>
        </p:txBody>
      </p:sp>
      <p:sp>
        <p:nvSpPr>
          <p:cNvPr id="13" name="Text 11"/>
          <p:cNvSpPr/>
          <p:nvPr/>
        </p:nvSpPr>
        <p:spPr>
          <a:xfrm>
            <a:off x="594360" y="2688336"/>
            <a:ext cx="8092440" cy="34747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장기요양보험료는 건강보험료에 장기요양보험료율(2025년 기준 12.95%)을 곱하여 산정하며, 건강보험료와 함께 국민건강보험공단에 납부됩니다. 보험료율은 매년 보건복지부 고시로 조정됩니다.</a:t>
            </a:r>
            <a:endParaRPr lang="en-US" sz="1000" dirty="0"/>
          </a:p>
        </p:txBody>
      </p:sp>
      <p:sp>
        <p:nvSpPr>
          <p:cNvPr id="14" name="Shape 12"/>
          <p:cNvSpPr/>
          <p:nvPr/>
        </p:nvSpPr>
        <p:spPr>
          <a:xfrm>
            <a:off x="457200" y="3163824"/>
            <a:ext cx="54864" cy="640080"/>
          </a:xfrm>
          <a:prstGeom prst="rect">
            <a:avLst/>
          </a:prstGeom>
          <a:solidFill>
            <a:srgbClr val="3B5BDB"/>
          </a:solidFill>
          <a:ln w="12700">
            <a:solidFill>
              <a:srgbClr val="3B5BDB"/>
            </a:solidFill>
            <a:prstDash val="solid"/>
          </a:ln>
        </p:spPr>
      </p:sp>
      <p:sp>
        <p:nvSpPr>
          <p:cNvPr id="15" name="Text 13"/>
          <p:cNvSpPr/>
          <p:nvPr/>
        </p:nvSpPr>
        <p:spPr>
          <a:xfrm>
            <a:off x="594360" y="3163824"/>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국민건강보험법 시행령 제33조 (보수)</a:t>
            </a:r>
            <a:endParaRPr lang="en-US" sz="1100" dirty="0"/>
          </a:p>
        </p:txBody>
      </p:sp>
      <p:sp>
        <p:nvSpPr>
          <p:cNvPr id="16" name="Text 14"/>
          <p:cNvSpPr/>
          <p:nvPr/>
        </p:nvSpPr>
        <p:spPr>
          <a:xfrm>
            <a:off x="594360" y="3438144"/>
            <a:ext cx="8092440" cy="34747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보험료 부과 대상이 되는 보수의 정의와 범위에 대해 규정하며, 소득세법상 비과세 근로소득은 제외됨을 명시하고 있습니다.</a:t>
            </a:r>
            <a:endParaRPr lang="en-US" sz="1000" dirty="0"/>
          </a:p>
        </p:txBody>
      </p:sp>
      <p:sp>
        <p:nvSpPr>
          <p:cNvPr id="17" name="Shape 15"/>
          <p:cNvSpPr/>
          <p:nvPr/>
        </p:nvSpPr>
        <p:spPr>
          <a:xfrm>
            <a:off x="457200" y="3913632"/>
            <a:ext cx="54864" cy="640080"/>
          </a:xfrm>
          <a:prstGeom prst="rect">
            <a:avLst/>
          </a:prstGeom>
          <a:solidFill>
            <a:srgbClr val="3B5BDB"/>
          </a:solidFill>
          <a:ln w="12700">
            <a:solidFill>
              <a:srgbClr val="3B5BDB"/>
            </a:solidFill>
            <a:prstDash val="solid"/>
          </a:ln>
        </p:spPr>
      </p:sp>
      <p:sp>
        <p:nvSpPr>
          <p:cNvPr id="18" name="Text 16"/>
          <p:cNvSpPr/>
          <p:nvPr/>
        </p:nvSpPr>
        <p:spPr>
          <a:xfrm>
            <a:off x="594360" y="3913632"/>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소득세법 시행령 제12조 (실비변상적 급여의 범위)</a:t>
            </a:r>
            <a:endParaRPr lang="en-US" sz="1100" dirty="0"/>
          </a:p>
        </p:txBody>
      </p:sp>
      <p:sp>
        <p:nvSpPr>
          <p:cNvPr id="19" name="Text 17"/>
          <p:cNvSpPr/>
          <p:nvPr/>
        </p:nvSpPr>
        <p:spPr>
          <a:xfrm>
            <a:off x="594360" y="4187952"/>
            <a:ext cx="8092440" cy="347472"/>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자가운전보조금(월 20만 원), 식대(월 20만 원) 등 비과세 근로소득의 구체적인 항목과 요건을 규정하고 있습니다.</a:t>
            </a:r>
            <a:endParaRPr lang="en-US" sz="10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33 / 40</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3. 관련 법규·출처 (2/2) 및 주요 요율</a:t>
            </a:r>
            <a:endParaRPr lang="en-US" sz="1400" dirty="0"/>
          </a:p>
        </p:txBody>
      </p:sp>
      <p:sp>
        <p:nvSpPr>
          <p:cNvPr id="5" name="Shape 3"/>
          <p:cNvSpPr/>
          <p:nvPr/>
        </p:nvSpPr>
        <p:spPr>
          <a:xfrm>
            <a:off x="457200" y="914400"/>
            <a:ext cx="54864" cy="777240"/>
          </a:xfrm>
          <a:prstGeom prst="rect">
            <a:avLst/>
          </a:prstGeom>
          <a:solidFill>
            <a:srgbClr val="3B5BDB"/>
          </a:solidFill>
          <a:ln w="12700">
            <a:solidFill>
              <a:srgbClr val="3B5BDB"/>
            </a:solidFill>
            <a:prstDash val="solid"/>
          </a:ln>
        </p:spPr>
      </p:sp>
      <p:sp>
        <p:nvSpPr>
          <p:cNvPr id="6" name="Text 4"/>
          <p:cNvSpPr/>
          <p:nvPr/>
        </p:nvSpPr>
        <p:spPr>
          <a:xfrm>
            <a:off x="594360" y="914400"/>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법인세법 시행령 제44조 (퇴직급여의 손금불산입)</a:t>
            </a:r>
            <a:endParaRPr lang="en-US" sz="1100" dirty="0"/>
          </a:p>
        </p:txBody>
      </p:sp>
      <p:sp>
        <p:nvSpPr>
          <p:cNvPr id="7" name="Text 5"/>
          <p:cNvSpPr/>
          <p:nvPr/>
        </p:nvSpPr>
        <p:spPr>
          <a:xfrm>
            <a:off x="594360" y="1188720"/>
            <a:ext cx="8092440" cy="47548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정관 또는 정관의 위임에 따른 규정 없이 지급된 임원 퇴직금이나, 규정을 초과하여 지급된 금액은 법인의 비용(손금)으로 인정하지 않음을 명시. 2020년 1월 1일 이후 근무분에 대한 손금인정 한도를 '총급여액 × 10% × 근속연수 × 2배수' 이내로 규정. (2019년 12월 31일까지 근무분은 3배수 적용)</a:t>
            </a:r>
            <a:endParaRPr lang="en-US" sz="1000" dirty="0"/>
          </a:p>
        </p:txBody>
      </p:sp>
      <p:sp>
        <p:nvSpPr>
          <p:cNvPr id="8" name="Shape 6"/>
          <p:cNvSpPr/>
          <p:nvPr/>
        </p:nvSpPr>
        <p:spPr>
          <a:xfrm>
            <a:off x="457200" y="1801368"/>
            <a:ext cx="54864" cy="777240"/>
          </a:xfrm>
          <a:prstGeom prst="rect">
            <a:avLst/>
          </a:prstGeom>
          <a:solidFill>
            <a:srgbClr val="3B5BDB"/>
          </a:solidFill>
          <a:ln w="12700">
            <a:solidFill>
              <a:srgbClr val="3B5BDB"/>
            </a:solidFill>
            <a:prstDash val="solid"/>
          </a:ln>
        </p:spPr>
      </p:sp>
      <p:sp>
        <p:nvSpPr>
          <p:cNvPr id="9" name="Text 7"/>
          <p:cNvSpPr/>
          <p:nvPr/>
        </p:nvSpPr>
        <p:spPr>
          <a:xfrm>
            <a:off x="594360" y="1801368"/>
            <a:ext cx="8092440" cy="256032"/>
          </a:xfrm>
          <a:prstGeom prst="rect">
            <a:avLst/>
          </a:prstGeom>
          <a:noFill/>
          <a:ln/>
        </p:spPr>
        <p:txBody>
          <a:bodyPr wrap="square" rtlCol="0" anchor="ctr"/>
          <a:lstStyle/>
          <a:p>
            <a:pPr indent="0" marL="0">
              <a:buNone/>
            </a:pPr>
            <a:r>
              <a:rPr lang="en-US" sz="1100" b="1" dirty="0">
                <a:solidFill>
                  <a:srgbClr val="1B2A4A"/>
                </a:solidFill>
                <a:latin typeface="맑은 고딕" pitchFamily="34" charset="0"/>
                <a:ea typeface="맑은 고딕" pitchFamily="34" charset="-122"/>
                <a:cs typeface="맑은 고딕" pitchFamily="34" charset="-120"/>
              </a:rPr>
              <a:t>상법 제388조 (이사의 보수)</a:t>
            </a:r>
            <a:endParaRPr lang="en-US" sz="1100" dirty="0"/>
          </a:p>
        </p:txBody>
      </p:sp>
      <p:sp>
        <p:nvSpPr>
          <p:cNvPr id="10" name="Text 8"/>
          <p:cNvSpPr/>
          <p:nvPr/>
        </p:nvSpPr>
        <p:spPr>
          <a:xfrm>
            <a:off x="594360" y="2075688"/>
            <a:ext cx="8092440" cy="475488"/>
          </a:xfrm>
          <a:prstGeom prst="rect">
            <a:avLst/>
          </a:prstGeom>
          <a:noFill/>
          <a:ln/>
        </p:spPr>
        <p:txBody>
          <a:bodyPr wrap="square" rtlCol="0" anchor="ctr"/>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이사의 보수는 정관에 그 액을 정하지 아니한 때에는 주주총회의 결의로 이를 정한다고 규정하여, 임원 보수 및 퇴직금 지급에 대한 절차적 정당성의 근거가 됩니다.</a:t>
            </a:r>
            <a:endParaRPr lang="en-US" sz="1000" dirty="0"/>
          </a:p>
        </p:txBody>
      </p:sp>
      <p:sp>
        <p:nvSpPr>
          <p:cNvPr id="11" name="Text 9"/>
          <p:cNvSpPr/>
          <p:nvPr/>
        </p:nvSpPr>
        <p:spPr>
          <a:xfrm>
            <a:off x="457200" y="2688336"/>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주요 요율 (2025년 기준)</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3054096"/>
          <a:ext cx="8229600" cy="914400"/>
        </p:xfrm>
        <a:graphic>
          <a:graphicData uri="http://schemas.openxmlformats.org/drawingml/2006/table">
            <a:tbl>
              <a:tblPr/>
              <a:tblGrid>
                <a:gridCol w="3200400"/>
                <a:gridCol w="5029200"/>
              </a:tblGrid>
              <a:tr h="347472">
                <a:tc>
                  <a:txBody>
                    <a:bodyPr/>
                    <a:lstStyle/>
                    <a:p>
                      <a:pPr algn="ctr" indent="0" marL="0">
                        <a:buNone/>
                      </a:pPr>
                      <a:r>
                        <a:rPr lang="en-US" sz="1200" b="1" dirty="0">
                          <a:solidFill>
                            <a:srgbClr val="FFFFFF"/>
                          </a:solidFill>
                        </a:rPr>
                        <a:t>항목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내용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47472">
                <a:tc>
                  <a:txBody>
                    <a:bodyPr/>
                    <a:lstStyle/>
                    <a:p>
                      <a:pPr indent="0" marL="0">
                        <a:buNone/>
                      </a:pPr>
                      <a:r>
                        <a:rPr lang="en-US" sz="1200" dirty="0">
                          <a:solidFill>
                            <a:srgbClr val="2B2B2B"/>
                          </a:solidFill>
                        </a:rPr>
                        <a:t>2025년 건강보험료율</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7.09% (동결 확정)</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2025년 장기요양보험료율</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12.95%</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347472">
                <a:tc>
                  <a:txBody>
                    <a:bodyPr/>
                    <a:lstStyle/>
                    <a:p>
                      <a:pPr indent="0" marL="0">
                        <a:buNone/>
                      </a:pPr>
                      <a:r>
                        <a:rPr lang="en-US" sz="1200" dirty="0">
                          <a:solidFill>
                            <a:srgbClr val="2B2B2B"/>
                          </a:solidFill>
                        </a:rPr>
                        <a:t>2025년 직장가입자 보수월액 상한액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월 1억 1,500만 원 (가입자 본인부담 월 보험료 상한 4,504,170원)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2025년 법인세율</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000" dirty="0">
                          <a:solidFill>
                            <a:srgbClr val="2B2B2B"/>
                          </a:solidFill>
                        </a:rPr>
                        <a:t>과세표준 2억 원 이하 9.9%, 2억~200억 이하 20.9%, 200억~300억 이하 23.1%, 300억 초과 26.4%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bl>
          </a:graphicData>
        </a:graphic>
      </p:graphicFrame>
      <p:sp>
        <p:nvSpPr>
          <p:cNvPr id="13" name="Text 10"/>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34 / 40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4. 실행 체크리스트 (비과세 항목 / 배당 제도)</a:t>
            </a:r>
            <a:endParaRPr lang="en-US" sz="1400" dirty="0"/>
          </a:p>
        </p:txBody>
      </p:sp>
      <p:sp>
        <p:nvSpPr>
          <p:cNvPr id="5" name="Text 3"/>
          <p:cNvSpPr/>
          <p:nvPr/>
        </p:nvSpPr>
        <p:spPr>
          <a:xfrm>
            <a:off x="457200" y="960120"/>
            <a:ext cx="8229600" cy="32004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[비과세 항목] 운영 규정 체크리스트</a:t>
            </a:r>
            <a:endParaRPr lang="en-US" sz="1300" dirty="0"/>
          </a:p>
        </p:txBody>
      </p:sp>
      <p:sp>
        <p:nvSpPr>
          <p:cNvPr id="6" name="Text 4"/>
          <p:cNvSpPr/>
          <p:nvPr/>
        </p:nvSpPr>
        <p:spPr>
          <a:xfrm>
            <a:off x="457200" y="1307592"/>
            <a:ext cx="8229600" cy="118872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전사 인사규정에 비과세 항목(식대, 차량유지비) 지급 기준 명시</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대상 직원/직무군 정의 및 형평성 검토 완료</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차량 운행일지 양식 작성 및 관리 프로세스 수립</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식대 지급 방식(현금/카드) 및 증빙 수집 방법 확정</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증빙 관리 담당자 지정 및 보관 시스템 구축</a:t>
            </a:r>
            <a:endParaRPr lang="en-US" sz="1100" dirty="0"/>
          </a:p>
        </p:txBody>
      </p:sp>
      <p:sp>
        <p:nvSpPr>
          <p:cNvPr id="7" name="Text 5"/>
          <p:cNvSpPr/>
          <p:nvPr/>
        </p:nvSpPr>
        <p:spPr>
          <a:xfrm>
            <a:off x="457200" y="2587752"/>
            <a:ext cx="8229600" cy="32004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[배당 제도] 도입 체크리스트</a:t>
            </a:r>
            <a:endParaRPr lang="en-US" sz="1300" dirty="0"/>
          </a:p>
        </p:txBody>
      </p:sp>
      <p:sp>
        <p:nvSpPr>
          <p:cNvPr id="8" name="Text 6"/>
          <p:cNvSpPr/>
          <p:nvPr/>
        </p:nvSpPr>
        <p:spPr>
          <a:xfrm>
            <a:off x="457200" y="2935224"/>
            <a:ext cx="8229600" cy="118872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현행 정관 배당 조항 확인 (없으면 신설, 중간배당 포함 시 별도 조항)</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최근 사업연도 배당가능이익 산정 (대차대조표 기준)</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이사회 배당안 결의 소집 및 의사록 작성</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주주총회 배당 승인 소집 및 의사록 작성</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배당 지급일 확정 및 세무 신고 절차 확인</a:t>
            </a:r>
            <a:endParaRPr lang="en-US" sz="11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35 / 40</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4. 실행 체크리스트 (임원 퇴직금 제도 도입)</a:t>
            </a:r>
            <a:endParaRPr lang="en-US" sz="1400" dirty="0"/>
          </a:p>
        </p:txBody>
      </p:sp>
      <p:sp>
        <p:nvSpPr>
          <p:cNvPr id="5" name="Text 3"/>
          <p:cNvSpPr/>
          <p:nvPr/>
        </p:nvSpPr>
        <p:spPr>
          <a:xfrm>
            <a:off x="457200" y="960120"/>
            <a:ext cx="8229600" cy="320040"/>
          </a:xfrm>
          <a:prstGeom prst="rect">
            <a:avLst/>
          </a:prstGeom>
          <a:noFill/>
          <a:ln/>
        </p:spPr>
        <p:txBody>
          <a:bodyPr wrap="square" rtlCol="0" anchor="ctr"/>
          <a:lstStyle/>
          <a:p>
            <a:pPr indent="0" marL="0">
              <a:buNone/>
            </a:pPr>
            <a:r>
              <a:rPr lang="en-US" sz="1300" b="1" dirty="0">
                <a:solidFill>
                  <a:srgbClr val="1A6B4A"/>
                </a:solidFill>
                <a:latin typeface="맑은 고딕" pitchFamily="34" charset="0"/>
                <a:ea typeface="맑은 고딕" pitchFamily="34" charset="-122"/>
                <a:cs typeface="맑은 고딕" pitchFamily="34" charset="-120"/>
              </a:rPr>
              <a:t>[임원 퇴직금] 제도 도입 체크리스트</a:t>
            </a:r>
            <a:endParaRPr lang="en-US" sz="1300" dirty="0"/>
          </a:p>
        </p:txBody>
      </p:sp>
      <p:sp>
        <p:nvSpPr>
          <p:cNvPr id="6" name="Text 4"/>
          <p:cNvSpPr/>
          <p:nvPr/>
        </p:nvSpPr>
        <p:spPr>
          <a:xfrm>
            <a:off x="457200" y="1307592"/>
            <a:ext cx="8229600" cy="3200400"/>
          </a:xfrm>
          <a:prstGeom prst="rect">
            <a:avLst/>
          </a:prstGeom>
          <a:noFill/>
          <a:ln/>
        </p:spPr>
        <p:txBody>
          <a:bodyPr wrap="square" rtlCol="0" anchor="t"/>
          <a:lstStyle/>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현행 정관 임원 보수/퇴직금 조항 검토</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임원퇴직금 지급규정 초안 작성 (산정 기준: 총급여 × 10% × 근속 × 2배, 지급 시기 등)</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법무사/세무사 자문 및 검토</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주주총회 특별결의 소집 공고 (출석 주주 의결권 2/3 이상, 발행주식총수 1/3 이상)</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주주총회 의사록 작성 및 보관</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정관 변경 등기 신청</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퇴직금 추계액 산정 시트 작성 (근속연수, 최근 3년 평균 총급여, 배수 적용)</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법인 명의 보험 상품 비교 및 세무처리 방식(손금/익금/상여처분) 확인</a:t>
            </a:r>
            <a:endParaRPr lang="en-US" sz="1100" dirty="0"/>
          </a:p>
          <a:p>
            <a:pPr marL="342900" indent="-342900">
              <a:buSzPct val="100000"/>
              <a:buChar char="•"/>
            </a:pPr>
            <a:r>
              <a:rPr lang="en-US" sz="1100" dirty="0">
                <a:solidFill>
                  <a:srgbClr val="2B2B2B"/>
                </a:solidFill>
                <a:latin typeface="맑은 고딕" pitchFamily="34" charset="0"/>
                <a:ea typeface="맑은 고딕" pitchFamily="34" charset="-122"/>
                <a:cs typeface="맑은 고딕" pitchFamily="34" charset="-120"/>
              </a:rPr>
              <a:t>현금흐름 영향 분석 (DSCR, 가용현금, 기존 약정 충돌 여부)</a:t>
            </a:r>
            <a:endParaRPr lang="en-US" sz="1100" dirty="0"/>
          </a:p>
        </p:txBody>
      </p:sp>
      <p:sp>
        <p:nvSpPr>
          <p:cNvPr id="7" name="Text 5"/>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36 / 40</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4. 샘플 양식 (차량 운행일지 / 이사회 의사록)</a:t>
            </a:r>
            <a:endParaRPr lang="en-US" sz="1400" dirty="0"/>
          </a:p>
        </p:txBody>
      </p:sp>
      <p:sp>
        <p:nvSpPr>
          <p:cNvPr id="5" name="Text 3"/>
          <p:cNvSpPr/>
          <p:nvPr/>
        </p:nvSpPr>
        <p:spPr>
          <a:xfrm>
            <a:off x="457200" y="960120"/>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[샘플] 차량 운행일지</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307592"/>
          <a:ext cx="8229600" cy="914400"/>
        </p:xfrm>
        <a:graphic>
          <a:graphicData uri="http://schemas.openxmlformats.org/drawingml/2006/table">
            <a:tbl>
              <a:tblPr/>
              <a:tblGrid>
                <a:gridCol w="1463040"/>
                <a:gridCol w="1097280"/>
                <a:gridCol w="1097280"/>
                <a:gridCol w="1463040"/>
                <a:gridCol w="1645920"/>
                <a:gridCol w="1463040"/>
              </a:tblGrid>
              <a:tr h="347472">
                <a:tc>
                  <a:txBody>
                    <a:bodyPr/>
                    <a:lstStyle/>
                    <a:p>
                      <a:pPr algn="ctr" indent="0" marL="0">
                        <a:buNone/>
                      </a:pPr>
                      <a:r>
                        <a:rPr lang="en-US" sz="1200" b="1" dirty="0">
                          <a:solidFill>
                            <a:srgbClr val="FFFFFF"/>
                          </a:solidFill>
                        </a:rPr>
                        <a:t>일자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출발지</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도착지</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주행거리(km)</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운행 목적</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비고</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47472">
                <a:tc>
                  <a:txBody>
                    <a:bodyPr/>
                    <a:lstStyle/>
                    <a:p>
                      <a:pPr indent="0" marL="0">
                        <a:buNone/>
                      </a:pPr>
                      <a:r>
                        <a:rPr lang="en-US" sz="1200" dirty="0">
                          <a:solidFill>
                            <a:srgbClr val="2B2B2B"/>
                          </a:solidFill>
                        </a:rPr>
                        <a:t>2025.01.15</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본사</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거래처 A</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rPr>
                        <a:t>25</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영업 미팅</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2025.01.16</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본사</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거래처 B</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ctr" indent="0" marL="0">
                        <a:buNone/>
                      </a:pPr>
                      <a:r>
                        <a:rPr lang="en-US" sz="1200" dirty="0">
                          <a:solidFill>
                            <a:srgbClr val="2B2B2B"/>
                          </a:solidFill>
                        </a:rPr>
                        <a:t>30</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계약 체결</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bl>
          </a:graphicData>
        </a:graphic>
      </p:graphicFrame>
      <p:sp>
        <p:nvSpPr>
          <p:cNvPr id="7" name="Text 4"/>
          <p:cNvSpPr/>
          <p:nvPr/>
        </p:nvSpPr>
        <p:spPr>
          <a:xfrm>
            <a:off x="457200" y="2679192"/>
            <a:ext cx="8229600" cy="32004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[샘플] 이사회 의사록 (배당안 결의)</a:t>
            </a:r>
            <a:endParaRPr lang="en-US" sz="1300" dirty="0"/>
          </a:p>
        </p:txBody>
      </p:sp>
      <p:sp>
        <p:nvSpPr>
          <p:cNvPr id="8" name="Shape 5"/>
          <p:cNvSpPr/>
          <p:nvPr/>
        </p:nvSpPr>
        <p:spPr>
          <a:xfrm>
            <a:off x="457200" y="3026664"/>
            <a:ext cx="8229600" cy="1920240"/>
          </a:xfrm>
          <a:prstGeom prst="rect">
            <a:avLst/>
          </a:prstGeom>
          <a:solidFill>
            <a:srgbClr val="FFFFFF"/>
          </a:solidFill>
          <a:ln w="12700">
            <a:solidFill>
              <a:srgbClr val="E2E8F0"/>
            </a:solidFill>
            <a:prstDash val="solid"/>
          </a:ln>
        </p:spPr>
      </p:sp>
      <p:sp>
        <p:nvSpPr>
          <p:cNvPr id="9" name="Text 6"/>
          <p:cNvSpPr/>
          <p:nvPr/>
        </p:nvSpPr>
        <p:spPr>
          <a:xfrm>
            <a:off x="594360" y="3099816"/>
            <a:ext cx="7955280" cy="1783080"/>
          </a:xfrm>
          <a:prstGeom prst="rect">
            <a:avLst/>
          </a:prstGeom>
          <a:noFill/>
          <a:ln/>
        </p:spPr>
        <p:txBody>
          <a:bodyPr wrap="square" rtlCol="0" anchor="t"/>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이사회 의사록</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1. 일시: 2025년 ○월 ○일 ○○:○○</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2. 장소: 본사 회의실</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3. 참석 이사: (전원 참석)</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4. 안건: 제○기 중간배당(또는 결산배당) 실시의 건</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5. 결의 내용:</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 배당 기준일: 2025년 ○월 ○일</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 배당금 총액: ○○○,○○○,○○○원</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 주당 배당금: ○,○○○원</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 배당 재원: 당기 이익잉여금</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 주주총회 부의: 위 안건을 주주총회에 부의하기로 결의함</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6. 의사록 작성자: 이사 ○○○ (서명)</a:t>
            </a:r>
            <a:endParaRPr lang="en-US" sz="1000" dirty="0"/>
          </a:p>
        </p:txBody>
      </p:sp>
      <p:sp>
        <p:nvSpPr>
          <p:cNvPr id="10" name="Text 7"/>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37 / 40</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65760"/>
          </a:xfrm>
          <a:prstGeom prst="rect">
            <a:avLst/>
          </a:prstGeom>
          <a:noFill/>
          <a:ln/>
        </p:spPr>
        <p:txBody>
          <a:bodyPr wrap="square" rtlCol="0" anchor="ctr"/>
          <a:lstStyle/>
          <a:p>
            <a:pPr indent="0" marL="0">
              <a:buNone/>
            </a:pPr>
            <a:r>
              <a:rPr lang="en-US" sz="1300" b="1" dirty="0">
                <a:solidFill>
                  <a:srgbClr val="1B2A4A"/>
                </a:solidFill>
                <a:latin typeface="맑은 고딕" pitchFamily="34" charset="0"/>
                <a:ea typeface="맑은 고딕" pitchFamily="34" charset="-122"/>
                <a:cs typeface="맑은 고딕" pitchFamily="34" charset="-120"/>
              </a:rPr>
              <a:t>X. 부록 — 샘플 양식 (주주총회 의사록 / 퇴직금 산정 시트 / 보험 매트릭스)</a:t>
            </a:r>
            <a:endParaRPr lang="en-US" sz="1300" dirty="0"/>
          </a:p>
        </p:txBody>
      </p:sp>
      <p:sp>
        <p:nvSpPr>
          <p:cNvPr id="5" name="Text 3"/>
          <p:cNvSpPr/>
          <p:nvPr/>
        </p:nvSpPr>
        <p:spPr>
          <a:xfrm>
            <a:off x="457200" y="960120"/>
            <a:ext cx="8229600" cy="292608"/>
          </a:xfrm>
          <a:prstGeom prst="rect">
            <a:avLst/>
          </a:prstGeom>
          <a:noFill/>
          <a:ln/>
        </p:spPr>
        <p:txBody>
          <a:bodyPr wrap="square" rtlCol="0" anchor="ctr"/>
          <a:lstStyle/>
          <a:p>
            <a:pPr indent="0" marL="0">
              <a:buNone/>
            </a:pPr>
            <a:r>
              <a:rPr lang="en-US" sz="1200" b="1" dirty="0">
                <a:solidFill>
                  <a:srgbClr val="1B2A4A"/>
                </a:solidFill>
                <a:latin typeface="맑은 고딕" pitchFamily="34" charset="0"/>
                <a:ea typeface="맑은 고딕" pitchFamily="34" charset="-122"/>
                <a:cs typeface="맑은 고딕" pitchFamily="34" charset="-120"/>
              </a:rPr>
              <a:t>[샘플] 주주총회 의사록 (임원퇴직금 규정 신설)</a:t>
            </a:r>
            <a:endParaRPr lang="en-US" sz="1200" dirty="0"/>
          </a:p>
        </p:txBody>
      </p:sp>
      <p:sp>
        <p:nvSpPr>
          <p:cNvPr id="6" name="Shape 4"/>
          <p:cNvSpPr/>
          <p:nvPr/>
        </p:nvSpPr>
        <p:spPr>
          <a:xfrm>
            <a:off x="457200" y="1280160"/>
            <a:ext cx="8229600" cy="1463040"/>
          </a:xfrm>
          <a:prstGeom prst="rect">
            <a:avLst/>
          </a:prstGeom>
          <a:solidFill>
            <a:srgbClr val="FFFFFF"/>
          </a:solidFill>
          <a:ln w="12700">
            <a:solidFill>
              <a:srgbClr val="E2E8F0"/>
            </a:solidFill>
            <a:prstDash val="solid"/>
          </a:ln>
        </p:spPr>
      </p:sp>
      <p:sp>
        <p:nvSpPr>
          <p:cNvPr id="7" name="Text 5"/>
          <p:cNvSpPr/>
          <p:nvPr/>
        </p:nvSpPr>
        <p:spPr>
          <a:xfrm>
            <a:off x="594360" y="1325880"/>
            <a:ext cx="7955280" cy="1371600"/>
          </a:xfrm>
          <a:prstGeom prst="rect">
            <a:avLst/>
          </a:prstGeom>
          <a:noFill/>
          <a:ln/>
        </p:spPr>
        <p:txBody>
          <a:bodyPr wrap="square" rtlCol="0" anchor="t"/>
          <a:lstStyle/>
          <a:p>
            <a:pPr indent="0" marL="0">
              <a:buNone/>
            </a:pPr>
            <a:r>
              <a:rPr lang="en-US" sz="1000" dirty="0">
                <a:solidFill>
                  <a:srgbClr val="2B2B2B"/>
                </a:solidFill>
                <a:latin typeface="맑은 고딕" pitchFamily="34" charset="0"/>
                <a:ea typeface="맑은 고딕" pitchFamily="34" charset="-122"/>
                <a:cs typeface="맑은 고딕" pitchFamily="34" charset="-120"/>
              </a:rPr>
              <a:t>주주총회 의사록</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1. 일시: 2025년 ○월 ○일 ○○:○○</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2. 장소: 본사 회의실</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3. 참석 주주: (발행주식총수 대비 출석 비율 명시)</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4. 안건: 정관 변경의 건 (임원퇴직금 지급규정 신설)</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5. 결의 내용:</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정관 제○조(임원의 보수) 다음에 제○조의2(임원퇴직금)를 신설함</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 제○조의2 ① 임원 퇴직금은 퇴직 전 3년간 연평균 환산급여액(총급여×10%)에 근속연수와 지급배수를 곱하여 산정한다.</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② 지급배수는 2배 이내로 한다. (단, 2019년 12월 31일까지 근무분은 3배 적용)</a:t>
            </a:r>
            <a:endParaRPr lang="en-US" sz="1000" dirty="0"/>
          </a:p>
          <a:p>
            <a:pPr indent="0" marL="0">
              <a:buNone/>
            </a:pPr>
            <a:r>
              <a:rPr lang="en-US" sz="1000" dirty="0">
                <a:solidFill>
                  <a:srgbClr val="2B2B2B"/>
                </a:solidFill>
                <a:latin typeface="맑은 고딕" pitchFamily="34" charset="0"/>
                <a:ea typeface="맑은 고딕" pitchFamily="34" charset="-122"/>
                <a:cs typeface="맑은 고딕" pitchFamily="34" charset="-120"/>
              </a:rPr>
              <a:t>   ③ 기타 세부 사항은 별도 임원퇴직금 지급규정에 따른다.</a:t>
            </a:r>
            <a:endParaRPr lang="en-US" sz="1000" dirty="0"/>
          </a:p>
        </p:txBody>
      </p:sp>
      <p:sp>
        <p:nvSpPr>
          <p:cNvPr id="8" name="Text 6"/>
          <p:cNvSpPr/>
          <p:nvPr/>
        </p:nvSpPr>
        <p:spPr>
          <a:xfrm>
            <a:off x="457200" y="2834640"/>
            <a:ext cx="8229600" cy="292608"/>
          </a:xfrm>
          <a:prstGeom prst="rect">
            <a:avLst/>
          </a:prstGeom>
          <a:noFill/>
          <a:ln/>
        </p:spPr>
        <p:txBody>
          <a:bodyPr wrap="square" rtlCol="0" anchor="ctr"/>
          <a:lstStyle/>
          <a:p>
            <a:pPr indent="0" marL="0">
              <a:buNone/>
            </a:pPr>
            <a:r>
              <a:rPr lang="en-US" sz="1200" b="1" dirty="0">
                <a:solidFill>
                  <a:srgbClr val="1B2A4A"/>
                </a:solidFill>
                <a:latin typeface="맑은 고딕" pitchFamily="34" charset="0"/>
                <a:ea typeface="맑은 고딕" pitchFamily="34" charset="-122"/>
                <a:cs typeface="맑은 고딕" pitchFamily="34" charset="-120"/>
              </a:rPr>
              <a:t>[샘플] 퇴직금 산정 시트 예시</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914400"/>
        </p:xfrm>
        <a:graphic>
          <a:graphicData uri="http://schemas.openxmlformats.org/drawingml/2006/table">
            <a:tbl>
              <a:tblPr/>
              <a:tblGrid>
                <a:gridCol w="2743200"/>
                <a:gridCol w="2743200"/>
                <a:gridCol w="2743200"/>
              </a:tblGrid>
              <a:tr h="347472">
                <a:tc>
                  <a:txBody>
                    <a:bodyPr/>
                    <a:lstStyle/>
                    <a:p>
                      <a:pPr algn="ctr" indent="0" marL="0">
                        <a:buNone/>
                      </a:pPr>
                      <a:r>
                        <a:rPr lang="en-US" sz="1200" b="1" dirty="0">
                          <a:solidFill>
                            <a:srgbClr val="FFFFFF"/>
                          </a:solidFill>
                        </a:rPr>
                        <a:t>항목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내용</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rPr>
                        <a:t>산출 근거</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347472">
                <a:tc>
                  <a:txBody>
                    <a:bodyPr/>
                    <a:lstStyle/>
                    <a:p>
                      <a:pPr indent="0" marL="0">
                        <a:buNone/>
                      </a:pPr>
                      <a:r>
                        <a:rPr lang="en-US" sz="1200" dirty="0">
                          <a:solidFill>
                            <a:srgbClr val="2B2B2B"/>
                          </a:solidFill>
                        </a:rPr>
                        <a:t>최근 3년 평균 총급여액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○○,○○○원</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최근 3년 급여 합산 ÷ 3</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2B2B2B"/>
                          </a:solidFill>
                        </a:rPr>
                        <a:t>근속연수</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algn="r" indent="0" marL="0">
                        <a:buNone/>
                      </a:pPr>
                      <a:r>
                        <a:rPr lang="en-US" sz="1200" dirty="0">
                          <a:solidFill>
                            <a:srgbClr val="2B2B2B"/>
                          </a:solidFill>
                        </a:rPr>
                        <a:t>○년</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dirty="0">
                          <a:solidFill>
                            <a:srgbClr val="2B2B2B"/>
                          </a:solidFill>
                        </a:rPr>
                        <a:t>입사일~퇴직일 기준</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r h="347472">
                <a:tc>
                  <a:txBody>
                    <a:bodyPr/>
                    <a:lstStyle/>
                    <a:p>
                      <a:pPr indent="0" marL="0">
                        <a:buNone/>
                      </a:pPr>
                      <a:r>
                        <a:rPr lang="en-US" sz="1200" dirty="0">
                          <a:solidFill>
                            <a:srgbClr val="2B2B2B"/>
                          </a:solidFill>
                        </a:rPr>
                        <a:t>지급배수</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B2B2B"/>
                          </a:solidFill>
                        </a:rPr>
                        <a:t>2배</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rPr>
                        <a:t>정관 규정 기준</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1200" b="1" dirty="0">
                          <a:solidFill>
                            <a:srgbClr val="C8962E"/>
                          </a:solidFill>
                        </a:rPr>
                        <a:t>퇴직금 산출액</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b="1" dirty="0">
                          <a:solidFill>
                            <a:srgbClr val="C8962E"/>
                          </a:solidFill>
                        </a:rPr>
                        <a:t>총급여 × 10% × 근속 × 배수</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indent="0" marL="0">
                        <a:buNone/>
                      </a:pPr>
                      <a:r>
                        <a:rPr lang="en-US" sz="1200" b="1" dirty="0">
                          <a:solidFill>
                            <a:srgbClr val="C8962E"/>
                          </a:solidFill>
                        </a:rPr>
                        <a:t>손금인정 범위 내</a:t>
                      </a:r>
                      <a:endParaRPr lang="en-US" sz="12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r>
            </a:tbl>
          </a:graphicData>
        </a:graphic>
      </p:graphicFrame>
      <p:sp>
        <p:nvSpPr>
          <p:cNvPr id="10" name="Text 7"/>
          <p:cNvSpPr/>
          <p:nvPr/>
        </p:nvSpPr>
        <p:spPr>
          <a:xfrm>
            <a:off x="457200" y="5120640"/>
            <a:ext cx="8229600" cy="320040"/>
          </a:xfrm>
          <a:prstGeom prst="rect">
            <a:avLst/>
          </a:prstGeom>
          <a:noFill/>
          <a:ln/>
        </p:spPr>
        <p:txBody>
          <a:bodyPr wrap="square" rtlCol="0" anchor="ctr"/>
          <a:lstStyle/>
          <a:p>
            <a:pPr indent="0" marL="0">
              <a:buNone/>
            </a:pPr>
            <a:r>
              <a:rPr lang="en-US" sz="1000" i="1" dirty="0">
                <a:solidFill>
                  <a:srgbClr val="D4382C"/>
                </a:solidFill>
                <a:latin typeface="맑은 고딕" pitchFamily="34" charset="0"/>
                <a:ea typeface="맑은 고딕" pitchFamily="34" charset="-122"/>
                <a:cs typeface="맑은 고딕" pitchFamily="34" charset="-120"/>
              </a:rPr>
              <a:t>[샘플] 보험상품별 회계·세무처리 매트릭스 (보험상품 유형에 따라 손금/익금/상여처분 이슈 상이 — 반드시 세무전문가 확인)</a:t>
            </a:r>
            <a:endParaRPr lang="en-US" sz="1000" dirty="0"/>
          </a:p>
        </p:txBody>
      </p:sp>
      <p:sp>
        <p:nvSpPr>
          <p:cNvPr id="11" name="Text 8"/>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38 / 40</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47472"/>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5. 건강보험료 절감 계산기 (2025년 기준)</a:t>
            </a:r>
            <a:endParaRPr lang="en-US" sz="1400" dirty="0"/>
          </a:p>
        </p:txBody>
      </p:sp>
      <p:sp>
        <p:nvSpPr>
          <p:cNvPr id="5" name="Shape 3"/>
          <p:cNvSpPr/>
          <p:nvPr/>
        </p:nvSpPr>
        <p:spPr>
          <a:xfrm>
            <a:off x="365760" y="932688"/>
            <a:ext cx="4023360" cy="2834640"/>
          </a:xfrm>
          <a:prstGeom prst="rect">
            <a:avLst/>
          </a:prstGeom>
          <a:solidFill>
            <a:srgbClr val="FFFFFF"/>
          </a:solidFill>
          <a:ln w="12700">
            <a:solidFill>
              <a:srgbClr val="CBD5E1"/>
            </a:solidFill>
            <a:prstDash val="solid"/>
          </a:ln>
        </p:spPr>
      </p:sp>
      <p:sp>
        <p:nvSpPr>
          <p:cNvPr id="6" name="Shape 4"/>
          <p:cNvSpPr/>
          <p:nvPr/>
        </p:nvSpPr>
        <p:spPr>
          <a:xfrm>
            <a:off x="365760" y="932688"/>
            <a:ext cx="4023360" cy="347472"/>
          </a:xfrm>
          <a:prstGeom prst="rect">
            <a:avLst/>
          </a:prstGeom>
          <a:solidFill>
            <a:srgbClr val="1B2A4A"/>
          </a:solidFill>
          <a:ln w="12700">
            <a:solidFill>
              <a:srgbClr val="1B2A4A"/>
            </a:solidFill>
            <a:prstDash val="solid"/>
          </a:ln>
        </p:spPr>
      </p:sp>
      <p:sp>
        <p:nvSpPr>
          <p:cNvPr id="7" name="Text 5"/>
          <p:cNvSpPr/>
          <p:nvPr/>
        </p:nvSpPr>
        <p:spPr>
          <a:xfrm>
            <a:off x="457200" y="932688"/>
            <a:ext cx="3840480" cy="347472"/>
          </a:xfrm>
          <a:prstGeom prst="rect">
            <a:avLst/>
          </a:prstGeom>
          <a:noFill/>
          <a:ln/>
        </p:spPr>
        <p:txBody>
          <a:bodyPr wrap="square" rtlCol="0" anchor="ct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입력 항목</a:t>
            </a:r>
            <a:endParaRPr lang="en-US" sz="1100" dirty="0"/>
          </a:p>
        </p:txBody>
      </p:sp>
      <p:sp>
        <p:nvSpPr>
          <p:cNvPr id="8" name="Shape 6"/>
          <p:cNvSpPr/>
          <p:nvPr/>
        </p:nvSpPr>
        <p:spPr>
          <a:xfrm>
            <a:off x="365760" y="1371600"/>
            <a:ext cx="4023360" cy="301752"/>
          </a:xfrm>
          <a:prstGeom prst="rect">
            <a:avLst/>
          </a:prstGeom>
          <a:solidFill>
            <a:srgbClr val="FFFFFF"/>
          </a:solidFill>
          <a:ln w="12700">
            <a:solidFill>
              <a:srgbClr val="E2E8F0"/>
            </a:solidFill>
            <a:prstDash val="solid"/>
          </a:ln>
        </p:spPr>
      </p:sp>
      <p:sp>
        <p:nvSpPr>
          <p:cNvPr id="9" name="Text 7"/>
          <p:cNvSpPr/>
          <p:nvPr/>
        </p:nvSpPr>
        <p:spPr>
          <a:xfrm>
            <a:off x="502920" y="1399032"/>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월 급여(근로) — 만원</a:t>
            </a:r>
            <a:endParaRPr lang="en-US" sz="1050" dirty="0"/>
          </a:p>
        </p:txBody>
      </p:sp>
      <p:sp>
        <p:nvSpPr>
          <p:cNvPr id="10" name="Shape 8"/>
          <p:cNvSpPr/>
          <p:nvPr/>
        </p:nvSpPr>
        <p:spPr>
          <a:xfrm>
            <a:off x="365760" y="1673352"/>
            <a:ext cx="4023360" cy="301752"/>
          </a:xfrm>
          <a:prstGeom prst="rect">
            <a:avLst/>
          </a:prstGeom>
          <a:solidFill>
            <a:srgbClr val="F7F8FA"/>
          </a:solidFill>
          <a:ln w="12700">
            <a:solidFill>
              <a:srgbClr val="E2E8F0"/>
            </a:solidFill>
            <a:prstDash val="solid"/>
          </a:ln>
        </p:spPr>
      </p:sp>
      <p:sp>
        <p:nvSpPr>
          <p:cNvPr id="11" name="Text 9"/>
          <p:cNvSpPr/>
          <p:nvPr/>
        </p:nvSpPr>
        <p:spPr>
          <a:xfrm>
            <a:off x="502920" y="1700784"/>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연 배당 — 만원</a:t>
            </a:r>
            <a:endParaRPr lang="en-US" sz="1050" dirty="0"/>
          </a:p>
        </p:txBody>
      </p:sp>
      <p:sp>
        <p:nvSpPr>
          <p:cNvPr id="12" name="Shape 10"/>
          <p:cNvSpPr/>
          <p:nvPr/>
        </p:nvSpPr>
        <p:spPr>
          <a:xfrm>
            <a:off x="365760" y="1975104"/>
            <a:ext cx="4023360" cy="301752"/>
          </a:xfrm>
          <a:prstGeom prst="rect">
            <a:avLst/>
          </a:prstGeom>
          <a:solidFill>
            <a:srgbClr val="FFFFFF"/>
          </a:solidFill>
          <a:ln w="12700">
            <a:solidFill>
              <a:srgbClr val="E2E8F0"/>
            </a:solidFill>
            <a:prstDash val="solid"/>
          </a:ln>
        </p:spPr>
      </p:sp>
      <p:sp>
        <p:nvSpPr>
          <p:cNvPr id="13" name="Text 11"/>
          <p:cNvSpPr/>
          <p:nvPr/>
        </p:nvSpPr>
        <p:spPr>
          <a:xfrm>
            <a:off x="502920" y="2002536"/>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연 이자 — 만원</a:t>
            </a:r>
            <a:endParaRPr lang="en-US" sz="1050" dirty="0"/>
          </a:p>
        </p:txBody>
      </p:sp>
      <p:sp>
        <p:nvSpPr>
          <p:cNvPr id="14" name="Shape 12"/>
          <p:cNvSpPr/>
          <p:nvPr/>
        </p:nvSpPr>
        <p:spPr>
          <a:xfrm>
            <a:off x="365760" y="2276856"/>
            <a:ext cx="4023360" cy="301752"/>
          </a:xfrm>
          <a:prstGeom prst="rect">
            <a:avLst/>
          </a:prstGeom>
          <a:solidFill>
            <a:srgbClr val="F7F8FA"/>
          </a:solidFill>
          <a:ln w="12700">
            <a:solidFill>
              <a:srgbClr val="E2E8F0"/>
            </a:solidFill>
            <a:prstDash val="solid"/>
          </a:ln>
        </p:spPr>
      </p:sp>
      <p:sp>
        <p:nvSpPr>
          <p:cNvPr id="15" name="Text 13"/>
          <p:cNvSpPr/>
          <p:nvPr/>
        </p:nvSpPr>
        <p:spPr>
          <a:xfrm>
            <a:off x="502920" y="2304288"/>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연 기타(사업·기타) — 만원</a:t>
            </a:r>
            <a:endParaRPr lang="en-US" sz="1050" dirty="0"/>
          </a:p>
        </p:txBody>
      </p:sp>
      <p:sp>
        <p:nvSpPr>
          <p:cNvPr id="16" name="Shape 14"/>
          <p:cNvSpPr/>
          <p:nvPr/>
        </p:nvSpPr>
        <p:spPr>
          <a:xfrm>
            <a:off x="365760" y="2578608"/>
            <a:ext cx="4023360" cy="301752"/>
          </a:xfrm>
          <a:prstGeom prst="rect">
            <a:avLst/>
          </a:prstGeom>
          <a:solidFill>
            <a:srgbClr val="FFFFFF"/>
          </a:solidFill>
          <a:ln w="12700">
            <a:solidFill>
              <a:srgbClr val="E2E8F0"/>
            </a:solidFill>
            <a:prstDash val="solid"/>
          </a:ln>
        </p:spPr>
      </p:sp>
      <p:sp>
        <p:nvSpPr>
          <p:cNvPr id="17" name="Text 15"/>
          <p:cNvSpPr/>
          <p:nvPr/>
        </p:nvSpPr>
        <p:spPr>
          <a:xfrm>
            <a:off x="502920" y="2606040"/>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건보료율 (%) — 기본 3.545%</a:t>
            </a:r>
            <a:endParaRPr lang="en-US" sz="1050" dirty="0"/>
          </a:p>
        </p:txBody>
      </p:sp>
      <p:sp>
        <p:nvSpPr>
          <p:cNvPr id="18" name="Shape 16"/>
          <p:cNvSpPr/>
          <p:nvPr/>
        </p:nvSpPr>
        <p:spPr>
          <a:xfrm>
            <a:off x="365760" y="2880360"/>
            <a:ext cx="4023360" cy="301752"/>
          </a:xfrm>
          <a:prstGeom prst="rect">
            <a:avLst/>
          </a:prstGeom>
          <a:solidFill>
            <a:srgbClr val="F7F8FA"/>
          </a:solidFill>
          <a:ln w="12700">
            <a:solidFill>
              <a:srgbClr val="E2E8F0"/>
            </a:solidFill>
            <a:prstDash val="solid"/>
          </a:ln>
        </p:spPr>
      </p:sp>
      <p:sp>
        <p:nvSpPr>
          <p:cNvPr id="19" name="Text 17"/>
          <p:cNvSpPr/>
          <p:nvPr/>
        </p:nvSpPr>
        <p:spPr>
          <a:xfrm>
            <a:off x="502920" y="2907792"/>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장기요양 요율 (%) — 기본 12.95%</a:t>
            </a:r>
            <a:endParaRPr lang="en-US" sz="1050" dirty="0"/>
          </a:p>
        </p:txBody>
      </p:sp>
      <p:sp>
        <p:nvSpPr>
          <p:cNvPr id="20" name="Shape 18"/>
          <p:cNvSpPr/>
          <p:nvPr/>
        </p:nvSpPr>
        <p:spPr>
          <a:xfrm>
            <a:off x="365760" y="3182112"/>
            <a:ext cx="4023360" cy="301752"/>
          </a:xfrm>
          <a:prstGeom prst="rect">
            <a:avLst/>
          </a:prstGeom>
          <a:solidFill>
            <a:srgbClr val="FFFFFF"/>
          </a:solidFill>
          <a:ln w="12700">
            <a:solidFill>
              <a:srgbClr val="E2E8F0"/>
            </a:solidFill>
            <a:prstDash val="solid"/>
          </a:ln>
        </p:spPr>
      </p:sp>
      <p:sp>
        <p:nvSpPr>
          <p:cNvPr id="21" name="Text 19"/>
          <p:cNvSpPr/>
          <p:nvPr/>
        </p:nvSpPr>
        <p:spPr>
          <a:xfrm>
            <a:off x="502920" y="3209544"/>
            <a:ext cx="3749040" cy="246888"/>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보수월액 상한 도달 여부 (Y/N)</a:t>
            </a:r>
            <a:endParaRPr lang="en-US" sz="1050" dirty="0"/>
          </a:p>
        </p:txBody>
      </p:sp>
      <p:sp>
        <p:nvSpPr>
          <p:cNvPr id="22" name="Shape 20"/>
          <p:cNvSpPr/>
          <p:nvPr/>
        </p:nvSpPr>
        <p:spPr>
          <a:xfrm>
            <a:off x="4754880" y="932688"/>
            <a:ext cx="4023360" cy="2834640"/>
          </a:xfrm>
          <a:prstGeom prst="rect">
            <a:avLst/>
          </a:prstGeom>
          <a:solidFill>
            <a:srgbClr val="FFFFFF"/>
          </a:solidFill>
          <a:ln w="12700">
            <a:solidFill>
              <a:srgbClr val="CBD5E1"/>
            </a:solidFill>
            <a:prstDash val="solid"/>
          </a:ln>
        </p:spPr>
      </p:sp>
      <p:sp>
        <p:nvSpPr>
          <p:cNvPr id="23" name="Shape 21"/>
          <p:cNvSpPr/>
          <p:nvPr/>
        </p:nvSpPr>
        <p:spPr>
          <a:xfrm>
            <a:off x="4754880" y="932688"/>
            <a:ext cx="4023360" cy="347472"/>
          </a:xfrm>
          <a:prstGeom prst="rect">
            <a:avLst/>
          </a:prstGeom>
          <a:solidFill>
            <a:srgbClr val="1A6B4A"/>
          </a:solidFill>
          <a:ln w="12700">
            <a:solidFill>
              <a:srgbClr val="1A6B4A"/>
            </a:solidFill>
            <a:prstDash val="solid"/>
          </a:ln>
        </p:spPr>
      </p:sp>
      <p:sp>
        <p:nvSpPr>
          <p:cNvPr id="24" name="Text 22"/>
          <p:cNvSpPr/>
          <p:nvPr/>
        </p:nvSpPr>
        <p:spPr>
          <a:xfrm>
            <a:off x="4846320" y="932688"/>
            <a:ext cx="3840480" cy="347472"/>
          </a:xfrm>
          <a:prstGeom prst="rect">
            <a:avLst/>
          </a:prstGeom>
          <a:noFill/>
          <a:ln/>
        </p:spPr>
        <p:txBody>
          <a:bodyPr wrap="square" rtlCol="0" anchor="ct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계산 결과</a:t>
            </a:r>
            <a:endParaRPr lang="en-US" sz="1100" dirty="0"/>
          </a:p>
        </p:txBody>
      </p:sp>
      <p:sp>
        <p:nvSpPr>
          <p:cNvPr id="25" name="Shape 23"/>
          <p:cNvSpPr/>
          <p:nvPr/>
        </p:nvSpPr>
        <p:spPr>
          <a:xfrm>
            <a:off x="4754880" y="1417320"/>
            <a:ext cx="4023360" cy="475488"/>
          </a:xfrm>
          <a:prstGeom prst="rect">
            <a:avLst/>
          </a:prstGeom>
          <a:solidFill>
            <a:srgbClr val="F0FDF4"/>
          </a:solidFill>
          <a:ln w="12700">
            <a:solidFill>
              <a:srgbClr val="E2E8F0"/>
            </a:solidFill>
            <a:prstDash val="solid"/>
          </a:ln>
        </p:spPr>
      </p:sp>
      <p:sp>
        <p:nvSpPr>
          <p:cNvPr id="26" name="Text 24"/>
          <p:cNvSpPr/>
          <p:nvPr/>
        </p:nvSpPr>
        <p:spPr>
          <a:xfrm>
            <a:off x="4892040" y="1453896"/>
            <a:ext cx="3749040" cy="201168"/>
          </a:xfrm>
          <a:prstGeom prst="rect">
            <a:avLst/>
          </a:prstGeom>
          <a:noFill/>
          <a:ln/>
        </p:spPr>
        <p:txBody>
          <a:bodyPr wrap="square" rtlCol="0" anchor="ctr"/>
          <a:lstStyle/>
          <a:p>
            <a:pPr indent="0" marL="0">
              <a:buNone/>
            </a:pPr>
            <a:r>
              <a:rPr lang="en-US" sz="1000" dirty="0">
                <a:solidFill>
                  <a:srgbClr val="4A5568"/>
                </a:solidFill>
                <a:latin typeface="맑은 고딕" pitchFamily="34" charset="0"/>
                <a:ea typeface="맑은 고딕" pitchFamily="34" charset="-122"/>
                <a:cs typeface="맑은 고딕" pitchFamily="34" charset="-120"/>
              </a:rPr>
              <a:t>보수월액(근로) 본인부담</a:t>
            </a:r>
            <a:endParaRPr lang="en-US" sz="1000" dirty="0"/>
          </a:p>
        </p:txBody>
      </p:sp>
      <p:sp>
        <p:nvSpPr>
          <p:cNvPr id="27" name="Text 25"/>
          <p:cNvSpPr/>
          <p:nvPr/>
        </p:nvSpPr>
        <p:spPr>
          <a:xfrm>
            <a:off x="4892040" y="1664208"/>
            <a:ext cx="3657600" cy="201168"/>
          </a:xfrm>
          <a:prstGeom prst="rect">
            <a:avLst/>
          </a:prstGeom>
          <a:noFill/>
          <a:ln/>
        </p:spPr>
        <p:txBody>
          <a:bodyPr wrap="square" rtlCol="0" anchor="ctr"/>
          <a:lstStyle/>
          <a:p>
            <a:pPr algn="r" indent="0" marL="0">
              <a:buNone/>
            </a:pPr>
            <a:r>
              <a:rPr lang="en-US" sz="1200" b="1" dirty="0">
                <a:solidFill>
                  <a:srgbClr val="1A6B4A"/>
                </a:solidFill>
                <a:latin typeface="맑은 고딕" pitchFamily="34" charset="0"/>
                <a:ea typeface="맑은 고딕" pitchFamily="34" charset="-122"/>
                <a:cs typeface="맑은 고딕" pitchFamily="34" charset="-120"/>
              </a:rPr>
              <a:t>— 원</a:t>
            </a:r>
            <a:endParaRPr lang="en-US" sz="1200" dirty="0"/>
          </a:p>
        </p:txBody>
      </p:sp>
      <p:sp>
        <p:nvSpPr>
          <p:cNvPr id="28" name="Shape 26"/>
          <p:cNvSpPr/>
          <p:nvPr/>
        </p:nvSpPr>
        <p:spPr>
          <a:xfrm>
            <a:off x="4754880" y="1892808"/>
            <a:ext cx="4023360" cy="475488"/>
          </a:xfrm>
          <a:prstGeom prst="rect">
            <a:avLst/>
          </a:prstGeom>
          <a:solidFill>
            <a:srgbClr val="FFFFFF"/>
          </a:solidFill>
          <a:ln w="12700">
            <a:solidFill>
              <a:srgbClr val="E2E8F0"/>
            </a:solidFill>
            <a:prstDash val="solid"/>
          </a:ln>
        </p:spPr>
      </p:sp>
      <p:sp>
        <p:nvSpPr>
          <p:cNvPr id="29" name="Text 27"/>
          <p:cNvSpPr/>
          <p:nvPr/>
        </p:nvSpPr>
        <p:spPr>
          <a:xfrm>
            <a:off x="4892040" y="1929384"/>
            <a:ext cx="3749040" cy="201168"/>
          </a:xfrm>
          <a:prstGeom prst="rect">
            <a:avLst/>
          </a:prstGeom>
          <a:noFill/>
          <a:ln/>
        </p:spPr>
        <p:txBody>
          <a:bodyPr wrap="square" rtlCol="0" anchor="ctr"/>
          <a:lstStyle/>
          <a:p>
            <a:pPr indent="0" marL="0">
              <a:buNone/>
            </a:pPr>
            <a:r>
              <a:rPr lang="en-US" sz="1000" dirty="0">
                <a:solidFill>
                  <a:srgbClr val="4A5568"/>
                </a:solidFill>
                <a:latin typeface="맑은 고딕" pitchFamily="34" charset="0"/>
                <a:ea typeface="맑은 고딕" pitchFamily="34" charset="-122"/>
                <a:cs typeface="맑은 고딕" pitchFamily="34" charset="-120"/>
              </a:rPr>
              <a:t>소득월액(보수 외) 전액 본인</a:t>
            </a:r>
            <a:endParaRPr lang="en-US" sz="1000" dirty="0"/>
          </a:p>
        </p:txBody>
      </p:sp>
      <p:sp>
        <p:nvSpPr>
          <p:cNvPr id="30" name="Text 28"/>
          <p:cNvSpPr/>
          <p:nvPr/>
        </p:nvSpPr>
        <p:spPr>
          <a:xfrm>
            <a:off x="4892040" y="2139696"/>
            <a:ext cx="3657600" cy="201168"/>
          </a:xfrm>
          <a:prstGeom prst="rect">
            <a:avLst/>
          </a:prstGeom>
          <a:noFill/>
          <a:ln/>
        </p:spPr>
        <p:txBody>
          <a:bodyPr wrap="square" rtlCol="0" anchor="ctr"/>
          <a:lstStyle/>
          <a:p>
            <a:pPr algn="r" indent="0" marL="0">
              <a:buNone/>
            </a:pPr>
            <a:r>
              <a:rPr lang="en-US" sz="1200" b="1" dirty="0">
                <a:solidFill>
                  <a:srgbClr val="1A6B4A"/>
                </a:solidFill>
                <a:latin typeface="맑은 고딕" pitchFamily="34" charset="0"/>
                <a:ea typeface="맑은 고딕" pitchFamily="34" charset="-122"/>
                <a:cs typeface="맑은 고딕" pitchFamily="34" charset="-120"/>
              </a:rPr>
              <a:t>— 원</a:t>
            </a:r>
            <a:endParaRPr lang="en-US" sz="1200" dirty="0"/>
          </a:p>
        </p:txBody>
      </p:sp>
      <p:sp>
        <p:nvSpPr>
          <p:cNvPr id="31" name="Shape 29"/>
          <p:cNvSpPr/>
          <p:nvPr/>
        </p:nvSpPr>
        <p:spPr>
          <a:xfrm>
            <a:off x="4754880" y="2368296"/>
            <a:ext cx="4023360" cy="475488"/>
          </a:xfrm>
          <a:prstGeom prst="rect">
            <a:avLst/>
          </a:prstGeom>
          <a:solidFill>
            <a:srgbClr val="F0FDF4"/>
          </a:solidFill>
          <a:ln w="12700">
            <a:solidFill>
              <a:srgbClr val="E2E8F0"/>
            </a:solidFill>
            <a:prstDash val="solid"/>
          </a:ln>
        </p:spPr>
      </p:sp>
      <p:sp>
        <p:nvSpPr>
          <p:cNvPr id="32" name="Text 30"/>
          <p:cNvSpPr/>
          <p:nvPr/>
        </p:nvSpPr>
        <p:spPr>
          <a:xfrm>
            <a:off x="4892040" y="2404872"/>
            <a:ext cx="3749040" cy="201168"/>
          </a:xfrm>
          <a:prstGeom prst="rect">
            <a:avLst/>
          </a:prstGeom>
          <a:noFill/>
          <a:ln/>
        </p:spPr>
        <p:txBody>
          <a:bodyPr wrap="square" rtlCol="0" anchor="ctr"/>
          <a:lstStyle/>
          <a:p>
            <a:pPr indent="0" marL="0">
              <a:buNone/>
            </a:pPr>
            <a:r>
              <a:rPr lang="en-US" sz="1000" dirty="0">
                <a:solidFill>
                  <a:srgbClr val="4A5568"/>
                </a:solidFill>
                <a:latin typeface="맑은 고딕" pitchFamily="34" charset="0"/>
                <a:ea typeface="맑은 고딕" pitchFamily="34" charset="-122"/>
                <a:cs typeface="맑은 고딕" pitchFamily="34" charset="-120"/>
              </a:rPr>
              <a:t>월 총 보험료(본인)</a:t>
            </a:r>
            <a:endParaRPr lang="en-US" sz="1000" dirty="0"/>
          </a:p>
        </p:txBody>
      </p:sp>
      <p:sp>
        <p:nvSpPr>
          <p:cNvPr id="33" name="Text 31"/>
          <p:cNvSpPr/>
          <p:nvPr/>
        </p:nvSpPr>
        <p:spPr>
          <a:xfrm>
            <a:off x="4892040" y="2615184"/>
            <a:ext cx="3657600" cy="201168"/>
          </a:xfrm>
          <a:prstGeom prst="rect">
            <a:avLst/>
          </a:prstGeom>
          <a:noFill/>
          <a:ln/>
        </p:spPr>
        <p:txBody>
          <a:bodyPr wrap="square" rtlCol="0" anchor="ctr"/>
          <a:lstStyle/>
          <a:p>
            <a:pPr algn="r" indent="0" marL="0">
              <a:buNone/>
            </a:pPr>
            <a:r>
              <a:rPr lang="en-US" sz="1200" b="1" dirty="0">
                <a:solidFill>
                  <a:srgbClr val="1A6B4A"/>
                </a:solidFill>
                <a:latin typeface="맑은 고딕" pitchFamily="34" charset="0"/>
                <a:ea typeface="맑은 고딕" pitchFamily="34" charset="-122"/>
                <a:cs typeface="맑은 고딕" pitchFamily="34" charset="-120"/>
              </a:rPr>
              <a:t>— 원</a:t>
            </a:r>
            <a:endParaRPr lang="en-US" sz="1200" dirty="0"/>
          </a:p>
        </p:txBody>
      </p:sp>
      <p:sp>
        <p:nvSpPr>
          <p:cNvPr id="34" name="Shape 32"/>
          <p:cNvSpPr/>
          <p:nvPr/>
        </p:nvSpPr>
        <p:spPr>
          <a:xfrm>
            <a:off x="365760" y="3822192"/>
            <a:ext cx="8412480" cy="658368"/>
          </a:xfrm>
          <a:prstGeom prst="rect">
            <a:avLst/>
          </a:prstGeom>
          <a:solidFill>
            <a:srgbClr val="FFF7ED"/>
          </a:solidFill>
          <a:ln w="12700">
            <a:solidFill>
              <a:srgbClr val="F59E0B"/>
            </a:solidFill>
            <a:prstDash val="solid"/>
          </a:ln>
        </p:spPr>
      </p:sp>
      <p:sp>
        <p:nvSpPr>
          <p:cNvPr id="35" name="Shape 33"/>
          <p:cNvSpPr/>
          <p:nvPr/>
        </p:nvSpPr>
        <p:spPr>
          <a:xfrm>
            <a:off x="365760" y="3822192"/>
            <a:ext cx="54864" cy="658368"/>
          </a:xfrm>
          <a:prstGeom prst="rect">
            <a:avLst/>
          </a:prstGeom>
          <a:solidFill>
            <a:srgbClr val="C8962E"/>
          </a:solidFill>
          <a:ln w="12700">
            <a:solidFill>
              <a:srgbClr val="C8962E"/>
            </a:solidFill>
            <a:prstDash val="solid"/>
          </a:ln>
        </p:spPr>
      </p:sp>
      <p:sp>
        <p:nvSpPr>
          <p:cNvPr id="36" name="Text 34"/>
          <p:cNvSpPr/>
          <p:nvPr/>
        </p:nvSpPr>
        <p:spPr>
          <a:xfrm>
            <a:off x="502920" y="3840480"/>
            <a:ext cx="8138160" cy="594360"/>
          </a:xfrm>
          <a:prstGeom prst="rect">
            <a:avLst/>
          </a:prstGeom>
          <a:noFill/>
          <a:ln/>
        </p:spPr>
        <p:txBody>
          <a:bodyPr wrap="square" rtlCol="0" anchor="t"/>
          <a:lstStyle/>
          <a:p>
            <a:pPr indent="0" marL="0">
              <a:buNone/>
            </a:pPr>
            <a:r>
              <a:rPr lang="en-US" sz="950" dirty="0">
                <a:solidFill>
                  <a:srgbClr val="78350F"/>
                </a:solidFill>
                <a:latin typeface="맑은 고딕" pitchFamily="34" charset="0"/>
                <a:ea typeface="맑은 고딕" pitchFamily="34" charset="-122"/>
                <a:cs typeface="맑은 고딕" pitchFamily="34" charset="-120"/>
              </a:rPr>
              <a:t>※ 소득월액은 보수 외 소득 합계에서 2,000만원 초과분에 대해서만 부과됩니다.</a:t>
            </a:r>
            <a:endParaRPr lang="en-US" sz="950" dirty="0"/>
          </a:p>
          <a:p>
            <a:pPr indent="0" marL="0">
              <a:buNone/>
            </a:pPr>
            <a:r>
              <a:rPr lang="en-US" sz="950" dirty="0">
                <a:solidFill>
                  <a:srgbClr val="78350F"/>
                </a:solidFill>
                <a:latin typeface="맑은 고딕" pitchFamily="34" charset="0"/>
                <a:ea typeface="맑은 고딕" pitchFamily="34" charset="-122"/>
                <a:cs typeface="맑은 고딕" pitchFamily="34" charset="-120"/>
              </a:rPr>
              <a:t>※ 이자+배당 합계 1,000만원 이하 시 소득월액 산정에서 제외됩니다.</a:t>
            </a:r>
            <a:endParaRPr lang="en-US" sz="950" dirty="0"/>
          </a:p>
          <a:p>
            <a:pPr indent="0" marL="0">
              <a:buNone/>
            </a:pPr>
            <a:r>
              <a:rPr lang="en-US" sz="950" dirty="0">
                <a:solidFill>
                  <a:srgbClr val="78350F"/>
                </a:solidFill>
                <a:latin typeface="맑은 고딕" pitchFamily="34" charset="0"/>
                <a:ea typeface="맑은 고딕" pitchFamily="34" charset="-122"/>
                <a:cs typeface="맑은 고딕" pitchFamily="34" charset="-120"/>
              </a:rPr>
              <a:t>※ 실제 계산은 원본 HTML 파일의 인터랙티브 계산기를 활용하시기 바랍니다.</a:t>
            </a:r>
            <a:endParaRPr lang="en-US" sz="950" dirty="0"/>
          </a:p>
        </p:txBody>
      </p:sp>
      <p:sp>
        <p:nvSpPr>
          <p:cNvPr id="37" name="Text 35"/>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39 / 40</a:t>
            </a:r>
            <a:endParaRPr lang="en-US" sz="800" dirty="0"/>
          </a:p>
        </p:txBody>
      </p:sp>
      <p:sp>
        <p:nvSpPr>
          <p:cNvPr id="38" name="Text 36"/>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0F0"/>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sp>
      <p:sp>
        <p:nvSpPr>
          <p:cNvPr id="3" name="Text 1"/>
          <p:cNvSpPr/>
          <p:nvPr/>
        </p:nvSpPr>
        <p:spPr>
          <a:xfrm>
            <a:off x="0" y="0"/>
            <a:ext cx="914400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47472"/>
          </a:xfrm>
          <a:prstGeom prst="rect">
            <a:avLst/>
          </a:prstGeom>
          <a:noFill/>
          <a:ln/>
        </p:spPr>
        <p:txBody>
          <a:bodyPr wrap="square" rtlCol="0" anchor="ctr"/>
          <a:lstStyle/>
          <a:p>
            <a:pPr indent="0" marL="0">
              <a:buNone/>
            </a:pPr>
            <a:r>
              <a:rPr lang="en-US" sz="1400" b="1" dirty="0">
                <a:solidFill>
                  <a:srgbClr val="1B2A4A"/>
                </a:solidFill>
                <a:latin typeface="맑은 고딕" pitchFamily="34" charset="0"/>
                <a:ea typeface="맑은 고딕" pitchFamily="34" charset="-122"/>
                <a:cs typeface="맑은 고딕" pitchFamily="34" charset="-120"/>
              </a:rPr>
              <a:t>X. 부록 — 6. 상여 vs 배당 유불리 비교 (보험료 증분 기준)</a:t>
            </a:r>
            <a:endParaRPr lang="en-US" sz="1400" dirty="0"/>
          </a:p>
        </p:txBody>
      </p:sp>
      <p:sp>
        <p:nvSpPr>
          <p:cNvPr id="5" name="Shape 3"/>
          <p:cNvSpPr/>
          <p:nvPr/>
        </p:nvSpPr>
        <p:spPr>
          <a:xfrm>
            <a:off x="365760" y="932688"/>
            <a:ext cx="4023360" cy="2011680"/>
          </a:xfrm>
          <a:prstGeom prst="rect">
            <a:avLst/>
          </a:prstGeom>
          <a:solidFill>
            <a:srgbClr val="FFFFFF"/>
          </a:solidFill>
          <a:ln w="12700">
            <a:solidFill>
              <a:srgbClr val="CBD5E1"/>
            </a:solidFill>
            <a:prstDash val="solid"/>
          </a:ln>
        </p:spPr>
      </p:sp>
      <p:sp>
        <p:nvSpPr>
          <p:cNvPr id="6" name="Shape 4"/>
          <p:cNvSpPr/>
          <p:nvPr/>
        </p:nvSpPr>
        <p:spPr>
          <a:xfrm>
            <a:off x="365760" y="932688"/>
            <a:ext cx="4023360" cy="347472"/>
          </a:xfrm>
          <a:prstGeom prst="rect">
            <a:avLst/>
          </a:prstGeom>
          <a:solidFill>
            <a:srgbClr val="1B2A4A"/>
          </a:solidFill>
          <a:ln w="12700">
            <a:solidFill>
              <a:srgbClr val="1B2A4A"/>
            </a:solidFill>
            <a:prstDash val="solid"/>
          </a:ln>
        </p:spPr>
      </p:sp>
      <p:sp>
        <p:nvSpPr>
          <p:cNvPr id="7" name="Text 5"/>
          <p:cNvSpPr/>
          <p:nvPr/>
        </p:nvSpPr>
        <p:spPr>
          <a:xfrm>
            <a:off x="457200" y="932688"/>
            <a:ext cx="3840480" cy="347472"/>
          </a:xfrm>
          <a:prstGeom prst="rect">
            <a:avLst/>
          </a:prstGeom>
          <a:noFill/>
          <a:ln/>
        </p:spPr>
        <p:txBody>
          <a:bodyPr wrap="square" rtlCol="0" anchor="ct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입력 항목</a:t>
            </a:r>
            <a:endParaRPr lang="en-US" sz="1100" dirty="0"/>
          </a:p>
        </p:txBody>
      </p:sp>
      <p:sp>
        <p:nvSpPr>
          <p:cNvPr id="8" name="Shape 6"/>
          <p:cNvSpPr/>
          <p:nvPr/>
        </p:nvSpPr>
        <p:spPr>
          <a:xfrm>
            <a:off x="365760" y="1371600"/>
            <a:ext cx="4023360" cy="329184"/>
          </a:xfrm>
          <a:prstGeom prst="rect">
            <a:avLst/>
          </a:prstGeom>
          <a:solidFill>
            <a:srgbClr val="FFFFFF"/>
          </a:solidFill>
          <a:ln w="12700">
            <a:solidFill>
              <a:srgbClr val="E2E8F0"/>
            </a:solidFill>
            <a:prstDash val="solid"/>
          </a:ln>
        </p:spPr>
      </p:sp>
      <p:sp>
        <p:nvSpPr>
          <p:cNvPr id="9" name="Text 7"/>
          <p:cNvSpPr/>
          <p:nvPr/>
        </p:nvSpPr>
        <p:spPr>
          <a:xfrm>
            <a:off x="502920" y="1408176"/>
            <a:ext cx="3749040" cy="256032"/>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전환 금액 (상여 ↔ 배당) — 만원</a:t>
            </a:r>
            <a:endParaRPr lang="en-US" sz="1050" dirty="0"/>
          </a:p>
        </p:txBody>
      </p:sp>
      <p:sp>
        <p:nvSpPr>
          <p:cNvPr id="10" name="Shape 8"/>
          <p:cNvSpPr/>
          <p:nvPr/>
        </p:nvSpPr>
        <p:spPr>
          <a:xfrm>
            <a:off x="365760" y="1700784"/>
            <a:ext cx="4023360" cy="329184"/>
          </a:xfrm>
          <a:prstGeom prst="rect">
            <a:avLst/>
          </a:prstGeom>
          <a:solidFill>
            <a:srgbClr val="F7F8FA"/>
          </a:solidFill>
          <a:ln w="12700">
            <a:solidFill>
              <a:srgbClr val="E2E8F0"/>
            </a:solidFill>
            <a:prstDash val="solid"/>
          </a:ln>
        </p:spPr>
      </p:sp>
      <p:sp>
        <p:nvSpPr>
          <p:cNvPr id="11" name="Text 9"/>
          <p:cNvSpPr/>
          <p:nvPr/>
        </p:nvSpPr>
        <p:spPr>
          <a:xfrm>
            <a:off x="502920" y="1737360"/>
            <a:ext cx="3749040" cy="256032"/>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건강보험료율 (%)</a:t>
            </a:r>
            <a:endParaRPr lang="en-US" sz="1050" dirty="0"/>
          </a:p>
        </p:txBody>
      </p:sp>
      <p:sp>
        <p:nvSpPr>
          <p:cNvPr id="12" name="Shape 10"/>
          <p:cNvSpPr/>
          <p:nvPr/>
        </p:nvSpPr>
        <p:spPr>
          <a:xfrm>
            <a:off x="365760" y="2029968"/>
            <a:ext cx="4023360" cy="329184"/>
          </a:xfrm>
          <a:prstGeom prst="rect">
            <a:avLst/>
          </a:prstGeom>
          <a:solidFill>
            <a:srgbClr val="FFFFFF"/>
          </a:solidFill>
          <a:ln w="12700">
            <a:solidFill>
              <a:srgbClr val="E2E8F0"/>
            </a:solidFill>
            <a:prstDash val="solid"/>
          </a:ln>
        </p:spPr>
      </p:sp>
      <p:sp>
        <p:nvSpPr>
          <p:cNvPr id="13" name="Text 11"/>
          <p:cNvSpPr/>
          <p:nvPr/>
        </p:nvSpPr>
        <p:spPr>
          <a:xfrm>
            <a:off x="502920" y="2066544"/>
            <a:ext cx="3749040" cy="256032"/>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장기요양 요율 (건보료의 %)</a:t>
            </a:r>
            <a:endParaRPr lang="en-US" sz="1050" dirty="0"/>
          </a:p>
        </p:txBody>
      </p:sp>
      <p:sp>
        <p:nvSpPr>
          <p:cNvPr id="14" name="Shape 12"/>
          <p:cNvSpPr/>
          <p:nvPr/>
        </p:nvSpPr>
        <p:spPr>
          <a:xfrm>
            <a:off x="365760" y="2359152"/>
            <a:ext cx="4023360" cy="329184"/>
          </a:xfrm>
          <a:prstGeom prst="rect">
            <a:avLst/>
          </a:prstGeom>
          <a:solidFill>
            <a:srgbClr val="F7F8FA"/>
          </a:solidFill>
          <a:ln w="12700">
            <a:solidFill>
              <a:srgbClr val="E2E8F0"/>
            </a:solidFill>
            <a:prstDash val="solid"/>
          </a:ln>
        </p:spPr>
      </p:sp>
      <p:sp>
        <p:nvSpPr>
          <p:cNvPr id="15" name="Text 13"/>
          <p:cNvSpPr/>
          <p:nvPr/>
        </p:nvSpPr>
        <p:spPr>
          <a:xfrm>
            <a:off x="502920" y="2395728"/>
            <a:ext cx="3749040" cy="256032"/>
          </a:xfrm>
          <a:prstGeom prst="rect">
            <a:avLst/>
          </a:prstGeom>
          <a:noFill/>
          <a:ln/>
        </p:spPr>
        <p:txBody>
          <a:bodyPr wrap="square" rtlCol="0" anchor="ctr"/>
          <a:lstStyle/>
          <a:p>
            <a:pPr indent="0" marL="0">
              <a:buNone/>
            </a:pPr>
            <a:r>
              <a:rPr lang="en-US" sz="1050" dirty="0">
                <a:solidFill>
                  <a:srgbClr val="2B2B2B"/>
                </a:solidFill>
                <a:latin typeface="맑은 고딕" pitchFamily="34" charset="0"/>
                <a:ea typeface="맑은 고딕" pitchFamily="34" charset="-122"/>
                <a:cs typeface="맑은 고딕" pitchFamily="34" charset="-120"/>
              </a:rPr>
              <a:t>• 현재 급여가 보수월액 상한 도달 (Y/N)</a:t>
            </a:r>
            <a:endParaRPr lang="en-US" sz="1050" dirty="0"/>
          </a:p>
        </p:txBody>
      </p:sp>
      <p:sp>
        <p:nvSpPr>
          <p:cNvPr id="16" name="Text 14"/>
          <p:cNvSpPr/>
          <p:nvPr/>
        </p:nvSpPr>
        <p:spPr>
          <a:xfrm>
            <a:off x="457200" y="2743200"/>
            <a:ext cx="3840480" cy="256032"/>
          </a:xfrm>
          <a:prstGeom prst="rect">
            <a:avLst/>
          </a:prstGeom>
          <a:noFill/>
          <a:ln/>
        </p:spPr>
        <p:txBody>
          <a:bodyPr wrap="square" rtlCol="0" anchor="ctr"/>
          <a:lstStyle/>
          <a:p>
            <a:pPr indent="0" marL="0">
              <a:buNone/>
            </a:pPr>
            <a:r>
              <a:rPr lang="en-US" sz="900" i="1" dirty="0">
                <a:solidFill>
                  <a:srgbClr val="64748B"/>
                </a:solidFill>
                <a:latin typeface="맑은 고딕" pitchFamily="34" charset="0"/>
                <a:ea typeface="맑은 고딕" pitchFamily="34" charset="-122"/>
                <a:cs typeface="맑은 고딕" pitchFamily="34" charset="-120"/>
              </a:rPr>
              <a:t>※ 상한 도달 시 상여 추가는 보수월액 추가부담 없는 것으로 가정</a:t>
            </a:r>
            <a:endParaRPr lang="en-US" sz="900" dirty="0"/>
          </a:p>
        </p:txBody>
      </p:sp>
      <p:sp>
        <p:nvSpPr>
          <p:cNvPr id="17" name="Shape 15"/>
          <p:cNvSpPr/>
          <p:nvPr/>
        </p:nvSpPr>
        <p:spPr>
          <a:xfrm>
            <a:off x="4754880" y="932688"/>
            <a:ext cx="4023360" cy="2011680"/>
          </a:xfrm>
          <a:prstGeom prst="rect">
            <a:avLst/>
          </a:prstGeom>
          <a:solidFill>
            <a:srgbClr val="FFFFFF"/>
          </a:solidFill>
          <a:ln w="12700">
            <a:solidFill>
              <a:srgbClr val="CBD5E1"/>
            </a:solidFill>
            <a:prstDash val="solid"/>
          </a:ln>
        </p:spPr>
      </p:sp>
      <p:sp>
        <p:nvSpPr>
          <p:cNvPr id="18" name="Shape 16"/>
          <p:cNvSpPr/>
          <p:nvPr/>
        </p:nvSpPr>
        <p:spPr>
          <a:xfrm>
            <a:off x="4754880" y="932688"/>
            <a:ext cx="4023360" cy="347472"/>
          </a:xfrm>
          <a:prstGeom prst="rect">
            <a:avLst/>
          </a:prstGeom>
          <a:solidFill>
            <a:srgbClr val="1A6B4A"/>
          </a:solidFill>
          <a:ln w="12700">
            <a:solidFill>
              <a:srgbClr val="1A6B4A"/>
            </a:solidFill>
            <a:prstDash val="solid"/>
          </a:ln>
        </p:spPr>
      </p:sp>
      <p:sp>
        <p:nvSpPr>
          <p:cNvPr id="19" name="Text 17"/>
          <p:cNvSpPr/>
          <p:nvPr/>
        </p:nvSpPr>
        <p:spPr>
          <a:xfrm>
            <a:off x="4846320" y="932688"/>
            <a:ext cx="3840480" cy="347472"/>
          </a:xfrm>
          <a:prstGeom prst="rect">
            <a:avLst/>
          </a:prstGeom>
          <a:noFill/>
          <a:ln/>
        </p:spPr>
        <p:txBody>
          <a:bodyPr wrap="square" rtlCol="0" anchor="ct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비교 결과</a:t>
            </a:r>
            <a:endParaRPr lang="en-US" sz="1100" dirty="0"/>
          </a:p>
        </p:txBody>
      </p:sp>
      <p:sp>
        <p:nvSpPr>
          <p:cNvPr id="20" name="Shape 18"/>
          <p:cNvSpPr/>
          <p:nvPr/>
        </p:nvSpPr>
        <p:spPr>
          <a:xfrm>
            <a:off x="4754880" y="1371600"/>
            <a:ext cx="4023360" cy="512064"/>
          </a:xfrm>
          <a:prstGeom prst="rect">
            <a:avLst/>
          </a:prstGeom>
          <a:solidFill>
            <a:srgbClr val="FFF5F5"/>
          </a:solidFill>
          <a:ln w="12700">
            <a:solidFill>
              <a:srgbClr val="E2E8F0"/>
            </a:solidFill>
            <a:prstDash val="solid"/>
          </a:ln>
        </p:spPr>
      </p:sp>
      <p:sp>
        <p:nvSpPr>
          <p:cNvPr id="21" name="Text 19"/>
          <p:cNvSpPr/>
          <p:nvPr/>
        </p:nvSpPr>
        <p:spPr>
          <a:xfrm>
            <a:off x="4892040" y="1399032"/>
            <a:ext cx="3749040" cy="201168"/>
          </a:xfrm>
          <a:prstGeom prst="rect">
            <a:avLst/>
          </a:prstGeom>
          <a:noFill/>
          <a:ln/>
        </p:spPr>
        <p:txBody>
          <a:bodyPr wrap="square" rtlCol="0" anchor="ctr"/>
          <a:lstStyle/>
          <a:p>
            <a:pPr indent="0" marL="0">
              <a:buNone/>
            </a:pPr>
            <a:r>
              <a:rPr lang="en-US" sz="950" dirty="0">
                <a:solidFill>
                  <a:srgbClr val="4A5568"/>
                </a:solidFill>
                <a:latin typeface="맑은 고딕" pitchFamily="34" charset="0"/>
                <a:ea typeface="맑은 고딕" pitchFamily="34" charset="-122"/>
                <a:cs typeface="맑은 고딕" pitchFamily="34" charset="-120"/>
              </a:rPr>
              <a:t>상여로 수령 시 월 보험료 증분 (본인):</a:t>
            </a:r>
            <a:endParaRPr lang="en-US" sz="950" dirty="0"/>
          </a:p>
        </p:txBody>
      </p:sp>
      <p:sp>
        <p:nvSpPr>
          <p:cNvPr id="22" name="Text 20"/>
          <p:cNvSpPr/>
          <p:nvPr/>
        </p:nvSpPr>
        <p:spPr>
          <a:xfrm>
            <a:off x="4892040" y="1618488"/>
            <a:ext cx="3657600" cy="219456"/>
          </a:xfrm>
          <a:prstGeom prst="rect">
            <a:avLst/>
          </a:prstGeom>
          <a:noFill/>
          <a:ln/>
        </p:spPr>
        <p:txBody>
          <a:bodyPr wrap="square" rtlCol="0" anchor="ctr"/>
          <a:lstStyle/>
          <a:p>
            <a:pPr algn="r" indent="0" marL="0">
              <a:buNone/>
            </a:pPr>
            <a:r>
              <a:rPr lang="en-US" sz="1200" b="1" dirty="0">
                <a:solidFill>
                  <a:srgbClr val="D4382C"/>
                </a:solidFill>
                <a:latin typeface="맑은 고딕" pitchFamily="34" charset="0"/>
                <a:ea typeface="맑은 고딕" pitchFamily="34" charset="-122"/>
                <a:cs typeface="맑은 고딕" pitchFamily="34" charset="-120"/>
              </a:rPr>
              <a:t>— 원</a:t>
            </a:r>
            <a:endParaRPr lang="en-US" sz="1200" dirty="0"/>
          </a:p>
        </p:txBody>
      </p:sp>
      <p:sp>
        <p:nvSpPr>
          <p:cNvPr id="23" name="Shape 21"/>
          <p:cNvSpPr/>
          <p:nvPr/>
        </p:nvSpPr>
        <p:spPr>
          <a:xfrm>
            <a:off x="4754880" y="1883664"/>
            <a:ext cx="4023360" cy="512064"/>
          </a:xfrm>
          <a:prstGeom prst="rect">
            <a:avLst/>
          </a:prstGeom>
          <a:solidFill>
            <a:srgbClr val="F0FDF4"/>
          </a:solidFill>
          <a:ln w="12700">
            <a:solidFill>
              <a:srgbClr val="E2E8F0"/>
            </a:solidFill>
            <a:prstDash val="solid"/>
          </a:ln>
        </p:spPr>
      </p:sp>
      <p:sp>
        <p:nvSpPr>
          <p:cNvPr id="24" name="Text 22"/>
          <p:cNvSpPr/>
          <p:nvPr/>
        </p:nvSpPr>
        <p:spPr>
          <a:xfrm>
            <a:off x="4892040" y="1911096"/>
            <a:ext cx="3749040" cy="201168"/>
          </a:xfrm>
          <a:prstGeom prst="rect">
            <a:avLst/>
          </a:prstGeom>
          <a:noFill/>
          <a:ln/>
        </p:spPr>
        <p:txBody>
          <a:bodyPr wrap="square" rtlCol="0" anchor="ctr"/>
          <a:lstStyle/>
          <a:p>
            <a:pPr indent="0" marL="0">
              <a:buNone/>
            </a:pPr>
            <a:r>
              <a:rPr lang="en-US" sz="950" dirty="0">
                <a:solidFill>
                  <a:srgbClr val="4A5568"/>
                </a:solidFill>
                <a:latin typeface="맑은 고딕" pitchFamily="34" charset="0"/>
                <a:ea typeface="맑은 고딕" pitchFamily="34" charset="-122"/>
                <a:cs typeface="맑은 고딕" pitchFamily="34" charset="-120"/>
              </a:rPr>
              <a:t>배당으로 수령 시 월 보험료 증분 (본인):</a:t>
            </a:r>
            <a:endParaRPr lang="en-US" sz="950" dirty="0"/>
          </a:p>
        </p:txBody>
      </p:sp>
      <p:sp>
        <p:nvSpPr>
          <p:cNvPr id="25" name="Text 23"/>
          <p:cNvSpPr/>
          <p:nvPr/>
        </p:nvSpPr>
        <p:spPr>
          <a:xfrm>
            <a:off x="4892040" y="2130552"/>
            <a:ext cx="3657600" cy="219456"/>
          </a:xfrm>
          <a:prstGeom prst="rect">
            <a:avLst/>
          </a:prstGeom>
          <a:noFill/>
          <a:ln/>
        </p:spPr>
        <p:txBody>
          <a:bodyPr wrap="square" rtlCol="0" anchor="ctr"/>
          <a:lstStyle/>
          <a:p>
            <a:pPr algn="r" indent="0" marL="0">
              <a:buNone/>
            </a:pPr>
            <a:r>
              <a:rPr lang="en-US" sz="1200" b="1" dirty="0">
                <a:solidFill>
                  <a:srgbClr val="1A6B4A"/>
                </a:solidFill>
                <a:latin typeface="맑은 고딕" pitchFamily="34" charset="0"/>
                <a:ea typeface="맑은 고딕" pitchFamily="34" charset="-122"/>
                <a:cs typeface="맑은 고딕" pitchFamily="34" charset="-120"/>
              </a:rPr>
              <a:t>— 원</a:t>
            </a:r>
            <a:endParaRPr lang="en-US" sz="1200" dirty="0"/>
          </a:p>
        </p:txBody>
      </p:sp>
      <p:sp>
        <p:nvSpPr>
          <p:cNvPr id="26" name="Shape 24"/>
          <p:cNvSpPr/>
          <p:nvPr/>
        </p:nvSpPr>
        <p:spPr>
          <a:xfrm>
            <a:off x="4754880" y="2395728"/>
            <a:ext cx="4023360" cy="512064"/>
          </a:xfrm>
          <a:prstGeom prst="rect">
            <a:avLst/>
          </a:prstGeom>
          <a:solidFill>
            <a:srgbClr val="F8FAFC"/>
          </a:solidFill>
          <a:ln w="12700">
            <a:solidFill>
              <a:srgbClr val="E2E8F0"/>
            </a:solidFill>
            <a:prstDash val="solid"/>
          </a:ln>
        </p:spPr>
      </p:sp>
      <p:sp>
        <p:nvSpPr>
          <p:cNvPr id="27" name="Text 25"/>
          <p:cNvSpPr/>
          <p:nvPr/>
        </p:nvSpPr>
        <p:spPr>
          <a:xfrm>
            <a:off x="4892040" y="2423160"/>
            <a:ext cx="3749040" cy="201168"/>
          </a:xfrm>
          <a:prstGeom prst="rect">
            <a:avLst/>
          </a:prstGeom>
          <a:noFill/>
          <a:ln/>
        </p:spPr>
        <p:txBody>
          <a:bodyPr wrap="square" rtlCol="0" anchor="ctr"/>
          <a:lstStyle/>
          <a:p>
            <a:pPr indent="0" marL="0">
              <a:buNone/>
            </a:pPr>
            <a:r>
              <a:rPr lang="en-US" sz="950" dirty="0">
                <a:solidFill>
                  <a:srgbClr val="4A5568"/>
                </a:solidFill>
                <a:latin typeface="맑은 고딕" pitchFamily="34" charset="0"/>
                <a:ea typeface="맑은 고딕" pitchFamily="34" charset="-122"/>
                <a:cs typeface="맑은 고딕" pitchFamily="34" charset="-120"/>
              </a:rPr>
              <a:t>결론:</a:t>
            </a:r>
            <a:endParaRPr lang="en-US" sz="950" dirty="0"/>
          </a:p>
        </p:txBody>
      </p:sp>
      <p:sp>
        <p:nvSpPr>
          <p:cNvPr id="28" name="Text 26"/>
          <p:cNvSpPr/>
          <p:nvPr/>
        </p:nvSpPr>
        <p:spPr>
          <a:xfrm>
            <a:off x="4892040" y="2642616"/>
            <a:ext cx="3657600" cy="219456"/>
          </a:xfrm>
          <a:prstGeom prst="rect">
            <a:avLst/>
          </a:prstGeom>
          <a:noFill/>
          <a:ln/>
        </p:spPr>
        <p:txBody>
          <a:bodyPr wrap="square" rtlCol="0" anchor="ctr"/>
          <a:lstStyle/>
          <a:p>
            <a:pPr algn="r" indent="0" marL="0">
              <a:buNone/>
            </a:pPr>
            <a:r>
              <a:rPr lang="en-US" sz="1200" b="1" dirty="0">
                <a:solidFill>
                  <a:srgbClr val="1B2A4A"/>
                </a:solidFill>
                <a:latin typeface="맑은 고딕" pitchFamily="34" charset="0"/>
                <a:ea typeface="맑은 고딕" pitchFamily="34" charset="-122"/>
                <a:cs typeface="맑은 고딕" pitchFamily="34" charset="-120"/>
              </a:rPr>
              <a:t>입력 후 산출</a:t>
            </a:r>
            <a:endParaRPr lang="en-US" sz="1200" dirty="0"/>
          </a:p>
        </p:txBody>
      </p:sp>
      <p:sp>
        <p:nvSpPr>
          <p:cNvPr id="29" name="Shape 27"/>
          <p:cNvSpPr/>
          <p:nvPr/>
        </p:nvSpPr>
        <p:spPr>
          <a:xfrm>
            <a:off x="365760" y="3035808"/>
            <a:ext cx="4206240" cy="548640"/>
          </a:xfrm>
          <a:prstGeom prst="rect">
            <a:avLst/>
          </a:prstGeom>
          <a:solidFill>
            <a:srgbClr val="FEE2E2"/>
          </a:solidFill>
          <a:ln w="12700">
            <a:solidFill>
              <a:srgbClr val="FEE2E2"/>
            </a:solidFill>
            <a:prstDash val="solid"/>
          </a:ln>
        </p:spPr>
      </p:sp>
      <p:sp>
        <p:nvSpPr>
          <p:cNvPr id="30" name="Shape 28"/>
          <p:cNvSpPr/>
          <p:nvPr/>
        </p:nvSpPr>
        <p:spPr>
          <a:xfrm>
            <a:off x="4572000" y="3035808"/>
            <a:ext cx="4206240" cy="548640"/>
          </a:xfrm>
          <a:prstGeom prst="rect">
            <a:avLst/>
          </a:prstGeom>
          <a:solidFill>
            <a:srgbClr val="D1FAE5"/>
          </a:solidFill>
          <a:ln w="12700">
            <a:solidFill>
              <a:srgbClr val="D1FAE5"/>
            </a:solidFill>
            <a:prstDash val="solid"/>
          </a:ln>
        </p:spPr>
      </p:sp>
      <p:sp>
        <p:nvSpPr>
          <p:cNvPr id="31" name="Text 29"/>
          <p:cNvSpPr/>
          <p:nvPr/>
        </p:nvSpPr>
        <p:spPr>
          <a:xfrm>
            <a:off x="457200" y="3072384"/>
            <a:ext cx="3840480" cy="457200"/>
          </a:xfrm>
          <a:prstGeom prst="rect">
            <a:avLst/>
          </a:prstGeom>
          <a:noFill/>
          <a:ln/>
        </p:spPr>
        <p:txBody>
          <a:bodyPr wrap="square" rtlCol="0" anchor="ctr"/>
          <a:lstStyle/>
          <a:p>
            <a:pPr algn="l" indent="0" marL="0">
              <a:buNone/>
            </a:pPr>
            <a:r>
              <a:rPr lang="en-US" sz="1300" b="1" dirty="0">
                <a:solidFill>
                  <a:srgbClr val="D4382C"/>
                </a:solidFill>
                <a:latin typeface="맑은 고딕" pitchFamily="34" charset="0"/>
                <a:ea typeface="맑은 고딕" pitchFamily="34" charset="-122"/>
                <a:cs typeface="맑은 고딕" pitchFamily="34" charset="-120"/>
              </a:rPr>
              <a:t>◀  상여 유리</a:t>
            </a:r>
            <a:endParaRPr lang="en-US" sz="1300" dirty="0"/>
          </a:p>
        </p:txBody>
      </p:sp>
      <p:sp>
        <p:nvSpPr>
          <p:cNvPr id="32" name="Text 30"/>
          <p:cNvSpPr/>
          <p:nvPr/>
        </p:nvSpPr>
        <p:spPr>
          <a:xfrm>
            <a:off x="4663440" y="3072384"/>
            <a:ext cx="3840480" cy="457200"/>
          </a:xfrm>
          <a:prstGeom prst="rect">
            <a:avLst/>
          </a:prstGeom>
          <a:noFill/>
          <a:ln/>
        </p:spPr>
        <p:txBody>
          <a:bodyPr wrap="square" rtlCol="0" anchor="ctr"/>
          <a:lstStyle/>
          <a:p>
            <a:pPr algn="r" indent="0" marL="0">
              <a:buNone/>
            </a:pPr>
            <a:r>
              <a:rPr lang="en-US" sz="1300" b="1" dirty="0">
                <a:solidFill>
                  <a:srgbClr val="1A6B4A"/>
                </a:solidFill>
                <a:latin typeface="맑은 고딕" pitchFamily="34" charset="0"/>
                <a:ea typeface="맑은 고딕" pitchFamily="34" charset="-122"/>
                <a:cs typeface="맑은 고딕" pitchFamily="34" charset="-120"/>
              </a:rPr>
              <a:t>배당 유리  ▶</a:t>
            </a:r>
            <a:endParaRPr lang="en-US" sz="1300" dirty="0"/>
          </a:p>
        </p:txBody>
      </p:sp>
      <p:sp>
        <p:nvSpPr>
          <p:cNvPr id="33" name="Shape 31"/>
          <p:cNvSpPr/>
          <p:nvPr/>
        </p:nvSpPr>
        <p:spPr>
          <a:xfrm>
            <a:off x="365760" y="3694176"/>
            <a:ext cx="8412480" cy="768096"/>
          </a:xfrm>
          <a:prstGeom prst="rect">
            <a:avLst/>
          </a:prstGeom>
          <a:solidFill>
            <a:srgbClr val="FFF7ED"/>
          </a:solidFill>
          <a:ln w="12700">
            <a:solidFill>
              <a:srgbClr val="F59E0B"/>
            </a:solidFill>
            <a:prstDash val="solid"/>
          </a:ln>
        </p:spPr>
      </p:sp>
      <p:sp>
        <p:nvSpPr>
          <p:cNvPr id="34" name="Shape 32"/>
          <p:cNvSpPr/>
          <p:nvPr/>
        </p:nvSpPr>
        <p:spPr>
          <a:xfrm>
            <a:off x="365760" y="3694176"/>
            <a:ext cx="54864" cy="768096"/>
          </a:xfrm>
          <a:prstGeom prst="rect">
            <a:avLst/>
          </a:prstGeom>
          <a:solidFill>
            <a:srgbClr val="C8962E"/>
          </a:solidFill>
          <a:ln w="12700">
            <a:solidFill>
              <a:srgbClr val="C8962E"/>
            </a:solidFill>
            <a:prstDash val="solid"/>
          </a:ln>
        </p:spPr>
      </p:sp>
      <p:sp>
        <p:nvSpPr>
          <p:cNvPr id="35" name="Text 33"/>
          <p:cNvSpPr/>
          <p:nvPr/>
        </p:nvSpPr>
        <p:spPr>
          <a:xfrm>
            <a:off x="502920" y="3712464"/>
            <a:ext cx="8138160" cy="713232"/>
          </a:xfrm>
          <a:prstGeom prst="rect">
            <a:avLst/>
          </a:prstGeom>
          <a:noFill/>
          <a:ln/>
        </p:spPr>
        <p:txBody>
          <a:bodyPr wrap="square" rtlCol="0" anchor="t"/>
          <a:lstStyle/>
          <a:p>
            <a:pPr indent="0" marL="0">
              <a:buNone/>
            </a:pPr>
            <a:r>
              <a:rPr lang="en-US" sz="950" dirty="0">
                <a:solidFill>
                  <a:srgbClr val="78350F"/>
                </a:solidFill>
                <a:latin typeface="맑은 고딕" pitchFamily="34" charset="0"/>
                <a:ea typeface="맑은 고딕" pitchFamily="34" charset="-122"/>
                <a:cs typeface="맑은 고딕" pitchFamily="34" charset="-120"/>
              </a:rPr>
              <a:t>※ 배당은 소득월액으로 별도 부과(보수 외 소득 연 2,000만원 초과분에 대해서만 적용).</a:t>
            </a:r>
            <a:endParaRPr lang="en-US" sz="950" dirty="0"/>
          </a:p>
          <a:p>
            <a:pPr indent="0" marL="0">
              <a:buNone/>
            </a:pPr>
            <a:r>
              <a:rPr lang="en-US" sz="950" dirty="0">
                <a:solidFill>
                  <a:srgbClr val="78350F"/>
                </a:solidFill>
                <a:latin typeface="맑은 고딕" pitchFamily="34" charset="0"/>
                <a:ea typeface="맑은 고딕" pitchFamily="34" charset="-122"/>
                <a:cs typeface="맑은 고딕" pitchFamily="34" charset="-120"/>
              </a:rPr>
              <a:t>※ 배당 전환의 최종 유불리는 총 세부담(소득세+건보료), 금융소득종합과세 구간 등을 종합 고려해야 합니다.</a:t>
            </a:r>
            <a:endParaRPr lang="en-US" sz="950" dirty="0"/>
          </a:p>
          <a:p>
            <a:pPr indent="0" marL="0">
              <a:buNone/>
            </a:pPr>
            <a:r>
              <a:rPr lang="en-US" sz="950" dirty="0">
                <a:solidFill>
                  <a:srgbClr val="78350F"/>
                </a:solidFill>
                <a:latin typeface="맑은 고딕" pitchFamily="34" charset="0"/>
                <a:ea typeface="맑은 고딕" pitchFamily="34" charset="-122"/>
                <a:cs typeface="맑은 고딕" pitchFamily="34" charset="-120"/>
              </a:rPr>
              <a:t>※ 실제 계산은 원본 HTML 파일의 인터랙티브 비교 계산기를 활용하시기 바랍니다.</a:t>
            </a:r>
            <a:endParaRPr lang="en-US" sz="950" dirty="0"/>
          </a:p>
        </p:txBody>
      </p:sp>
      <p:sp>
        <p:nvSpPr>
          <p:cNvPr id="36" name="Text 34"/>
          <p:cNvSpPr/>
          <p:nvPr/>
        </p:nvSpPr>
        <p:spPr>
          <a:xfrm>
            <a:off x="7772400" y="4919472"/>
            <a:ext cx="914400" cy="182880"/>
          </a:xfrm>
          <a:prstGeom prst="rect">
            <a:avLst/>
          </a:prstGeom>
          <a:noFill/>
          <a:ln/>
        </p:spPr>
        <p:txBody>
          <a:bodyPr wrap="square" lIns="0" tIns="0" rIns="0" bIns="0" rtlCol="0" anchor="ctr"/>
          <a:lstStyle/>
          <a:p>
            <a:pPr algn="r" indent="0" marL="0">
              <a:buNone/>
            </a:pPr>
            <a:r>
              <a:rPr lang="en-US" sz="800" dirty="0">
                <a:solidFill>
                  <a:srgbClr val="4A5568"/>
                </a:solidFill>
              </a:rPr>
              <a:t>40 / 40</a:t>
            </a:r>
            <a:endParaRPr lang="en-US" sz="800" dirty="0"/>
          </a:p>
        </p:txBody>
      </p:sp>
      <p:sp>
        <p:nvSpPr>
          <p:cNvPr id="37" name="Text 35"/>
          <p:cNvSpPr/>
          <p:nvPr/>
        </p:nvSpPr>
        <p:spPr>
          <a:xfrm>
            <a:off x="457200" y="4919472"/>
            <a:ext cx="6858000" cy="182880"/>
          </a:xfrm>
          <a:prstGeom prst="rect">
            <a:avLst/>
          </a:prstGeom>
          <a:noFill/>
          <a:ln/>
        </p:spPr>
        <p:txBody>
          <a:bodyPr wrap="square" lIns="0" tIns="0" rIns="0" bIns="0" rtlCol="0" anchor="ctr"/>
          <a:lstStyle/>
          <a:p>
            <a:pPr algn="l" indent="0" marL="0">
              <a:buNone/>
            </a:pPr>
            <a:r>
              <a:rPr lang="en-US" sz="800" dirty="0">
                <a:solidFill>
                  <a:srgbClr val="4A5568"/>
                </a:solidFill>
              </a:rPr>
              <a:t>CEO 건강보험료 절감 | 소득 구조 최적화 전략</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CEO 건강보험료 절감을 위한 소득 구조 최적화 전략</dc:title>
  <dc:subject>PptxGenJS Presentation</dc:subject>
  <dc:creator>PptxGenJS</dc:creator>
  <cp:lastModifiedBy>PptxGenJS</cp:lastModifiedBy>
  <cp:revision>1</cp:revision>
  <dcterms:created xsi:type="dcterms:W3CDTF">2026-02-18T14:44:21Z</dcterms:created>
  <dcterms:modified xsi:type="dcterms:W3CDTF">2026-02-18T14:44:21Z</dcterms:modified>
</cp:coreProperties>
</file>