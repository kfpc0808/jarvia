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8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기업의 지속가능 성장 및 CEO 자산가치 극대화를 위한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『컨설팅 특급보고서』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개인사업자에서 법인 전환 시 핵심 유의사항 및 실행 전략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본 자료는 AI 보조 도구를 활용하여 생성되었습니다. 실제 적용 전 전문가 확인이 필요합니다.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읽기에 앞서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가도를 달리고 있는 개인사업자 대표님들께 '법인 전환'은 </a:t>
            </a:r>
            <a:r>
              <a:rPr lang="en-US" sz="11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언젠가 마주해야 할 중요한 경영적 변곡점</a:t>
            </a: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특히, 성실신고확인제도 적용 등으로 </a:t>
            </a:r>
            <a:r>
              <a:rPr lang="en-US" sz="11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종합소득세 부담이 임계점</a:t>
            </a: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다다랐을 때, 많은 분들이 법인 전환을 고려하기 시작합니다. 하지만 법인 전환을 단순히 '세금 줄이는 기술'로만 접근한다면, </a:t>
            </a:r>
            <a:r>
              <a:rPr lang="en-US" sz="11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예상치 못한 법률적, 세무적 함정</a:t>
            </a: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빠질 수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34540"/>
            <a:ext cx="8229600" cy="9372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034540"/>
            <a:ext cx="54864" cy="93726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관점: 제2의 창업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전환은 낡은 옷을 갈아입는 것이 아니라, </a:t>
            </a: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사업의 체질과 시스템을 완전히 바꾸는 '제2의 창업'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이라는 관점에서 접근해야 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개인사업자의 자산과 눈에 보이지 않는 가치(영업권)를 어떻게 새로운 법인격에 '이전'할 것인지, 이 과정에서 발생하는 세금은 어떻게 관리할 것인지, 그리고 법인이 된 후에는 어떻게 자금을 합법적이고 효율적으로 운용할 것인지에 대한 정교한 사전 설계도가 반드시 필요합니다.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이처럼 복잡하고 중대한 '제2의 창업' 과정을 성공적으로 이끌기 위한 종합적인 로드맵을 제시합니다. 법인 전환의 명분과 실리, 과정상의 핵심 체크포인트, 그리고 전환 이후의 재무 운용 전략까지 아우르는 본 보고서를 통해, 대표님의 기업이 </a:t>
            </a:r>
            <a:r>
              <a:rPr lang="en-US" sz="11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보호, 대외 신인도 상승, 지속가능한 성장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이라는 견고한 발판을 마련하시기를 바랍니다.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 / 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분석 (Client Discovery)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기업개요 (전환 검토 대상)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전환을 검토 중인 대상 기업의 기본 현황입니다. 현재 </a:t>
            </a: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성실신고확인 대상자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진입 단계로, 세무적 리스크 관리가 시급한 시점입니다.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34968"/>
              </p:ext>
            </p:extLst>
          </p:nvPr>
        </p:nvGraphicFramePr>
        <p:xfrm>
          <a:off x="457200" y="1508760"/>
          <a:ext cx="8229600" cy="27157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디자인팩토리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강민혁 (만 45세)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개업일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2015년 5월 1일 (업력 10년)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산업디자인 및 시제품 제작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소재지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서울시 성수동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형태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개인사업자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(간편장부 → 복식부기 → 성실신고확인 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3 / 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분석 (Client Discovery)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사업 영역 및 핵심 경쟁력 분석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4864" cy="14630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🛠️ 주요 사업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유수의 대기업 및 스타트업 대상 제품 디자인 컨설팅, 3D 프린팅 및 CNC 가공을 통한 워킹 목업(Working Mock-up) 제작.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14630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54864" cy="146304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핵심 경쟁력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대표 본인의 독보적인 디자인 역량과 10년간 쌓아온 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고객 신뢰(영업권)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다수의 디자인 어워드 수상 경력, 높은 수주 단가 유지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최근 3년간 연평균 30% 이상의 폭발적인 성장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4 / 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Executive Summary (경영자를 위한 핵심 요약)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22860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228600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컨설팅 배경 및 목적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'디자인팩토리'는 연 매출 15억, 순이익 4억 원을 넘어서며 개인사업자로서 최고의 성공을 거두었으나, 동시에 </a:t>
            </a: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종합소득세 최고 실효세율 49.5%(소득세 45% + 지방소득세 4.5%)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달하는 세무적 부담에 직면했습니다.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[본 컨설팅의 목적]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과도한 세금 부담을 합리적으로 조정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CEO 개인 자산을 사업 리스크로부터 보호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대외 신인도 확보를 통해 한 단계 더 큰 성장을 위한 전략적 발판 마련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5 / 27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Executive Summary — 현황 진단 vs 솔루션 제안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진단 vs 솔루션 제안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D4382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진단 (As-Is)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과도한 세금 부담: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 4억 원에 대해 약 1.5억 원의 소득세 납부 필요.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 책임 리스크: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사업상 모든 부채와 위험에 대해 대표님이 무한 책임을 지며, 개인 자산까지 위험에 노출되는 구조.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성장의 한계: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신인도 부족으로 대규모 프로젝트 수주나 정책자금 확보에 한계 존재.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6B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제안 (To-Be)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이연 현물출자 전략: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영업권(약 5억 원)을 평가하여 법인 이전 → 대표님은 낮은 세율의 기타소득 확보, 법인은 5년간 감가상각으로 법인세 절감.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이월과세 &amp; 포괄양수도: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시 양도소득세 이월과세로 당장의 부담 최소화 및 부가가치세 문제 방지(포괄양수도 요건 충족).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최적의 보수 플랜: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급여, 퇴직금 등 법인 자금의 계획적 인출 구조 수립.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6 / 27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Executive Summary — 기대효과 핵심 요약 (ROI)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💎 기대효과 핵심 요약 (ROI)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4864" cy="96012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세 부담의 합리적 조정: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단기적으로 발생하는 법인세와 대표 급여소득세의 합이 기존 종합소득세보다 낮아져 현금흐름이 개선됩니다. 이는 '절세'가 아닌 </a:t>
            </a:r>
            <a:r>
              <a:rPr lang="en-US" sz="11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'과세 이연'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효과이며, 유보된 이익은 자금 운용의 유연성을 확보합니다.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4864" cy="86868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리스크 관리: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대표이사는 유한 책임으로 전환되어 </a:t>
            </a:r>
            <a:r>
              <a:rPr lang="en-US" sz="11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자산을 사업 리스크로부터 완벽히 분리 및 보호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4864" cy="86868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성장 가속: 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법인의 대외 신인도 상승으로 금융기관 대출, 정부 R&amp;D 사업, 대기업 협력 기회가 확대됩니다. 또한, 체계적인 승계 구조 설계의 기반을 마련할 수 있습니다.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7 / 27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기업 현황 및 CEO Needs 심층 진단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재무구조 정밀 분석 (개인사업자)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성장세는 긍정적이나, 이에 비례하여 </a:t>
            </a: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세무적 리스크가 급격히 증가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구간에 진입했습니다.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542356"/>
              </p:ext>
            </p:extLst>
          </p:nvPr>
        </p:nvGraphicFramePr>
        <p:xfrm>
          <a:off x="274320" y="1417320"/>
          <a:ext cx="859536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계정과목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(단위: 백만 원)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2023년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(추정)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성실신고확인 대상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(도소매업 등 외 7.5억 기준)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매출총이익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사업소득금액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(세전이익)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최고세율(45%) 진입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종합소득세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75~83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108~116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143~150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F1D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실효세율 약 36~38%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F1D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(400백만 기준)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실효세율 추이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30~33%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34~36%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36~38%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실제 세액은 기본공제(150만), 인적공제, 필요경비 등 적용 후 달라지므로, 세무 전문가와 정확한 시뮬레이션 필수입니다.</a:t>
            </a:r>
            <a:endParaRPr lang="en-US" sz="850" dirty="0"/>
          </a:p>
        </p:txBody>
      </p:sp>
      <p:sp>
        <p:nvSpPr>
          <p:cNvPr id="7" name="Text 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8 / 27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CEO Needs 및 경영 목표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CEO Needs 및 경영 목표 분석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2344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12344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CEO 개인 목표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과도한 세금 부담을 합리적인 수준으로 관리하고 싶어 함.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사업이 잘못되더라도 </a:t>
            </a: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살 집과 최소한의 자산은 반드시 지키고 싶어 함.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2344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54864" cy="123444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기업 경영 목표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현재의 성공에 안주하지 않고, 해외 프로젝트 수주 추진.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자체 브랜드 제품 출시를 통해 사업을 </a:t>
            </a:r>
            <a:r>
              <a:rPr lang="en-US" sz="10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 스케일업(Scale-up)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싶어 함.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2103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73152" cy="21031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💭 CEO 애로사항 (Voice of Customer)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880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"세무사로부터 </a:t>
            </a:r>
            <a:r>
              <a:rPr lang="en-US" sz="1100" b="1" i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성실신고 대상</a:t>
            </a:r>
            <a:r>
              <a:rPr lang="en-US" sz="1100" i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이라는 말을 듣고 보니, 세금도 세금이지만 이건 사업을 더 키우지 말라는 뜻인가 싶어 답답합니다.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법인으로 바꾸면 세금이 줄어든다고는 하는데, 그럼 </a:t>
            </a:r>
            <a:r>
              <a:rPr lang="en-US" sz="1100" b="1" i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돈을 내 마음대로 못 쓴다는 말</a:t>
            </a:r>
            <a:r>
              <a:rPr lang="en-US" sz="1100" i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있고...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대표가 되면 4대보험료 부담도 커진다는데, 뭐가 뭔지 하나도 모르겠습니다."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9 / 27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핵심 이슈 및 전략 과제 도출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3931920" cy="18288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1828800"/>
          </a:xfrm>
          <a:prstGeom prst="rect">
            <a:avLst/>
          </a:prstGeom>
          <a:solidFill>
            <a:srgbClr val="D438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CEO 관련 리스크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과도한 조세 부담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실효세율 49.5%가 적용됩니다.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💣 무한 책임의 덫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자산까지 강제집행의 대상이 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3931920" cy="182880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68580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731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재무구조 및 법률 리스크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📉 성장성의 한계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성장을 가로막는 보이지 않는 '유리 천장'입니다.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💸 자금 인출의 착각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"세금을 내지 않고는 한 푼도 못 쓴다"는 단점.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우선 과제 선정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0" y="3017520"/>
            <a:ext cx="365760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 전략 과제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"법인 전환을 통한 사업구조 재설계 및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지속가능한 성장 기반 구축"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[선정 근거]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직면한 세금, 책임, 성장성의 모든 문제를 근본적으로 해결하고, 자산보호, 신용등급 상승, 향후 승계구조까지 고려하는 </a:t>
            </a: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'제2의 창업'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위한 유일한 전략적 선택지이기 때문입니다.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10 / 27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맞춤형 솔루션 및 실행 전략 제안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핵심 전략 제안: '영업권'을 활용한 '세금 이연 현물출자' 방식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1: 법인 전환 방식 선택 및 명확화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" cy="137160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실행 방안 (권장): 현물출자 방식 우선 검토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개인사업자의 사업용 자산에 부동산 등 양도소득세 대상 자산이 포함되어 있으므로, '현물출자' 방식을 우선 검토합니다.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48716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👍 장점: 조세특례제한법 제32조의 양도세 이월과세 혜택 (지금 안 내고 나중에 냄)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2: 영업권 평가 및 이전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'영업권'이란 고객 관계, 기술력 등 눈에 보이지 않는 무형자산입니다. 대표님 개인의 노력으로 쌓은 이 가치를 </a:t>
            </a: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5억 원으로 평가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법인에 매각합니다.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11 / 27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영업권 5억 원 평가 시 세금 효과 (Simulation)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256032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 대표 개인 (수취)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수령액: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5억 원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(기타소득)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필요경비 인정(60%):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-3억 원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───────────────────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과세표준: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2억 원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566160" cy="64008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세금 (분리과세):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4,400만 원 (22%)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6858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685800"/>
            <a:ext cx="54864" cy="256032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731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신설 법인 (지출)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051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매입액: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5억 원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(무형자산)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감가상각: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(정액법)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───────────────────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비용 처리: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423160"/>
            <a:ext cx="3566160" cy="6400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법인세 절감 효과: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매년 비용 인정으로 법인세 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주의: 과도한 영업권 평가는 과세당국의 부인 대상이 될 수 있으므로, 반드시 외부 감정평가법인을 통한 객관적 평가가 필수입니다.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3: 전환 후 자금 인출 전략 및 리스크 관리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12 / 27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STEP 3 — 전환 후 자금 인출 전략 및 리스크 관리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35204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35204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최적 보수 플랜 설계: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급여(근로소득), 퇴직금(퇴직소득), 배당(배당소득) 등 소득 파이프라인을 다각화하여 특정 소득에 세금이 집중되는 것을 방지합니다.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4대보험 관리: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대표이사는 법인의 근로자가 되므로 4대보험 가입이 의무화됩니다. 급여 책정 시 법인과 개인의 보험료 부담을 고려해야 합니다.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🚫 법인 자산의 사적 사용 금지: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명의의 차량, 부동산 등을 사적으로 유용할 경우 </a:t>
            </a:r>
            <a:r>
              <a:rPr lang="en-US" sz="11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부당행위계산부인</a:t>
            </a: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심각한 세무 리스크가 발생하므로 공과 사를 명확히 구분해야 합니다.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13 / 27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기대효과 및 재무적 영향 분석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정량적 기대효과: 연간 이익 4억 원 발생 시 세금 구조 비교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 유지 시와 법인 전환(현물출자+급여 설계) 후의 단기 현금흐름 차이를 분석합니다.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29083"/>
              </p:ext>
            </p:extLst>
          </p:nvPr>
        </p:nvGraphicFramePr>
        <p:xfrm>
          <a:off x="274320" y="1325880"/>
          <a:ext cx="8595360" cy="293979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Before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(개인사업자)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After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(법인 전환 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세전 이익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사업소득 4억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법인소득 4억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보수/비용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급여: 1.5억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영업권 상각: 1억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 2.5억 비용처리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퇴직재원은 별도 적립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 과세표준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4억 - 2.5억 = 1.5억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1.5억 × 9%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 1,350만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2억 이하 세율(9%) 적용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소득세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1.43~1.5억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 1.5억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약 3,970만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4대보험료 별도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세금 부담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(단기 현금흐름)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8350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1.43~1.5억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(법인세 + 소득세)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5,320만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현금흐름 약 9천만 개선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14 / 27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핵심 분석 — 과세 이연 및 퇴직재원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182880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핵심 분석: 과세 이연(Tax Deferral)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표는 단기적인 현금흐름 개선 효과를 보여줍니다. 법인에 유보된 이익(세후 약 1.365억)은 미래에 배당 등을 통해 인출 시 대표에게 추가 과세됩니다.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따라서 이는 '완벽한 절세'가 아닌, </a:t>
            </a: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납부 시점을 조절하는 '과세 이연'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개념으로 이해해야 합니다. 그럼에도 불구하고,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당장의 현금 유동성을 확보하여 재투자에 활용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있다는 점에서 엄청난 전략적 가치를 가집니다.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46304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4864" cy="146304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[참고] 퇴직재원 마련 방법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법인 설립 후 정관에 </a:t>
            </a:r>
            <a:r>
              <a:rPr lang="en-US" sz="11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임원퇴직금 지급규정</a:t>
            </a:r>
            <a:r>
              <a:rPr lang="en-US" sz="11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제정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법인 명의 퇴직연금 또는 저축성 보험 가입으로 비용 처리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향후 퇴직 시 낮은 세율의 </a:t>
            </a:r>
            <a:r>
              <a:rPr lang="en-US" sz="11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퇴직소득세</a:t>
            </a:r>
            <a:r>
              <a:rPr lang="en-US" sz="11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적용받아 인출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15 / 27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정성적 기대효과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정성적 기대효과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18288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4864" cy="182880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기업 (Company)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법인격 취득으로 </a:t>
            </a:r>
            <a:r>
              <a:rPr lang="en-US" sz="11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신인도가 급상승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하여, 금융기관의 저금리 대출, 정부 R&amp;D 지원 사업, 대기업과의 파트너십 체결이 훨씬 용이해집니다.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54864" cy="182880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CEO (Leader)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실패의 위험이 개인과 가족의 삶을 위협하지 않는 </a:t>
            </a:r>
            <a:r>
              <a:rPr lang="en-US" sz="11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'방화벽(유한 책임)'</a:t>
            </a: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구축하게 됩니다. 이는 더욱 과감하고 도전적인 경영 활동을 가능하게 하는 심리적 안정감을 제공합니다.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16 / 27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실행 로드맵 및 추진 일정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43121"/>
              </p:ext>
            </p:extLst>
          </p:nvPr>
        </p:nvGraphicFramePr>
        <p:xfrm>
          <a:off x="274320" y="731520"/>
          <a:ext cx="768096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실행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주체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기간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 수립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법인 전환 타당성 및 실익 정밀 분석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자산 실사 및 영업권 가치 평가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최적 전환 방식(현물출자+포괄양수도) 확정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컨설턴트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세무/법무법인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법적 절차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신규 법인 설립 등기 (법인번호 생성)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현물출자 계약 및 법원 인가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자산 이전 및 관련 세금(취득세 등) 신고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법무법인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2~3개월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사후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신설 법인 회계 시스템 구축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CEO 보수 규정 및 임원퇴직금 규정 제정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양도세 이월과세 등 사후관리 요건 지속 점검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세무법인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컨설턴트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지속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17 / 27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종합 결론 및 전략적 제언 (1/2)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🎓 1. 컨설팅 핵심 요약 및 결론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전환은 단순히 세금을 줄이는 행위를 넘어, 대표님의 사업을 개인의 영역에서 시스템의 영역으로 격상시키는 </a:t>
            </a: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경영 혁신</a:t>
            </a: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보고서에서 제안한 </a:t>
            </a:r>
            <a:r>
              <a:rPr lang="en-US" sz="12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'영업권을 활용한 세금 이연 현물출자'</a:t>
            </a: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전략과 </a:t>
            </a:r>
            <a:r>
              <a:rPr lang="en-US" sz="12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'다층적 보수 플랜'</a:t>
            </a:r>
            <a:r>
              <a:rPr lang="en-US" sz="12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은, 이 혁신의 과정에서 발생하는 세무적 충격을 최소화하고, 전환의 효과를 극대화하는 가장 정교하고 강력한 솔루션입니다.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7315200" cy="10058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"절세는 이 과정에서 따라오는 부수적 효과일 뿐,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자산 보호와 지속 성장의 기틀을 마련하는 데 있습니다."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18 / 27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종합 결론 및 전략적 제언 (2/2)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🔭 2. 장기적 관점에서의 추가 제언 (Next Step)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전환이 성공적으로 완료되면, 다음 스텝으로 아래 두 가지 핵심 전략을 수립하여 10년, 20년 뒤에 발생할 수 있는 잠재적 리스크까지 선제적으로 관리해야 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864" cy="1097280"/>
          </a:xfrm>
          <a:prstGeom prst="rect">
            <a:avLst/>
          </a:prstGeom>
          <a:solidFill>
            <a:srgbClr val="2A41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CEO 유고 시 리스크 관리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Key-Man 보험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54864" cy="1097280"/>
          </a:xfrm>
          <a:prstGeom prst="rect">
            <a:avLst/>
          </a:prstGeom>
          <a:solidFill>
            <a:srgbClr val="2A41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가업승계 전략 수립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100년 기업의 기틀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19 / 27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IX. 컨설팅 시나리오 (Consulting Scenarios)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상담주제: "대표님의 사업, 세금 최적화와 자산 보호를 위한 '제2의 창업': 법인 전환 A to Z"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| 공감과 문제 제기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73152" cy="256032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 (Question)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"대표님, 올해 예상 소득세가 </a:t>
            </a: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1.5억 원이 넘는다</a:t>
            </a: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보고 받으셨을 겁니다.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내내 정말 열심히 일하셨는데, </a:t>
            </a: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이익의 40%를 세금으로 내야 한다는 사실</a:t>
            </a: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허탈한 마음이 드시지 않으셨습니까?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게다가 사업 리스크가 대표님 개인 자산과 직결된다는 점도 부담이 크실 겁니다."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20 / 27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5B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인식 | 패러다임 전환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3152" cy="365760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 (Insight)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"많은 분들이 법인 전환을 단순히 세금 문제로만 접근하시다 보니 복잡하게 느끼십니다. 하지만 법인 전환은 </a:t>
            </a:r>
            <a:r>
              <a:rPr lang="en-US" sz="11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'제2의 창업'</a:t>
            </a: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7863840" cy="1188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"대표님께서 지난 10년간 쌓아온 모든 유무형 자산을, '강민혁'이라는 개인이 '(주)디자인팩토리'라는 새로운 법인에게 '매각'하고, 대표님은 그 법인의 전문 경영인이 되는 과정입니다. 이 관점에서 보면 모든 것이 명확해집니다."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21 / 27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320040" cy="320040"/>
          </a:xfrm>
          <a:prstGeom prst="ellipse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제안 | 핵심 이익 제시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3152" cy="365760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 (Solution)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'매각' 과정에서 우리는 두 가지를 얻을 수 있습니다."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"첫째, 대표님의 '경험과 명성(영업권)'을 5억 원으로 정당하게 평가받아, 아주 낮은 세금으로 대표님 개인의 합법적인 자금을 만들 수 있습니다."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"둘째, 이렇게 만들어진 법인은 대표님께 월급과 퇴직금을 주는 별개의 인격체가 됩니다."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15544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"물론, 법인 대표가 되시면 4대보험료라는 추가 비용이 발생하고, 법인 돈을 마음대로 쓸 수 없는 제약도 생깁니다.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보시는 것처럼 단기적인 현금 흐름이 크게 개선되고, 무엇보다 </a:t>
            </a:r>
            <a:r>
              <a:rPr lang="en-US" sz="105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사업이 잘못되어도 대표님 개인 자산은 안전하게 지킬 수 있는 '방화벽'이 생기는 것</a:t>
            </a:r>
            <a:r>
              <a:rPr lang="en-US" sz="105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가장 큰 이점입니다."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22 / 27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유도 | 비전 제시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73152" cy="365760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 (Closing)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"대표님, 이것은 단순히 세금을 줄이는 것을 넘어, 대표님의 사업을 더 큰 무대로 이끌고, 어떤 위험에도 대표님의 개인 자산을 지켜줄 '시스템'을 만드는 일입니다."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7315200" cy="210312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'제2의 창업',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제가 처음부터 끝까지 모든 법률과 세무 절차를 책임지고 함께하겠습니다."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5B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"저와 함께 더 큰 성공을 위한 첫걸음을 내딛으시겠습니까?"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23 / 27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X. 부록 — 전문용어 설명 (Dictionary)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100584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성실신고확인제도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0332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 중 업종별로 정해진 수입금액 기준(제조/서비스업 등 7.5억 원)을 초과하는 사업자가, 장부 내용의 정확성을 세무 대리인에게 의무적으로 확인받은 후 종합소득세를 신고하도록 하는 제도.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" cy="100584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현물출자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848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금전이 아닌 부동산, 유가증권, 무형자산(영업권 등)과 같은 재산을 출자하여 주식을 배정받는 것. 법인 전환 시, 개인사업자의 사업용 자산을 신설 법인에 출자하는 방식을 의미한다.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100584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💎 영업권 (Goodwill)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기업의 전통, 고객 관계, 기술력, 브랜드 가치 등 재무제표에 나타나지 않지만 초과 수익을 창출하는 무형의 자산.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이월과세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과세 요건이 충족되었을 때 당장 세금을 부과하지 않고, 나중에 해당 자산을 처분하는 시점까지 과세를 미뤄주는 세제 혜택.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24 / 27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X. 부록 — FAQ (자주 묻는 질문) (1/2)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69164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169164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 법인으로 전환하면 정말 돈을 마음대로 쓸 수 없나요?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A1: 네, 그렇습니다.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법인의 자금은 대표이사 개인의 돈이 아닙니다. 개인사업자등록은 폐업 처리되고, 완전히 새로운 법인격이 탄생하는 것입니다.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급여, 상여, 배당, 퇴직금 등 정해진 절차와 규정에 따라서만 인출해야 합니다. 이를 어기고 자금을 인출하면 </a:t>
            </a:r>
            <a:r>
              <a:rPr lang="en-US" sz="10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'가지급금'</a:t>
            </a: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되어 심각한 세무 리스크를 유발합니다. 그래서 전환 전에 '자금 인출 계획'을 세우는 것이 매우 중요합니다.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4864" cy="141732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 영업권 평가는 무조건 높게 받는 것이 좋은가요?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A2: 아닙니다.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영업권은 대표님께 저율 과세 소득을 안겨주고, 법인에는 절세 혜택을 주는 좋은 수단이지만, 합리적인 근거 없이 과도하게 평가할 경우 과세당국의 부인 대상이 될 수 있습니다.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신뢰할 수 있는 감정평가기관을 통해 객관적이고 방어 가능한 수준으로 평가받는 것이 핵심입니다.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25 / 27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X. 부록 — FAQ (자주 묻는 질문) (2/2)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41732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141732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 법인 전환, 너무 복잡하고 비용이 많이 들 것 같습니다.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A3:</a:t>
            </a: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초기에는 법무사, 세무사, 감정평가사 수수료 등 일정 비용이 발생하는 것이 사실입니다.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연간 개선되는 현금흐름과 무한 책임에서 벗어나는 안정성을 고려하면, 초기 비용은 충분히 회수 가능한 </a:t>
            </a: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'투자'</a:t>
            </a: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복잡한 절차는 저희 같은 전문가 그룹이 원스톱으로 지원해 드리므로, 대표님께서는 경영에만 집중하시면 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" cy="155448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  개인사업자 때의 경력은 퇴직금 계산 시 인정되나요?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A4: 세법상으로는 인정되지 않습니다.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설립 이후부터 근속기간이 새로 기산됩니다.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 기간의 기여도를 퇴직금에 반영하고 싶다면, 법인 정관에 임원퇴직금지급규정을 만들 때 그 내용을 반영할 수는 있으나, 세무적으로 한도가 초과되지 않도록 정교한 설계가 필요합니다.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26 / 27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X. 부록 — 관련 법규·출처 (Legal Basis)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123444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864" cy="12344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⚖️ 법인전환 시 양도소득세 이월과세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[근거: 조세특례제한법 제32조]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216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개인사업자가 사업용 고정자산을 현물출자하여 법인으로 전환하는 경우, 해당 자산에 대한 양도소득세를 즉시 과세하지 않고, 나중에 그 주식을 양도할 때까지 과세를 이연해주는 특례를 규정하고 있습니다.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4864" cy="12344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📜 영업권의 세무 처리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[근거: 소득세법 제21조 및 법인세법 시행령 제24조]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사업용 고정자산과 함께 양도하는 영업권은 '기타소득'으로 분류되어 필요경비(60%)를 공제받을 수 있습니다. 또한 법인세법상 영업권은 '무형고정자산'으로, 5년간 감가상각을 통해 비용(손금)으로 인정받을 수 있음을 규정하고 있습니다.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123444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4864" cy="12344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🏛️ 현물출자에 관한 상법 규정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[근거: 상법 제294조 및 제299조의2]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6791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현물출자를 하는 자의 성명, 재산의 종류, 가격 등을 정관에 기재해야 하며, 법원이 선임한 검사인의 조사를 받아야 하는 등 엄격한 법적 절차를 규정하고 있습니다. 이는 법인 전환 과정의 투명성과 절차적 정당성을 확보하기 위함입니다.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실무 툴킷(가계 재무진단기, 법인 재무 스트레스 테스트)은 원본 HTML 인터랙티브 계산기를 활용하시기 바랍니다.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개인사업자에서 법인 전환 시 핵심 유의사항 및 실행 전략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27 / 27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3387</Words>
  <Application>Microsoft Office PowerPoint</Application>
  <PresentationFormat>화면 슬라이드 쇼(16:9)</PresentationFormat>
  <Paragraphs>446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에프피센터 한국</cp:lastModifiedBy>
  <cp:revision>2</cp:revision>
  <dcterms:created xsi:type="dcterms:W3CDTF">2026-03-26T02:04:09Z</dcterms:created>
  <dcterms:modified xsi:type="dcterms:W3CDTF">2026-03-26T02:08:48Z</dcterms:modified>
</cp:coreProperties>
</file>