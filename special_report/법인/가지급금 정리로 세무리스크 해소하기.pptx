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2625896"/>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731520" y="914400"/>
            <a:ext cx="7680960" cy="548640"/>
          </a:xfrm>
          <a:prstGeom prst="rect">
            <a:avLst/>
          </a:prstGeom>
          <a:noFill/>
          <a:ln/>
        </p:spPr>
        <p:txBody>
          <a:bodyPr wrap="square" rtlCol="0" anchor="ctr"/>
          <a:lstStyle/>
          <a:p>
            <a:pPr marL="0" indent="0" algn="ctr">
              <a:buNone/>
            </a:pPr>
            <a:r>
              <a:rPr lang="en-US" sz="1600" dirty="0">
                <a:solidFill>
                  <a:srgbClr val="CBD5E1"/>
                </a:solidFill>
                <a:latin typeface="맑은 고딕" pitchFamily="34" charset="0"/>
                <a:ea typeface="맑은 고딕" pitchFamily="34" charset="-122"/>
                <a:cs typeface="맑은 고딕" pitchFamily="34" charset="-120"/>
              </a:rPr>
              <a:t>기업의 지속가능 성장 및 CEO 자산가치 극대화를 위한</a:t>
            </a:r>
            <a:endParaRPr lang="en-US" sz="1600" dirty="0"/>
          </a:p>
        </p:txBody>
      </p:sp>
      <p:sp>
        <p:nvSpPr>
          <p:cNvPr id="3" name="Text 1"/>
          <p:cNvSpPr/>
          <p:nvPr/>
        </p:nvSpPr>
        <p:spPr>
          <a:xfrm>
            <a:off x="731520" y="1463040"/>
            <a:ext cx="7680960" cy="1097280"/>
          </a:xfrm>
          <a:prstGeom prst="rect">
            <a:avLst/>
          </a:prstGeom>
          <a:noFill/>
          <a:ln/>
        </p:spPr>
        <p:txBody>
          <a:bodyPr wrap="square" rtlCol="0" anchor="ctr"/>
          <a:lstStyle/>
          <a:p>
            <a:pPr marL="0" indent="0" algn="ctr">
              <a:buNone/>
            </a:pPr>
            <a:r>
              <a:rPr lang="en-US" sz="3400" b="1" dirty="0">
                <a:solidFill>
                  <a:srgbClr val="C8962E"/>
                </a:solidFill>
                <a:latin typeface="맑은 고딕" pitchFamily="34" charset="0"/>
                <a:ea typeface="맑은 고딕" pitchFamily="34" charset="-122"/>
                <a:cs typeface="맑은 고딕" pitchFamily="34" charset="-120"/>
              </a:rPr>
              <a:t>『컨설팅 특급보고서』</a:t>
            </a:r>
            <a:endParaRPr lang="en-US" sz="3400" dirty="0"/>
          </a:p>
        </p:txBody>
      </p:sp>
      <p:sp>
        <p:nvSpPr>
          <p:cNvPr id="4" name="Text 2"/>
          <p:cNvSpPr/>
          <p:nvPr/>
        </p:nvSpPr>
        <p:spPr>
          <a:xfrm>
            <a:off x="731520" y="2743200"/>
            <a:ext cx="7680960" cy="640080"/>
          </a:xfrm>
          <a:prstGeom prst="rect">
            <a:avLst/>
          </a:prstGeom>
          <a:noFill/>
          <a:ln/>
        </p:spPr>
        <p:txBody>
          <a:bodyPr wrap="square" rtlCol="0" anchor="ctr"/>
          <a:lstStyle/>
          <a:p>
            <a:pPr marL="0" indent="0" algn="ctr">
              <a:buNone/>
            </a:pPr>
            <a:r>
              <a:rPr lang="en-US" sz="2000" dirty="0">
                <a:solidFill>
                  <a:srgbClr val="CBD5E1"/>
                </a:solidFill>
                <a:latin typeface="맑은 고딕" pitchFamily="34" charset="0"/>
                <a:ea typeface="맑은 고딕" pitchFamily="34" charset="-122"/>
                <a:cs typeface="맑은 고딕" pitchFamily="34" charset="-120"/>
              </a:rPr>
              <a:t>가지급금 정리로 세무리스크 해소하기</a:t>
            </a:r>
            <a:endParaRPr lang="en-US" sz="2000" dirty="0"/>
          </a:p>
        </p:txBody>
      </p:sp>
      <p:sp>
        <p:nvSpPr>
          <p:cNvPr id="5" name="Text 3"/>
          <p:cNvSpPr/>
          <p:nvPr/>
        </p:nvSpPr>
        <p:spPr>
          <a:xfrm>
            <a:off x="731520" y="4709160"/>
            <a:ext cx="7680960" cy="274320"/>
          </a:xfrm>
          <a:prstGeom prst="rect">
            <a:avLst/>
          </a:prstGeom>
          <a:noFill/>
          <a:ln/>
        </p:spPr>
        <p:txBody>
          <a:bodyPr wrap="square" lIns="0" tIns="0" rIns="0" bIns="0" rtlCol="0" anchor="ctr"/>
          <a:lstStyle/>
          <a:p>
            <a:pPr marL="0" indent="0" algn="ctr">
              <a:buNone/>
            </a:pPr>
            <a:r>
              <a:rPr lang="en-US" sz="750" i="1" dirty="0">
                <a:solidFill>
                  <a:srgbClr val="64748B"/>
                </a:solidFill>
                <a:latin typeface="맑은 고딕" pitchFamily="34" charset="0"/>
                <a:ea typeface="맑은 고딕" pitchFamily="34" charset="-122"/>
                <a:cs typeface="맑은 고딕" pitchFamily="34" charset="-120"/>
              </a:rPr>
              <a:t>본 자료는 AI 보조 도구를 활용하여 생성되었습니다. 실제 적용 전 전문가 확인이 필요합니다.</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서론</a:t>
            </a:r>
            <a:endParaRPr lang="en-US" sz="15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가지급금 정리로 세무리스크 해소하기</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 / 62</a:t>
            </a:r>
            <a:endParaRPr lang="en-US" sz="800" dirty="0"/>
          </a:p>
        </p:txBody>
      </p:sp>
      <p:sp>
        <p:nvSpPr>
          <p:cNvPr id="7" name="Text 5"/>
          <p:cNvSpPr/>
          <p:nvPr/>
        </p:nvSpPr>
        <p:spPr>
          <a:xfrm>
            <a:off x="457200" y="685800"/>
            <a:ext cx="8229600" cy="822960"/>
          </a:xfrm>
          <a:prstGeom prst="rect">
            <a:avLst/>
          </a:prstGeom>
          <a:noFill/>
          <a:ln/>
        </p:spPr>
        <p:txBody>
          <a:bodyPr wrap="square" rtlCol="0" anchor="t"/>
          <a:lstStyle/>
          <a:p>
            <a:pPr marL="0" indent="0">
              <a:lnSpc>
                <a:spcPct val="115000"/>
              </a:lnSpc>
              <a:buNone/>
            </a:pPr>
            <a:r>
              <a:rPr lang="en-US" sz="1100" dirty="0">
                <a:solidFill>
                  <a:srgbClr val="2B2B2B"/>
                </a:solidFill>
                <a:latin typeface="맑은 고딕" pitchFamily="34" charset="0"/>
                <a:ea typeface="맑은 고딕" pitchFamily="34" charset="-122"/>
                <a:cs typeface="맑은 고딕" pitchFamily="34" charset="-120"/>
              </a:rPr>
              <a:t>대표님, 기업을 이끄는 여정은 끊임없는 의사결정의 과정입니다. 특히 성장의 이면에 발생하는 재무적 문제들은, 당장의 매출보다 때로는 더 치명적인 리스크가 되기도 합니다. 본 특급보고서는 대표님들께서 가장 시급히 해결해야 할 과제 중 하나인 '가지급금' 문제에 대한 가장 현실적이고 전략적인 해법을 제시하기 위해 탄생했습니다.</a:t>
            </a:r>
            <a:endParaRPr lang="en-US" sz="1100" dirty="0"/>
          </a:p>
        </p:txBody>
      </p:sp>
      <p:sp>
        <p:nvSpPr>
          <p:cNvPr id="8" name="Text 6"/>
          <p:cNvSpPr/>
          <p:nvPr/>
        </p:nvSpPr>
        <p:spPr>
          <a:xfrm>
            <a:off x="457200" y="1554480"/>
            <a:ext cx="8229600" cy="1097280"/>
          </a:xfrm>
          <a:prstGeom prst="rect">
            <a:avLst/>
          </a:prstGeom>
          <a:noFill/>
          <a:ln/>
        </p:spPr>
        <p:txBody>
          <a:bodyPr wrap="square" rtlCol="0" anchor="t"/>
          <a:lstStyle/>
          <a:p>
            <a:pPr marL="0" indent="0">
              <a:lnSpc>
                <a:spcPct val="115000"/>
              </a:lnSpc>
              <a:buNone/>
            </a:pPr>
            <a:r>
              <a:rPr lang="en-US" sz="1100" dirty="0">
                <a:solidFill>
                  <a:srgbClr val="2B2B2B"/>
                </a:solidFill>
                <a:latin typeface="맑은 고딕" pitchFamily="34" charset="0"/>
                <a:ea typeface="맑은 고딕" pitchFamily="34" charset="-122"/>
                <a:cs typeface="맑은 고딕" pitchFamily="34" charset="-120"/>
              </a:rPr>
              <a:t>가지급금은 회계장부상 '자산'으로 표기되지만, 세법의 관점에서는 기업의 돈이 대표님 개인에게 비공식적으로 흘러나간 '부실 채권'이자 국세청 세무조사의 제1순위 타겟입니다. 본 보고서는 가지급금이 유발하는 각종 세무 페널티의 심각성을 숫자로 명확히 보여드리고, CEO의 급여/상여 현실화, 산업재산권 자본화, 법인 금융 솔루션 연계라는 복합적인 접근을 통해 이 '재무적 암덩어리'를 합법적이고 안전하게 제거하는 구체적인 실행 로드맵을 제안합니다.</a:t>
            </a:r>
            <a:endParaRPr lang="en-US" sz="1100" dirty="0"/>
          </a:p>
        </p:txBody>
      </p:sp>
      <p:sp>
        <p:nvSpPr>
          <p:cNvPr id="9" name="Text 7"/>
          <p:cNvSpPr/>
          <p:nvPr/>
        </p:nvSpPr>
        <p:spPr>
          <a:xfrm>
            <a:off x="457200" y="2697480"/>
            <a:ext cx="8229600" cy="640080"/>
          </a:xfrm>
          <a:prstGeom prst="rect">
            <a:avLst/>
          </a:prstGeom>
          <a:noFill/>
          <a:ln/>
        </p:spPr>
        <p:txBody>
          <a:bodyPr wrap="square" rtlCol="0" anchor="t"/>
          <a:lstStyle/>
          <a:p>
            <a:pPr marL="0" indent="0">
              <a:lnSpc>
                <a:spcPct val="115000"/>
              </a:lnSpc>
              <a:buNone/>
            </a:pPr>
            <a:r>
              <a:rPr lang="en-US" sz="1100" dirty="0">
                <a:solidFill>
                  <a:srgbClr val="2B2B2B"/>
                </a:solidFill>
                <a:latin typeface="맑은 고딕" pitchFamily="34" charset="0"/>
                <a:ea typeface="맑은 고딕" pitchFamily="34" charset="-122"/>
                <a:cs typeface="맑은 고딕" pitchFamily="34" charset="-120"/>
              </a:rPr>
              <a:t>이를 통해 기업은 예측 불가능한 세무 리스크를 원천 제거하고 재무 건전성을 회복하며, CEO께서는 과도한 세금 부담에서 벗어나 안정적인 경영 활동에만 전념하실 수 있는 기반을 마련하게 될 것입니다.</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2</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I. 기업개요 및 리스크 진단 (1/3)</a:t>
            </a:r>
            <a:endParaRPr lang="en-US" sz="15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가지급금 정리로 세무리스크 해소하기</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2 / 62</a:t>
            </a:r>
            <a:endParaRPr lang="en-US" sz="800" dirty="0"/>
          </a:p>
        </p:txBody>
      </p:sp>
      <p:sp>
        <p:nvSpPr>
          <p:cNvPr id="7" name="Text 5"/>
          <p:cNvSpPr/>
          <p:nvPr/>
        </p:nvSpPr>
        <p:spPr>
          <a:xfrm>
            <a:off x="457200" y="685800"/>
            <a:ext cx="8229600" cy="320040"/>
          </a:xfrm>
          <a:prstGeom prst="rect">
            <a:avLst/>
          </a:prstGeom>
          <a:noFill/>
          <a:ln/>
        </p:spPr>
        <p:txBody>
          <a:bodyPr wrap="square" rtlCol="0" anchor="t"/>
          <a:lstStyle/>
          <a:p>
            <a:pPr marL="0" indent="0">
              <a:lnSpc>
                <a:spcPct val="115000"/>
              </a:lnSpc>
              <a:buNone/>
            </a:pPr>
            <a:r>
              <a:rPr lang="en-US" sz="1100" dirty="0">
                <a:solidFill>
                  <a:srgbClr val="2B2B2B"/>
                </a:solidFill>
                <a:latin typeface="맑은 고딕" pitchFamily="34" charset="0"/>
                <a:ea typeface="맑은 고딕" pitchFamily="34" charset="-122"/>
                <a:cs typeface="맑은 고딕" pitchFamily="34" charset="-120"/>
              </a:rPr>
              <a:t>본 컨설팅은 (주)아성정밀의 현재 상황과 대표님의 경영 철학에 대한 깊은 이해를 바탕으로 진행됩니다.</a:t>
            </a:r>
            <a:endParaRPr lang="en-US" sz="1100" dirty="0"/>
          </a:p>
        </p:txBody>
      </p:sp>
      <p:sp>
        <p:nvSpPr>
          <p:cNvPr id="8" name="Text 6"/>
          <p:cNvSpPr/>
          <p:nvPr/>
        </p:nvSpPr>
        <p:spPr>
          <a:xfrm>
            <a:off x="457200" y="1051560"/>
            <a:ext cx="8229600" cy="365760"/>
          </a:xfrm>
          <a:prstGeom prst="rect">
            <a:avLst/>
          </a:prstGeom>
          <a:noFill/>
          <a:ln/>
        </p:spPr>
        <p:txBody>
          <a:bodyPr wrap="square"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1. 법인 기본 정보</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292268036"/>
              </p:ext>
            </p:extLst>
          </p:nvPr>
        </p:nvGraphicFramePr>
        <p:xfrm>
          <a:off x="457200" y="1508760"/>
          <a:ext cx="8229600" cy="2432304"/>
        </p:xfrm>
        <a:graphic>
          <a:graphicData uri="http://schemas.openxmlformats.org/drawingml/2006/table">
            <a:tbl>
              <a:tblPr/>
              <a:tblGrid>
                <a:gridCol w="228600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tblGrid>
              <a:tr h="347472">
                <a:tc>
                  <a:txBody>
                    <a:bodyPr/>
                    <a:lstStyle/>
                    <a:p>
                      <a:pPr marL="0" indent="0" algn="ctr">
                        <a:buNone/>
                      </a:pPr>
                      <a:r>
                        <a:rPr lang="en-US" sz="1000" b="1" dirty="0">
                          <a:solidFill>
                            <a:srgbClr val="FFFFFF"/>
                          </a:solidFill>
                        </a:rPr>
                        <a:t>구분</a:t>
                      </a:r>
                      <a:endParaRPr lang="en-US" sz="10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rPr>
                        <a:t>내용</a:t>
                      </a:r>
                      <a:endParaRPr lang="en-US" sz="10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47472">
                <a:tc>
                  <a:txBody>
                    <a:bodyPr/>
                    <a:lstStyle/>
                    <a:p>
                      <a:pPr marL="0" indent="0" algn="ctr">
                        <a:buNone/>
                      </a:pPr>
                      <a:r>
                        <a:rPr lang="en-US" sz="1000" b="1" dirty="0">
                          <a:solidFill>
                            <a:srgbClr val="2B2B2B"/>
                          </a:solidFill>
                        </a:rPr>
                        <a:t>법인명</a:t>
                      </a:r>
                      <a:endParaRPr lang="en-US" sz="10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rPr>
                        <a:t>(주)아성정밀 (가상 기업)</a:t>
                      </a:r>
                      <a:endParaRPr lang="en-US" sz="10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lgn="ctr">
                        <a:buNone/>
                      </a:pPr>
                      <a:r>
                        <a:rPr lang="en-US" sz="1000" b="1" dirty="0">
                          <a:solidFill>
                            <a:srgbClr val="2B2B2B"/>
                          </a:solidFill>
                        </a:rPr>
                        <a:t>대표이사</a:t>
                      </a:r>
                      <a:endParaRPr lang="en-US" sz="10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buNone/>
                      </a:pPr>
                      <a:r>
                        <a:rPr lang="en-US" sz="1000" dirty="0">
                          <a:solidFill>
                            <a:srgbClr val="2B2B2B"/>
                          </a:solidFill>
                        </a:rPr>
                        <a:t>김현준</a:t>
                      </a:r>
                      <a:endParaRPr lang="en-US" sz="10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347472">
                <a:tc>
                  <a:txBody>
                    <a:bodyPr/>
                    <a:lstStyle/>
                    <a:p>
                      <a:pPr marL="0" indent="0" algn="ctr">
                        <a:buNone/>
                      </a:pPr>
                      <a:r>
                        <a:rPr lang="en-US" sz="1000" b="1" dirty="0">
                          <a:solidFill>
                            <a:srgbClr val="2B2B2B"/>
                          </a:solidFill>
                        </a:rPr>
                        <a:t>업종</a:t>
                      </a:r>
                      <a:endParaRPr lang="en-US" sz="10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rPr>
                        <a:t>제조업 (IT 및 자동차용 정밀부품)</a:t>
                      </a:r>
                      <a:endParaRPr lang="en-US" sz="10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lgn="ctr">
                        <a:buNone/>
                      </a:pPr>
                      <a:r>
                        <a:rPr lang="en-US" sz="1000" b="1" dirty="0">
                          <a:solidFill>
                            <a:srgbClr val="2B2B2B"/>
                          </a:solidFill>
                        </a:rPr>
                        <a:t>설립일</a:t>
                      </a:r>
                      <a:endParaRPr lang="en-US" sz="10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buNone/>
                      </a:pPr>
                      <a:r>
                        <a:rPr lang="en-US" sz="1000" dirty="0">
                          <a:solidFill>
                            <a:srgbClr val="2B2B2B"/>
                          </a:solidFill>
                        </a:rPr>
                        <a:t>2005년 3월</a:t>
                      </a:r>
                      <a:endParaRPr lang="en-US" sz="10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4"/>
                  </a:ext>
                </a:extLst>
              </a:tr>
              <a:tr h="347472">
                <a:tc>
                  <a:txBody>
                    <a:bodyPr/>
                    <a:lstStyle/>
                    <a:p>
                      <a:pPr marL="0" indent="0" algn="ctr">
                        <a:buNone/>
                      </a:pPr>
                      <a:r>
                        <a:rPr lang="en-US" sz="1000" b="1" dirty="0">
                          <a:solidFill>
                            <a:srgbClr val="2B2B2B"/>
                          </a:solidFill>
                        </a:rPr>
                        <a:t>매출액</a:t>
                      </a:r>
                      <a:endParaRPr lang="en-US" sz="10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rPr>
                        <a:t>150억 원 (2024년 기준)</a:t>
                      </a:r>
                      <a:endParaRPr lang="en-US" sz="10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47472">
                <a:tc>
                  <a:txBody>
                    <a:bodyPr/>
                    <a:lstStyle/>
                    <a:p>
                      <a:pPr marL="0" indent="0" algn="ctr">
                        <a:buNone/>
                      </a:pPr>
                      <a:r>
                        <a:rPr lang="en-US" sz="1000" b="1" dirty="0">
                          <a:solidFill>
                            <a:srgbClr val="2B2B2B"/>
                          </a:solidFill>
                        </a:rPr>
                        <a:t>주주 구성</a:t>
                      </a:r>
                      <a:endParaRPr lang="en-US" sz="10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buNone/>
                      </a:pPr>
                      <a:r>
                        <a:rPr lang="en-US" sz="1000" dirty="0">
                          <a:solidFill>
                            <a:srgbClr val="2B2B2B"/>
                          </a:solidFill>
                        </a:rPr>
                        <a:t>김현준 대표이사 100%</a:t>
                      </a:r>
                      <a:endParaRPr lang="en-US" sz="10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3</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I. 기업개요 및 리스크 진단 (2/3)</a:t>
            </a:r>
            <a:endParaRPr lang="en-US" sz="15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가지급금 정리로 세무리스크 해소하기</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3 / 62</a:t>
            </a:r>
            <a:endParaRPr lang="en-US" sz="800" dirty="0"/>
          </a:p>
        </p:txBody>
      </p:sp>
      <p:sp>
        <p:nvSpPr>
          <p:cNvPr id="7" name="Text 5"/>
          <p:cNvSpPr/>
          <p:nvPr/>
        </p:nvSpPr>
        <p:spPr>
          <a:xfrm>
            <a:off x="457200" y="685800"/>
            <a:ext cx="8229600" cy="365760"/>
          </a:xfrm>
          <a:prstGeom prst="rect">
            <a:avLst/>
          </a:prstGeom>
          <a:noFill/>
          <a:ln/>
        </p:spPr>
        <p:txBody>
          <a:bodyPr wrap="square"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2. 사업 영역 및 핵심 경쟁력 분석</a:t>
            </a:r>
            <a:endParaRPr lang="en-US" sz="1400" dirty="0"/>
          </a:p>
        </p:txBody>
      </p:sp>
      <p:sp>
        <p:nvSpPr>
          <p:cNvPr id="8" name="Shape 6"/>
          <p:cNvSpPr/>
          <p:nvPr/>
        </p:nvSpPr>
        <p:spPr>
          <a:xfrm>
            <a:off x="457200" y="1143000"/>
            <a:ext cx="8229600" cy="640080"/>
          </a:xfrm>
          <a:prstGeom prst="rect">
            <a:avLst/>
          </a:prstGeom>
          <a:solidFill>
            <a:srgbClr val="F7F8FA"/>
          </a:solidFill>
          <a:ln w="12700">
            <a:solidFill>
              <a:srgbClr val="E2E8F0"/>
            </a:solidFill>
            <a:prstDash val="solid"/>
          </a:ln>
          <a:effectLst>
            <a:outerShdw blurRad="50800" dist="25400" dir="8100000" algn="bl" rotWithShape="0">
              <a:srgbClr val="000000">
                <a:alpha val="10000"/>
              </a:srgbClr>
            </a:outerShdw>
          </a:effectLst>
        </p:spPr>
        <p:txBody>
          <a:bodyPr/>
          <a:lstStyle/>
          <a:p>
            <a:endParaRPr lang="ko-KR" altLang="en-US"/>
          </a:p>
        </p:txBody>
      </p:sp>
      <p:sp>
        <p:nvSpPr>
          <p:cNvPr id="9" name="Shape 7"/>
          <p:cNvSpPr/>
          <p:nvPr/>
        </p:nvSpPr>
        <p:spPr>
          <a:xfrm>
            <a:off x="457200" y="1143000"/>
            <a:ext cx="54864" cy="640080"/>
          </a:xfrm>
          <a:prstGeom prst="rect">
            <a:avLst/>
          </a:prstGeom>
          <a:solidFill>
            <a:srgbClr val="C8962E"/>
          </a:solidFill>
          <a:ln/>
        </p:spPr>
        <p:txBody>
          <a:bodyPr/>
          <a:lstStyle/>
          <a:p>
            <a:endParaRPr lang="ko-KR" altLang="en-US"/>
          </a:p>
        </p:txBody>
      </p:sp>
      <p:sp>
        <p:nvSpPr>
          <p:cNvPr id="10" name="Text 8"/>
          <p:cNvSpPr/>
          <p:nvPr/>
        </p:nvSpPr>
        <p:spPr>
          <a:xfrm>
            <a:off x="640080" y="1216152"/>
            <a:ext cx="7863840" cy="27432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 사업 영역</a:t>
            </a:r>
            <a:endParaRPr lang="en-US" sz="1100" dirty="0"/>
          </a:p>
        </p:txBody>
      </p:sp>
      <p:sp>
        <p:nvSpPr>
          <p:cNvPr id="11" name="Text 9"/>
          <p:cNvSpPr/>
          <p:nvPr/>
        </p:nvSpPr>
        <p:spPr>
          <a:xfrm>
            <a:off x="640080" y="1490472"/>
            <a:ext cx="7863840" cy="219456"/>
          </a:xfrm>
          <a:prstGeom prst="rect">
            <a:avLst/>
          </a:prstGeom>
          <a:noFill/>
          <a:ln/>
        </p:spPr>
        <p:txBody>
          <a:bodyPr wrap="square" rtlCol="0" anchor="t"/>
          <a:lstStyle/>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스마트폰, 전기차에 탑재되는 초정밀 커넥터 및 센서 부품 생산.</a:t>
            </a:r>
            <a:endParaRPr lang="en-US" sz="1000" dirty="0"/>
          </a:p>
        </p:txBody>
      </p:sp>
      <p:sp>
        <p:nvSpPr>
          <p:cNvPr id="12" name="Shape 10"/>
          <p:cNvSpPr/>
          <p:nvPr/>
        </p:nvSpPr>
        <p:spPr>
          <a:xfrm>
            <a:off x="457200" y="1920240"/>
            <a:ext cx="8229600" cy="822960"/>
          </a:xfrm>
          <a:prstGeom prst="rect">
            <a:avLst/>
          </a:prstGeom>
          <a:solidFill>
            <a:srgbClr val="F7F8FA"/>
          </a:solidFill>
          <a:ln w="12700">
            <a:solidFill>
              <a:srgbClr val="E2E8F0"/>
            </a:solidFill>
            <a:prstDash val="solid"/>
          </a:ln>
          <a:effectLst>
            <a:outerShdw blurRad="50800" dist="25400" dir="8100000" algn="bl" rotWithShape="0">
              <a:srgbClr val="000000">
                <a:alpha val="10000"/>
              </a:srgbClr>
            </a:outerShdw>
          </a:effectLst>
        </p:spPr>
        <p:txBody>
          <a:bodyPr/>
          <a:lstStyle/>
          <a:p>
            <a:endParaRPr lang="ko-KR" altLang="en-US"/>
          </a:p>
        </p:txBody>
      </p:sp>
      <p:sp>
        <p:nvSpPr>
          <p:cNvPr id="13" name="Shape 11"/>
          <p:cNvSpPr/>
          <p:nvPr/>
        </p:nvSpPr>
        <p:spPr>
          <a:xfrm>
            <a:off x="457200" y="1920240"/>
            <a:ext cx="54864" cy="822960"/>
          </a:xfrm>
          <a:prstGeom prst="rect">
            <a:avLst/>
          </a:prstGeom>
          <a:solidFill>
            <a:srgbClr val="C8962E"/>
          </a:solidFill>
          <a:ln/>
        </p:spPr>
        <p:txBody>
          <a:bodyPr/>
          <a:lstStyle/>
          <a:p>
            <a:endParaRPr lang="ko-KR" altLang="en-US"/>
          </a:p>
        </p:txBody>
      </p:sp>
      <p:sp>
        <p:nvSpPr>
          <p:cNvPr id="14" name="Text 12"/>
          <p:cNvSpPr/>
          <p:nvPr/>
        </p:nvSpPr>
        <p:spPr>
          <a:xfrm>
            <a:off x="640080" y="1993392"/>
            <a:ext cx="7863840" cy="27432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 핵심 경쟁력</a:t>
            </a:r>
            <a:endParaRPr lang="en-US" sz="1100" dirty="0"/>
          </a:p>
        </p:txBody>
      </p:sp>
      <p:sp>
        <p:nvSpPr>
          <p:cNvPr id="15" name="Text 13"/>
          <p:cNvSpPr/>
          <p:nvPr/>
        </p:nvSpPr>
        <p:spPr>
          <a:xfrm>
            <a:off x="640080" y="2267712"/>
            <a:ext cx="7863840" cy="402336"/>
          </a:xfrm>
          <a:prstGeom prst="rect">
            <a:avLst/>
          </a:prstGeom>
          <a:noFill/>
          <a:ln/>
        </p:spPr>
        <p:txBody>
          <a:bodyPr wrap="square" rtlCol="0" anchor="t"/>
          <a:lstStyle/>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대표이사가 직접 개발한 독자적인 '초미세 프레스 공법' 기술. 이를 통해 경쟁사 대비 높은 수율과 원가 경쟁력을 확보하고 있으며, 이것이 곧 회사의 핵심 성장 동력임.</a:t>
            </a:r>
            <a:endParaRPr lang="en-US" sz="1000" dirty="0"/>
          </a:p>
        </p:txBody>
      </p:sp>
      <p:sp>
        <p:nvSpPr>
          <p:cNvPr id="16" name="Text 14"/>
          <p:cNvSpPr/>
          <p:nvPr/>
        </p:nvSpPr>
        <p:spPr>
          <a:xfrm>
            <a:off x="457200" y="3063240"/>
            <a:ext cx="8229600" cy="365760"/>
          </a:xfrm>
          <a:prstGeom prst="rect">
            <a:avLst/>
          </a:prstGeom>
          <a:noFill/>
          <a:ln/>
        </p:spPr>
        <p:txBody>
          <a:bodyPr wrap="square"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3. 위험 정량화 대시보드 (2025년 기준)</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104168697"/>
              </p:ext>
            </p:extLst>
          </p:nvPr>
        </p:nvGraphicFramePr>
        <p:xfrm>
          <a:off x="457200" y="3520440"/>
          <a:ext cx="8229600" cy="1152144"/>
        </p:xfrm>
        <a:graphic>
          <a:graphicData uri="http://schemas.openxmlformats.org/drawingml/2006/table">
            <a:tbl>
              <a:tblPr/>
              <a:tblGrid>
                <a:gridCol w="25603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384048">
                <a:tc>
                  <a:txBody>
                    <a:bodyPr/>
                    <a:lstStyle/>
                    <a:p>
                      <a:pPr marL="0" indent="0" algn="ctr">
                        <a:buNone/>
                      </a:pPr>
                      <a:r>
                        <a:rPr lang="en-US" sz="900" b="1" dirty="0">
                          <a:solidFill>
                            <a:srgbClr val="FFFFFF"/>
                          </a:solidFill>
                        </a:rPr>
                        <a:t>항목</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rPr>
                        <a:t>현재 상태 (연간)</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rPr>
                        <a:t>5년 후 (누적, 복리 가정)</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rPr>
                        <a:t>위험 수준</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84048">
                <a:tc>
                  <a:txBody>
                    <a:bodyPr/>
                    <a:lstStyle/>
                    <a:p>
                      <a:pPr marL="0" indent="0">
                        <a:buNone/>
                      </a:pPr>
                      <a:r>
                        <a:rPr lang="en-US" sz="900" b="1" dirty="0">
                          <a:solidFill>
                            <a:srgbClr val="2B2B2B"/>
                          </a:solidFill>
                        </a:rPr>
                        <a:t>① 재무적 손실 (현금 유출)</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rPr>
                        <a:t>- 1,600만원</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rPr>
                        <a:t>- 8,850만원</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D4882C"/>
                          </a:solidFill>
                        </a:rPr>
                        <a:t>Warning</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900" b="1" dirty="0">
                          <a:solidFill>
                            <a:srgbClr val="2B2B2B"/>
                          </a:solidFill>
                        </a:rPr>
                        <a:t>② 잠재적 세금 폭탄 (상여 처분 시)</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900" dirty="0">
                          <a:solidFill>
                            <a:srgbClr val="2B2B2B"/>
                          </a:solidFill>
                        </a:rPr>
                        <a:t>- 2.15억원 (소득세+건보료)</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900" dirty="0">
                          <a:solidFill>
                            <a:srgbClr val="2B2B2B"/>
                          </a:solidFill>
                        </a:rPr>
                        <a:t>- 2.15억원+α</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900" b="1" dirty="0">
                          <a:solidFill>
                            <a:srgbClr val="D4382C"/>
                          </a:solidFill>
                        </a:rPr>
                        <a:t>Critical</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4</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I. 기업개요 및 리스크 진단 (3/3)</a:t>
            </a:r>
            <a:endParaRPr lang="en-US" sz="15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가지급금 정리로 세무리스크 해소하기</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4 / 62</a:t>
            </a:r>
            <a:endParaRPr lang="en-US" sz="800" dirty="0"/>
          </a:p>
        </p:txBody>
      </p:sp>
      <p:sp>
        <p:nvSpPr>
          <p:cNvPr id="7" name="Text 5"/>
          <p:cNvSpPr/>
          <p:nvPr/>
        </p:nvSpPr>
        <p:spPr>
          <a:xfrm>
            <a:off x="457200" y="685800"/>
            <a:ext cx="8229600" cy="365760"/>
          </a:xfrm>
          <a:prstGeom prst="rect">
            <a:avLst/>
          </a:prstGeom>
          <a:noFill/>
          <a:ln/>
        </p:spPr>
        <p:txBody>
          <a:bodyPr wrap="square" rtlCol="0" anchor="ctr"/>
          <a:lstStyle/>
          <a:p>
            <a:pPr marL="0" indent="0" algn="ctr">
              <a:buNone/>
            </a:pPr>
            <a:r>
              <a:rPr lang="en-US" sz="1400" b="1" dirty="0">
                <a:solidFill>
                  <a:srgbClr val="1B2A4A"/>
                </a:solidFill>
                <a:latin typeface="맑은 고딕" pitchFamily="34" charset="0"/>
                <a:ea typeface="맑은 고딕" pitchFamily="34" charset="-122"/>
                <a:cs typeface="맑은 고딕" pitchFamily="34" charset="-120"/>
              </a:rPr>
              <a:t>가지급금 리스크 대시보드</a:t>
            </a:r>
            <a:endParaRPr lang="en-US" sz="1400" dirty="0"/>
          </a:p>
        </p:txBody>
      </p:sp>
      <p:sp>
        <p:nvSpPr>
          <p:cNvPr id="8" name="Shape 6"/>
          <p:cNvSpPr/>
          <p:nvPr/>
        </p:nvSpPr>
        <p:spPr>
          <a:xfrm>
            <a:off x="548640" y="1188720"/>
            <a:ext cx="3657600" cy="2560320"/>
          </a:xfrm>
          <a:prstGeom prst="rect">
            <a:avLst/>
          </a:prstGeom>
          <a:solidFill>
            <a:srgbClr val="1B2A4A"/>
          </a:solidFill>
          <a:ln/>
          <a:effectLst>
            <a:outerShdw blurRad="50800" dist="25400" dir="8100000" algn="bl" rotWithShape="0">
              <a:srgbClr val="000000">
                <a:alpha val="10000"/>
              </a:srgbClr>
            </a:outerShdw>
          </a:effectLst>
        </p:spPr>
        <p:txBody>
          <a:bodyPr/>
          <a:lstStyle/>
          <a:p>
            <a:endParaRPr lang="ko-KR" altLang="en-US"/>
          </a:p>
        </p:txBody>
      </p:sp>
      <p:sp>
        <p:nvSpPr>
          <p:cNvPr id="9" name="Text 7"/>
          <p:cNvSpPr/>
          <p:nvPr/>
        </p:nvSpPr>
        <p:spPr>
          <a:xfrm>
            <a:off x="548640" y="1371600"/>
            <a:ext cx="3657600" cy="320040"/>
          </a:xfrm>
          <a:prstGeom prst="rect">
            <a:avLst/>
          </a:prstGeom>
          <a:noFill/>
          <a:ln/>
        </p:spPr>
        <p:txBody>
          <a:bodyPr wrap="square" rtlCol="0" anchor="ctr"/>
          <a:lstStyle/>
          <a:p>
            <a:pPr marL="0" indent="0" algn="ctr">
              <a:buNone/>
            </a:pPr>
            <a:r>
              <a:rPr lang="en-US" sz="1300" b="1" dirty="0">
                <a:solidFill>
                  <a:srgbClr val="C8962E"/>
                </a:solidFill>
                <a:latin typeface="맑은 고딕" pitchFamily="34" charset="0"/>
                <a:ea typeface="맑은 고딕" pitchFamily="34" charset="-122"/>
                <a:cs typeface="맑은 고딕" pitchFamily="34" charset="-120"/>
              </a:rPr>
              <a:t>재무적 손실</a:t>
            </a:r>
            <a:endParaRPr lang="en-US" sz="1300" dirty="0"/>
          </a:p>
        </p:txBody>
      </p:sp>
      <p:sp>
        <p:nvSpPr>
          <p:cNvPr id="10" name="Text 8"/>
          <p:cNvSpPr/>
          <p:nvPr/>
        </p:nvSpPr>
        <p:spPr>
          <a:xfrm>
            <a:off x="548640" y="1691640"/>
            <a:ext cx="3657600" cy="274320"/>
          </a:xfrm>
          <a:prstGeom prst="rect">
            <a:avLst/>
          </a:prstGeom>
          <a:noFill/>
          <a:ln/>
        </p:spPr>
        <p:txBody>
          <a:bodyPr wrap="square" rtlCol="0" anchor="ctr"/>
          <a:lstStyle/>
          <a:p>
            <a:pPr marL="0" indent="0" algn="ctr">
              <a:buNone/>
            </a:pPr>
            <a:r>
              <a:rPr lang="en-US" sz="900" dirty="0">
                <a:solidFill>
                  <a:srgbClr val="CBD5E1"/>
                </a:solidFill>
                <a:latin typeface="맑은 고딕" pitchFamily="34" charset="0"/>
                <a:ea typeface="맑은 고딕" pitchFamily="34" charset="-122"/>
                <a:cs typeface="맑은 고딕" pitchFamily="34" charset="-120"/>
              </a:rPr>
              <a:t>매년 현금 유출 발생 (Warning)</a:t>
            </a:r>
            <a:endParaRPr lang="en-US" sz="900" dirty="0"/>
          </a:p>
        </p:txBody>
      </p:sp>
      <p:sp>
        <p:nvSpPr>
          <p:cNvPr id="11" name="Text 9"/>
          <p:cNvSpPr/>
          <p:nvPr/>
        </p:nvSpPr>
        <p:spPr>
          <a:xfrm>
            <a:off x="1120140" y="2103120"/>
            <a:ext cx="1965960" cy="731520"/>
          </a:xfrm>
          <a:prstGeom prst="rect">
            <a:avLst/>
          </a:prstGeom>
          <a:noFill/>
          <a:ln/>
        </p:spPr>
        <p:txBody>
          <a:bodyPr wrap="square" rtlCol="0" anchor="ctr"/>
          <a:lstStyle/>
          <a:p>
            <a:pPr marL="0" indent="0" algn="r">
              <a:buNone/>
            </a:pPr>
            <a:r>
              <a:rPr lang="en-US" sz="3600" b="1" dirty="0">
                <a:solidFill>
                  <a:srgbClr val="FFFFFF"/>
                </a:solidFill>
                <a:latin typeface="Georgia" pitchFamily="34" charset="0"/>
                <a:ea typeface="Georgia" pitchFamily="34" charset="-122"/>
                <a:cs typeface="Georgia" pitchFamily="34" charset="-120"/>
              </a:rPr>
              <a:t>- 8,850</a:t>
            </a:r>
            <a:endParaRPr lang="en-US" sz="3600" dirty="0"/>
          </a:p>
        </p:txBody>
      </p:sp>
      <p:sp>
        <p:nvSpPr>
          <p:cNvPr id="12" name="Text 10"/>
          <p:cNvSpPr/>
          <p:nvPr/>
        </p:nvSpPr>
        <p:spPr>
          <a:xfrm>
            <a:off x="2903220" y="2286000"/>
            <a:ext cx="822960" cy="365760"/>
          </a:xfrm>
          <a:prstGeom prst="rect">
            <a:avLst/>
          </a:prstGeom>
          <a:noFill/>
          <a:ln/>
        </p:spPr>
        <p:txBody>
          <a:bodyPr wrap="square" rtlCol="0" anchor="ctr"/>
          <a:lstStyle/>
          <a:p>
            <a:pPr marL="0" indent="0" algn="l">
              <a:buNone/>
            </a:pPr>
            <a:r>
              <a:rPr lang="en-US" sz="1400" dirty="0">
                <a:solidFill>
                  <a:srgbClr val="FFFFFF"/>
                </a:solidFill>
                <a:latin typeface="맑은 고딕" pitchFamily="34" charset="0"/>
                <a:ea typeface="맑은 고딕" pitchFamily="34" charset="-122"/>
                <a:cs typeface="맑은 고딕" pitchFamily="34" charset="-120"/>
              </a:rPr>
              <a:t>만원</a:t>
            </a:r>
            <a:endParaRPr lang="en-US" sz="1400" dirty="0"/>
          </a:p>
        </p:txBody>
      </p:sp>
      <p:sp>
        <p:nvSpPr>
          <p:cNvPr id="13" name="Text 11"/>
          <p:cNvSpPr/>
          <p:nvPr/>
        </p:nvSpPr>
        <p:spPr>
          <a:xfrm>
            <a:off x="548640" y="3017520"/>
            <a:ext cx="3657600" cy="274320"/>
          </a:xfrm>
          <a:prstGeom prst="rect">
            <a:avLst/>
          </a:prstGeom>
          <a:noFill/>
          <a:ln/>
        </p:spPr>
        <p:txBody>
          <a:bodyPr wrap="square" rtlCol="0" anchor="ctr"/>
          <a:lstStyle/>
          <a:p>
            <a:pPr marL="0" indent="0" algn="ctr">
              <a:buNone/>
            </a:pPr>
            <a:r>
              <a:rPr lang="en-US" sz="900" dirty="0">
                <a:solidFill>
                  <a:srgbClr val="CBD5E1"/>
                </a:solidFill>
                <a:latin typeface="맑은 고딕" pitchFamily="34" charset="0"/>
                <a:ea typeface="맑은 고딕" pitchFamily="34" charset="-122"/>
                <a:cs typeface="맑은 고딕" pitchFamily="34" charset="-120"/>
              </a:rPr>
              <a:t>(5년 누적 손실액)</a:t>
            </a:r>
            <a:endParaRPr lang="en-US" sz="900" dirty="0"/>
          </a:p>
        </p:txBody>
      </p:sp>
      <p:sp>
        <p:nvSpPr>
          <p:cNvPr id="14" name="Shape 12"/>
          <p:cNvSpPr/>
          <p:nvPr/>
        </p:nvSpPr>
        <p:spPr>
          <a:xfrm>
            <a:off x="4663440" y="1188720"/>
            <a:ext cx="3657600" cy="2560320"/>
          </a:xfrm>
          <a:prstGeom prst="rect">
            <a:avLst/>
          </a:prstGeom>
          <a:solidFill>
            <a:srgbClr val="1B2A4A"/>
          </a:solidFill>
          <a:ln/>
          <a:effectLst>
            <a:outerShdw blurRad="50800" dist="25400" dir="8100000" algn="bl" rotWithShape="0">
              <a:srgbClr val="000000">
                <a:alpha val="10000"/>
              </a:srgbClr>
            </a:outerShdw>
          </a:effectLst>
        </p:spPr>
        <p:txBody>
          <a:bodyPr/>
          <a:lstStyle/>
          <a:p>
            <a:endParaRPr lang="ko-KR" altLang="en-US"/>
          </a:p>
        </p:txBody>
      </p:sp>
      <p:sp>
        <p:nvSpPr>
          <p:cNvPr id="15" name="Text 13"/>
          <p:cNvSpPr/>
          <p:nvPr/>
        </p:nvSpPr>
        <p:spPr>
          <a:xfrm>
            <a:off x="4663440" y="1371600"/>
            <a:ext cx="3657600" cy="320040"/>
          </a:xfrm>
          <a:prstGeom prst="rect">
            <a:avLst/>
          </a:prstGeom>
          <a:noFill/>
          <a:ln/>
        </p:spPr>
        <p:txBody>
          <a:bodyPr wrap="square" rtlCol="0" anchor="ctr"/>
          <a:lstStyle/>
          <a:p>
            <a:pPr marL="0" indent="0" algn="ctr">
              <a:buNone/>
            </a:pPr>
            <a:r>
              <a:rPr lang="en-US" sz="1300" b="1" dirty="0">
                <a:solidFill>
                  <a:srgbClr val="C8962E"/>
                </a:solidFill>
                <a:latin typeface="맑은 고딕" pitchFamily="34" charset="0"/>
                <a:ea typeface="맑은 고딕" pitchFamily="34" charset="-122"/>
                <a:cs typeface="맑은 고딕" pitchFamily="34" charset="-120"/>
              </a:rPr>
              <a:t>잠재적 세금 폭탄</a:t>
            </a:r>
            <a:endParaRPr lang="en-US" sz="1300" dirty="0"/>
          </a:p>
        </p:txBody>
      </p:sp>
      <p:sp>
        <p:nvSpPr>
          <p:cNvPr id="16" name="Text 14"/>
          <p:cNvSpPr/>
          <p:nvPr/>
        </p:nvSpPr>
        <p:spPr>
          <a:xfrm>
            <a:off x="4663440" y="1691640"/>
            <a:ext cx="3657600" cy="274320"/>
          </a:xfrm>
          <a:prstGeom prst="rect">
            <a:avLst/>
          </a:prstGeom>
          <a:noFill/>
          <a:ln/>
        </p:spPr>
        <p:txBody>
          <a:bodyPr wrap="square" rtlCol="0" anchor="ctr"/>
          <a:lstStyle/>
          <a:p>
            <a:pPr marL="0" indent="0" algn="ctr">
              <a:buNone/>
            </a:pPr>
            <a:r>
              <a:rPr lang="en-US" sz="900" dirty="0">
                <a:solidFill>
                  <a:srgbClr val="CBD5E1"/>
                </a:solidFill>
                <a:latin typeface="맑은 고딕" pitchFamily="34" charset="0"/>
                <a:ea typeface="맑은 고딕" pitchFamily="34" charset="-122"/>
                <a:cs typeface="맑은 고딕" pitchFamily="34" charset="-120"/>
              </a:rPr>
              <a:t>세무조사 시 일시 발생 (Critical)</a:t>
            </a:r>
            <a:endParaRPr lang="en-US" sz="900" dirty="0"/>
          </a:p>
        </p:txBody>
      </p:sp>
      <p:sp>
        <p:nvSpPr>
          <p:cNvPr id="17" name="Text 15"/>
          <p:cNvSpPr/>
          <p:nvPr/>
        </p:nvSpPr>
        <p:spPr>
          <a:xfrm>
            <a:off x="5394960" y="2103120"/>
            <a:ext cx="1600200" cy="731520"/>
          </a:xfrm>
          <a:prstGeom prst="rect">
            <a:avLst/>
          </a:prstGeom>
          <a:noFill/>
          <a:ln/>
        </p:spPr>
        <p:txBody>
          <a:bodyPr wrap="square" rtlCol="0" anchor="ctr"/>
          <a:lstStyle/>
          <a:p>
            <a:pPr marL="0" indent="0" algn="r">
              <a:buNone/>
            </a:pPr>
            <a:r>
              <a:rPr lang="en-US" sz="3600" b="1" dirty="0">
                <a:solidFill>
                  <a:srgbClr val="FFFFFF"/>
                </a:solidFill>
                <a:latin typeface="Georgia" pitchFamily="34" charset="0"/>
                <a:ea typeface="Georgia" pitchFamily="34" charset="-122"/>
                <a:cs typeface="Georgia" pitchFamily="34" charset="-120"/>
              </a:rPr>
              <a:t>- 2.15</a:t>
            </a:r>
            <a:endParaRPr lang="en-US" sz="3600" dirty="0"/>
          </a:p>
        </p:txBody>
      </p:sp>
      <p:sp>
        <p:nvSpPr>
          <p:cNvPr id="18" name="Text 16"/>
          <p:cNvSpPr/>
          <p:nvPr/>
        </p:nvSpPr>
        <p:spPr>
          <a:xfrm>
            <a:off x="6812280" y="2286000"/>
            <a:ext cx="822960" cy="365760"/>
          </a:xfrm>
          <a:prstGeom prst="rect">
            <a:avLst/>
          </a:prstGeom>
          <a:noFill/>
          <a:ln/>
        </p:spPr>
        <p:txBody>
          <a:bodyPr wrap="square" rtlCol="0" anchor="ctr"/>
          <a:lstStyle/>
          <a:p>
            <a:pPr marL="0" indent="0" algn="l">
              <a:buNone/>
            </a:pPr>
            <a:r>
              <a:rPr lang="en-US" sz="1400" dirty="0" err="1">
                <a:solidFill>
                  <a:srgbClr val="FFFFFF"/>
                </a:solidFill>
                <a:latin typeface="맑은 고딕" pitchFamily="34" charset="0"/>
                <a:ea typeface="맑은 고딕" pitchFamily="34" charset="-122"/>
                <a:cs typeface="맑은 고딕" pitchFamily="34" charset="-120"/>
              </a:rPr>
              <a:t>억원</a:t>
            </a:r>
            <a:r>
              <a:rPr lang="en-US" sz="1400" dirty="0">
                <a:solidFill>
                  <a:srgbClr val="FFFFFF"/>
                </a:solidFill>
                <a:latin typeface="맑은 고딕" pitchFamily="34" charset="0"/>
                <a:ea typeface="맑은 고딕" pitchFamily="34" charset="-122"/>
                <a:cs typeface="맑은 고딕" pitchFamily="34" charset="-120"/>
              </a:rPr>
              <a:t>+α</a:t>
            </a:r>
            <a:endParaRPr lang="en-US" sz="1400" dirty="0"/>
          </a:p>
        </p:txBody>
      </p:sp>
      <p:sp>
        <p:nvSpPr>
          <p:cNvPr id="19" name="Text 17"/>
          <p:cNvSpPr/>
          <p:nvPr/>
        </p:nvSpPr>
        <p:spPr>
          <a:xfrm>
            <a:off x="4663440" y="3017520"/>
            <a:ext cx="3657600" cy="274320"/>
          </a:xfrm>
          <a:prstGeom prst="rect">
            <a:avLst/>
          </a:prstGeom>
          <a:noFill/>
          <a:ln/>
        </p:spPr>
        <p:txBody>
          <a:bodyPr wrap="square" rtlCol="0" anchor="ctr"/>
          <a:lstStyle/>
          <a:p>
            <a:pPr marL="0" indent="0" algn="ctr">
              <a:buNone/>
            </a:pPr>
            <a:r>
              <a:rPr lang="en-US" sz="900" dirty="0">
                <a:solidFill>
                  <a:srgbClr val="CBD5E1"/>
                </a:solidFill>
                <a:latin typeface="맑은 고딕" pitchFamily="34" charset="0"/>
                <a:ea typeface="맑은 고딕" pitchFamily="34" charset="-122"/>
                <a:cs typeface="맑은 고딕" pitchFamily="34" charset="-120"/>
              </a:rPr>
              <a:t>(상여 처분 시)</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5</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II. Executive Summary (1/2)</a:t>
            </a:r>
            <a:endParaRPr lang="en-US" sz="15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가지급금 정리로 세무리스크 해소하기</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5 / 62</a:t>
            </a:r>
            <a:endParaRPr lang="en-US" sz="800" dirty="0"/>
          </a:p>
        </p:txBody>
      </p:sp>
      <p:graphicFrame>
        <p:nvGraphicFramePr>
          <p:cNvPr id="7" name="Table 0"/>
          <p:cNvGraphicFramePr>
            <a:graphicFrameLocks noGrp="1"/>
          </p:cNvGraphicFramePr>
          <p:nvPr>
            <p:extLst>
              <p:ext uri="{D42A27DB-BD31-4B8C-83A1-F6EECF244321}">
                <p14:modId xmlns:p14="http://schemas.microsoft.com/office/powerpoint/2010/main" val="3176574139"/>
              </p:ext>
            </p:extLst>
          </p:nvPr>
        </p:nvGraphicFramePr>
        <p:xfrm>
          <a:off x="457200" y="685800"/>
          <a:ext cx="8229600" cy="2148840"/>
        </p:xfrm>
        <a:graphic>
          <a:graphicData uri="http://schemas.openxmlformats.org/drawingml/2006/table">
            <a:tbl>
              <a:tblPr/>
              <a:tblGrid>
                <a:gridCol w="2011680">
                  <a:extLst>
                    <a:ext uri="{9D8B030D-6E8A-4147-A177-3AD203B41FA5}">
                      <a16:colId xmlns:a16="http://schemas.microsoft.com/office/drawing/2014/main" val="20000"/>
                    </a:ext>
                  </a:extLst>
                </a:gridCol>
                <a:gridCol w="6217920">
                  <a:extLst>
                    <a:ext uri="{9D8B030D-6E8A-4147-A177-3AD203B41FA5}">
                      <a16:colId xmlns:a16="http://schemas.microsoft.com/office/drawing/2014/main" val="20001"/>
                    </a:ext>
                  </a:extLst>
                </a:gridCol>
              </a:tblGrid>
              <a:tr h="320040">
                <a:tc>
                  <a:txBody>
                    <a:bodyPr/>
                    <a:lstStyle/>
                    <a:p>
                      <a:pPr marL="0" indent="0" algn="ctr">
                        <a:buNone/>
                      </a:pPr>
                      <a:r>
                        <a:rPr lang="en-US" sz="1000" b="1" dirty="0">
                          <a:solidFill>
                            <a:srgbClr val="FFFFFF"/>
                          </a:solidFill>
                        </a:rPr>
                        <a:t>구분</a:t>
                      </a:r>
                      <a:endParaRPr lang="en-US" sz="10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rPr>
                        <a:t>내용</a:t>
                      </a:r>
                      <a:endParaRPr lang="en-US" sz="10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594360">
                <a:tc>
                  <a:txBody>
                    <a:bodyPr/>
                    <a:lstStyle/>
                    <a:p>
                      <a:pPr marL="0" indent="0" algn="ctr">
                        <a:buNone/>
                      </a:pPr>
                      <a:r>
                        <a:rPr lang="en-US" sz="900" b="1" dirty="0">
                          <a:solidFill>
                            <a:srgbClr val="2B2B2B"/>
                          </a:solidFill>
                        </a:rPr>
                        <a:t>컨설팅 배경 및 목적</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buNone/>
                      </a:pPr>
                      <a:r>
                        <a:rPr lang="en-US" sz="900" dirty="0">
                          <a:solidFill>
                            <a:srgbClr val="2B2B2B"/>
                          </a:solidFill>
                        </a:rPr>
                        <a:t>(주)아성정밀의 지속적인 성장에 발목을 잡고 있는 누적 가지급금 5억 원의 심각성을 진단하고, 예측 불가능한 세무 리스크를 원천적으로 제거하여 기업의 재무 건전성을 확보하고 CEO의 자산을 보호하는 것을 목적으로 함.</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1"/>
                  </a:ext>
                </a:extLst>
              </a:tr>
              <a:tr h="1234440">
                <a:tc>
                  <a:txBody>
                    <a:bodyPr/>
                    <a:lstStyle/>
                    <a:p>
                      <a:pPr marL="0" indent="0" algn="ctr">
                        <a:buNone/>
                      </a:pPr>
                      <a:r>
                        <a:rPr lang="en-US" sz="900" b="1" dirty="0">
                          <a:solidFill>
                            <a:srgbClr val="2B2B2B"/>
                          </a:solidFill>
                        </a:rPr>
                        <a:t>현황 진단 핵심 요약</a:t>
                      </a:r>
                      <a:endParaRPr lang="en-US" sz="900" dirty="0"/>
                    </a:p>
                    <a:p>
                      <a:pPr marL="0" indent="0" algn="ctr">
                        <a:buNone/>
                      </a:pPr>
                      <a:r>
                        <a:rPr lang="en-US" sz="900" b="1" dirty="0">
                          <a:solidFill>
                            <a:srgbClr val="2B2B2B"/>
                          </a:solidFill>
                        </a:rPr>
                        <a:t>(As-Is)</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2B2B2B"/>
                          </a:solidFill>
                        </a:rPr>
                        <a:t>• 가지급금 5억원 존재: 매년 현금기준 총부담 약 3,570만원 발생</a:t>
                      </a:r>
                      <a:endParaRPr lang="en-US" sz="900" dirty="0"/>
                    </a:p>
                    <a:p>
                      <a:pPr marL="0" indent="0">
                        <a:buNone/>
                      </a:pPr>
                      <a:r>
                        <a:rPr lang="en-US" sz="900" dirty="0">
                          <a:solidFill>
                            <a:srgbClr val="2B2B2B"/>
                          </a:solidFill>
                        </a:rPr>
                        <a:t>  (※ CEO 상여처분 시 개인 소득세 등은 별도)</a:t>
                      </a:r>
                      <a:endParaRPr lang="en-US" sz="900" dirty="0"/>
                    </a:p>
                    <a:p>
                      <a:pPr marL="0" indent="0">
                        <a:buNone/>
                      </a:pPr>
                      <a:r>
                        <a:rPr lang="en-US" sz="900" dirty="0">
                          <a:solidFill>
                            <a:srgbClr val="2B2B2B"/>
                          </a:solidFill>
                        </a:rPr>
                        <a:t>• 잠재적 세금 폭탄: 세무조사 시 상여 처분 시 약 2.1억원 이상 부과 가능</a:t>
                      </a:r>
                      <a:endParaRPr lang="en-US" sz="900" dirty="0"/>
                    </a:p>
                    <a:p>
                      <a:pPr marL="0" indent="0">
                        <a:buNone/>
                      </a:pPr>
                      <a:r>
                        <a:rPr lang="en-US" sz="900" dirty="0">
                          <a:solidFill>
                            <a:srgbClr val="2B2B2B"/>
                          </a:solidFill>
                        </a:rPr>
                        <a:t>  (※ 과세표준·세율·건보료 산정 등에 따라 결과는 큰 폭으로 달라질 수 있음)</a:t>
                      </a:r>
                      <a:endParaRPr lang="en-US" sz="900" dirty="0"/>
                    </a:p>
                    <a:p>
                      <a:pPr marL="0" indent="0">
                        <a:buNone/>
                      </a:pPr>
                      <a:r>
                        <a:rPr lang="en-US" sz="900" dirty="0">
                          <a:solidFill>
                            <a:srgbClr val="2B2B2B"/>
                          </a:solidFill>
                        </a:rPr>
                        <a:t>• 신용등급 하락: 실질 부채비율 상승으로 금융비용 증가 및 자금 조달에 악영향</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6</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II. Executive Summary (2/2)</a:t>
            </a:r>
            <a:endParaRPr lang="en-US" sz="15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가지급금 정리로 세무리스크 해소하기</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6 / 62</a:t>
            </a:r>
            <a:endParaRPr lang="en-US" sz="800" dirty="0"/>
          </a:p>
        </p:txBody>
      </p:sp>
      <p:graphicFrame>
        <p:nvGraphicFramePr>
          <p:cNvPr id="8" name="Table 0"/>
          <p:cNvGraphicFramePr>
            <a:graphicFrameLocks noGrp="1"/>
          </p:cNvGraphicFramePr>
          <p:nvPr>
            <p:extLst>
              <p:ext uri="{D42A27DB-BD31-4B8C-83A1-F6EECF244321}">
                <p14:modId xmlns:p14="http://schemas.microsoft.com/office/powerpoint/2010/main" val="469887941"/>
              </p:ext>
            </p:extLst>
          </p:nvPr>
        </p:nvGraphicFramePr>
        <p:xfrm>
          <a:off x="457200" y="685800"/>
          <a:ext cx="8229600" cy="2971800"/>
        </p:xfrm>
        <a:graphic>
          <a:graphicData uri="http://schemas.openxmlformats.org/drawingml/2006/table">
            <a:tbl>
              <a:tblPr/>
              <a:tblGrid>
                <a:gridCol w="2011680">
                  <a:extLst>
                    <a:ext uri="{9D8B030D-6E8A-4147-A177-3AD203B41FA5}">
                      <a16:colId xmlns:a16="http://schemas.microsoft.com/office/drawing/2014/main" val="20000"/>
                    </a:ext>
                  </a:extLst>
                </a:gridCol>
                <a:gridCol w="6217920">
                  <a:extLst>
                    <a:ext uri="{9D8B030D-6E8A-4147-A177-3AD203B41FA5}">
                      <a16:colId xmlns:a16="http://schemas.microsoft.com/office/drawing/2014/main" val="20001"/>
                    </a:ext>
                  </a:extLst>
                </a:gridCol>
              </a:tblGrid>
              <a:tr h="320040">
                <a:tc>
                  <a:txBody>
                    <a:bodyPr/>
                    <a:lstStyle/>
                    <a:p>
                      <a:pPr marL="0" indent="0" algn="ctr">
                        <a:buNone/>
                      </a:pPr>
                      <a:r>
                        <a:rPr lang="en-US" sz="1000" b="1" dirty="0">
                          <a:solidFill>
                            <a:srgbClr val="FFFFFF"/>
                          </a:solidFill>
                        </a:rPr>
                        <a:t>구분</a:t>
                      </a:r>
                      <a:endParaRPr lang="en-US" sz="10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rPr>
                        <a:t>내용</a:t>
                      </a:r>
                      <a:endParaRPr lang="en-US" sz="10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1371600">
                <a:tc>
                  <a:txBody>
                    <a:bodyPr/>
                    <a:lstStyle/>
                    <a:p>
                      <a:pPr marL="0" indent="0" algn="ctr">
                        <a:buNone/>
                      </a:pPr>
                      <a:r>
                        <a:rPr lang="en-US" sz="900" b="1" dirty="0">
                          <a:solidFill>
                            <a:srgbClr val="2B2B2B"/>
                          </a:solidFill>
                        </a:rPr>
                        <a:t>솔루션 제안 핵심 요약</a:t>
                      </a:r>
                      <a:endParaRPr lang="en-US" sz="900" dirty="0"/>
                    </a:p>
                    <a:p>
                      <a:pPr marL="0" indent="0" algn="ctr">
                        <a:buNone/>
                      </a:pPr>
                      <a:r>
                        <a:rPr lang="en-US" sz="900" b="1" dirty="0">
                          <a:solidFill>
                            <a:srgbClr val="2B2B2B"/>
                          </a:solidFill>
                        </a:rPr>
                        <a:t>(To-Be)</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buNone/>
                      </a:pPr>
                      <a:r>
                        <a:rPr lang="en-US" sz="900" dirty="0">
                          <a:solidFill>
                            <a:srgbClr val="2B2B2B"/>
                          </a:solidFill>
                        </a:rPr>
                        <a:t>'3-Step 복합 상환 플랜'을 통한 가지급금 완전 해소</a:t>
                      </a:r>
                      <a:endParaRPr lang="en-US" sz="900" dirty="0"/>
                    </a:p>
                    <a:p>
                      <a:pPr marL="0" indent="0">
                        <a:buNone/>
                      </a:pPr>
                      <a:r>
                        <a:rPr lang="en-US" sz="900" dirty="0">
                          <a:solidFill>
                            <a:srgbClr val="2B2B2B"/>
                          </a:solidFill>
                        </a:rPr>
                        <a:t>1. Step 1 (1억 상환): 임원 보수 규정 현실화를 통한 성과상여금 지급</a:t>
                      </a:r>
                      <a:endParaRPr lang="en-US" sz="900" dirty="0"/>
                    </a:p>
                    <a:p>
                      <a:pPr marL="0" indent="0">
                        <a:buNone/>
                      </a:pPr>
                      <a:r>
                        <a:rPr lang="en-US" sz="900" dirty="0">
                          <a:solidFill>
                            <a:srgbClr val="2B2B2B"/>
                          </a:solidFill>
                        </a:rPr>
                        <a:t>2. Step 2 (3억 상환): 대표이사 보유 핵심 기술의 특허권 자본화(직무발명보상)</a:t>
                      </a:r>
                      <a:endParaRPr lang="en-US" sz="900" dirty="0"/>
                    </a:p>
                    <a:p>
                      <a:pPr marL="0" indent="0">
                        <a:buNone/>
                      </a:pPr>
                      <a:r>
                        <a:rPr lang="en-US" sz="900" dirty="0">
                          <a:solidFill>
                            <a:srgbClr val="2B2B2B"/>
                          </a:solidFill>
                        </a:rPr>
                        <a:t>3. Step 3 (1억 상환): 법인 계약 보험을 활용한 단기 브릿지 플랜</a:t>
                      </a:r>
                      <a:endParaRPr lang="en-US" sz="900" dirty="0"/>
                    </a:p>
                    <a:p>
                      <a:pPr marL="0" indent="0">
                        <a:buNone/>
                      </a:pPr>
                      <a:r>
                        <a:rPr lang="en-US" sz="900" dirty="0">
                          <a:solidFill>
                            <a:srgbClr val="2B2B2B"/>
                          </a:solidFill>
                        </a:rPr>
                        <a:t>⇒ 1년 내 가지급금 5억 원 전액 상환 및 재발 방지 시스템 구축 목표</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1"/>
                  </a:ext>
                </a:extLst>
              </a:tr>
              <a:tr h="1280160">
                <a:tc>
                  <a:txBody>
                    <a:bodyPr/>
                    <a:lstStyle/>
                    <a:p>
                      <a:pPr marL="0" indent="0" algn="ctr">
                        <a:buNone/>
                      </a:pPr>
                      <a:r>
                        <a:rPr lang="en-US" sz="900" b="1" dirty="0">
                          <a:solidFill>
                            <a:srgbClr val="2B2B2B"/>
                          </a:solidFill>
                        </a:rPr>
                        <a:t>기대효과 핵심 요약</a:t>
                      </a:r>
                      <a:endParaRPr lang="en-US" sz="900" dirty="0"/>
                    </a:p>
                    <a:p>
                      <a:pPr marL="0" indent="0" algn="ctr">
                        <a:buNone/>
                      </a:pPr>
                      <a:r>
                        <a:rPr lang="en-US" sz="900" b="1" dirty="0">
                          <a:solidFill>
                            <a:srgbClr val="2B2B2B"/>
                          </a:solidFill>
                        </a:rPr>
                        <a:t>(ROI)</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2B2B2B"/>
                          </a:solidFill>
                        </a:rPr>
                        <a:t>• [기업] 연간 약 3,570만원의 불필요한 현금 유출 방지</a:t>
                      </a:r>
                      <a:endParaRPr lang="en-US" sz="900" dirty="0"/>
                    </a:p>
                    <a:p>
                      <a:pPr marL="0" indent="0">
                        <a:buNone/>
                      </a:pPr>
                      <a:r>
                        <a:rPr lang="en-US" sz="900" dirty="0">
                          <a:solidFill>
                            <a:srgbClr val="2B2B2B"/>
                          </a:solidFill>
                        </a:rPr>
                        <a:t>• [기업] 실질 부채비율 개선(114.3% → 100%) 및 신용평가등급 상승 기대</a:t>
                      </a:r>
                      <a:endParaRPr lang="en-US" sz="900" dirty="0"/>
                    </a:p>
                    <a:p>
                      <a:pPr marL="0" indent="0">
                        <a:buNone/>
                      </a:pPr>
                      <a:r>
                        <a:rPr lang="en-US" sz="900" dirty="0">
                          <a:solidFill>
                            <a:srgbClr val="2B2B2B"/>
                          </a:solidFill>
                        </a:rPr>
                        <a:t>• [기업] 핵심 기술의 자산화(특허권)로 연간 1,140만원 법인세 절감 효과</a:t>
                      </a:r>
                      <a:endParaRPr lang="en-US" sz="900" dirty="0"/>
                    </a:p>
                    <a:p>
                      <a:pPr marL="0" indent="0">
                        <a:buNone/>
                      </a:pPr>
                      <a:r>
                        <a:rPr lang="en-US" sz="900" dirty="0">
                          <a:solidFill>
                            <a:srgbClr val="2B2B2B"/>
                          </a:solidFill>
                        </a:rPr>
                        <a:t>• [CEO] 약 2.1억원 이상의 잠재적 세금 폭탄 리스크를 원천 제거</a:t>
                      </a:r>
                      <a:endParaRPr lang="en-US" sz="900" dirty="0"/>
                    </a:p>
                    <a:p>
                      <a:pPr marL="0" indent="0">
                        <a:buNone/>
                      </a:pPr>
                      <a:r>
                        <a:rPr lang="en-US" sz="900" dirty="0">
                          <a:solidFill>
                            <a:srgbClr val="2B2B2B"/>
                          </a:solidFill>
                        </a:rPr>
                        <a:t>• [CEO] 인정이자 납부 부담에서 영구 해방 및 합법적 자산 증대</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7</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III. 기업 현황 및 CEO Needs 심층 진단 (1/4)</a:t>
            </a:r>
            <a:endParaRPr lang="en-US" sz="15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가지급금 정리로 세무리스크 해소하기</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7 / 62</a:t>
            </a:r>
            <a:endParaRPr lang="en-US" sz="800" dirty="0"/>
          </a:p>
        </p:txBody>
      </p:sp>
      <p:sp>
        <p:nvSpPr>
          <p:cNvPr id="7" name="Text 5"/>
          <p:cNvSpPr/>
          <p:nvPr/>
        </p:nvSpPr>
        <p:spPr>
          <a:xfrm>
            <a:off x="457200" y="685800"/>
            <a:ext cx="8229600" cy="365760"/>
          </a:xfrm>
          <a:prstGeom prst="rect">
            <a:avLst/>
          </a:prstGeom>
          <a:noFill/>
          <a:ln/>
        </p:spPr>
        <p:txBody>
          <a:bodyPr wrap="square"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1. 재무구조 및 세무 페널티 정밀 분석</a:t>
            </a:r>
            <a:endParaRPr lang="en-US" sz="1400" dirty="0"/>
          </a:p>
        </p:txBody>
      </p:sp>
      <p:sp>
        <p:nvSpPr>
          <p:cNvPr id="8" name="Text 6"/>
          <p:cNvSpPr/>
          <p:nvPr/>
        </p:nvSpPr>
        <p:spPr>
          <a:xfrm>
            <a:off x="457200" y="1143000"/>
            <a:ext cx="8229600" cy="320040"/>
          </a:xfrm>
          <a:prstGeom prst="rect">
            <a:avLst/>
          </a:prstGeom>
          <a:noFill/>
          <a:ln/>
        </p:spPr>
        <p:txBody>
          <a:bodyPr wrap="square" rtlCol="0" anchor="t"/>
          <a:lstStyle/>
          <a:p>
            <a:pPr marL="0" indent="0">
              <a:lnSpc>
                <a:spcPct val="115000"/>
              </a:lnSpc>
              <a:buNone/>
            </a:pPr>
            <a:r>
              <a:rPr lang="en-US" sz="1200" b="1" dirty="0">
                <a:solidFill>
                  <a:srgbClr val="1B2A4A"/>
                </a:solidFill>
                <a:latin typeface="맑은 고딕" pitchFamily="34" charset="0"/>
                <a:ea typeface="맑은 고딕" pitchFamily="34" charset="-122"/>
                <a:cs typeface="맑은 고딕" pitchFamily="34" charset="-120"/>
              </a:rPr>
              <a:t>재무상태표 주요 항목 (2024년 말 기준)</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3133585226"/>
              </p:ext>
            </p:extLst>
          </p:nvPr>
        </p:nvGraphicFramePr>
        <p:xfrm>
          <a:off x="457200" y="1508760"/>
          <a:ext cx="3657600" cy="1600200"/>
        </p:xfrm>
        <a:graphic>
          <a:graphicData uri="http://schemas.openxmlformats.org/drawingml/2006/table">
            <a:tbl>
              <a:tblPr/>
              <a:tblGrid>
                <a:gridCol w="3657600">
                  <a:extLst>
                    <a:ext uri="{9D8B030D-6E8A-4147-A177-3AD203B41FA5}">
                      <a16:colId xmlns:a16="http://schemas.microsoft.com/office/drawing/2014/main" val="20000"/>
                    </a:ext>
                  </a:extLst>
                </a:gridCol>
              </a:tblGrid>
              <a:tr h="320040">
                <a:tc>
                  <a:txBody>
                    <a:bodyPr/>
                    <a:lstStyle/>
                    <a:p>
                      <a:pPr marL="0" indent="0">
                        <a:buNone/>
                      </a:pPr>
                      <a:r>
                        <a:rPr lang="en-US" sz="1000" dirty="0">
                          <a:solidFill>
                            <a:srgbClr val="2B2B2B"/>
                          </a:solidFill>
                        </a:rPr>
                        <a:t>유동자산: 50억 (가지급금: 5억)</a:t>
                      </a:r>
                      <a:endParaRPr lang="en-US" sz="10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20040">
                <a:tc>
                  <a:txBody>
                    <a:bodyPr/>
                    <a:lstStyle/>
                    <a:p>
                      <a:pPr marL="0" indent="0">
                        <a:buNone/>
                      </a:pPr>
                      <a:r>
                        <a:rPr lang="en-US" sz="1000" dirty="0">
                          <a:solidFill>
                            <a:srgbClr val="2B2B2B"/>
                          </a:solidFill>
                        </a:rPr>
                        <a:t>비유동자산: 30억</a:t>
                      </a:r>
                      <a:endParaRPr lang="en-US" sz="10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1"/>
                  </a:ext>
                </a:extLst>
              </a:tr>
              <a:tr h="320040">
                <a:tc>
                  <a:txBody>
                    <a:bodyPr/>
                    <a:lstStyle/>
                    <a:p>
                      <a:pPr marL="0" indent="0">
                        <a:buNone/>
                      </a:pPr>
                      <a:r>
                        <a:rPr lang="en-US" sz="1000" b="1" dirty="0">
                          <a:solidFill>
                            <a:srgbClr val="2B2B2B"/>
                          </a:solidFill>
                        </a:rPr>
                        <a:t>총자산: 80억</a:t>
                      </a:r>
                      <a:endParaRPr lang="en-US" sz="10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0040">
                <a:tc>
                  <a:txBody>
                    <a:bodyPr/>
                    <a:lstStyle/>
                    <a:p>
                      <a:pPr marL="0" indent="0">
                        <a:buNone/>
                      </a:pPr>
                      <a:r>
                        <a:rPr lang="en-US" sz="1000" dirty="0">
                          <a:solidFill>
                            <a:srgbClr val="2B2B2B"/>
                          </a:solidFill>
                        </a:rPr>
                        <a:t>부채총계: 40억 (차입금 25억)</a:t>
                      </a:r>
                      <a:endParaRPr lang="en-US" sz="10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3"/>
                  </a:ext>
                </a:extLst>
              </a:tr>
              <a:tr h="320040">
                <a:tc>
                  <a:txBody>
                    <a:bodyPr/>
                    <a:lstStyle/>
                    <a:p>
                      <a:pPr marL="0" indent="0">
                        <a:buNone/>
                      </a:pPr>
                      <a:r>
                        <a:rPr lang="en-US" sz="1000" dirty="0">
                          <a:solidFill>
                            <a:srgbClr val="2B2B2B"/>
                          </a:solidFill>
                        </a:rPr>
                        <a:t>자본총계: 40억</a:t>
                      </a:r>
                      <a:endParaRPr lang="en-US" sz="10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0" name="Text 7"/>
          <p:cNvSpPr/>
          <p:nvPr/>
        </p:nvSpPr>
        <p:spPr>
          <a:xfrm>
            <a:off x="4572000" y="1143000"/>
            <a:ext cx="4114800" cy="320040"/>
          </a:xfrm>
          <a:prstGeom prst="rect">
            <a:avLst/>
          </a:prstGeom>
          <a:noFill/>
          <a:ln/>
        </p:spPr>
        <p:txBody>
          <a:bodyPr wrap="square" rtlCol="0" anchor="ctr"/>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손익계산서 주요 항목 (2024년 기준)</a:t>
            </a:r>
            <a:endParaRPr lang="en-US" sz="1200" dirty="0"/>
          </a:p>
        </p:txBody>
      </p:sp>
      <p:graphicFrame>
        <p:nvGraphicFramePr>
          <p:cNvPr id="17" name="Table 1"/>
          <p:cNvGraphicFramePr>
            <a:graphicFrameLocks noGrp="1"/>
          </p:cNvGraphicFramePr>
          <p:nvPr>
            <p:extLst>
              <p:ext uri="{D42A27DB-BD31-4B8C-83A1-F6EECF244321}">
                <p14:modId xmlns:p14="http://schemas.microsoft.com/office/powerpoint/2010/main" val="1360442056"/>
              </p:ext>
            </p:extLst>
          </p:nvPr>
        </p:nvGraphicFramePr>
        <p:xfrm>
          <a:off x="4572000" y="1508760"/>
          <a:ext cx="4114800" cy="1280160"/>
        </p:xfrm>
        <a:graphic>
          <a:graphicData uri="http://schemas.openxmlformats.org/drawingml/2006/table">
            <a:tbl>
              <a:tblPr/>
              <a:tblGrid>
                <a:gridCol w="4114800">
                  <a:extLst>
                    <a:ext uri="{9D8B030D-6E8A-4147-A177-3AD203B41FA5}">
                      <a16:colId xmlns:a16="http://schemas.microsoft.com/office/drawing/2014/main" val="20000"/>
                    </a:ext>
                  </a:extLst>
                </a:gridCol>
              </a:tblGrid>
              <a:tr h="320040">
                <a:tc>
                  <a:txBody>
                    <a:bodyPr/>
                    <a:lstStyle/>
                    <a:p>
                      <a:pPr marL="0" indent="0">
                        <a:buNone/>
                      </a:pPr>
                      <a:r>
                        <a:rPr lang="en-US" sz="1000" dirty="0">
                          <a:solidFill>
                            <a:srgbClr val="2B2B2B"/>
                          </a:solidFill>
                        </a:rPr>
                        <a:t>매출액: 150억</a:t>
                      </a:r>
                      <a:endParaRPr lang="en-US" sz="10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20040">
                <a:tc>
                  <a:txBody>
                    <a:bodyPr/>
                    <a:lstStyle/>
                    <a:p>
                      <a:pPr marL="0" indent="0">
                        <a:buNone/>
                      </a:pPr>
                      <a:r>
                        <a:rPr lang="en-US" sz="1000" dirty="0">
                          <a:solidFill>
                            <a:srgbClr val="2B2B2B"/>
                          </a:solidFill>
                        </a:rPr>
                        <a:t>영업이익: 12억</a:t>
                      </a:r>
                      <a:endParaRPr lang="en-US" sz="10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1"/>
                  </a:ext>
                </a:extLst>
              </a:tr>
              <a:tr h="320040">
                <a:tc>
                  <a:txBody>
                    <a:bodyPr/>
                    <a:lstStyle/>
                    <a:p>
                      <a:pPr marL="0" indent="0">
                        <a:buNone/>
                      </a:pPr>
                      <a:r>
                        <a:rPr lang="en-US" sz="1000" dirty="0">
                          <a:solidFill>
                            <a:srgbClr val="2B2B2B"/>
                          </a:solidFill>
                        </a:rPr>
                        <a:t>당기순이익: 8억</a:t>
                      </a:r>
                      <a:endParaRPr lang="en-US" sz="10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0040">
                <a:tc>
                  <a:txBody>
                    <a:bodyPr/>
                    <a:lstStyle/>
                    <a:p>
                      <a:pPr marL="0" indent="0">
                        <a:buNone/>
                      </a:pPr>
                      <a:r>
                        <a:rPr lang="en-US" sz="1000" dirty="0">
                          <a:solidFill>
                            <a:srgbClr val="2B2B2B"/>
                          </a:solidFill>
                        </a:rPr>
                        <a:t>이자비용: 1.25억 (이자율 5% 가정)</a:t>
                      </a:r>
                      <a:endParaRPr lang="en-US" sz="10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8</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III. 기업 현황 및 CEO Needs 심층 진단 (2/4)</a:t>
            </a:r>
            <a:endParaRPr lang="en-US" sz="15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가지급금 정리로 세무리스크 해소하기</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8 / 62</a:t>
            </a:r>
            <a:endParaRPr lang="en-US" sz="800" dirty="0"/>
          </a:p>
        </p:txBody>
      </p:sp>
      <p:sp>
        <p:nvSpPr>
          <p:cNvPr id="7" name="Text 5"/>
          <p:cNvSpPr/>
          <p:nvPr/>
        </p:nvSpPr>
        <p:spPr>
          <a:xfrm>
            <a:off x="457200" y="685800"/>
            <a:ext cx="8229600" cy="320040"/>
          </a:xfrm>
          <a:prstGeom prst="rect">
            <a:avLst/>
          </a:prstGeom>
          <a:noFill/>
          <a:ln/>
        </p:spPr>
        <p:txBody>
          <a:bodyPr wrap="square" rtlCol="0" anchor="t"/>
          <a:lstStyle/>
          <a:p>
            <a:pPr marL="0" indent="0">
              <a:lnSpc>
                <a:spcPct val="115000"/>
              </a:lnSpc>
              <a:buNone/>
            </a:pPr>
            <a:r>
              <a:rPr lang="en-US" sz="1200" b="1" dirty="0">
                <a:solidFill>
                  <a:srgbClr val="D4382C"/>
                </a:solidFill>
                <a:latin typeface="맑은 고딕" pitchFamily="34" charset="0"/>
                <a:ea typeface="맑은 고딕" pitchFamily="34" charset="-122"/>
                <a:cs typeface="맑은 고딕" pitchFamily="34" charset="-120"/>
              </a:rPr>
              <a:t>[가지급금 발생 세무 페널티 분석 (2025년 기준)]</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742718760"/>
              </p:ext>
            </p:extLst>
          </p:nvPr>
        </p:nvGraphicFramePr>
        <p:xfrm>
          <a:off x="457200" y="1051560"/>
          <a:ext cx="8229600" cy="2103120"/>
        </p:xfrm>
        <a:graphic>
          <a:graphicData uri="http://schemas.openxmlformats.org/drawingml/2006/table">
            <a:tbl>
              <a:tblPr/>
              <a:tblGrid>
                <a:gridCol w="22860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320040">
                <a:tc>
                  <a:txBody>
                    <a:bodyPr/>
                    <a:lstStyle/>
                    <a:p>
                      <a:pPr marL="0" indent="0" algn="ctr">
                        <a:buNone/>
                      </a:pPr>
                      <a:r>
                        <a:rPr lang="en-US" sz="900" b="1" dirty="0">
                          <a:solidFill>
                            <a:srgbClr val="FFFFFF"/>
                          </a:solidFill>
                        </a:rPr>
                        <a:t>구분</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991B1B"/>
                    </a:solidFill>
                  </a:tcPr>
                </a:tc>
                <a:tc>
                  <a:txBody>
                    <a:bodyPr/>
                    <a:lstStyle/>
                    <a:p>
                      <a:pPr marL="0" indent="0" algn="ctr">
                        <a:buNone/>
                      </a:pPr>
                      <a:r>
                        <a:rPr lang="en-US" sz="900" b="1" dirty="0">
                          <a:solidFill>
                            <a:srgbClr val="FFFFFF"/>
                          </a:solidFill>
                        </a:rPr>
                        <a:t>계산 (단순화 예시)</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991B1B"/>
                    </a:solidFill>
                  </a:tcPr>
                </a:tc>
                <a:tc>
                  <a:txBody>
                    <a:bodyPr/>
                    <a:lstStyle/>
                    <a:p>
                      <a:pPr marL="0" indent="0" algn="ctr">
                        <a:buNone/>
                      </a:pPr>
                      <a:r>
                        <a:rPr lang="en-US" sz="900" b="1" dirty="0">
                          <a:solidFill>
                            <a:srgbClr val="FFFFFF"/>
                          </a:solidFill>
                        </a:rPr>
                        <a:t>연간 손실액</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991B1B"/>
                    </a:solidFill>
                  </a:tcPr>
                </a:tc>
                <a:extLst>
                  <a:ext uri="{0D108BD9-81ED-4DB2-BD59-A6C34878D82A}">
                    <a16:rowId xmlns:a16="http://schemas.microsoft.com/office/drawing/2014/main" val="10000"/>
                  </a:ext>
                </a:extLst>
              </a:tr>
              <a:tr h="502920">
                <a:tc>
                  <a:txBody>
                    <a:bodyPr/>
                    <a:lstStyle/>
                    <a:p>
                      <a:pPr marL="0" indent="0" algn="ctr">
                        <a:buNone/>
                      </a:pPr>
                      <a:r>
                        <a:rPr lang="en-US" sz="900" b="1" dirty="0">
                          <a:solidFill>
                            <a:srgbClr val="2B2B2B"/>
                          </a:solidFill>
                        </a:rPr>
                        <a:t>인정이자 (익금산입)</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2B2B2B"/>
                          </a:solidFill>
                        </a:rPr>
                        <a:t>5억원 × 5.2% (가정) = 2,600만원</a:t>
                      </a:r>
                      <a:endParaRPr lang="en-US" sz="900" dirty="0"/>
                    </a:p>
                    <a:p>
                      <a:pPr marL="0" indent="0">
                        <a:buNone/>
                      </a:pPr>
                      <a:r>
                        <a:rPr lang="en-US" sz="900" dirty="0">
                          <a:solidFill>
                            <a:srgbClr val="2B2B2B"/>
                          </a:solidFill>
                        </a:rPr>
                        <a:t>2,600만원 × 19% (법인세율)</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2B2B2B"/>
                          </a:solidFill>
                        </a:rPr>
                        <a:t>약 494만원</a:t>
                      </a:r>
                      <a:endParaRPr lang="en-US" sz="900" dirty="0"/>
                    </a:p>
                    <a:p>
                      <a:pPr marL="0" indent="0" algn="ctr">
                        <a:buNone/>
                      </a:pPr>
                      <a:r>
                        <a:rPr lang="en-US" sz="900" b="1" dirty="0">
                          <a:solidFill>
                            <a:srgbClr val="2B2B2B"/>
                          </a:solidFill>
                        </a:rPr>
                        <a:t>(법인세)</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lgn="ctr">
                        <a:buNone/>
                      </a:pPr>
                      <a:r>
                        <a:rPr lang="en-US" sz="900" b="1" dirty="0">
                          <a:solidFill>
                            <a:srgbClr val="2B2B2B"/>
                          </a:solidFill>
                        </a:rPr>
                        <a:t>지급이자 손금불산입</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buNone/>
                      </a:pPr>
                      <a:r>
                        <a:rPr lang="en-US" sz="900" dirty="0">
                          <a:solidFill>
                            <a:srgbClr val="2B2B2B"/>
                          </a:solidFill>
                        </a:rPr>
                        <a:t>1.25억원(지급이자) × (5억원/25억원) = 2,500만원</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900" b="1" dirty="0">
                          <a:solidFill>
                            <a:srgbClr val="2B2B2B"/>
                          </a:solidFill>
                        </a:rPr>
                        <a:t>약 475만원</a:t>
                      </a:r>
                      <a:endParaRPr lang="en-US" sz="900" dirty="0"/>
                    </a:p>
                    <a:p>
                      <a:pPr marL="0" indent="0" algn="ctr">
                        <a:buNone/>
                      </a:pPr>
                      <a:r>
                        <a:rPr lang="en-US" sz="900" b="1" dirty="0">
                          <a:solidFill>
                            <a:srgbClr val="2B2B2B"/>
                          </a:solidFill>
                        </a:rPr>
                        <a:t>(법인세)</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502920">
                <a:tc>
                  <a:txBody>
                    <a:bodyPr/>
                    <a:lstStyle/>
                    <a:p>
                      <a:pPr marL="0" indent="0" algn="ctr">
                        <a:buNone/>
                      </a:pPr>
                      <a:r>
                        <a:rPr lang="en-US" sz="900" b="1" dirty="0">
                          <a:solidFill>
                            <a:srgbClr val="2B2B2B"/>
                          </a:solidFill>
                        </a:rPr>
                        <a:t>CEO 개인부담</a:t>
                      </a:r>
                      <a:endParaRPr lang="en-US" sz="900" dirty="0"/>
                    </a:p>
                    <a:p>
                      <a:pPr marL="0" indent="0" algn="ctr">
                        <a:buNone/>
                      </a:pPr>
                      <a:r>
                        <a:rPr lang="en-US" sz="900" b="1" dirty="0">
                          <a:solidFill>
                            <a:srgbClr val="2B2B2B"/>
                          </a:solidFill>
                        </a:rPr>
                        <a:t>(인정이자 미납 시)</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2B2B2B"/>
                          </a:solidFill>
                        </a:rPr>
                        <a:t>2,600만원 상여 처분 시 (소득세율 35% 구간 가정)</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2B2B2B"/>
                          </a:solidFill>
                        </a:rPr>
                        <a:t>약 1,287만원</a:t>
                      </a:r>
                      <a:endParaRPr lang="en-US" sz="900" dirty="0"/>
                    </a:p>
                    <a:p>
                      <a:pPr marL="0" indent="0" algn="ctr">
                        <a:buNone/>
                      </a:pPr>
                      <a:r>
                        <a:rPr lang="en-US" sz="900" b="1" dirty="0">
                          <a:solidFill>
                            <a:srgbClr val="2B2B2B"/>
                          </a:solidFill>
                        </a:rPr>
                        <a:t>(소득세+건보료 등)</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ctr">
                        <a:buNone/>
                      </a:pPr>
                      <a:r>
                        <a:rPr lang="en-US" sz="1000" b="1" dirty="0">
                          <a:solidFill>
                            <a:srgbClr val="991B1B"/>
                          </a:solidFill>
                        </a:rPr>
                        <a:t>연간 총 세금효과</a:t>
                      </a:r>
                      <a:endParaRPr lang="en-US" sz="10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E2E2"/>
                    </a:solidFill>
                  </a:tcPr>
                </a:tc>
                <a:tc>
                  <a:txBody>
                    <a:bodyPr/>
                    <a:lstStyle/>
                    <a:p>
                      <a:pPr marL="0" indent="0" algn="ctr">
                        <a:buNone/>
                      </a:pPr>
                      <a:endParaRPr lang="en-US" sz="12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E2E2"/>
                    </a:solidFill>
                  </a:tcPr>
                </a:tc>
                <a:tc>
                  <a:txBody>
                    <a:bodyPr/>
                    <a:lstStyle/>
                    <a:p>
                      <a:pPr marL="0" indent="0" algn="ctr">
                        <a:buNone/>
                      </a:pPr>
                      <a:r>
                        <a:rPr lang="en-US" sz="1100" b="1" dirty="0">
                          <a:solidFill>
                            <a:srgbClr val="991B1B"/>
                          </a:solidFill>
                        </a:rPr>
                        <a:t>약 2,256만원</a:t>
                      </a:r>
                      <a:endParaRPr lang="en-US" sz="11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E2E2"/>
                    </a:solidFill>
                  </a:tcPr>
                </a:tc>
                <a:extLst>
                  <a:ext uri="{0D108BD9-81ED-4DB2-BD59-A6C34878D82A}">
                    <a16:rowId xmlns:a16="http://schemas.microsoft.com/office/drawing/2014/main" val="10004"/>
                  </a:ext>
                </a:extLst>
              </a:tr>
            </a:tbl>
          </a:graphicData>
        </a:graphic>
      </p:graphicFrame>
      <p:sp>
        <p:nvSpPr>
          <p:cNvPr id="9" name="Text 6"/>
          <p:cNvSpPr/>
          <p:nvPr/>
        </p:nvSpPr>
        <p:spPr>
          <a:xfrm>
            <a:off x="457200" y="3429000"/>
            <a:ext cx="8229600" cy="457200"/>
          </a:xfrm>
          <a:prstGeom prst="rect">
            <a:avLst/>
          </a:prstGeom>
          <a:noFill/>
          <a:ln/>
        </p:spPr>
        <p:txBody>
          <a:bodyPr wrap="square" rtlCol="0" anchor="t"/>
          <a:lstStyle/>
          <a:p>
            <a:pPr marL="0" indent="0">
              <a:lnSpc>
                <a:spcPct val="115000"/>
              </a:lnSpc>
              <a:buNone/>
            </a:pPr>
            <a:r>
              <a:rPr lang="en-US" sz="800" dirty="0">
                <a:solidFill>
                  <a:srgbClr val="4A5568"/>
                </a:solidFill>
                <a:latin typeface="맑은 고딕" pitchFamily="34" charset="0"/>
                <a:ea typeface="맑은 고딕" pitchFamily="34" charset="-122"/>
                <a:cs typeface="맑은 고딕" pitchFamily="34" charset="-120"/>
              </a:rPr>
              <a:t>*주석: ① 위 표의 '약 2,256만원'은 법인과 개인에게 발생하는 총 세금효과 합계 예시이며, 회사의 현금기준 총부담은 법인세 증가분(약 970만원)과 인정이자 현금유출분(2,600만원)을 합한 약 3,570만원입니다.</a:t>
            </a:r>
            <a:endParaRPr lang="en-US" sz="800" dirty="0"/>
          </a:p>
        </p:txBody>
      </p:sp>
      <p:sp>
        <p:nvSpPr>
          <p:cNvPr id="8" name="Text 7"/>
          <p:cNvSpPr/>
          <p:nvPr/>
        </p:nvSpPr>
        <p:spPr>
          <a:xfrm>
            <a:off x="457200" y="3931920"/>
            <a:ext cx="8229600" cy="548640"/>
          </a:xfrm>
          <a:prstGeom prst="rect">
            <a:avLst/>
          </a:prstGeom>
          <a:noFill/>
          <a:ln/>
        </p:spPr>
        <p:txBody>
          <a:bodyPr wrap="square" rtlCol="0" anchor="t"/>
          <a:lstStyle/>
          <a:p>
            <a:pPr marL="0" indent="0">
              <a:lnSpc>
                <a:spcPct val="115000"/>
              </a:lnSpc>
              <a:buNone/>
            </a:pPr>
            <a:r>
              <a:rPr lang="en-US" sz="800" dirty="0">
                <a:solidFill>
                  <a:srgbClr val="4A5568"/>
                </a:solidFill>
                <a:latin typeface="맑은 고딕" pitchFamily="34" charset="0"/>
                <a:ea typeface="맑은 고딕" pitchFamily="34" charset="-122"/>
                <a:cs typeface="맑은 고딕" pitchFamily="34" charset="-120"/>
              </a:rPr>
              <a:t>② 지급이자 손금불산입은 업무무관자산 등 '평균잔액'/차입금 '평균잔액'을 기준으로 산정하는 것이 원칙입니다(법인세법 §28). ③ 인정이자율은 가중평균차입이자율 우선, 산정곤란 시 당좌대출이자율 사용 (2025년 5.2%). ④ 소득세율 35%는 과세표준 8,800만~1.5억원 구간 가정.</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9</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III. 기업 현황 및 CEO Needs 심층 진단 (3/4)</a:t>
            </a:r>
            <a:endParaRPr lang="en-US" sz="15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가지급금 정리로 세무리스크 해소하기</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9 / 62</a:t>
            </a:r>
            <a:endParaRPr lang="en-US" sz="800" dirty="0"/>
          </a:p>
        </p:txBody>
      </p:sp>
      <p:sp>
        <p:nvSpPr>
          <p:cNvPr id="7" name="Text 5"/>
          <p:cNvSpPr/>
          <p:nvPr/>
        </p:nvSpPr>
        <p:spPr>
          <a:xfrm>
            <a:off x="457200" y="685800"/>
            <a:ext cx="8229600" cy="365760"/>
          </a:xfrm>
          <a:prstGeom prst="rect">
            <a:avLst/>
          </a:prstGeom>
          <a:noFill/>
          <a:ln/>
        </p:spPr>
        <p:txBody>
          <a:bodyPr wrap="square"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2. CEO Needs &amp; Pain Point</a:t>
            </a:r>
            <a:endParaRPr lang="en-US" sz="1400" dirty="0"/>
          </a:p>
        </p:txBody>
      </p:sp>
      <p:sp>
        <p:nvSpPr>
          <p:cNvPr id="8" name="Text 6"/>
          <p:cNvSpPr/>
          <p:nvPr/>
        </p:nvSpPr>
        <p:spPr>
          <a:xfrm>
            <a:off x="457200" y="1143000"/>
            <a:ext cx="8229600" cy="365760"/>
          </a:xfrm>
          <a:prstGeom prst="rect">
            <a:avLst/>
          </a:prstGeom>
          <a:noFill/>
          <a:ln/>
        </p:spPr>
        <p:txBody>
          <a:bodyPr wrap="square" rtlCol="0" anchor="t"/>
          <a:lstStyle/>
          <a:p>
            <a:pPr marL="0" indent="0">
              <a:lnSpc>
                <a:spcPct val="115000"/>
              </a:lnSpc>
              <a:buNone/>
            </a:pPr>
            <a:r>
              <a:rPr lang="en-US" sz="1100" b="1" dirty="0">
                <a:solidFill>
                  <a:srgbClr val="2B2B2B"/>
                </a:solidFill>
                <a:latin typeface="맑은 고딕" pitchFamily="34" charset="0"/>
                <a:ea typeface="맑은 고딕" pitchFamily="34" charset="-122"/>
                <a:cs typeface="맑은 고딕" pitchFamily="34" charset="-120"/>
              </a:rPr>
              <a:t>Needs: 65세 안정적인 은퇴, 성공적인 가업 승계, 3년 내 매출 300억 달성 및 코스닥 상장 준비.</a:t>
            </a:r>
            <a:endParaRPr lang="en-US" sz="1100" dirty="0"/>
          </a:p>
        </p:txBody>
      </p:sp>
      <p:sp>
        <p:nvSpPr>
          <p:cNvPr id="9" name="Text 7"/>
          <p:cNvSpPr/>
          <p:nvPr/>
        </p:nvSpPr>
        <p:spPr>
          <a:xfrm>
            <a:off x="457200" y="1645920"/>
            <a:ext cx="8229600" cy="228600"/>
          </a:xfrm>
          <a:prstGeom prst="rect">
            <a:avLst/>
          </a:prstGeom>
          <a:noFill/>
          <a:ln/>
        </p:spPr>
        <p:txBody>
          <a:bodyPr wrap="square" rtlCol="0" anchor="t"/>
          <a:lstStyle/>
          <a:p>
            <a:pPr marL="0" indent="0">
              <a:lnSpc>
                <a:spcPct val="115000"/>
              </a:lnSpc>
              <a:buNone/>
            </a:pPr>
            <a:r>
              <a:rPr lang="en-US" sz="1100" b="1" dirty="0">
                <a:solidFill>
                  <a:srgbClr val="2B2B2B"/>
                </a:solidFill>
                <a:latin typeface="맑은 고딕" pitchFamily="34" charset="0"/>
                <a:ea typeface="맑은 고딕" pitchFamily="34" charset="-122"/>
                <a:cs typeface="맑은 고딕" pitchFamily="34" charset="-120"/>
              </a:rPr>
              <a:t>Pain Point:</a:t>
            </a:r>
            <a:endParaRPr lang="en-US" sz="1100" dirty="0"/>
          </a:p>
        </p:txBody>
      </p:sp>
      <p:sp>
        <p:nvSpPr>
          <p:cNvPr id="10" name="Shape 8"/>
          <p:cNvSpPr/>
          <p:nvPr/>
        </p:nvSpPr>
        <p:spPr>
          <a:xfrm>
            <a:off x="457200" y="1920240"/>
            <a:ext cx="3931920" cy="1280160"/>
          </a:xfrm>
          <a:prstGeom prst="rect">
            <a:avLst/>
          </a:prstGeom>
          <a:solidFill>
            <a:srgbClr val="F7F8FA"/>
          </a:solidFill>
          <a:ln w="12700">
            <a:solidFill>
              <a:srgbClr val="E2E8F0"/>
            </a:solidFill>
            <a:prstDash val="solid"/>
          </a:ln>
        </p:spPr>
        <p:txBody>
          <a:bodyPr/>
          <a:lstStyle/>
          <a:p>
            <a:endParaRPr lang="ko-KR" altLang="en-US"/>
          </a:p>
        </p:txBody>
      </p:sp>
      <p:sp>
        <p:nvSpPr>
          <p:cNvPr id="11" name="Text 9"/>
          <p:cNvSpPr/>
          <p:nvPr/>
        </p:nvSpPr>
        <p:spPr>
          <a:xfrm>
            <a:off x="640080" y="2139696"/>
            <a:ext cx="3657600" cy="22860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세무 리스크</a:t>
            </a:r>
            <a:endParaRPr lang="en-US" sz="1100" dirty="0"/>
          </a:p>
        </p:txBody>
      </p:sp>
      <p:sp>
        <p:nvSpPr>
          <p:cNvPr id="12" name="Text 10"/>
          <p:cNvSpPr/>
          <p:nvPr/>
        </p:nvSpPr>
        <p:spPr>
          <a:xfrm>
            <a:off x="640080" y="2414016"/>
            <a:ext cx="3566160" cy="868680"/>
          </a:xfrm>
          <a:prstGeom prst="rect">
            <a:avLst/>
          </a:prstGeom>
          <a:noFill/>
          <a:ln/>
        </p:spPr>
        <p:txBody>
          <a:bodyPr wrap="square" rtlCol="0" anchor="t"/>
          <a:lstStyle/>
          <a:p>
            <a:pPr marL="0" indent="0">
              <a:buNone/>
            </a:pPr>
            <a:r>
              <a:rPr lang="en-US" sz="1000" i="1" dirty="0">
                <a:solidFill>
                  <a:srgbClr val="4A5568"/>
                </a:solidFill>
                <a:latin typeface="맑은 고딕" pitchFamily="34" charset="0"/>
                <a:ea typeface="맑은 고딕" pitchFamily="34" charset="-122"/>
                <a:cs typeface="맑은 고딕" pitchFamily="34" charset="-120"/>
              </a:rPr>
              <a:t>"누적된 가지급금으로 인해 세무사와 은행으로부터 지속적인 해결 압박을 받고 있으며, 세무조사에 대한 불안감을 느낌."</a:t>
            </a:r>
            <a:endParaRPr lang="en-US" sz="1000" dirty="0"/>
          </a:p>
        </p:txBody>
      </p:sp>
      <p:sp>
        <p:nvSpPr>
          <p:cNvPr id="13" name="Shape 11"/>
          <p:cNvSpPr/>
          <p:nvPr/>
        </p:nvSpPr>
        <p:spPr>
          <a:xfrm>
            <a:off x="4754880" y="1920240"/>
            <a:ext cx="3931920" cy="1280160"/>
          </a:xfrm>
          <a:prstGeom prst="rect">
            <a:avLst/>
          </a:prstGeom>
          <a:solidFill>
            <a:srgbClr val="F7F8FA"/>
          </a:solidFill>
          <a:ln w="12700">
            <a:solidFill>
              <a:srgbClr val="E2E8F0"/>
            </a:solidFill>
            <a:prstDash val="solid"/>
          </a:ln>
        </p:spPr>
        <p:txBody>
          <a:bodyPr/>
          <a:lstStyle/>
          <a:p>
            <a:endParaRPr lang="ko-KR" altLang="en-US"/>
          </a:p>
        </p:txBody>
      </p:sp>
      <p:sp>
        <p:nvSpPr>
          <p:cNvPr id="14" name="Text 12"/>
          <p:cNvSpPr/>
          <p:nvPr/>
        </p:nvSpPr>
        <p:spPr>
          <a:xfrm>
            <a:off x="4937760" y="2139696"/>
            <a:ext cx="3657600" cy="22860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자산 형성</a:t>
            </a:r>
            <a:endParaRPr lang="en-US" sz="1100" dirty="0"/>
          </a:p>
        </p:txBody>
      </p:sp>
      <p:sp>
        <p:nvSpPr>
          <p:cNvPr id="15" name="Text 13"/>
          <p:cNvSpPr/>
          <p:nvPr/>
        </p:nvSpPr>
        <p:spPr>
          <a:xfrm>
            <a:off x="4937760" y="2414016"/>
            <a:ext cx="3566160" cy="868680"/>
          </a:xfrm>
          <a:prstGeom prst="rect">
            <a:avLst/>
          </a:prstGeom>
          <a:noFill/>
          <a:ln/>
        </p:spPr>
        <p:txBody>
          <a:bodyPr wrap="square" rtlCol="0" anchor="t"/>
          <a:lstStyle/>
          <a:p>
            <a:pPr marL="0" indent="0">
              <a:buNone/>
            </a:pPr>
            <a:r>
              <a:rPr lang="en-US" sz="1000" i="1" dirty="0">
                <a:solidFill>
                  <a:srgbClr val="4A5568"/>
                </a:solidFill>
                <a:latin typeface="맑은 고딕" pitchFamily="34" charset="0"/>
                <a:ea typeface="맑은 고딕" pitchFamily="34" charset="-122"/>
                <a:cs typeface="맑은 고딕" pitchFamily="34" charset="-120"/>
              </a:rPr>
              <a:t>"회사는 성장하지만, CEO 개인의 자산은 비상장주식에 묶여 있어 합법적인 자산 이전 방법을 찾지 못하고 있음."</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10</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III. 기업 현황 및 CEO Needs 심층 진단 (4/4)</a:t>
            </a:r>
            <a:endParaRPr lang="en-US" sz="15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가지급금 정리로 세무리스크 해소하기</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10 / 62</a:t>
            </a:r>
            <a:endParaRPr lang="en-US" sz="800" dirty="0"/>
          </a:p>
        </p:txBody>
      </p:sp>
      <p:sp>
        <p:nvSpPr>
          <p:cNvPr id="7" name="Text 5"/>
          <p:cNvSpPr/>
          <p:nvPr/>
        </p:nvSpPr>
        <p:spPr>
          <a:xfrm>
            <a:off x="457200" y="685800"/>
            <a:ext cx="8229600" cy="365760"/>
          </a:xfrm>
          <a:prstGeom prst="rect">
            <a:avLst/>
          </a:prstGeom>
          <a:noFill/>
          <a:ln/>
        </p:spPr>
        <p:txBody>
          <a:bodyPr wrap="square"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3. 동종업계 가지급금 현황 분석 (벤치마킹)</a:t>
            </a:r>
            <a:endParaRPr lang="en-US" sz="1400" dirty="0"/>
          </a:p>
        </p:txBody>
      </p:sp>
      <p:sp>
        <p:nvSpPr>
          <p:cNvPr id="8" name="Text 6"/>
          <p:cNvSpPr/>
          <p:nvPr/>
        </p:nvSpPr>
        <p:spPr>
          <a:xfrm>
            <a:off x="457200" y="1143000"/>
            <a:ext cx="1645920" cy="365760"/>
          </a:xfrm>
          <a:prstGeom prst="rect">
            <a:avLst/>
          </a:prstGeom>
          <a:noFill/>
          <a:ln/>
        </p:spPr>
        <p:txBody>
          <a:bodyPr wrap="square" rtlCol="0" anchor="ctr"/>
          <a:lstStyle/>
          <a:p>
            <a:pPr marL="0" indent="0" algn="r">
              <a:buNone/>
            </a:pPr>
            <a:r>
              <a:rPr lang="en-US" sz="1000" dirty="0">
                <a:solidFill>
                  <a:srgbClr val="4A5568"/>
                </a:solidFill>
                <a:latin typeface="맑은 고딕" pitchFamily="34" charset="0"/>
                <a:ea typeface="맑은 고딕" pitchFamily="34" charset="-122"/>
                <a:cs typeface="맑은 고딕" pitchFamily="34" charset="-120"/>
              </a:rPr>
              <a:t>제조업 평균</a:t>
            </a:r>
            <a:endParaRPr lang="en-US" sz="1000" dirty="0"/>
          </a:p>
        </p:txBody>
      </p:sp>
      <p:sp>
        <p:nvSpPr>
          <p:cNvPr id="9" name="Shape 7"/>
          <p:cNvSpPr/>
          <p:nvPr/>
        </p:nvSpPr>
        <p:spPr>
          <a:xfrm>
            <a:off x="2286000" y="1216152"/>
            <a:ext cx="5029200" cy="256032"/>
          </a:xfrm>
          <a:prstGeom prst="rect">
            <a:avLst/>
          </a:prstGeom>
          <a:solidFill>
            <a:srgbClr val="E2E8F0"/>
          </a:solidFill>
          <a:ln/>
        </p:spPr>
        <p:txBody>
          <a:bodyPr/>
          <a:lstStyle/>
          <a:p>
            <a:endParaRPr lang="ko-KR" altLang="en-US"/>
          </a:p>
        </p:txBody>
      </p:sp>
      <p:sp>
        <p:nvSpPr>
          <p:cNvPr id="10" name="Shape 8"/>
          <p:cNvSpPr/>
          <p:nvPr/>
        </p:nvSpPr>
        <p:spPr>
          <a:xfrm>
            <a:off x="2286000" y="1216152"/>
            <a:ext cx="1408176" cy="256032"/>
          </a:xfrm>
          <a:prstGeom prst="rect">
            <a:avLst/>
          </a:prstGeom>
          <a:solidFill>
            <a:srgbClr val="3B82F6"/>
          </a:solidFill>
          <a:ln/>
        </p:spPr>
        <p:txBody>
          <a:bodyPr/>
          <a:lstStyle/>
          <a:p>
            <a:endParaRPr lang="ko-KR" altLang="en-US"/>
          </a:p>
        </p:txBody>
      </p:sp>
      <p:sp>
        <p:nvSpPr>
          <p:cNvPr id="11" name="Text 9"/>
          <p:cNvSpPr/>
          <p:nvPr/>
        </p:nvSpPr>
        <p:spPr>
          <a:xfrm>
            <a:off x="7498080" y="1143000"/>
            <a:ext cx="914400" cy="365760"/>
          </a:xfrm>
          <a:prstGeom prst="rect">
            <a:avLst/>
          </a:prstGeom>
          <a:noFill/>
          <a:ln/>
        </p:spPr>
        <p:txBody>
          <a:bodyPr wrap="square" rtlCol="0" anchor="ctr"/>
          <a:lstStyle/>
          <a:p>
            <a:pPr marL="0" indent="0">
              <a:buNone/>
            </a:pPr>
            <a:r>
              <a:rPr lang="en-US" sz="1200" b="1" dirty="0">
                <a:solidFill>
                  <a:srgbClr val="3B82F6"/>
                </a:solidFill>
                <a:latin typeface="Georgia" pitchFamily="34" charset="0"/>
                <a:ea typeface="Georgia" pitchFamily="34" charset="-122"/>
                <a:cs typeface="Georgia" pitchFamily="34" charset="-120"/>
              </a:rPr>
              <a:t>2.8%</a:t>
            </a:r>
            <a:endParaRPr lang="en-US" sz="1200" dirty="0"/>
          </a:p>
        </p:txBody>
      </p:sp>
      <p:sp>
        <p:nvSpPr>
          <p:cNvPr id="12" name="Text 10"/>
          <p:cNvSpPr/>
          <p:nvPr/>
        </p:nvSpPr>
        <p:spPr>
          <a:xfrm>
            <a:off x="457200" y="1737360"/>
            <a:ext cx="1645920" cy="365760"/>
          </a:xfrm>
          <a:prstGeom prst="rect">
            <a:avLst/>
          </a:prstGeom>
          <a:noFill/>
          <a:ln/>
        </p:spPr>
        <p:txBody>
          <a:bodyPr wrap="square" rtlCol="0" anchor="ctr"/>
          <a:lstStyle/>
          <a:p>
            <a:pPr marL="0" indent="0" algn="r">
              <a:buNone/>
            </a:pPr>
            <a:r>
              <a:rPr lang="en-US" sz="1000" dirty="0">
                <a:solidFill>
                  <a:srgbClr val="4A5568"/>
                </a:solidFill>
                <a:latin typeface="맑은 고딕" pitchFamily="34" charset="0"/>
                <a:ea typeface="맑은 고딕" pitchFamily="34" charset="-122"/>
                <a:cs typeface="맑은 고딕" pitchFamily="34" charset="-120"/>
              </a:rPr>
              <a:t>중견기업 평균</a:t>
            </a:r>
            <a:endParaRPr lang="en-US" sz="1000" dirty="0"/>
          </a:p>
        </p:txBody>
      </p:sp>
      <p:sp>
        <p:nvSpPr>
          <p:cNvPr id="13" name="Shape 11"/>
          <p:cNvSpPr/>
          <p:nvPr/>
        </p:nvSpPr>
        <p:spPr>
          <a:xfrm>
            <a:off x="2286000" y="1810512"/>
            <a:ext cx="5029200" cy="256032"/>
          </a:xfrm>
          <a:prstGeom prst="rect">
            <a:avLst/>
          </a:prstGeom>
          <a:solidFill>
            <a:srgbClr val="E2E8F0"/>
          </a:solidFill>
          <a:ln/>
        </p:spPr>
        <p:txBody>
          <a:bodyPr/>
          <a:lstStyle/>
          <a:p>
            <a:endParaRPr lang="ko-KR" altLang="en-US"/>
          </a:p>
        </p:txBody>
      </p:sp>
      <p:sp>
        <p:nvSpPr>
          <p:cNvPr id="14" name="Shape 12"/>
          <p:cNvSpPr/>
          <p:nvPr/>
        </p:nvSpPr>
        <p:spPr>
          <a:xfrm>
            <a:off x="2286000" y="1810512"/>
            <a:ext cx="1760220" cy="256032"/>
          </a:xfrm>
          <a:prstGeom prst="rect">
            <a:avLst/>
          </a:prstGeom>
          <a:solidFill>
            <a:srgbClr val="F59E0B"/>
          </a:solidFill>
          <a:ln/>
        </p:spPr>
        <p:txBody>
          <a:bodyPr/>
          <a:lstStyle/>
          <a:p>
            <a:endParaRPr lang="ko-KR" altLang="en-US"/>
          </a:p>
        </p:txBody>
      </p:sp>
      <p:sp>
        <p:nvSpPr>
          <p:cNvPr id="15" name="Text 13"/>
          <p:cNvSpPr/>
          <p:nvPr/>
        </p:nvSpPr>
        <p:spPr>
          <a:xfrm>
            <a:off x="7498080" y="1737360"/>
            <a:ext cx="914400" cy="365760"/>
          </a:xfrm>
          <a:prstGeom prst="rect">
            <a:avLst/>
          </a:prstGeom>
          <a:noFill/>
          <a:ln/>
        </p:spPr>
        <p:txBody>
          <a:bodyPr wrap="square" rtlCol="0" anchor="ctr"/>
          <a:lstStyle/>
          <a:p>
            <a:pPr marL="0" indent="0">
              <a:buNone/>
            </a:pPr>
            <a:r>
              <a:rPr lang="en-US" sz="1200" b="1" dirty="0">
                <a:solidFill>
                  <a:srgbClr val="F59E0B"/>
                </a:solidFill>
                <a:latin typeface="Georgia" pitchFamily="34" charset="0"/>
                <a:ea typeface="Georgia" pitchFamily="34" charset="-122"/>
                <a:cs typeface="Georgia" pitchFamily="34" charset="-120"/>
              </a:rPr>
              <a:t>3.5%</a:t>
            </a:r>
            <a:endParaRPr lang="en-US" sz="1200" dirty="0"/>
          </a:p>
        </p:txBody>
      </p:sp>
      <p:sp>
        <p:nvSpPr>
          <p:cNvPr id="16" name="Text 14"/>
          <p:cNvSpPr/>
          <p:nvPr/>
        </p:nvSpPr>
        <p:spPr>
          <a:xfrm>
            <a:off x="457200" y="2331720"/>
            <a:ext cx="1645920" cy="365760"/>
          </a:xfrm>
          <a:prstGeom prst="rect">
            <a:avLst/>
          </a:prstGeom>
          <a:noFill/>
          <a:ln/>
        </p:spPr>
        <p:txBody>
          <a:bodyPr wrap="square" rtlCol="0" anchor="ctr"/>
          <a:lstStyle/>
          <a:p>
            <a:pPr marL="0" indent="0" algn="r">
              <a:buNone/>
            </a:pPr>
            <a:r>
              <a:rPr lang="en-US" sz="1000" b="1" dirty="0">
                <a:solidFill>
                  <a:srgbClr val="D4382C"/>
                </a:solidFill>
                <a:latin typeface="맑은 고딕" pitchFamily="34" charset="0"/>
                <a:ea typeface="맑은 고딕" pitchFamily="34" charset="-122"/>
                <a:cs typeface="맑은 고딕" pitchFamily="34" charset="-120"/>
              </a:rPr>
              <a:t>(주)아성정밀 현재</a:t>
            </a:r>
            <a:endParaRPr lang="en-US" sz="1000" dirty="0"/>
          </a:p>
        </p:txBody>
      </p:sp>
      <p:sp>
        <p:nvSpPr>
          <p:cNvPr id="17" name="Shape 15"/>
          <p:cNvSpPr/>
          <p:nvPr/>
        </p:nvSpPr>
        <p:spPr>
          <a:xfrm>
            <a:off x="2286000" y="2404872"/>
            <a:ext cx="5029200" cy="256032"/>
          </a:xfrm>
          <a:prstGeom prst="rect">
            <a:avLst/>
          </a:prstGeom>
          <a:solidFill>
            <a:srgbClr val="E2E8F0"/>
          </a:solidFill>
          <a:ln/>
        </p:spPr>
        <p:txBody>
          <a:bodyPr/>
          <a:lstStyle/>
          <a:p>
            <a:endParaRPr lang="ko-KR" altLang="en-US"/>
          </a:p>
        </p:txBody>
      </p:sp>
      <p:sp>
        <p:nvSpPr>
          <p:cNvPr id="18" name="Shape 16"/>
          <p:cNvSpPr/>
          <p:nvPr/>
        </p:nvSpPr>
        <p:spPr>
          <a:xfrm>
            <a:off x="2286000" y="2404872"/>
            <a:ext cx="3118104" cy="256032"/>
          </a:xfrm>
          <a:prstGeom prst="rect">
            <a:avLst/>
          </a:prstGeom>
          <a:solidFill>
            <a:srgbClr val="EF4444"/>
          </a:solidFill>
          <a:ln/>
        </p:spPr>
        <p:txBody>
          <a:bodyPr/>
          <a:lstStyle/>
          <a:p>
            <a:endParaRPr lang="ko-KR" altLang="en-US"/>
          </a:p>
        </p:txBody>
      </p:sp>
      <p:sp>
        <p:nvSpPr>
          <p:cNvPr id="19" name="Text 17"/>
          <p:cNvSpPr/>
          <p:nvPr/>
        </p:nvSpPr>
        <p:spPr>
          <a:xfrm>
            <a:off x="7498080" y="2331720"/>
            <a:ext cx="914400" cy="365760"/>
          </a:xfrm>
          <a:prstGeom prst="rect">
            <a:avLst/>
          </a:prstGeom>
          <a:noFill/>
          <a:ln/>
        </p:spPr>
        <p:txBody>
          <a:bodyPr wrap="square" rtlCol="0" anchor="ctr"/>
          <a:lstStyle/>
          <a:p>
            <a:pPr marL="0" indent="0">
              <a:buNone/>
            </a:pPr>
            <a:r>
              <a:rPr lang="en-US" sz="1200" b="1" dirty="0">
                <a:solidFill>
                  <a:srgbClr val="D4382C"/>
                </a:solidFill>
                <a:latin typeface="Georgia" pitchFamily="34" charset="0"/>
                <a:ea typeface="Georgia" pitchFamily="34" charset="-122"/>
                <a:cs typeface="Georgia" pitchFamily="34" charset="-120"/>
              </a:rPr>
              <a:t>6.25%</a:t>
            </a:r>
            <a:endParaRPr lang="en-US" sz="1200" dirty="0"/>
          </a:p>
        </p:txBody>
      </p:sp>
      <p:sp>
        <p:nvSpPr>
          <p:cNvPr id="20" name="Text 18"/>
          <p:cNvSpPr/>
          <p:nvPr/>
        </p:nvSpPr>
        <p:spPr>
          <a:xfrm>
            <a:off x="457200" y="3154680"/>
            <a:ext cx="8229600" cy="320040"/>
          </a:xfrm>
          <a:prstGeom prst="rect">
            <a:avLst/>
          </a:prstGeom>
          <a:noFill/>
          <a:ln/>
        </p:spPr>
        <p:txBody>
          <a:bodyPr wrap="square" rtlCol="0" anchor="t"/>
          <a:lstStyle/>
          <a:p>
            <a:pPr marL="0" indent="0">
              <a:lnSpc>
                <a:spcPct val="115000"/>
              </a:lnSpc>
              <a:buNone/>
            </a:pPr>
            <a:r>
              <a:rPr lang="en-US" sz="1100" b="1" dirty="0">
                <a:solidFill>
                  <a:srgbClr val="2B2B2B"/>
                </a:solidFill>
                <a:latin typeface="맑은 고딕" pitchFamily="34" charset="0"/>
                <a:ea typeface="맑은 고딕" pitchFamily="34" charset="-122"/>
                <a:cs typeface="맑은 고딕" pitchFamily="34" charset="-120"/>
              </a:rPr>
              <a:t>전략 목표: 1차적으로 업계 평균 수준(약 2.5억) 달성을 넘어, 완전 해소(0원)를 목표로 설정.</a:t>
            </a:r>
            <a:endParaRPr lang="en-US" sz="1100" dirty="0"/>
          </a:p>
        </p:txBody>
      </p:sp>
      <p:sp>
        <p:nvSpPr>
          <p:cNvPr id="21" name="Text 19"/>
          <p:cNvSpPr/>
          <p:nvPr/>
        </p:nvSpPr>
        <p:spPr>
          <a:xfrm>
            <a:off x="457200" y="3520440"/>
            <a:ext cx="8229600" cy="320040"/>
          </a:xfrm>
          <a:prstGeom prst="rect">
            <a:avLst/>
          </a:prstGeom>
          <a:noFill/>
          <a:ln/>
        </p:spPr>
        <p:txBody>
          <a:bodyPr wrap="square" rtlCol="0" anchor="t"/>
          <a:lstStyle/>
          <a:p>
            <a:pPr marL="0" indent="0">
              <a:lnSpc>
                <a:spcPct val="115000"/>
              </a:lnSpc>
              <a:buNone/>
            </a:pPr>
            <a:r>
              <a:rPr lang="en-US" sz="800" dirty="0">
                <a:solidFill>
                  <a:srgbClr val="4A5568"/>
                </a:solidFill>
                <a:latin typeface="맑은 고딕" pitchFamily="34" charset="0"/>
                <a:ea typeface="맑은 고딕" pitchFamily="34" charset="-122"/>
                <a:cs typeface="맑은 고딕" pitchFamily="34" charset="-120"/>
              </a:rPr>
              <a:t>※ 주의: 상기 수치는 공신력 있는 공식 통계가 아닌, 최근 유사 제조업 표본·실무 경험을 종합한 내부 추정치입니다.</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11</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IV. 핵심 리스크 진단 및 전략과제 (1/3)</a:t>
            </a:r>
            <a:endParaRPr lang="en-US" sz="15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가지급금 정리로 세무리스크 해소하기</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11 / 62</a:t>
            </a:r>
            <a:endParaRPr lang="en-US" sz="800" dirty="0"/>
          </a:p>
        </p:txBody>
      </p:sp>
      <p:sp>
        <p:nvSpPr>
          <p:cNvPr id="7" name="Text 5"/>
          <p:cNvSpPr/>
          <p:nvPr/>
        </p:nvSpPr>
        <p:spPr>
          <a:xfrm>
            <a:off x="457200" y="685800"/>
            <a:ext cx="8229600" cy="365760"/>
          </a:xfrm>
          <a:prstGeom prst="rect">
            <a:avLst/>
          </a:prstGeom>
          <a:noFill/>
          <a:ln/>
        </p:spPr>
        <p:txBody>
          <a:bodyPr wrap="square"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1. 재무구조 리스크: 가지급금은 '재무적 암덩어리'</a:t>
            </a:r>
            <a:endParaRPr lang="en-US" sz="1400" dirty="0"/>
          </a:p>
        </p:txBody>
      </p:sp>
      <p:sp>
        <p:nvSpPr>
          <p:cNvPr id="8" name="Shape 6"/>
          <p:cNvSpPr/>
          <p:nvPr/>
        </p:nvSpPr>
        <p:spPr>
          <a:xfrm>
            <a:off x="457200" y="1143000"/>
            <a:ext cx="8229600" cy="548640"/>
          </a:xfrm>
          <a:prstGeom prst="rect">
            <a:avLst/>
          </a:prstGeom>
          <a:solidFill>
            <a:srgbClr val="FEF2F2"/>
          </a:solidFill>
          <a:ln w="12700">
            <a:solidFill>
              <a:srgbClr val="D4382C"/>
            </a:solidFill>
            <a:prstDash val="solid"/>
          </a:ln>
        </p:spPr>
        <p:txBody>
          <a:bodyPr/>
          <a:lstStyle/>
          <a:p>
            <a:endParaRPr lang="ko-KR" altLang="en-US"/>
          </a:p>
        </p:txBody>
      </p:sp>
      <p:sp>
        <p:nvSpPr>
          <p:cNvPr id="9" name="Text 7"/>
          <p:cNvSpPr/>
          <p:nvPr/>
        </p:nvSpPr>
        <p:spPr>
          <a:xfrm>
            <a:off x="640080" y="1188720"/>
            <a:ext cx="7863840" cy="457200"/>
          </a:xfrm>
          <a:prstGeom prst="rect">
            <a:avLst/>
          </a:prstGeom>
          <a:noFill/>
          <a:ln/>
        </p:spPr>
        <p:txBody>
          <a:bodyPr wrap="square" rtlCol="0" anchor="ctr"/>
          <a:lstStyle/>
          <a:p>
            <a:pPr marL="0" indent="0">
              <a:buNone/>
            </a:pPr>
            <a:r>
              <a:rPr lang="en-US" sz="1000" dirty="0">
                <a:solidFill>
                  <a:srgbClr val="991B1B"/>
                </a:solidFill>
                <a:latin typeface="맑은 고딕" pitchFamily="34" charset="0"/>
                <a:ea typeface="맑은 고딕" pitchFamily="34" charset="-122"/>
                <a:cs typeface="맑은 고딕" pitchFamily="34" charset="-120"/>
              </a:rPr>
              <a:t>문제의 본질: 회계상 자산이지만, 세법상 '업무무관 대여금'으로 간주되어 심각한 페널티를 유발하는 재무적 암덩어리(Financial Cancer). 시간이 지날수록 전이되어 기업 전체를 위협합니다.</a:t>
            </a:r>
            <a:endParaRPr lang="en-US" sz="1000" dirty="0"/>
          </a:p>
        </p:txBody>
      </p:sp>
      <p:sp>
        <p:nvSpPr>
          <p:cNvPr id="10" name="Shape 8"/>
          <p:cNvSpPr/>
          <p:nvPr/>
        </p:nvSpPr>
        <p:spPr>
          <a:xfrm>
            <a:off x="457200" y="1874520"/>
            <a:ext cx="8229600" cy="640080"/>
          </a:xfrm>
          <a:prstGeom prst="rect">
            <a:avLst/>
          </a:prstGeom>
          <a:solidFill>
            <a:srgbClr val="F7F8FA"/>
          </a:solidFill>
          <a:ln w="12700">
            <a:solidFill>
              <a:srgbClr val="E2E8F0"/>
            </a:solidFill>
            <a:prstDash val="solid"/>
          </a:ln>
          <a:effectLst>
            <a:outerShdw blurRad="50800" dist="25400" dir="8100000" algn="bl" rotWithShape="0">
              <a:srgbClr val="000000">
                <a:alpha val="10000"/>
              </a:srgbClr>
            </a:outerShdw>
          </a:effectLst>
        </p:spPr>
        <p:txBody>
          <a:bodyPr/>
          <a:lstStyle/>
          <a:p>
            <a:endParaRPr lang="ko-KR" altLang="en-US"/>
          </a:p>
        </p:txBody>
      </p:sp>
      <p:sp>
        <p:nvSpPr>
          <p:cNvPr id="11" name="Shape 9"/>
          <p:cNvSpPr/>
          <p:nvPr/>
        </p:nvSpPr>
        <p:spPr>
          <a:xfrm>
            <a:off x="457200" y="1874520"/>
            <a:ext cx="54864" cy="640080"/>
          </a:xfrm>
          <a:prstGeom prst="rect">
            <a:avLst/>
          </a:prstGeom>
          <a:solidFill>
            <a:srgbClr val="D4382C"/>
          </a:solidFill>
          <a:ln/>
        </p:spPr>
        <p:txBody>
          <a:bodyPr/>
          <a:lstStyle/>
          <a:p>
            <a:endParaRPr lang="ko-KR" altLang="en-US"/>
          </a:p>
        </p:txBody>
      </p:sp>
      <p:sp>
        <p:nvSpPr>
          <p:cNvPr id="12" name="Text 10"/>
          <p:cNvSpPr/>
          <p:nvPr/>
        </p:nvSpPr>
        <p:spPr>
          <a:xfrm>
            <a:off x="640080" y="1947672"/>
            <a:ext cx="7863840" cy="27432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인정이자 발생</a:t>
            </a:r>
            <a:endParaRPr lang="en-US" sz="1100" dirty="0"/>
          </a:p>
        </p:txBody>
      </p:sp>
      <p:sp>
        <p:nvSpPr>
          <p:cNvPr id="13" name="Text 11"/>
          <p:cNvSpPr/>
          <p:nvPr/>
        </p:nvSpPr>
        <p:spPr>
          <a:xfrm>
            <a:off x="640080" y="2221992"/>
            <a:ext cx="7863840" cy="219456"/>
          </a:xfrm>
          <a:prstGeom prst="rect">
            <a:avLst/>
          </a:prstGeom>
          <a:noFill/>
          <a:ln/>
        </p:spPr>
        <p:txBody>
          <a:bodyPr wrap="square" rtlCol="0" anchor="t"/>
          <a:lstStyle/>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특수관계인에 대한 무상·저리 대여 시 법인세법 §52에 따라 시가로 계산한 금액을 익금산입 (2025년 고시 이율 5.2% 가정)</a:t>
            </a:r>
            <a:endParaRPr lang="en-US" sz="1000" dirty="0"/>
          </a:p>
        </p:txBody>
      </p:sp>
      <p:sp>
        <p:nvSpPr>
          <p:cNvPr id="14" name="Shape 12"/>
          <p:cNvSpPr/>
          <p:nvPr/>
        </p:nvSpPr>
        <p:spPr>
          <a:xfrm>
            <a:off x="457200" y="2651760"/>
            <a:ext cx="8229600" cy="640080"/>
          </a:xfrm>
          <a:prstGeom prst="rect">
            <a:avLst/>
          </a:prstGeom>
          <a:solidFill>
            <a:srgbClr val="F7F8FA"/>
          </a:solidFill>
          <a:ln w="12700">
            <a:solidFill>
              <a:srgbClr val="E2E8F0"/>
            </a:solidFill>
            <a:prstDash val="solid"/>
          </a:ln>
          <a:effectLst>
            <a:outerShdw blurRad="50800" dist="25400" dir="8100000" algn="bl" rotWithShape="0">
              <a:srgbClr val="000000">
                <a:alpha val="10000"/>
              </a:srgbClr>
            </a:outerShdw>
          </a:effectLst>
        </p:spPr>
        <p:txBody>
          <a:bodyPr/>
          <a:lstStyle/>
          <a:p>
            <a:endParaRPr lang="ko-KR" altLang="en-US"/>
          </a:p>
        </p:txBody>
      </p:sp>
      <p:sp>
        <p:nvSpPr>
          <p:cNvPr id="15" name="Shape 13"/>
          <p:cNvSpPr/>
          <p:nvPr/>
        </p:nvSpPr>
        <p:spPr>
          <a:xfrm>
            <a:off x="457200" y="2651760"/>
            <a:ext cx="54864" cy="640080"/>
          </a:xfrm>
          <a:prstGeom prst="rect">
            <a:avLst/>
          </a:prstGeom>
          <a:solidFill>
            <a:srgbClr val="D4382C"/>
          </a:solidFill>
          <a:ln/>
        </p:spPr>
        <p:txBody>
          <a:bodyPr/>
          <a:lstStyle/>
          <a:p>
            <a:endParaRPr lang="ko-KR" altLang="en-US"/>
          </a:p>
        </p:txBody>
      </p:sp>
      <p:sp>
        <p:nvSpPr>
          <p:cNvPr id="16" name="Text 14"/>
          <p:cNvSpPr/>
          <p:nvPr/>
        </p:nvSpPr>
        <p:spPr>
          <a:xfrm>
            <a:off x="640080" y="2724912"/>
            <a:ext cx="7863840" cy="27432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지급이자 손금불산입</a:t>
            </a:r>
            <a:endParaRPr lang="en-US" sz="1100" dirty="0"/>
          </a:p>
        </p:txBody>
      </p:sp>
      <p:sp>
        <p:nvSpPr>
          <p:cNvPr id="17" name="Text 15"/>
          <p:cNvSpPr/>
          <p:nvPr/>
        </p:nvSpPr>
        <p:spPr>
          <a:xfrm>
            <a:off x="640080" y="2999232"/>
            <a:ext cx="7863840" cy="219456"/>
          </a:xfrm>
          <a:prstGeom prst="rect">
            <a:avLst/>
          </a:prstGeom>
          <a:noFill/>
          <a:ln/>
        </p:spPr>
        <p:txBody>
          <a:bodyPr wrap="square" rtlCol="0" anchor="t"/>
          <a:lstStyle/>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법인이 차입금에 대해 지급하는 이자 중 가지급금 비율만큼 비용으로 인정 불가 (법인세법 §28)</a:t>
            </a:r>
            <a:endParaRPr lang="en-US" sz="1000" dirty="0"/>
          </a:p>
        </p:txBody>
      </p:sp>
      <p:sp>
        <p:nvSpPr>
          <p:cNvPr id="18" name="Shape 16"/>
          <p:cNvSpPr/>
          <p:nvPr/>
        </p:nvSpPr>
        <p:spPr>
          <a:xfrm>
            <a:off x="457200" y="3429000"/>
            <a:ext cx="8229600" cy="640080"/>
          </a:xfrm>
          <a:prstGeom prst="rect">
            <a:avLst/>
          </a:prstGeom>
          <a:solidFill>
            <a:srgbClr val="F7F8FA"/>
          </a:solidFill>
          <a:ln w="12700">
            <a:solidFill>
              <a:srgbClr val="E2E8F0"/>
            </a:solidFill>
            <a:prstDash val="solid"/>
          </a:ln>
          <a:effectLst>
            <a:outerShdw blurRad="50800" dist="25400" dir="8100000" algn="bl" rotWithShape="0">
              <a:srgbClr val="000000">
                <a:alpha val="10000"/>
              </a:srgbClr>
            </a:outerShdw>
          </a:effectLst>
        </p:spPr>
        <p:txBody>
          <a:bodyPr/>
          <a:lstStyle/>
          <a:p>
            <a:endParaRPr lang="ko-KR" altLang="en-US"/>
          </a:p>
        </p:txBody>
      </p:sp>
      <p:sp>
        <p:nvSpPr>
          <p:cNvPr id="19" name="Shape 17"/>
          <p:cNvSpPr/>
          <p:nvPr/>
        </p:nvSpPr>
        <p:spPr>
          <a:xfrm>
            <a:off x="457200" y="3429000"/>
            <a:ext cx="54864" cy="640080"/>
          </a:xfrm>
          <a:prstGeom prst="rect">
            <a:avLst/>
          </a:prstGeom>
          <a:solidFill>
            <a:srgbClr val="D4382C"/>
          </a:solidFill>
          <a:ln/>
        </p:spPr>
        <p:txBody>
          <a:bodyPr/>
          <a:lstStyle/>
          <a:p>
            <a:endParaRPr lang="ko-KR" altLang="en-US"/>
          </a:p>
        </p:txBody>
      </p:sp>
      <p:sp>
        <p:nvSpPr>
          <p:cNvPr id="20" name="Text 18"/>
          <p:cNvSpPr/>
          <p:nvPr/>
        </p:nvSpPr>
        <p:spPr>
          <a:xfrm>
            <a:off x="640080" y="3502152"/>
            <a:ext cx="7863840" cy="27432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대손 처리 곤란</a:t>
            </a:r>
            <a:endParaRPr lang="en-US" sz="1100" dirty="0"/>
          </a:p>
        </p:txBody>
      </p:sp>
      <p:sp>
        <p:nvSpPr>
          <p:cNvPr id="21" name="Text 19"/>
          <p:cNvSpPr/>
          <p:nvPr/>
        </p:nvSpPr>
        <p:spPr>
          <a:xfrm>
            <a:off x="640080" y="3776472"/>
            <a:ext cx="7863840" cy="219456"/>
          </a:xfrm>
          <a:prstGeom prst="rect">
            <a:avLst/>
          </a:prstGeom>
          <a:noFill/>
          <a:ln/>
        </p:spPr>
        <p:txBody>
          <a:bodyPr wrap="square" rtlCol="0" anchor="t"/>
          <a:lstStyle/>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특수관계인 업무무관 가지급금은 대손금 산입 불가 (법인세법 시행령 §19의2 ③)</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12</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IV. 핵심 리스크 진단 및 전략과제 (2/3)</a:t>
            </a:r>
            <a:endParaRPr lang="en-US" sz="15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가지급금 정리로 세무리스크 해소하기</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12 / 62</a:t>
            </a:r>
            <a:endParaRPr lang="en-US" sz="800" dirty="0"/>
          </a:p>
        </p:txBody>
      </p:sp>
      <p:sp>
        <p:nvSpPr>
          <p:cNvPr id="7" name="Shape 5"/>
          <p:cNvSpPr/>
          <p:nvPr/>
        </p:nvSpPr>
        <p:spPr>
          <a:xfrm>
            <a:off x="457200" y="685800"/>
            <a:ext cx="8229600" cy="594360"/>
          </a:xfrm>
          <a:prstGeom prst="rect">
            <a:avLst/>
          </a:prstGeom>
          <a:solidFill>
            <a:srgbClr val="F7F8FA"/>
          </a:solidFill>
          <a:ln w="12700">
            <a:solidFill>
              <a:srgbClr val="E2E8F0"/>
            </a:solidFill>
            <a:prstDash val="solid"/>
          </a:ln>
          <a:effectLst>
            <a:outerShdw blurRad="50800" dist="25400" dir="8100000" algn="bl" rotWithShape="0">
              <a:srgbClr val="000000">
                <a:alpha val="10000"/>
              </a:srgbClr>
            </a:outerShdw>
          </a:effectLst>
        </p:spPr>
        <p:txBody>
          <a:bodyPr/>
          <a:lstStyle/>
          <a:p>
            <a:endParaRPr lang="ko-KR" altLang="en-US"/>
          </a:p>
        </p:txBody>
      </p:sp>
      <p:sp>
        <p:nvSpPr>
          <p:cNvPr id="8" name="Shape 6"/>
          <p:cNvSpPr/>
          <p:nvPr/>
        </p:nvSpPr>
        <p:spPr>
          <a:xfrm>
            <a:off x="457200" y="685800"/>
            <a:ext cx="54864" cy="594360"/>
          </a:xfrm>
          <a:prstGeom prst="rect">
            <a:avLst/>
          </a:prstGeom>
          <a:solidFill>
            <a:srgbClr val="D4382C"/>
          </a:solidFill>
          <a:ln/>
        </p:spPr>
        <p:txBody>
          <a:bodyPr/>
          <a:lstStyle/>
          <a:p>
            <a:endParaRPr lang="ko-KR" altLang="en-US"/>
          </a:p>
        </p:txBody>
      </p:sp>
      <p:sp>
        <p:nvSpPr>
          <p:cNvPr id="9" name="Text 7"/>
          <p:cNvSpPr/>
          <p:nvPr/>
        </p:nvSpPr>
        <p:spPr>
          <a:xfrm>
            <a:off x="640080" y="726297"/>
            <a:ext cx="7863840" cy="27432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세무조사 핵심 타겟</a:t>
            </a:r>
            <a:endParaRPr lang="en-US" sz="1100" dirty="0"/>
          </a:p>
        </p:txBody>
      </p:sp>
      <p:sp>
        <p:nvSpPr>
          <p:cNvPr id="10" name="Text 8"/>
          <p:cNvSpPr/>
          <p:nvPr/>
        </p:nvSpPr>
        <p:spPr>
          <a:xfrm>
            <a:off x="640080" y="1000617"/>
            <a:ext cx="7863840" cy="173736"/>
          </a:xfrm>
          <a:prstGeom prst="rect">
            <a:avLst/>
          </a:prstGeom>
          <a:noFill/>
          <a:ln/>
        </p:spPr>
        <p:txBody>
          <a:bodyPr wrap="square" rtlCol="0" anchor="t"/>
          <a:lstStyle/>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비정상적 자금 흐름으로 간주, 세무조사의 제1순위 대상.</a:t>
            </a:r>
            <a:endParaRPr lang="en-US" sz="1000" dirty="0"/>
          </a:p>
        </p:txBody>
      </p:sp>
      <p:sp>
        <p:nvSpPr>
          <p:cNvPr id="11" name="Shape 9"/>
          <p:cNvSpPr/>
          <p:nvPr/>
        </p:nvSpPr>
        <p:spPr>
          <a:xfrm>
            <a:off x="457200" y="1417320"/>
            <a:ext cx="8229600" cy="594360"/>
          </a:xfrm>
          <a:prstGeom prst="rect">
            <a:avLst/>
          </a:prstGeom>
          <a:solidFill>
            <a:srgbClr val="F7F8FA"/>
          </a:solidFill>
          <a:ln w="12700">
            <a:solidFill>
              <a:srgbClr val="E2E8F0"/>
            </a:solidFill>
            <a:prstDash val="solid"/>
          </a:ln>
          <a:effectLst>
            <a:outerShdw blurRad="50800" dist="25400" dir="8100000" algn="bl" rotWithShape="0">
              <a:srgbClr val="000000">
                <a:alpha val="10000"/>
              </a:srgbClr>
            </a:outerShdw>
          </a:effectLst>
        </p:spPr>
        <p:txBody>
          <a:bodyPr/>
          <a:lstStyle/>
          <a:p>
            <a:endParaRPr lang="ko-KR" altLang="en-US"/>
          </a:p>
        </p:txBody>
      </p:sp>
      <p:sp>
        <p:nvSpPr>
          <p:cNvPr id="12" name="Shape 10"/>
          <p:cNvSpPr/>
          <p:nvPr/>
        </p:nvSpPr>
        <p:spPr>
          <a:xfrm>
            <a:off x="457200" y="1417320"/>
            <a:ext cx="54864" cy="594360"/>
          </a:xfrm>
          <a:prstGeom prst="rect">
            <a:avLst/>
          </a:prstGeom>
          <a:solidFill>
            <a:srgbClr val="D4382C"/>
          </a:solidFill>
          <a:ln/>
        </p:spPr>
        <p:txBody>
          <a:bodyPr/>
          <a:lstStyle/>
          <a:p>
            <a:endParaRPr lang="ko-KR" altLang="en-US"/>
          </a:p>
        </p:txBody>
      </p:sp>
      <p:sp>
        <p:nvSpPr>
          <p:cNvPr id="13" name="Text 11"/>
          <p:cNvSpPr/>
          <p:nvPr/>
        </p:nvSpPr>
        <p:spPr>
          <a:xfrm>
            <a:off x="640080" y="1457817"/>
            <a:ext cx="7863840" cy="27432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상속/증여 시 가치 평가</a:t>
            </a:r>
            <a:endParaRPr lang="en-US" sz="1100" dirty="0"/>
          </a:p>
        </p:txBody>
      </p:sp>
      <p:sp>
        <p:nvSpPr>
          <p:cNvPr id="14" name="Text 12"/>
          <p:cNvSpPr/>
          <p:nvPr/>
        </p:nvSpPr>
        <p:spPr>
          <a:xfrm>
            <a:off x="640080" y="1732137"/>
            <a:ext cx="7863840" cy="173736"/>
          </a:xfrm>
          <a:prstGeom prst="rect">
            <a:avLst/>
          </a:prstGeom>
          <a:noFill/>
          <a:ln/>
        </p:spPr>
        <p:txBody>
          <a:bodyPr wrap="square" rtlCol="0" anchor="t"/>
          <a:lstStyle/>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기업가치 평가에 포함되어 불필요한 세금 증가.</a:t>
            </a:r>
            <a:endParaRPr lang="en-US" sz="1000" dirty="0"/>
          </a:p>
        </p:txBody>
      </p:sp>
      <p:sp>
        <p:nvSpPr>
          <p:cNvPr id="15" name="Text 13"/>
          <p:cNvSpPr/>
          <p:nvPr/>
        </p:nvSpPr>
        <p:spPr>
          <a:xfrm>
            <a:off x="457200" y="2331720"/>
            <a:ext cx="8229600" cy="365760"/>
          </a:xfrm>
          <a:prstGeom prst="rect">
            <a:avLst/>
          </a:prstGeom>
          <a:noFill/>
          <a:ln/>
        </p:spPr>
        <p:txBody>
          <a:bodyPr wrap="square"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2. 리스크 우선순위 매트릭스</a:t>
            </a:r>
            <a:endParaRPr lang="en-US" sz="1400" dirty="0"/>
          </a:p>
        </p:txBody>
      </p:sp>
      <p:graphicFrame>
        <p:nvGraphicFramePr>
          <p:cNvPr id="16" name="Table 0"/>
          <p:cNvGraphicFramePr>
            <a:graphicFrameLocks noGrp="1"/>
          </p:cNvGraphicFramePr>
          <p:nvPr>
            <p:extLst>
              <p:ext uri="{D42A27DB-BD31-4B8C-83A1-F6EECF244321}">
                <p14:modId xmlns:p14="http://schemas.microsoft.com/office/powerpoint/2010/main" val="3081920495"/>
              </p:ext>
            </p:extLst>
          </p:nvPr>
        </p:nvGraphicFramePr>
        <p:xfrm>
          <a:off x="457200" y="2788920"/>
          <a:ext cx="8229600" cy="1389888"/>
        </p:xfrm>
        <a:graphic>
          <a:graphicData uri="http://schemas.openxmlformats.org/drawingml/2006/table">
            <a:tbl>
              <a:tblPr/>
              <a:tblGrid>
                <a:gridCol w="13716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347472">
                <a:tc>
                  <a:txBody>
                    <a:bodyPr/>
                    <a:lstStyle/>
                    <a:p>
                      <a:pPr marL="0" indent="0" algn="ctr">
                        <a:buNone/>
                      </a:pPr>
                      <a:r>
                        <a:rPr lang="en-US" sz="900" b="1" dirty="0">
                          <a:solidFill>
                            <a:srgbClr val="FFFFFF"/>
                          </a:solidFill>
                        </a:rPr>
                        <a:t>위험 등급</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rPr>
                        <a:t>대응 시급성</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rPr>
                        <a:t>예상 손실 (가정치)</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rPr>
                        <a:t>핵심 대응방안</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47472">
                <a:tc>
                  <a:txBody>
                    <a:bodyPr/>
                    <a:lstStyle/>
                    <a:p>
                      <a:pPr marL="0" indent="0" algn="ctr">
                        <a:buNone/>
                      </a:pPr>
                      <a:r>
                        <a:rPr lang="en-US" sz="900" b="1" dirty="0">
                          <a:solidFill>
                            <a:srgbClr val="D4382C"/>
                          </a:solidFill>
                        </a:rPr>
                        <a:t>Critical</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rPr>
                        <a:t>즉시 (1개월 내)</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D4382C"/>
                          </a:solidFill>
                        </a:rPr>
                        <a:t>2.1억원+</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rPr>
                        <a:t>Step 2 특허권 자본화</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lgn="ctr">
                        <a:buNone/>
                      </a:pPr>
                      <a:r>
                        <a:rPr lang="en-US" sz="900" b="1" dirty="0">
                          <a:solidFill>
                            <a:srgbClr val="D4882C"/>
                          </a:solidFill>
                        </a:rPr>
                        <a:t>High</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900" dirty="0">
                          <a:solidFill>
                            <a:srgbClr val="2B2B2B"/>
                          </a:solidFill>
                        </a:rPr>
                        <a:t>긴급 (3개월 내)</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900" b="1" dirty="0">
                          <a:solidFill>
                            <a:srgbClr val="D4882C"/>
                          </a:solidFill>
                        </a:rPr>
                        <a:t>연 3,570만원</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900" dirty="0">
                          <a:solidFill>
                            <a:srgbClr val="2B2B2B"/>
                          </a:solidFill>
                        </a:rPr>
                        <a:t>Step 1 보수 현실화</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347472">
                <a:tc>
                  <a:txBody>
                    <a:bodyPr/>
                    <a:lstStyle/>
                    <a:p>
                      <a:pPr marL="0" indent="0" algn="ctr">
                        <a:buNone/>
                      </a:pPr>
                      <a:r>
                        <a:rPr lang="en-US" sz="900" b="1" dirty="0">
                          <a:solidFill>
                            <a:srgbClr val="3B82F6"/>
                          </a:solidFill>
                        </a:rPr>
                        <a:t>Medium</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rPr>
                        <a:t>중요 (6개월 내)</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3B82F6"/>
                          </a:solidFill>
                        </a:rPr>
                        <a:t>연 1,000만원대</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rPr>
                        <a:t>Step 3 브릿지 플랜</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7" name="Text 14"/>
          <p:cNvSpPr/>
          <p:nvPr/>
        </p:nvSpPr>
        <p:spPr>
          <a:xfrm>
            <a:off x="457200" y="4617720"/>
            <a:ext cx="8229600" cy="228600"/>
          </a:xfrm>
          <a:prstGeom prst="rect">
            <a:avLst/>
          </a:prstGeom>
          <a:noFill/>
          <a:ln/>
        </p:spPr>
        <p:txBody>
          <a:bodyPr wrap="square" rtlCol="0" anchor="ctr"/>
          <a:lstStyle/>
          <a:p>
            <a:pPr marL="0" indent="0">
              <a:buNone/>
            </a:pPr>
            <a:r>
              <a:rPr lang="en-US" sz="800" dirty="0">
                <a:solidFill>
                  <a:srgbClr val="4A5568"/>
                </a:solidFill>
                <a:latin typeface="맑은 고딕" pitchFamily="34" charset="0"/>
                <a:ea typeface="맑은 고딕" pitchFamily="34" charset="-122"/>
                <a:cs typeface="맑은 고딕" pitchFamily="34" charset="-120"/>
              </a:rPr>
              <a:t>*주석: 등급 및 금액은 내부 시뮬레이션 가정이며 실제 조사·과세처분에 따라 달라질 수 있습니다.</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13</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V. 맞춤형 솔루션 및 실행 전략 제안 (1/4)</a:t>
            </a:r>
            <a:endParaRPr lang="en-US" sz="15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가지급금 정리로 세무리스크 해소하기</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13 / 62</a:t>
            </a:r>
            <a:endParaRPr lang="en-US" sz="800" dirty="0"/>
          </a:p>
        </p:txBody>
      </p:sp>
      <p:sp>
        <p:nvSpPr>
          <p:cNvPr id="7" name="Shape 5"/>
          <p:cNvSpPr/>
          <p:nvPr/>
        </p:nvSpPr>
        <p:spPr>
          <a:xfrm>
            <a:off x="457200" y="685800"/>
            <a:ext cx="8229600" cy="640080"/>
          </a:xfrm>
          <a:prstGeom prst="rect">
            <a:avLst/>
          </a:prstGeom>
          <a:solidFill>
            <a:srgbClr val="EFF6FF"/>
          </a:solidFill>
          <a:ln w="12700">
            <a:solidFill>
              <a:srgbClr val="3B82F6"/>
            </a:solidFill>
            <a:prstDash val="solid"/>
          </a:ln>
        </p:spPr>
        <p:txBody>
          <a:bodyPr/>
          <a:lstStyle/>
          <a:p>
            <a:endParaRPr lang="ko-KR" altLang="en-US"/>
          </a:p>
        </p:txBody>
      </p:sp>
      <p:sp>
        <p:nvSpPr>
          <p:cNvPr id="8" name="Shape 6"/>
          <p:cNvSpPr/>
          <p:nvPr/>
        </p:nvSpPr>
        <p:spPr>
          <a:xfrm>
            <a:off x="457200" y="685800"/>
            <a:ext cx="45720" cy="640080"/>
          </a:xfrm>
          <a:prstGeom prst="rect">
            <a:avLst/>
          </a:prstGeom>
          <a:solidFill>
            <a:srgbClr val="3B82F6"/>
          </a:solidFill>
          <a:ln/>
        </p:spPr>
        <p:txBody>
          <a:bodyPr/>
          <a:lstStyle/>
          <a:p>
            <a:endParaRPr lang="ko-KR" altLang="en-US"/>
          </a:p>
        </p:txBody>
      </p:sp>
      <p:sp>
        <p:nvSpPr>
          <p:cNvPr id="9" name="Text 7"/>
          <p:cNvSpPr/>
          <p:nvPr/>
        </p:nvSpPr>
        <p:spPr>
          <a:xfrm>
            <a:off x="640080" y="731520"/>
            <a:ext cx="7863840" cy="548640"/>
          </a:xfrm>
          <a:prstGeom prst="rect">
            <a:avLst/>
          </a:prstGeom>
          <a:noFill/>
          <a:ln/>
        </p:spPr>
        <p:txBody>
          <a:bodyPr wrap="square" rtlCol="0" anchor="ctr"/>
          <a:lstStyle/>
          <a:p>
            <a:pPr marL="0" indent="0">
              <a:buNone/>
            </a:pPr>
            <a:r>
              <a:rPr lang="en-US" sz="900" dirty="0">
                <a:solidFill>
                  <a:srgbClr val="1E3A8A"/>
                </a:solidFill>
                <a:latin typeface="맑은 고딕" pitchFamily="34" charset="0"/>
                <a:ea typeface="맑은 고딕" pitchFamily="34" charset="-122"/>
                <a:cs typeface="맑은 고딕" pitchFamily="34" charset="-120"/>
              </a:rPr>
              <a:t>최우선 과제인 가지급금 문제 해결을 위해, 가장 효과적인 Plan A와 실행이 어려울 경우를 대비한 Plan B를 함께 제안합니다.</a:t>
            </a:r>
            <a:endParaRPr lang="en-US" sz="900" dirty="0"/>
          </a:p>
          <a:p>
            <a:pPr marL="0" indent="0">
              <a:buNone/>
            </a:pPr>
            <a:r>
              <a:rPr lang="en-US" sz="900" dirty="0">
                <a:solidFill>
                  <a:srgbClr val="1E3A8A"/>
                </a:solidFill>
                <a:latin typeface="맑은 고딕" pitchFamily="34" charset="0"/>
                <a:ea typeface="맑은 고딕" pitchFamily="34" charset="-122"/>
                <a:cs typeface="맑은 고딕" pitchFamily="34" charset="-120"/>
              </a:rPr>
              <a:t>※ 법인 해결 플랜과 병행하여, CEO의 건강보험료 산정 및 연금(분리·종합) 과세 최적화를 VII. 실행 로드맵 부록에 따라 동시 설계합니다.</a:t>
            </a:r>
            <a:endParaRPr lang="en-US" sz="900" dirty="0"/>
          </a:p>
        </p:txBody>
      </p:sp>
      <p:sp>
        <p:nvSpPr>
          <p:cNvPr id="10" name="Shape 8"/>
          <p:cNvSpPr/>
          <p:nvPr/>
        </p:nvSpPr>
        <p:spPr>
          <a:xfrm>
            <a:off x="457200" y="1508760"/>
            <a:ext cx="8229600" cy="411480"/>
          </a:xfrm>
          <a:prstGeom prst="rect">
            <a:avLst/>
          </a:prstGeom>
          <a:solidFill>
            <a:srgbClr val="1B2A4A"/>
          </a:solidFill>
          <a:ln/>
        </p:spPr>
        <p:txBody>
          <a:bodyPr/>
          <a:lstStyle/>
          <a:p>
            <a:endParaRPr lang="ko-KR" altLang="en-US"/>
          </a:p>
        </p:txBody>
      </p:sp>
      <p:sp>
        <p:nvSpPr>
          <p:cNvPr id="11" name="Text 9"/>
          <p:cNvSpPr/>
          <p:nvPr/>
        </p:nvSpPr>
        <p:spPr>
          <a:xfrm>
            <a:off x="640080" y="1554480"/>
            <a:ext cx="7315200" cy="320040"/>
          </a:xfrm>
          <a:prstGeom prst="rect">
            <a:avLst/>
          </a:prstGeom>
          <a:noFill/>
          <a:ln/>
        </p:spPr>
        <p:txBody>
          <a:bodyPr wrap="square" rtlCol="0" anchor="ctr"/>
          <a:lstStyle/>
          <a:p>
            <a:pPr marL="0" indent="0">
              <a:buNone/>
            </a:pPr>
            <a:r>
              <a:rPr lang="en-US" sz="1400" b="1" dirty="0">
                <a:solidFill>
                  <a:srgbClr val="FFFFFF"/>
                </a:solidFill>
                <a:latin typeface="맑은 고딕" pitchFamily="34" charset="0"/>
                <a:ea typeface="맑은 고딕" pitchFamily="34" charset="-122"/>
                <a:cs typeface="맑은 고딕" pitchFamily="34" charset="-120"/>
              </a:rPr>
              <a:t>Plan A: 3-Step 복합 상환을 통한 1년 내 완전 해소 전략 (권장)</a:t>
            </a:r>
            <a:endParaRPr lang="en-US" sz="1400" dirty="0"/>
          </a:p>
        </p:txBody>
      </p:sp>
      <p:sp>
        <p:nvSpPr>
          <p:cNvPr id="13" name="Shape 11"/>
          <p:cNvSpPr/>
          <p:nvPr/>
        </p:nvSpPr>
        <p:spPr>
          <a:xfrm>
            <a:off x="457200" y="2057400"/>
            <a:ext cx="8229600" cy="822960"/>
          </a:xfrm>
          <a:prstGeom prst="rect">
            <a:avLst/>
          </a:prstGeom>
          <a:solidFill>
            <a:srgbClr val="F7F8FA"/>
          </a:solidFill>
          <a:ln w="12700">
            <a:solidFill>
              <a:srgbClr val="E2E8F0"/>
            </a:solidFill>
            <a:prstDash val="solid"/>
          </a:ln>
          <a:effectLst>
            <a:outerShdw blurRad="50800" dist="25400" dir="8100000" algn="bl" rotWithShape="0">
              <a:srgbClr val="000000">
                <a:alpha val="10000"/>
              </a:srgbClr>
            </a:outerShdw>
          </a:effectLst>
        </p:spPr>
        <p:txBody>
          <a:bodyPr/>
          <a:lstStyle/>
          <a:p>
            <a:endParaRPr lang="ko-KR" altLang="en-US"/>
          </a:p>
        </p:txBody>
      </p:sp>
      <p:sp>
        <p:nvSpPr>
          <p:cNvPr id="14" name="Shape 12"/>
          <p:cNvSpPr/>
          <p:nvPr/>
        </p:nvSpPr>
        <p:spPr>
          <a:xfrm>
            <a:off x="457200" y="2057400"/>
            <a:ext cx="54864" cy="822960"/>
          </a:xfrm>
          <a:prstGeom prst="rect">
            <a:avLst/>
          </a:prstGeom>
          <a:solidFill>
            <a:srgbClr val="C8962E"/>
          </a:solidFill>
          <a:ln/>
        </p:spPr>
        <p:txBody>
          <a:bodyPr/>
          <a:lstStyle/>
          <a:p>
            <a:endParaRPr lang="ko-KR" altLang="en-US"/>
          </a:p>
        </p:txBody>
      </p:sp>
      <p:sp>
        <p:nvSpPr>
          <p:cNvPr id="15" name="Text 13"/>
          <p:cNvSpPr/>
          <p:nvPr/>
        </p:nvSpPr>
        <p:spPr>
          <a:xfrm>
            <a:off x="640080" y="2130552"/>
            <a:ext cx="7863840" cy="27432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Step 1. 임원 보수 규정 정비 및 상여 지급 (상환 목표: 1억 원)</a:t>
            </a:r>
            <a:endParaRPr lang="en-US" sz="1100" dirty="0"/>
          </a:p>
        </p:txBody>
      </p:sp>
      <p:sp>
        <p:nvSpPr>
          <p:cNvPr id="16" name="Text 14"/>
          <p:cNvSpPr/>
          <p:nvPr/>
        </p:nvSpPr>
        <p:spPr>
          <a:xfrm>
            <a:off x="640080" y="2404872"/>
            <a:ext cx="7863840" cy="402336"/>
          </a:xfrm>
          <a:prstGeom prst="rect">
            <a:avLst/>
          </a:prstGeom>
          <a:noFill/>
          <a:ln/>
        </p:spPr>
        <p:txBody>
          <a:bodyPr wrap="square" rtlCol="0" anchor="t"/>
          <a:lstStyle/>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전략: 정관 및 임원 보수 지급 규정을 합리적인 수준으로 개정하고, 2024년 경영 성과에 대한 성과상여금 1.5억 원(세후 약 1억 원)을 지급. 이 자금으로 가지급금 1억 원을 상환.</a:t>
            </a:r>
            <a:endParaRPr lang="en-US" sz="1000" dirty="0"/>
          </a:p>
        </p:txBody>
      </p:sp>
      <p:sp>
        <p:nvSpPr>
          <p:cNvPr id="17" name="Text 15"/>
          <p:cNvSpPr/>
          <p:nvPr/>
        </p:nvSpPr>
        <p:spPr>
          <a:xfrm>
            <a:off x="457200" y="3017520"/>
            <a:ext cx="8229600" cy="457200"/>
          </a:xfrm>
          <a:prstGeom prst="rect">
            <a:avLst/>
          </a:prstGeom>
          <a:noFill/>
          <a:ln/>
        </p:spPr>
        <p:txBody>
          <a:bodyPr wrap="square" rtlCol="0" anchor="t"/>
          <a:lstStyle/>
          <a:p>
            <a:pPr marL="0" indent="0">
              <a:lnSpc>
                <a:spcPct val="115000"/>
              </a:lnSpc>
              <a:buNone/>
            </a:pPr>
            <a:r>
              <a:rPr lang="en-US" sz="900" dirty="0">
                <a:solidFill>
                  <a:srgbClr val="4A5568"/>
                </a:solidFill>
                <a:latin typeface="맑은 고딕" pitchFamily="34" charset="0"/>
                <a:ea typeface="맑은 고딕" pitchFamily="34" charset="-122"/>
                <a:cs typeface="맑은 고딕" pitchFamily="34" charset="-120"/>
              </a:rPr>
              <a:t>회계·세무 처리: (차) 상여금 1.5억 / (대) 예수금·미지급금 → (차) 예수금·미지급금 / (대) 보통예금 → (차) 보통예금 1억 / (대) 가지급금 1억</a:t>
            </a:r>
            <a:endParaRPr lang="en-US" sz="900" dirty="0"/>
          </a:p>
        </p:txBody>
      </p:sp>
      <p:sp>
        <p:nvSpPr>
          <p:cNvPr id="18" name="Text 16"/>
          <p:cNvSpPr/>
          <p:nvPr/>
        </p:nvSpPr>
        <p:spPr>
          <a:xfrm>
            <a:off x="457200" y="3520440"/>
            <a:ext cx="8229600" cy="457200"/>
          </a:xfrm>
          <a:prstGeom prst="rect">
            <a:avLst/>
          </a:prstGeom>
          <a:noFill/>
          <a:ln/>
        </p:spPr>
        <p:txBody>
          <a:bodyPr wrap="square" rtlCol="0" anchor="t"/>
          <a:lstStyle/>
          <a:p>
            <a:pPr marL="0" indent="0">
              <a:lnSpc>
                <a:spcPct val="115000"/>
              </a:lnSpc>
              <a:buNone/>
            </a:pPr>
            <a:r>
              <a:rPr lang="en-US" sz="900" i="1" dirty="0">
                <a:solidFill>
                  <a:srgbClr val="4A5568"/>
                </a:solidFill>
                <a:latin typeface="맑은 고딕" pitchFamily="34" charset="0"/>
                <a:ea typeface="맑은 고딕" pitchFamily="34" charset="-122"/>
                <a:cs typeface="맑은 고딕" pitchFamily="34" charset="-120"/>
              </a:rPr>
              <a:t>주의사항: 동종업계 유사 직위의 임원 보수 수준을 고려하여 '과도하지 않은' 수준으로 보수 규정을 설계해야 하며, 반드시 주주총회/이사회 결의라는 절차적 정당성을 확보해야 합니다.</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14</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V. 맞춤형 솔루션 및 실행 전략 제안 (2/4)</a:t>
            </a:r>
            <a:endParaRPr lang="en-US" sz="15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가지급금 정리로 세무리스크 해소하기</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14 / 62</a:t>
            </a:r>
            <a:endParaRPr lang="en-US" sz="800" dirty="0"/>
          </a:p>
        </p:txBody>
      </p:sp>
      <p:sp>
        <p:nvSpPr>
          <p:cNvPr id="7" name="Shape 5"/>
          <p:cNvSpPr/>
          <p:nvPr/>
        </p:nvSpPr>
        <p:spPr>
          <a:xfrm>
            <a:off x="457200" y="685800"/>
            <a:ext cx="8229600" cy="1005840"/>
          </a:xfrm>
          <a:prstGeom prst="rect">
            <a:avLst/>
          </a:prstGeom>
          <a:solidFill>
            <a:srgbClr val="F7F8FA"/>
          </a:solidFill>
          <a:ln w="12700">
            <a:solidFill>
              <a:srgbClr val="E2E8F0"/>
            </a:solidFill>
            <a:prstDash val="solid"/>
          </a:ln>
          <a:effectLst>
            <a:outerShdw blurRad="50800" dist="25400" dir="8100000" algn="bl" rotWithShape="0">
              <a:srgbClr val="000000">
                <a:alpha val="10000"/>
              </a:srgbClr>
            </a:outerShdw>
          </a:effectLst>
        </p:spPr>
        <p:txBody>
          <a:bodyPr/>
          <a:lstStyle/>
          <a:p>
            <a:endParaRPr lang="ko-KR" altLang="en-US"/>
          </a:p>
        </p:txBody>
      </p:sp>
      <p:sp>
        <p:nvSpPr>
          <p:cNvPr id="8" name="Shape 6"/>
          <p:cNvSpPr/>
          <p:nvPr/>
        </p:nvSpPr>
        <p:spPr>
          <a:xfrm>
            <a:off x="457200" y="685800"/>
            <a:ext cx="54864" cy="1005840"/>
          </a:xfrm>
          <a:prstGeom prst="rect">
            <a:avLst/>
          </a:prstGeom>
          <a:solidFill>
            <a:srgbClr val="C8962E"/>
          </a:solidFill>
          <a:ln/>
        </p:spPr>
        <p:txBody>
          <a:bodyPr/>
          <a:lstStyle/>
          <a:p>
            <a:endParaRPr lang="ko-KR" altLang="en-US"/>
          </a:p>
        </p:txBody>
      </p:sp>
      <p:sp>
        <p:nvSpPr>
          <p:cNvPr id="9" name="Text 7"/>
          <p:cNvSpPr/>
          <p:nvPr/>
        </p:nvSpPr>
        <p:spPr>
          <a:xfrm>
            <a:off x="640080" y="758952"/>
            <a:ext cx="7863840" cy="27432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Step 2. 직무발명보상(특허권)을 활용한 자본화 (상환 목표: 3억 원)</a:t>
            </a:r>
            <a:endParaRPr lang="en-US" sz="1100" dirty="0"/>
          </a:p>
        </p:txBody>
      </p:sp>
      <p:sp>
        <p:nvSpPr>
          <p:cNvPr id="10" name="Text 8"/>
          <p:cNvSpPr/>
          <p:nvPr/>
        </p:nvSpPr>
        <p:spPr>
          <a:xfrm>
            <a:off x="640080" y="1033272"/>
            <a:ext cx="7863840" cy="585216"/>
          </a:xfrm>
          <a:prstGeom prst="rect">
            <a:avLst/>
          </a:prstGeom>
          <a:noFill/>
          <a:ln/>
        </p:spPr>
        <p:txBody>
          <a:bodyPr wrap="square" rtlCol="0" anchor="t"/>
          <a:lstStyle/>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전략: 대표이사가 보유한 '초미세 프레스 공법' 기술을 특허 출원 및 등록 후, 공신력 있는 기관에서 가치평가(예: 3억 원)를 받아 법인에 양도. 법인은 대표이사에게 대가 3억 원을 지급하고, 대표이사는 이 자금으로 가지급금 3억 원을 상환.</a:t>
            </a:r>
            <a:endParaRPr lang="en-US" sz="1000" dirty="0"/>
          </a:p>
        </p:txBody>
      </p:sp>
      <p:sp>
        <p:nvSpPr>
          <p:cNvPr id="11" name="Text 9"/>
          <p:cNvSpPr/>
          <p:nvPr/>
        </p:nvSpPr>
        <p:spPr>
          <a:xfrm>
            <a:off x="457200" y="1828800"/>
            <a:ext cx="8229600" cy="320040"/>
          </a:xfrm>
          <a:prstGeom prst="rect">
            <a:avLst/>
          </a:prstGeom>
          <a:noFill/>
          <a:ln/>
        </p:spPr>
        <p:txBody>
          <a:bodyPr wrap="square" rtlCol="0" anchor="t"/>
          <a:lstStyle/>
          <a:p>
            <a:pPr marL="0" indent="0">
              <a:lnSpc>
                <a:spcPct val="115000"/>
              </a:lnSpc>
              <a:buNone/>
            </a:pPr>
            <a:r>
              <a:rPr lang="en-US" sz="900" dirty="0">
                <a:solidFill>
                  <a:srgbClr val="2B2B2B"/>
                </a:solidFill>
                <a:latin typeface="맑은 고딕" pitchFamily="34" charset="0"/>
                <a:ea typeface="맑은 고딕" pitchFamily="34" charset="-122"/>
                <a:cs typeface="맑은 고딕" pitchFamily="34" charset="-120"/>
              </a:rPr>
              <a:t>회계·세무 처리 (현금거래형): (차) 무형자산(특허권) 3억 / (대) 보통예금 3억 → (차) 보통예금 3억 / (대) 가지급금 3억</a:t>
            </a:r>
            <a:endParaRPr lang="en-US" sz="900" dirty="0"/>
          </a:p>
        </p:txBody>
      </p:sp>
      <p:sp>
        <p:nvSpPr>
          <p:cNvPr id="12" name="Text 10"/>
          <p:cNvSpPr/>
          <p:nvPr/>
        </p:nvSpPr>
        <p:spPr>
          <a:xfrm>
            <a:off x="457200" y="2194560"/>
            <a:ext cx="8229600" cy="320040"/>
          </a:xfrm>
          <a:prstGeom prst="rect">
            <a:avLst/>
          </a:prstGeom>
          <a:noFill/>
          <a:ln/>
        </p:spPr>
        <p:txBody>
          <a:bodyPr wrap="square" rtlCol="0" anchor="t"/>
          <a:lstStyle/>
          <a:p>
            <a:pPr marL="0" indent="0">
              <a:lnSpc>
                <a:spcPct val="115000"/>
              </a:lnSpc>
              <a:buNone/>
            </a:pPr>
            <a:r>
              <a:rPr lang="en-US" sz="900" dirty="0">
                <a:solidFill>
                  <a:srgbClr val="2B2B2B"/>
                </a:solidFill>
                <a:latin typeface="맑은 고딕" pitchFamily="34" charset="0"/>
                <a:ea typeface="맑은 고딕" pitchFamily="34" charset="-122"/>
                <a:cs typeface="맑은 고딕" pitchFamily="34" charset="-120"/>
              </a:rPr>
              <a:t>회계·세무 처리 (상계형): (차) 무형자산(특허권) 3억 / (대) 미지급금 3억 → (차) 미지급금 3억 / (대) 가지급금 3억</a:t>
            </a:r>
            <a:endParaRPr lang="en-US" sz="900" dirty="0"/>
          </a:p>
        </p:txBody>
      </p:sp>
      <p:sp>
        <p:nvSpPr>
          <p:cNvPr id="13" name="Text 11"/>
          <p:cNvSpPr/>
          <p:nvPr/>
        </p:nvSpPr>
        <p:spPr>
          <a:xfrm>
            <a:off x="457200" y="2560320"/>
            <a:ext cx="8229600" cy="228600"/>
          </a:xfrm>
          <a:prstGeom prst="rect">
            <a:avLst/>
          </a:prstGeom>
          <a:noFill/>
          <a:ln/>
        </p:spPr>
        <p:txBody>
          <a:bodyPr wrap="square" rtlCol="0" anchor="t"/>
          <a:lstStyle/>
          <a:p>
            <a:pPr marL="0" indent="0">
              <a:lnSpc>
                <a:spcPct val="115000"/>
              </a:lnSpc>
              <a:buNone/>
            </a:pPr>
            <a:r>
              <a:rPr lang="en-US" sz="800" dirty="0">
                <a:solidFill>
                  <a:srgbClr val="4A5568"/>
                </a:solidFill>
                <a:latin typeface="맑은 고딕" pitchFamily="34" charset="0"/>
                <a:ea typeface="맑은 고딕" pitchFamily="34" charset="-122"/>
                <a:cs typeface="맑은 고딕" pitchFamily="34" charset="-120"/>
              </a:rPr>
              <a:t>두 방식 모두 가능하며, 증빙 연결성을 고려하여 선택합니다.</a:t>
            </a:r>
            <a:endParaRPr lang="en-US" sz="800" dirty="0"/>
          </a:p>
        </p:txBody>
      </p:sp>
      <p:sp>
        <p:nvSpPr>
          <p:cNvPr id="14" name="Text 12"/>
          <p:cNvSpPr/>
          <p:nvPr/>
        </p:nvSpPr>
        <p:spPr>
          <a:xfrm>
            <a:off x="457200" y="2926080"/>
            <a:ext cx="8229600" cy="228600"/>
          </a:xfrm>
          <a:prstGeom prst="rect">
            <a:avLst/>
          </a:prstGeom>
          <a:noFill/>
          <a:ln/>
        </p:spPr>
        <p:txBody>
          <a:bodyPr wrap="square" rtlCol="0" anchor="t"/>
          <a:lstStyle/>
          <a:p>
            <a:pPr marL="0" indent="0">
              <a:lnSpc>
                <a:spcPct val="115000"/>
              </a:lnSpc>
              <a:buNone/>
            </a:pPr>
            <a:r>
              <a:rPr lang="en-US" sz="1000" b="1" dirty="0">
                <a:solidFill>
                  <a:srgbClr val="2B2B2B"/>
                </a:solidFill>
                <a:latin typeface="맑은 고딕" pitchFamily="34" charset="0"/>
                <a:ea typeface="맑은 고딕" pitchFamily="34" charset="-122"/>
                <a:cs typeface="맑은 고딕" pitchFamily="34" charset="-120"/>
              </a:rPr>
              <a:t>주의사항 및 리스크 관리:</a:t>
            </a:r>
            <a:endParaRPr lang="en-US" sz="1000" dirty="0"/>
          </a:p>
        </p:txBody>
      </p:sp>
      <p:sp>
        <p:nvSpPr>
          <p:cNvPr id="15" name="Text 13"/>
          <p:cNvSpPr/>
          <p:nvPr/>
        </p:nvSpPr>
        <p:spPr>
          <a:xfrm>
            <a:off x="457200" y="3200400"/>
            <a:ext cx="8229600" cy="1005840"/>
          </a:xfrm>
          <a:prstGeom prst="rect">
            <a:avLst/>
          </a:prstGeom>
          <a:noFill/>
          <a:ln/>
        </p:spPr>
        <p:txBody>
          <a:bodyPr wrap="square" rtlCol="0" anchor="t"/>
          <a:lstStyle/>
          <a:p>
            <a:pPr marL="342900" indent="-342900">
              <a:lnSpc>
                <a:spcPct val="115000"/>
              </a:lnSpc>
              <a:buSzPct val="100000"/>
              <a:buChar char="•"/>
            </a:pPr>
            <a:r>
              <a:rPr lang="en-US" sz="900" dirty="0">
                <a:solidFill>
                  <a:srgbClr val="2B2B2B"/>
                </a:solidFill>
                <a:latin typeface="맑은 고딕" pitchFamily="34" charset="0"/>
                <a:ea typeface="맑은 고딕" pitchFamily="34" charset="-122"/>
                <a:cs typeface="맑은 고딕" pitchFamily="34" charset="-120"/>
              </a:rPr>
              <a:t>(VAT) 특허권 양수는 부가세 과세대상. 법인은 매입세액 공제/환급 가능하나 현금 유동성 계획 필요</a:t>
            </a:r>
            <a:endParaRPr lang="en-US" sz="900" dirty="0"/>
          </a:p>
          <a:p>
            <a:pPr marL="342900" indent="-342900">
              <a:lnSpc>
                <a:spcPct val="115000"/>
              </a:lnSpc>
              <a:buSzPct val="100000"/>
              <a:buChar char="•"/>
            </a:pPr>
            <a:r>
              <a:rPr lang="en-US" sz="900" dirty="0">
                <a:solidFill>
                  <a:srgbClr val="2B2B2B"/>
                </a:solidFill>
                <a:latin typeface="맑은 고딕" pitchFamily="34" charset="0"/>
                <a:ea typeface="맑은 고딕" pitchFamily="34" charset="-122"/>
                <a:cs typeface="맑은 고딕" pitchFamily="34" charset="-120"/>
              </a:rPr>
              <a:t>(원천징수) 대표 수령 보상금의 원천징수 및 신고 스케줄 사전 확정 필요</a:t>
            </a:r>
            <a:endParaRPr lang="en-US" sz="900" dirty="0"/>
          </a:p>
          <a:p>
            <a:pPr marL="342900" indent="-342900">
              <a:lnSpc>
                <a:spcPct val="115000"/>
              </a:lnSpc>
              <a:buSzPct val="100000"/>
              <a:buChar char="•"/>
            </a:pPr>
            <a:r>
              <a:rPr lang="en-US" sz="900" dirty="0">
                <a:solidFill>
                  <a:srgbClr val="2B2B2B"/>
                </a:solidFill>
                <a:latin typeface="맑은 고딕" pitchFamily="34" charset="0"/>
                <a:ea typeface="맑은 고딕" pitchFamily="34" charset="-122"/>
                <a:cs typeface="맑은 고딕" pitchFamily="34" charset="-120"/>
              </a:rPr>
              <a:t>(소득구분) 대표이사 보상금의 소득구분(근로·기타)과 필요경비 인정범위는 사전 세무자문 필수</a:t>
            </a:r>
            <a:endParaRPr lang="en-US" sz="900" dirty="0"/>
          </a:p>
          <a:p>
            <a:pPr marL="342900" indent="-342900">
              <a:lnSpc>
                <a:spcPct val="115000"/>
              </a:lnSpc>
              <a:buSzPct val="100000"/>
              <a:buChar char="•"/>
            </a:pPr>
            <a:r>
              <a:rPr lang="en-US" sz="900" dirty="0">
                <a:solidFill>
                  <a:srgbClr val="2B2B2B"/>
                </a:solidFill>
                <a:latin typeface="맑은 고딕" pitchFamily="34" charset="0"/>
                <a:ea typeface="맑은 고딕" pitchFamily="34" charset="-122"/>
                <a:cs typeface="맑은 고딕" pitchFamily="34" charset="-120"/>
              </a:rPr>
              <a:t>(시가 입증) '시가 입증 패키지'를 거래 결의서에 첨부하여 부당행위계산 부인 및 증여의제 리스크 구조적 차단</a:t>
            </a:r>
            <a:endParaRPr lang="en-US" sz="900" dirty="0"/>
          </a:p>
        </p:txBody>
      </p:sp>
      <p:sp>
        <p:nvSpPr>
          <p:cNvPr id="16" name="Text 14"/>
          <p:cNvSpPr/>
          <p:nvPr/>
        </p:nvSpPr>
        <p:spPr>
          <a:xfrm>
            <a:off x="457200" y="4297680"/>
            <a:ext cx="8229600" cy="457200"/>
          </a:xfrm>
          <a:prstGeom prst="rect">
            <a:avLst/>
          </a:prstGeom>
          <a:noFill/>
          <a:ln/>
        </p:spPr>
        <p:txBody>
          <a:bodyPr wrap="square" rtlCol="0" anchor="t"/>
          <a:lstStyle/>
          <a:p>
            <a:pPr marL="0" indent="0">
              <a:lnSpc>
                <a:spcPct val="115000"/>
              </a:lnSpc>
              <a:buNone/>
            </a:pPr>
            <a:r>
              <a:rPr lang="en-US" sz="900" b="1" dirty="0">
                <a:solidFill>
                  <a:srgbClr val="1B2A4A"/>
                </a:solidFill>
                <a:latin typeface="맑은 고딕" pitchFamily="34" charset="0"/>
                <a:ea typeface="맑은 고딕" pitchFamily="34" charset="-122"/>
                <a:cs typeface="맑은 고딕" pitchFamily="34" charset="-120"/>
              </a:rPr>
              <a:t>추가 기대효과: 취득한 특허권(3억원)은 세법상 5년간 정액법 상각이 가능하여, 연간 6,000만원의 비용이 인정됩니다. 이로 인해 매년 약 1,140만원의 법인세 절감 효과가 추가로 발생합니다.</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15</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V. 맞춤형 솔루션 및 실행 전략 제안 (3/4)</a:t>
            </a:r>
            <a:endParaRPr lang="en-US" sz="15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가지급금 정리로 세무리스크 해소하기</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15 / 62</a:t>
            </a:r>
            <a:endParaRPr lang="en-US" sz="800" dirty="0"/>
          </a:p>
        </p:txBody>
      </p:sp>
      <p:sp>
        <p:nvSpPr>
          <p:cNvPr id="7" name="Shape 5"/>
          <p:cNvSpPr/>
          <p:nvPr/>
        </p:nvSpPr>
        <p:spPr>
          <a:xfrm>
            <a:off x="457200" y="685800"/>
            <a:ext cx="8229600" cy="822960"/>
          </a:xfrm>
          <a:prstGeom prst="rect">
            <a:avLst/>
          </a:prstGeom>
          <a:solidFill>
            <a:srgbClr val="F7F8FA"/>
          </a:solidFill>
          <a:ln w="12700">
            <a:solidFill>
              <a:srgbClr val="E2E8F0"/>
            </a:solidFill>
            <a:prstDash val="solid"/>
          </a:ln>
          <a:effectLst>
            <a:outerShdw blurRad="50800" dist="25400" dir="8100000" algn="bl" rotWithShape="0">
              <a:srgbClr val="000000">
                <a:alpha val="10000"/>
              </a:srgbClr>
            </a:outerShdw>
          </a:effectLst>
        </p:spPr>
        <p:txBody>
          <a:bodyPr/>
          <a:lstStyle/>
          <a:p>
            <a:endParaRPr lang="ko-KR" altLang="en-US"/>
          </a:p>
        </p:txBody>
      </p:sp>
      <p:sp>
        <p:nvSpPr>
          <p:cNvPr id="8" name="Shape 6"/>
          <p:cNvSpPr/>
          <p:nvPr/>
        </p:nvSpPr>
        <p:spPr>
          <a:xfrm>
            <a:off x="457200" y="685800"/>
            <a:ext cx="54864" cy="822960"/>
          </a:xfrm>
          <a:prstGeom prst="rect">
            <a:avLst/>
          </a:prstGeom>
          <a:solidFill>
            <a:srgbClr val="C8962E"/>
          </a:solidFill>
          <a:ln/>
        </p:spPr>
        <p:txBody>
          <a:bodyPr/>
          <a:lstStyle/>
          <a:p>
            <a:endParaRPr lang="ko-KR" altLang="en-US"/>
          </a:p>
        </p:txBody>
      </p:sp>
      <p:sp>
        <p:nvSpPr>
          <p:cNvPr id="9" name="Text 7"/>
          <p:cNvSpPr/>
          <p:nvPr/>
        </p:nvSpPr>
        <p:spPr>
          <a:xfrm>
            <a:off x="640080" y="758952"/>
            <a:ext cx="7863840" cy="27432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Step 3. 법인 계약 보험을 활용한 단기 브릿지 플랜 (상환 목표: 1억 원)</a:t>
            </a:r>
            <a:endParaRPr lang="en-US" sz="1100" dirty="0"/>
          </a:p>
        </p:txBody>
      </p:sp>
      <p:sp>
        <p:nvSpPr>
          <p:cNvPr id="10" name="Text 8"/>
          <p:cNvSpPr/>
          <p:nvPr/>
        </p:nvSpPr>
        <p:spPr>
          <a:xfrm>
            <a:off x="640080" y="1033272"/>
            <a:ext cx="7863840" cy="402336"/>
          </a:xfrm>
          <a:prstGeom prst="rect">
            <a:avLst/>
          </a:prstGeom>
          <a:noFill/>
          <a:ln/>
        </p:spPr>
        <p:txBody>
          <a:bodyPr wrap="square" rtlCol="0" anchor="t"/>
          <a:lstStyle/>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전략: 기존에 법인이 계약한 CEO 종신보험 등의 해지환급금 내에서 약관대출(예: 1억 원)을 실행하여 즉시 상환. 이 대출금은 향후 1~2년간 증액된 급여나 성과급으로 상환.</a:t>
            </a:r>
            <a:endParaRPr lang="en-US" sz="1000" dirty="0"/>
          </a:p>
        </p:txBody>
      </p:sp>
      <p:sp>
        <p:nvSpPr>
          <p:cNvPr id="11" name="Text 9"/>
          <p:cNvSpPr/>
          <p:nvPr/>
        </p:nvSpPr>
        <p:spPr>
          <a:xfrm>
            <a:off x="457200" y="1645920"/>
            <a:ext cx="8229600" cy="457200"/>
          </a:xfrm>
          <a:prstGeom prst="rect">
            <a:avLst/>
          </a:prstGeom>
          <a:noFill/>
          <a:ln/>
        </p:spPr>
        <p:txBody>
          <a:bodyPr wrap="square" rtlCol="0" anchor="t"/>
          <a:lstStyle/>
          <a:p>
            <a:pPr marL="0" indent="0">
              <a:lnSpc>
                <a:spcPct val="115000"/>
              </a:lnSpc>
              <a:buNone/>
            </a:pPr>
            <a:r>
              <a:rPr lang="en-US" sz="900" dirty="0">
                <a:solidFill>
                  <a:srgbClr val="2B2B2B"/>
                </a:solidFill>
                <a:latin typeface="맑은 고딕" pitchFamily="34" charset="0"/>
                <a:ea typeface="맑은 고딕" pitchFamily="34" charset="-122"/>
                <a:cs typeface="맑은 고딕" pitchFamily="34" charset="-120"/>
              </a:rPr>
              <a:t>회계·세무 처리: (약관 대출) (차) 보통예금 1억 / (대) 단기차입금 1억</a:t>
            </a:r>
            <a:endParaRPr lang="en-US" sz="900" dirty="0"/>
          </a:p>
          <a:p>
            <a:pPr marL="0" indent="0">
              <a:lnSpc>
                <a:spcPct val="115000"/>
              </a:lnSpc>
              <a:buNone/>
            </a:pPr>
            <a:r>
              <a:rPr lang="en-US" sz="900" dirty="0">
                <a:solidFill>
                  <a:srgbClr val="2B2B2B"/>
                </a:solidFill>
                <a:latin typeface="맑은 고딕" pitchFamily="34" charset="0"/>
                <a:ea typeface="맑은 고딕" pitchFamily="34" charset="-122"/>
                <a:cs typeface="맑은 고딕" pitchFamily="34" charset="-120"/>
              </a:rPr>
              <a:t>(가지급금 상환) (차) 보통예금 1억 / (대) 가지급금 1억 (입금)</a:t>
            </a:r>
            <a:endParaRPr lang="en-US" sz="900" dirty="0"/>
          </a:p>
        </p:txBody>
      </p:sp>
      <p:sp>
        <p:nvSpPr>
          <p:cNvPr id="12" name="Text 10"/>
          <p:cNvSpPr/>
          <p:nvPr/>
        </p:nvSpPr>
        <p:spPr>
          <a:xfrm>
            <a:off x="457200" y="2148840"/>
            <a:ext cx="8229600" cy="502920"/>
          </a:xfrm>
          <a:prstGeom prst="rect">
            <a:avLst/>
          </a:prstGeom>
          <a:noFill/>
          <a:ln/>
        </p:spPr>
        <p:txBody>
          <a:bodyPr wrap="square" rtlCol="0" anchor="t"/>
          <a:lstStyle/>
          <a:p>
            <a:pPr marL="0" indent="0">
              <a:lnSpc>
                <a:spcPct val="115000"/>
              </a:lnSpc>
              <a:buNone/>
            </a:pPr>
            <a:r>
              <a:rPr lang="en-US" sz="900" i="1" dirty="0">
                <a:solidFill>
                  <a:srgbClr val="D4382C"/>
                </a:solidFill>
                <a:latin typeface="맑은 고딕" pitchFamily="34" charset="0"/>
                <a:ea typeface="맑은 고딕" pitchFamily="34" charset="-122"/>
                <a:cs typeface="맑은 고딕" pitchFamily="34" charset="-120"/>
              </a:rPr>
              <a:t>중대 위험: 약관대출로 가지급금을 상환할 경우, 그 목적이 '업무무관 가지급금 해소'이므로 약관대출 이자 전액이 손금불산입 될 가능성이 높습니다. 따라서 최후의 수단으로만 활용하는 전략이 필요합니다.</a:t>
            </a:r>
            <a:endParaRPr lang="en-US" sz="900" dirty="0"/>
          </a:p>
        </p:txBody>
      </p:sp>
      <p:sp>
        <p:nvSpPr>
          <p:cNvPr id="13" name="Shape 11"/>
          <p:cNvSpPr/>
          <p:nvPr/>
        </p:nvSpPr>
        <p:spPr>
          <a:xfrm>
            <a:off x="457200" y="2880360"/>
            <a:ext cx="8229600" cy="365760"/>
          </a:xfrm>
          <a:prstGeom prst="rect">
            <a:avLst/>
          </a:prstGeom>
          <a:solidFill>
            <a:srgbClr val="F3F4F6"/>
          </a:solidFill>
          <a:ln/>
        </p:spPr>
        <p:txBody>
          <a:bodyPr/>
          <a:lstStyle/>
          <a:p>
            <a:endParaRPr lang="ko-KR" altLang="en-US"/>
          </a:p>
        </p:txBody>
      </p:sp>
      <p:sp>
        <p:nvSpPr>
          <p:cNvPr id="14" name="Shape 12"/>
          <p:cNvSpPr/>
          <p:nvPr/>
        </p:nvSpPr>
        <p:spPr>
          <a:xfrm>
            <a:off x="457200" y="2880360"/>
            <a:ext cx="45720" cy="365760"/>
          </a:xfrm>
          <a:prstGeom prst="rect">
            <a:avLst/>
          </a:prstGeom>
          <a:solidFill>
            <a:srgbClr val="6B7280"/>
          </a:solidFill>
          <a:ln/>
        </p:spPr>
        <p:txBody>
          <a:bodyPr/>
          <a:lstStyle/>
          <a:p>
            <a:endParaRPr lang="ko-KR" altLang="en-US"/>
          </a:p>
        </p:txBody>
      </p:sp>
      <p:sp>
        <p:nvSpPr>
          <p:cNvPr id="15" name="Text 13"/>
          <p:cNvSpPr/>
          <p:nvPr/>
        </p:nvSpPr>
        <p:spPr>
          <a:xfrm>
            <a:off x="640080" y="2880360"/>
            <a:ext cx="7772400" cy="365760"/>
          </a:xfrm>
          <a:prstGeom prst="rect">
            <a:avLst/>
          </a:prstGeom>
          <a:noFill/>
          <a:ln/>
        </p:spPr>
        <p:txBody>
          <a:bodyPr wrap="square" rtlCol="0" anchor="ctr"/>
          <a:lstStyle/>
          <a:p>
            <a:pPr marL="0" indent="0">
              <a:buNone/>
            </a:pPr>
            <a:r>
              <a:rPr lang="en-US" sz="1300" b="1" dirty="0">
                <a:solidFill>
                  <a:srgbClr val="1B2A4A"/>
                </a:solidFill>
                <a:latin typeface="맑은 고딕" pitchFamily="34" charset="0"/>
                <a:ea typeface="맑은 고딕" pitchFamily="34" charset="-122"/>
                <a:cs typeface="맑은 고딕" pitchFamily="34" charset="-120"/>
              </a:rPr>
              <a:t>Plan B: 보수적·단계적 상환 전략 (대안)</a:t>
            </a:r>
            <a:endParaRPr lang="en-US" sz="1300" dirty="0"/>
          </a:p>
        </p:txBody>
      </p:sp>
      <p:sp>
        <p:nvSpPr>
          <p:cNvPr id="16" name="Text 14"/>
          <p:cNvSpPr/>
          <p:nvPr/>
        </p:nvSpPr>
        <p:spPr>
          <a:xfrm>
            <a:off x="457200" y="3337560"/>
            <a:ext cx="8229600" cy="320040"/>
          </a:xfrm>
          <a:prstGeom prst="rect">
            <a:avLst/>
          </a:prstGeom>
          <a:noFill/>
          <a:ln/>
        </p:spPr>
        <p:txBody>
          <a:bodyPr wrap="square" rtlCol="0" anchor="ctr"/>
          <a:lstStyle/>
          <a:p>
            <a:pPr marL="0" indent="0">
              <a:buNone/>
            </a:pPr>
            <a:r>
              <a:rPr lang="en-US" sz="1000" dirty="0">
                <a:solidFill>
                  <a:srgbClr val="4A5568"/>
                </a:solidFill>
                <a:latin typeface="맑은 고딕" pitchFamily="34" charset="0"/>
                <a:ea typeface="맑은 고딕" pitchFamily="34" charset="-122"/>
                <a:cs typeface="맑은 고딕" pitchFamily="34" charset="-120"/>
              </a:rPr>
              <a:t>Plan A의 핵심인 특허권 자본화 등이 여의치 않을 경우, 보다 안정적이지만 시간이 더 소요되는 단계적 상환 전략을 실행합니다.</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16</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V. 맞춤형 솔루션 및 실행 전략 제안 (4/4)</a:t>
            </a:r>
            <a:endParaRPr lang="en-US" sz="15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가지급금 정리로 세무리스크 해소하기</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16 / 62</a:t>
            </a:r>
            <a:endParaRPr lang="en-US" sz="800" dirty="0"/>
          </a:p>
        </p:txBody>
      </p:sp>
      <p:sp>
        <p:nvSpPr>
          <p:cNvPr id="7" name="Text 5"/>
          <p:cNvSpPr/>
          <p:nvPr/>
        </p:nvSpPr>
        <p:spPr>
          <a:xfrm>
            <a:off x="457200" y="685800"/>
            <a:ext cx="8229600" cy="320040"/>
          </a:xfrm>
          <a:prstGeom prst="rect">
            <a:avLst/>
          </a:prstGeom>
          <a:noFill/>
          <a:ln/>
        </p:spPr>
        <p:txBody>
          <a:bodyPr wrap="square" rtlCol="0" anchor="ctr"/>
          <a:lstStyle/>
          <a:p>
            <a:pPr marL="0" indent="0">
              <a:buNone/>
            </a:pPr>
            <a:r>
              <a:rPr lang="en-US" sz="1300" b="1" dirty="0">
                <a:solidFill>
                  <a:srgbClr val="1B2A4A"/>
                </a:solidFill>
                <a:latin typeface="맑은 고딕" pitchFamily="34" charset="0"/>
                <a:ea typeface="맑은 고딕" pitchFamily="34" charset="-122"/>
                <a:cs typeface="맑은 고딕" pitchFamily="34" charset="-120"/>
              </a:rPr>
              <a:t>Plan B: 보수적·단계적 상환 전략 (대안) — 상세</a:t>
            </a:r>
            <a:endParaRPr lang="en-US" sz="1300" dirty="0"/>
          </a:p>
        </p:txBody>
      </p:sp>
      <p:sp>
        <p:nvSpPr>
          <p:cNvPr id="8" name="Shape 6"/>
          <p:cNvSpPr/>
          <p:nvPr/>
        </p:nvSpPr>
        <p:spPr>
          <a:xfrm>
            <a:off x="457200" y="1097280"/>
            <a:ext cx="8229600" cy="1005840"/>
          </a:xfrm>
          <a:prstGeom prst="rect">
            <a:avLst/>
          </a:prstGeom>
          <a:solidFill>
            <a:srgbClr val="F7F8FA"/>
          </a:solidFill>
          <a:ln w="12700">
            <a:solidFill>
              <a:srgbClr val="E2E8F0"/>
            </a:solidFill>
            <a:prstDash val="solid"/>
          </a:ln>
          <a:effectLst>
            <a:outerShdw blurRad="50800" dist="25400" dir="8100000" algn="bl" rotWithShape="0">
              <a:srgbClr val="000000">
                <a:alpha val="10000"/>
              </a:srgbClr>
            </a:outerShdw>
          </a:effectLst>
        </p:spPr>
        <p:txBody>
          <a:bodyPr/>
          <a:lstStyle/>
          <a:p>
            <a:endParaRPr lang="ko-KR" altLang="en-US"/>
          </a:p>
        </p:txBody>
      </p:sp>
      <p:sp>
        <p:nvSpPr>
          <p:cNvPr id="9" name="Shape 7"/>
          <p:cNvSpPr/>
          <p:nvPr/>
        </p:nvSpPr>
        <p:spPr>
          <a:xfrm>
            <a:off x="457200" y="1097280"/>
            <a:ext cx="54864" cy="1005840"/>
          </a:xfrm>
          <a:prstGeom prst="rect">
            <a:avLst/>
          </a:prstGeom>
          <a:solidFill>
            <a:srgbClr val="C8962E"/>
          </a:solidFill>
          <a:ln/>
        </p:spPr>
        <p:txBody>
          <a:bodyPr/>
          <a:lstStyle/>
          <a:p>
            <a:endParaRPr lang="ko-KR" altLang="en-US"/>
          </a:p>
        </p:txBody>
      </p:sp>
      <p:sp>
        <p:nvSpPr>
          <p:cNvPr id="10" name="Text 8"/>
          <p:cNvSpPr/>
          <p:nvPr/>
        </p:nvSpPr>
        <p:spPr>
          <a:xfrm>
            <a:off x="640080" y="1170432"/>
            <a:ext cx="7863840" cy="27432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 1. 급여/상여 분할 상환</a:t>
            </a:r>
            <a:endParaRPr lang="en-US" sz="1100" dirty="0"/>
          </a:p>
        </p:txBody>
      </p:sp>
      <p:sp>
        <p:nvSpPr>
          <p:cNvPr id="11" name="Text 9"/>
          <p:cNvSpPr/>
          <p:nvPr/>
        </p:nvSpPr>
        <p:spPr>
          <a:xfrm>
            <a:off x="640080" y="1444752"/>
            <a:ext cx="7863840" cy="585216"/>
          </a:xfrm>
          <a:prstGeom prst="rect">
            <a:avLst/>
          </a:prstGeom>
          <a:noFill/>
          <a:ln/>
        </p:spPr>
        <p:txBody>
          <a:bodyPr wrap="square" rtlCol="0" anchor="t"/>
          <a:lstStyle/>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전략: 매년 1.5억 원(세후 약 1억 원) 수준의 보상을 5년간 실행하여 점진적으로 상환.</a:t>
            </a:r>
            <a:endParaRPr lang="en-US" sz="1000" dirty="0"/>
          </a:p>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장점: 가장 확실하고 세무 리스크가 적은 전통적인 방법.</a:t>
            </a:r>
            <a:endParaRPr lang="en-US" sz="1000" dirty="0"/>
          </a:p>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단점: 상환 기간이 길고 CEO의 소득세 및 건강보험료 부담이 크게 증가.</a:t>
            </a:r>
            <a:endParaRPr lang="en-US" sz="1000" dirty="0"/>
          </a:p>
        </p:txBody>
      </p:sp>
      <p:sp>
        <p:nvSpPr>
          <p:cNvPr id="12" name="Shape 10"/>
          <p:cNvSpPr/>
          <p:nvPr/>
        </p:nvSpPr>
        <p:spPr>
          <a:xfrm>
            <a:off x="457200" y="2240280"/>
            <a:ext cx="8229600" cy="1005840"/>
          </a:xfrm>
          <a:prstGeom prst="rect">
            <a:avLst/>
          </a:prstGeom>
          <a:solidFill>
            <a:srgbClr val="F7F8FA"/>
          </a:solidFill>
          <a:ln w="12700">
            <a:solidFill>
              <a:srgbClr val="E2E8F0"/>
            </a:solidFill>
            <a:prstDash val="solid"/>
          </a:ln>
          <a:effectLst>
            <a:outerShdw blurRad="50800" dist="25400" dir="8100000" algn="bl" rotWithShape="0">
              <a:srgbClr val="000000">
                <a:alpha val="10000"/>
              </a:srgbClr>
            </a:outerShdw>
          </a:effectLst>
        </p:spPr>
        <p:txBody>
          <a:bodyPr/>
          <a:lstStyle/>
          <a:p>
            <a:endParaRPr lang="ko-KR" altLang="en-US"/>
          </a:p>
        </p:txBody>
      </p:sp>
      <p:sp>
        <p:nvSpPr>
          <p:cNvPr id="13" name="Shape 11"/>
          <p:cNvSpPr/>
          <p:nvPr/>
        </p:nvSpPr>
        <p:spPr>
          <a:xfrm>
            <a:off x="457200" y="2240280"/>
            <a:ext cx="54864" cy="1005840"/>
          </a:xfrm>
          <a:prstGeom prst="rect">
            <a:avLst/>
          </a:prstGeom>
          <a:solidFill>
            <a:srgbClr val="C8962E"/>
          </a:solidFill>
          <a:ln/>
        </p:spPr>
        <p:txBody>
          <a:bodyPr/>
          <a:lstStyle/>
          <a:p>
            <a:endParaRPr lang="ko-KR" altLang="en-US"/>
          </a:p>
        </p:txBody>
      </p:sp>
      <p:sp>
        <p:nvSpPr>
          <p:cNvPr id="14" name="Text 12"/>
          <p:cNvSpPr/>
          <p:nvPr/>
        </p:nvSpPr>
        <p:spPr>
          <a:xfrm>
            <a:off x="640080" y="2313432"/>
            <a:ext cx="7863840" cy="27432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 2. 배당 정책 활용</a:t>
            </a:r>
            <a:endParaRPr lang="en-US" sz="1100" dirty="0"/>
          </a:p>
        </p:txBody>
      </p:sp>
      <p:sp>
        <p:nvSpPr>
          <p:cNvPr id="15" name="Text 13"/>
          <p:cNvSpPr/>
          <p:nvPr/>
        </p:nvSpPr>
        <p:spPr>
          <a:xfrm>
            <a:off x="640080" y="2587752"/>
            <a:ext cx="7863840" cy="585216"/>
          </a:xfrm>
          <a:prstGeom prst="rect">
            <a:avLst/>
          </a:prstGeom>
          <a:noFill/>
          <a:ln/>
        </p:spPr>
        <p:txBody>
          <a:bodyPr wrap="square" rtlCol="0" anchor="t"/>
          <a:lstStyle/>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전략: 1인 주주 법인이므로 배당 정책을 통해 재원 마련. 연 1.4억 원 배당 시 세후 약 1억 원 확보.</a:t>
            </a:r>
            <a:endParaRPr lang="en-US" sz="1000" dirty="0"/>
          </a:p>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장점: 미처분이익잉여금을 활용한 합법적 자산 증대.</a:t>
            </a:r>
            <a:endParaRPr lang="en-US" sz="1000" dirty="0"/>
          </a:p>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단점: 배당소득 세율(최고 49.5%)과 건강보험료 부담이 매우 높음.</a:t>
            </a:r>
            <a:endParaRPr lang="en-US" sz="1000" dirty="0"/>
          </a:p>
        </p:txBody>
      </p:sp>
      <p:sp>
        <p:nvSpPr>
          <p:cNvPr id="16" name="Shape 14"/>
          <p:cNvSpPr/>
          <p:nvPr/>
        </p:nvSpPr>
        <p:spPr>
          <a:xfrm>
            <a:off x="457200" y="3383280"/>
            <a:ext cx="8229600" cy="1005840"/>
          </a:xfrm>
          <a:prstGeom prst="rect">
            <a:avLst/>
          </a:prstGeom>
          <a:solidFill>
            <a:srgbClr val="F7F8FA"/>
          </a:solidFill>
          <a:ln w="12700">
            <a:solidFill>
              <a:srgbClr val="E2E8F0"/>
            </a:solidFill>
            <a:prstDash val="solid"/>
          </a:ln>
          <a:effectLst>
            <a:outerShdw blurRad="50800" dist="25400" dir="8100000" algn="bl" rotWithShape="0">
              <a:srgbClr val="000000">
                <a:alpha val="10000"/>
              </a:srgbClr>
            </a:outerShdw>
          </a:effectLst>
        </p:spPr>
        <p:txBody>
          <a:bodyPr/>
          <a:lstStyle/>
          <a:p>
            <a:endParaRPr lang="ko-KR" altLang="en-US"/>
          </a:p>
        </p:txBody>
      </p:sp>
      <p:sp>
        <p:nvSpPr>
          <p:cNvPr id="17" name="Shape 15"/>
          <p:cNvSpPr/>
          <p:nvPr/>
        </p:nvSpPr>
        <p:spPr>
          <a:xfrm>
            <a:off x="457200" y="3383280"/>
            <a:ext cx="54864" cy="1005840"/>
          </a:xfrm>
          <a:prstGeom prst="rect">
            <a:avLst/>
          </a:prstGeom>
          <a:solidFill>
            <a:srgbClr val="C8962E"/>
          </a:solidFill>
          <a:ln/>
        </p:spPr>
        <p:txBody>
          <a:bodyPr/>
          <a:lstStyle/>
          <a:p>
            <a:endParaRPr lang="ko-KR" altLang="en-US"/>
          </a:p>
        </p:txBody>
      </p:sp>
      <p:sp>
        <p:nvSpPr>
          <p:cNvPr id="18" name="Text 16"/>
          <p:cNvSpPr/>
          <p:nvPr/>
        </p:nvSpPr>
        <p:spPr>
          <a:xfrm>
            <a:off x="640080" y="3456432"/>
            <a:ext cx="7863840" cy="27432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 3. 법인 보유 자산 매각</a:t>
            </a:r>
            <a:endParaRPr lang="en-US" sz="1100" dirty="0"/>
          </a:p>
        </p:txBody>
      </p:sp>
      <p:sp>
        <p:nvSpPr>
          <p:cNvPr id="19" name="Text 17"/>
          <p:cNvSpPr/>
          <p:nvPr/>
        </p:nvSpPr>
        <p:spPr>
          <a:xfrm>
            <a:off x="640080" y="3730752"/>
            <a:ext cx="7863840" cy="585216"/>
          </a:xfrm>
          <a:prstGeom prst="rect">
            <a:avLst/>
          </a:prstGeom>
          <a:noFill/>
          <a:ln/>
        </p:spPr>
        <p:txBody>
          <a:bodyPr wrap="square" rtlCol="0" anchor="t"/>
          <a:lstStyle/>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전략: 비영업용 자산(부동산, 회원권 등) 매각하여 확보된 현금으로 일시 상환.</a:t>
            </a:r>
            <a:endParaRPr lang="en-US" sz="1000" dirty="0"/>
          </a:p>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장점: 가장 빠르고 확실하게 문제 해결.</a:t>
            </a:r>
            <a:endParaRPr lang="en-US" sz="1000" dirty="0"/>
          </a:p>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단점: 적절한 자산이 없는 경우가 많으며, 양도소득세 등 추가 세금 발생.</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17</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VI. 기대효과 및 재무적 영향 분석 (1/2)</a:t>
            </a:r>
            <a:endParaRPr lang="en-US" sz="15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가지급금 정리로 세무리스크 해소하기</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17 / 62</a:t>
            </a:r>
            <a:endParaRPr lang="en-US" sz="800" dirty="0"/>
          </a:p>
        </p:txBody>
      </p:sp>
      <p:sp>
        <p:nvSpPr>
          <p:cNvPr id="7" name="Text 5"/>
          <p:cNvSpPr/>
          <p:nvPr/>
        </p:nvSpPr>
        <p:spPr>
          <a:xfrm>
            <a:off x="457200" y="685800"/>
            <a:ext cx="8229600" cy="365760"/>
          </a:xfrm>
          <a:prstGeom prst="rect">
            <a:avLst/>
          </a:prstGeom>
          <a:noFill/>
          <a:ln/>
        </p:spPr>
        <p:txBody>
          <a:bodyPr wrap="square"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1. 솔루션 실행 전후 재무지표 변화 (Plan A 기준 시뮬레이션)</a:t>
            </a:r>
            <a:endParaRPr lang="en-US" sz="1400" dirty="0"/>
          </a:p>
        </p:txBody>
      </p:sp>
      <p:graphicFrame>
        <p:nvGraphicFramePr>
          <p:cNvPr id="19" name="Table 0"/>
          <p:cNvGraphicFramePr>
            <a:graphicFrameLocks noGrp="1"/>
          </p:cNvGraphicFramePr>
          <p:nvPr>
            <p:extLst>
              <p:ext uri="{D42A27DB-BD31-4B8C-83A1-F6EECF244321}">
                <p14:modId xmlns:p14="http://schemas.microsoft.com/office/powerpoint/2010/main" val="1377028055"/>
              </p:ext>
            </p:extLst>
          </p:nvPr>
        </p:nvGraphicFramePr>
        <p:xfrm>
          <a:off x="457200" y="1143000"/>
          <a:ext cx="8229600" cy="1920240"/>
        </p:xfrm>
        <a:graphic>
          <a:graphicData uri="http://schemas.openxmlformats.org/drawingml/2006/table">
            <a:tbl>
              <a:tblPr/>
              <a:tblGrid>
                <a:gridCol w="182880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tblGrid>
              <a:tr h="384048">
                <a:tc>
                  <a:txBody>
                    <a:bodyPr/>
                    <a:lstStyle/>
                    <a:p>
                      <a:pPr marL="0" indent="0" algn="ctr">
                        <a:buNone/>
                      </a:pPr>
                      <a:r>
                        <a:rPr lang="en-US" sz="900" b="1" dirty="0">
                          <a:solidFill>
                            <a:srgbClr val="FFFFFF"/>
                          </a:solidFill>
                        </a:rPr>
                        <a:t>구분</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rPr>
                        <a:t>Before</a:t>
                      </a:r>
                      <a:endParaRPr lang="en-US" sz="900" dirty="0"/>
                    </a:p>
                    <a:p>
                      <a:pPr marL="0" indent="0" algn="ctr">
                        <a:buNone/>
                      </a:pPr>
                      <a:r>
                        <a:rPr lang="en-US" sz="900" b="1" dirty="0">
                          <a:solidFill>
                            <a:srgbClr val="FFFFFF"/>
                          </a:solidFill>
                        </a:rPr>
                        <a:t>(가지급금 5억 존재)</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rPr>
                        <a:t>After</a:t>
                      </a:r>
                      <a:endParaRPr lang="en-US" sz="900" dirty="0"/>
                    </a:p>
                    <a:p>
                      <a:pPr marL="0" indent="0" algn="ctr">
                        <a:buNone/>
                      </a:pPr>
                      <a:r>
                        <a:rPr lang="en-US" sz="900" b="1" dirty="0">
                          <a:solidFill>
                            <a:srgbClr val="FFFFFF"/>
                          </a:solidFill>
                        </a:rPr>
                        <a:t>(솔루션 실행 후)</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rPr>
                        <a:t>개선 효과</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84048">
                <a:tc>
                  <a:txBody>
                    <a:bodyPr/>
                    <a:lstStyle/>
                    <a:p>
                      <a:pPr marL="0" indent="0" algn="ctr">
                        <a:buNone/>
                      </a:pPr>
                      <a:r>
                        <a:rPr lang="en-US" sz="900" b="1" dirty="0">
                          <a:solidFill>
                            <a:srgbClr val="2B2B2B"/>
                          </a:solidFill>
                        </a:rPr>
                        <a:t>실질 부채비율</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D4382C"/>
                          </a:solidFill>
                        </a:rPr>
                        <a:t>114.3%</a:t>
                      </a:r>
                      <a:endParaRPr lang="en-US" sz="10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3B82F6"/>
                          </a:solidFill>
                        </a:rPr>
                        <a:t>100%</a:t>
                      </a:r>
                      <a:endParaRPr lang="en-US" sz="10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0369A1"/>
                          </a:solidFill>
                        </a:rPr>
                        <a:t>▼ 14.3%p 개선</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extLst>
                  <a:ext uri="{0D108BD9-81ED-4DB2-BD59-A6C34878D82A}">
                    <a16:rowId xmlns:a16="http://schemas.microsoft.com/office/drawing/2014/main" val="10001"/>
                  </a:ext>
                </a:extLst>
              </a:tr>
              <a:tr h="384048">
                <a:tc>
                  <a:txBody>
                    <a:bodyPr/>
                    <a:lstStyle/>
                    <a:p>
                      <a:pPr marL="0" indent="0" algn="ctr">
                        <a:buNone/>
                      </a:pPr>
                      <a:r>
                        <a:rPr lang="en-US" sz="900" b="1" dirty="0">
                          <a:solidFill>
                            <a:srgbClr val="2B2B2B"/>
                          </a:solidFill>
                        </a:rPr>
                        <a:t>연간 세금효과</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900" b="1" dirty="0">
                          <a:solidFill>
                            <a:srgbClr val="D4382C"/>
                          </a:solidFill>
                        </a:rPr>
                        <a:t>약 2,256만원 (법인+개인)</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900" b="1" dirty="0">
                          <a:solidFill>
                            <a:srgbClr val="3B82F6"/>
                          </a:solidFill>
                        </a:rPr>
                        <a:t>0원 (페널티 해소)</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900" b="1" dirty="0">
                          <a:solidFill>
                            <a:srgbClr val="0369A1"/>
                          </a:solidFill>
                        </a:rPr>
                        <a:t>✔ 연 2,256만원 절감</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extLst>
                  <a:ext uri="{0D108BD9-81ED-4DB2-BD59-A6C34878D82A}">
                    <a16:rowId xmlns:a16="http://schemas.microsoft.com/office/drawing/2014/main" val="10002"/>
                  </a:ext>
                </a:extLst>
              </a:tr>
              <a:tr h="384048">
                <a:tc>
                  <a:txBody>
                    <a:bodyPr/>
                    <a:lstStyle/>
                    <a:p>
                      <a:pPr marL="0" indent="0" algn="ctr">
                        <a:buNone/>
                      </a:pPr>
                      <a:r>
                        <a:rPr lang="en-US" sz="900" b="1" dirty="0">
                          <a:solidFill>
                            <a:srgbClr val="2B2B2B"/>
                          </a:solidFill>
                        </a:rPr>
                        <a:t>CEO 잠재 리스크</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D4382C"/>
                          </a:solidFill>
                        </a:rPr>
                        <a:t>약 2.1억원 (상여처분 시)</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3B82F6"/>
                          </a:solidFill>
                        </a:rPr>
                        <a:t>0원</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0369A1"/>
                          </a:solidFill>
                        </a:rPr>
                        <a:t>✔ 리스크 완전 해소</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extLst>
                  <a:ext uri="{0D108BD9-81ED-4DB2-BD59-A6C34878D82A}">
                    <a16:rowId xmlns:a16="http://schemas.microsoft.com/office/drawing/2014/main" val="10003"/>
                  </a:ext>
                </a:extLst>
              </a:tr>
              <a:tr h="384048">
                <a:tc>
                  <a:txBody>
                    <a:bodyPr/>
                    <a:lstStyle/>
                    <a:p>
                      <a:pPr marL="0" indent="0" algn="ctr">
                        <a:buNone/>
                      </a:pPr>
                      <a:r>
                        <a:rPr lang="en-US" sz="900" b="1" dirty="0">
                          <a:solidFill>
                            <a:srgbClr val="2B2B2B"/>
                          </a:solidFill>
                        </a:rPr>
                        <a:t>기업 무형자산</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1000" b="1" dirty="0">
                          <a:solidFill>
                            <a:srgbClr val="2B2B2B"/>
                          </a:solidFill>
                        </a:rPr>
                        <a:t>0원</a:t>
                      </a:r>
                      <a:endParaRPr lang="en-US" sz="10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1000" b="1" dirty="0">
                          <a:solidFill>
                            <a:srgbClr val="3B82F6"/>
                          </a:solidFill>
                        </a:rPr>
                        <a:t>3억원 (특허권)</a:t>
                      </a:r>
                      <a:endParaRPr lang="en-US" sz="10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900" b="1" dirty="0">
                          <a:solidFill>
                            <a:srgbClr val="0369A1"/>
                          </a:solidFill>
                        </a:rPr>
                        <a:t>▲ 기업가치 증대</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extLst>
                  <a:ext uri="{0D108BD9-81ED-4DB2-BD59-A6C34878D82A}">
                    <a16:rowId xmlns:a16="http://schemas.microsoft.com/office/drawing/2014/main" val="10004"/>
                  </a:ext>
                </a:extLst>
              </a:tr>
            </a:tbl>
          </a:graphicData>
        </a:graphic>
      </p:graphicFrame>
      <p:sp>
        <p:nvSpPr>
          <p:cNvPr id="9" name="Text 6"/>
          <p:cNvSpPr/>
          <p:nvPr/>
        </p:nvSpPr>
        <p:spPr>
          <a:xfrm>
            <a:off x="457200" y="3429000"/>
            <a:ext cx="8229600" cy="457200"/>
          </a:xfrm>
          <a:prstGeom prst="rect">
            <a:avLst/>
          </a:prstGeom>
          <a:noFill/>
          <a:ln/>
        </p:spPr>
        <p:txBody>
          <a:bodyPr wrap="square" rtlCol="0" anchor="t"/>
          <a:lstStyle/>
          <a:p>
            <a:pPr marL="0" indent="0">
              <a:lnSpc>
                <a:spcPct val="115000"/>
              </a:lnSpc>
              <a:buNone/>
            </a:pPr>
            <a:r>
              <a:rPr lang="en-US" sz="800" dirty="0">
                <a:solidFill>
                  <a:srgbClr val="4A5568"/>
                </a:solidFill>
                <a:latin typeface="맑은 고딕" pitchFamily="34" charset="0"/>
                <a:ea typeface="맑은 고딕" pitchFamily="34" charset="-122"/>
                <a:cs typeface="맑은 고딕" pitchFamily="34" charset="-120"/>
              </a:rPr>
              <a:t>※ '실질 부채비율'은 가지급금의 부실자산 성격을 반영한 내부 관리지표. 특허권은 K-IFRS 기준 무형자산으로 인식되며 세법상 상각기간 5년.</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18</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VII. 실행 로드맵 (Plan A 기준) (1/7)</a:t>
            </a:r>
            <a:endParaRPr lang="en-US" sz="15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가지급금 정리로 세무리스크 해소하기</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18 / 62</a:t>
            </a:r>
            <a:endParaRPr lang="en-US" sz="800" dirty="0"/>
          </a:p>
        </p:txBody>
      </p:sp>
      <p:sp>
        <p:nvSpPr>
          <p:cNvPr id="7" name="Text 5"/>
          <p:cNvSpPr/>
          <p:nvPr/>
        </p:nvSpPr>
        <p:spPr>
          <a:xfrm>
            <a:off x="457200" y="685800"/>
            <a:ext cx="8229600" cy="365760"/>
          </a:xfrm>
          <a:prstGeom prst="rect">
            <a:avLst/>
          </a:prstGeom>
          <a:noFill/>
          <a:ln/>
        </p:spPr>
        <p:txBody>
          <a:bodyPr wrap="square"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1. Phase 1 상세 실행계획 (1-3개월)</a:t>
            </a:r>
            <a:endParaRPr lang="en-US" sz="1400" dirty="0"/>
          </a:p>
        </p:txBody>
      </p:sp>
      <p:graphicFrame>
        <p:nvGraphicFramePr>
          <p:cNvPr id="20" name="Table 0"/>
          <p:cNvGraphicFramePr>
            <a:graphicFrameLocks noGrp="1"/>
          </p:cNvGraphicFramePr>
          <p:nvPr>
            <p:extLst>
              <p:ext uri="{D42A27DB-BD31-4B8C-83A1-F6EECF244321}">
                <p14:modId xmlns:p14="http://schemas.microsoft.com/office/powerpoint/2010/main" val="933775614"/>
              </p:ext>
            </p:extLst>
          </p:nvPr>
        </p:nvGraphicFramePr>
        <p:xfrm>
          <a:off x="457200" y="1143000"/>
          <a:ext cx="8229600" cy="1920240"/>
        </p:xfrm>
        <a:graphic>
          <a:graphicData uri="http://schemas.openxmlformats.org/drawingml/2006/table">
            <a:tbl>
              <a:tblPr/>
              <a:tblGrid>
                <a:gridCol w="118872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384048">
                <a:tc>
                  <a:txBody>
                    <a:bodyPr/>
                    <a:lstStyle/>
                    <a:p>
                      <a:pPr marL="0" indent="0" algn="ctr">
                        <a:buNone/>
                      </a:pPr>
                      <a:r>
                        <a:rPr lang="en-US" sz="900" b="1" dirty="0">
                          <a:solidFill>
                            <a:srgbClr val="FFFFFF"/>
                          </a:solidFill>
                        </a:rPr>
                        <a:t>주차</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rPr>
                        <a:t>실행 항목</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buNone/>
                      </a:pPr>
                      <a:r>
                        <a:rPr lang="en-US" sz="900" b="1" dirty="0">
                          <a:solidFill>
                            <a:srgbClr val="FFFFFF"/>
                          </a:solidFill>
                        </a:rPr>
                        <a:t>담당 주체</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84048">
                <a:tc>
                  <a:txBody>
                    <a:bodyPr/>
                    <a:lstStyle/>
                    <a:p>
                      <a:pPr marL="0" indent="0" algn="ctr">
                        <a:buNone/>
                      </a:pPr>
                      <a:r>
                        <a:rPr lang="en-US" sz="900" b="1" dirty="0">
                          <a:solidFill>
                            <a:srgbClr val="2B2B2B"/>
                          </a:solidFill>
                        </a:rPr>
                        <a:t>Week 1-2</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buNone/>
                      </a:pPr>
                      <a:r>
                        <a:rPr lang="en-US" sz="900" dirty="0">
                          <a:solidFill>
                            <a:srgbClr val="2B2B2B"/>
                          </a:solidFill>
                        </a:rPr>
                        <a:t>변리사 선정 및 특허출원 계약, 정관 및 임원보수규정 개정안 작성</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buNone/>
                      </a:pPr>
                      <a:r>
                        <a:rPr lang="en-US" sz="900" dirty="0">
                          <a:solidFill>
                            <a:srgbClr val="2B2B2B"/>
                          </a:solidFill>
                        </a:rPr>
                        <a:t>컨설턴트, 법무팀</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1"/>
                  </a:ext>
                </a:extLst>
              </a:tr>
              <a:tr h="384048">
                <a:tc>
                  <a:txBody>
                    <a:bodyPr/>
                    <a:lstStyle/>
                    <a:p>
                      <a:pPr marL="0" indent="0" algn="ctr">
                        <a:buNone/>
                      </a:pPr>
                      <a:r>
                        <a:rPr lang="en-US" sz="900" b="1" dirty="0">
                          <a:solidFill>
                            <a:srgbClr val="2B2B2B"/>
                          </a:solidFill>
                        </a:rPr>
                        <a:t>Week 3-4</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2B2B2B"/>
                          </a:solidFill>
                        </a:rPr>
                        <a:t>주주총회 소집 통지 및 의안 설명자료 작성, 세무사 사전 검토</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2B2B2B"/>
                          </a:solidFill>
                        </a:rPr>
                        <a:t>재무팀, 컨설턴트</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ctr">
                        <a:buNone/>
                      </a:pPr>
                      <a:r>
                        <a:rPr lang="en-US" sz="900" b="1" dirty="0">
                          <a:solidFill>
                            <a:srgbClr val="2B2B2B"/>
                          </a:solidFill>
                        </a:rPr>
                        <a:t>Month 2</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buNone/>
                      </a:pPr>
                      <a:r>
                        <a:rPr lang="en-US" sz="900" dirty="0">
                          <a:solidFill>
                            <a:srgbClr val="2B2B2B"/>
                          </a:solidFill>
                        </a:rPr>
                        <a:t>주주총회 개최 및 의결, 특허출원 완료, 감정평가기관 선정</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buNone/>
                      </a:pPr>
                      <a:r>
                        <a:rPr lang="en-US" sz="900" dirty="0">
                          <a:solidFill>
                            <a:srgbClr val="2B2B2B"/>
                          </a:solidFill>
                        </a:rPr>
                        <a:t>대표이사, 재무팀</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3"/>
                  </a:ext>
                </a:extLst>
              </a:tr>
              <a:tr h="384048">
                <a:tc>
                  <a:txBody>
                    <a:bodyPr/>
                    <a:lstStyle/>
                    <a:p>
                      <a:pPr marL="0" indent="0" algn="ctr">
                        <a:buNone/>
                      </a:pPr>
                      <a:r>
                        <a:rPr lang="en-US" sz="900" b="1" dirty="0">
                          <a:solidFill>
                            <a:srgbClr val="2B2B2B"/>
                          </a:solidFill>
                        </a:rPr>
                        <a:t>Month 3</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2B2B2B"/>
                          </a:solidFill>
                        </a:rPr>
                        <a:t>가치평가 보고서 수령, 양수도 계약서 작성, 회계처리 방안 확정</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2B2B2B"/>
                          </a:solidFill>
                        </a:rPr>
                        <a:t>컨설턴트, 재무팀</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9" name="Text 6"/>
          <p:cNvSpPr/>
          <p:nvPr/>
        </p:nvSpPr>
        <p:spPr>
          <a:xfrm>
            <a:off x="457200" y="3429000"/>
            <a:ext cx="8229600" cy="365760"/>
          </a:xfrm>
          <a:prstGeom prst="rect">
            <a:avLst/>
          </a:prstGeom>
          <a:noFill/>
          <a:ln/>
        </p:spPr>
        <p:txBody>
          <a:bodyPr wrap="square"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2. 단계별 리스크 체크포인트</a:t>
            </a:r>
            <a:endParaRPr lang="en-US" sz="1400" dirty="0"/>
          </a:p>
        </p:txBody>
      </p:sp>
      <p:sp>
        <p:nvSpPr>
          <p:cNvPr id="10" name="Shape 7"/>
          <p:cNvSpPr/>
          <p:nvPr/>
        </p:nvSpPr>
        <p:spPr>
          <a:xfrm>
            <a:off x="457200" y="3886200"/>
            <a:ext cx="3931920" cy="1371600"/>
          </a:xfrm>
          <a:prstGeom prst="rect">
            <a:avLst/>
          </a:prstGeom>
          <a:solidFill>
            <a:srgbClr val="F7F8FA"/>
          </a:solidFill>
          <a:ln w="12700">
            <a:solidFill>
              <a:srgbClr val="E2E8F0"/>
            </a:solidFill>
            <a:prstDash val="solid"/>
          </a:ln>
        </p:spPr>
        <p:txBody>
          <a:bodyPr/>
          <a:lstStyle/>
          <a:p>
            <a:endParaRPr lang="ko-KR" altLang="en-US"/>
          </a:p>
        </p:txBody>
      </p:sp>
      <p:sp>
        <p:nvSpPr>
          <p:cNvPr id="11" name="Text 8"/>
          <p:cNvSpPr/>
          <p:nvPr/>
        </p:nvSpPr>
        <p:spPr>
          <a:xfrm>
            <a:off x="640080" y="3931920"/>
            <a:ext cx="3657600" cy="22860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특허 가치평가 단계</a:t>
            </a:r>
            <a:endParaRPr lang="en-US" sz="1100" dirty="0"/>
          </a:p>
        </p:txBody>
      </p:sp>
      <p:sp>
        <p:nvSpPr>
          <p:cNvPr id="12" name="Text 9"/>
          <p:cNvSpPr/>
          <p:nvPr/>
        </p:nvSpPr>
        <p:spPr>
          <a:xfrm>
            <a:off x="640080" y="4206240"/>
            <a:ext cx="3566160" cy="960120"/>
          </a:xfrm>
          <a:prstGeom prst="rect">
            <a:avLst/>
          </a:prstGeom>
          <a:noFill/>
          <a:ln/>
        </p:spPr>
        <p:txBody>
          <a:bodyPr wrap="square" rtlCol="0" anchor="t"/>
          <a:lstStyle/>
          <a:p>
            <a:pPr marL="0" indent="0">
              <a:buNone/>
            </a:pPr>
            <a:r>
              <a:rPr lang="en-US" sz="900" dirty="0">
                <a:solidFill>
                  <a:srgbClr val="4A5568"/>
                </a:solidFill>
                <a:latin typeface="맑은 고딕" pitchFamily="34" charset="0"/>
                <a:ea typeface="맑은 고딕" pitchFamily="34" charset="-122"/>
                <a:cs typeface="맑은 고딕" pitchFamily="34" charset="-120"/>
              </a:rPr>
              <a:t>🔍 체크사항: 평가액이 시장가치 대비 합리적인가?</a:t>
            </a:r>
            <a:endParaRPr lang="en-US" sz="900" dirty="0"/>
          </a:p>
          <a:p>
            <a:pPr marL="0" indent="0">
              <a:buNone/>
            </a:pPr>
            <a:r>
              <a:rPr lang="en-US" sz="900" dirty="0">
                <a:solidFill>
                  <a:srgbClr val="4A5568"/>
                </a:solidFill>
                <a:latin typeface="맑은 고딕" pitchFamily="34" charset="0"/>
                <a:ea typeface="맑은 고딕" pitchFamily="34" charset="-122"/>
                <a:cs typeface="맑은 고딕" pitchFamily="34" charset="-120"/>
              </a:rPr>
              <a:t>📋 준비서류: 기술분석서, 시장성 분석, 수익성 분석</a:t>
            </a:r>
            <a:endParaRPr lang="en-US" sz="900" dirty="0"/>
          </a:p>
          <a:p>
            <a:pPr marL="0" indent="0">
              <a:buNone/>
            </a:pPr>
            <a:r>
              <a:rPr lang="en-US" sz="900" dirty="0">
                <a:solidFill>
                  <a:srgbClr val="4A5568"/>
                </a:solidFill>
                <a:latin typeface="맑은 고딕" pitchFamily="34" charset="0"/>
                <a:ea typeface="맑은 고딕" pitchFamily="34" charset="-122"/>
                <a:cs typeface="맑은 고딕" pitchFamily="34" charset="-120"/>
              </a:rPr>
              <a:t>🎯 목표: 2개 기관 이상 교차검증</a:t>
            </a:r>
            <a:endParaRPr lang="en-US" sz="900" dirty="0"/>
          </a:p>
        </p:txBody>
      </p:sp>
      <p:sp>
        <p:nvSpPr>
          <p:cNvPr id="13" name="Shape 10"/>
          <p:cNvSpPr/>
          <p:nvPr/>
        </p:nvSpPr>
        <p:spPr>
          <a:xfrm>
            <a:off x="4754880" y="3886200"/>
            <a:ext cx="3931920" cy="1371600"/>
          </a:xfrm>
          <a:prstGeom prst="rect">
            <a:avLst/>
          </a:prstGeom>
          <a:solidFill>
            <a:srgbClr val="F7F8FA"/>
          </a:solidFill>
          <a:ln w="12700">
            <a:solidFill>
              <a:srgbClr val="E2E8F0"/>
            </a:solidFill>
            <a:prstDash val="solid"/>
          </a:ln>
        </p:spPr>
        <p:txBody>
          <a:bodyPr/>
          <a:lstStyle/>
          <a:p>
            <a:endParaRPr lang="ko-KR" altLang="en-US"/>
          </a:p>
        </p:txBody>
      </p:sp>
      <p:sp>
        <p:nvSpPr>
          <p:cNvPr id="14" name="Text 11"/>
          <p:cNvSpPr/>
          <p:nvPr/>
        </p:nvSpPr>
        <p:spPr>
          <a:xfrm>
            <a:off x="4937760" y="3931920"/>
            <a:ext cx="3657600" cy="22860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자본화 실행 단계</a:t>
            </a:r>
            <a:endParaRPr lang="en-US" sz="1100" dirty="0"/>
          </a:p>
        </p:txBody>
      </p:sp>
      <p:sp>
        <p:nvSpPr>
          <p:cNvPr id="15" name="Text 12"/>
          <p:cNvSpPr/>
          <p:nvPr/>
        </p:nvSpPr>
        <p:spPr>
          <a:xfrm>
            <a:off x="4937760" y="4206240"/>
            <a:ext cx="3566160" cy="960120"/>
          </a:xfrm>
          <a:prstGeom prst="rect">
            <a:avLst/>
          </a:prstGeom>
          <a:noFill/>
          <a:ln/>
        </p:spPr>
        <p:txBody>
          <a:bodyPr wrap="square" rtlCol="0" anchor="t"/>
          <a:lstStyle/>
          <a:p>
            <a:pPr marL="0" indent="0">
              <a:buNone/>
            </a:pPr>
            <a:r>
              <a:rPr lang="en-US" sz="900" dirty="0">
                <a:solidFill>
                  <a:srgbClr val="4A5568"/>
                </a:solidFill>
                <a:latin typeface="맑은 고딕" pitchFamily="34" charset="0"/>
                <a:ea typeface="맑은 고딕" pitchFamily="34" charset="-122"/>
                <a:cs typeface="맑은 고딕" pitchFamily="34" charset="-120"/>
              </a:rPr>
              <a:t>🔍 체크사항: 증여의제 과세 위험은 없는가?</a:t>
            </a:r>
            <a:endParaRPr lang="en-US" sz="900" dirty="0"/>
          </a:p>
          <a:p>
            <a:pPr marL="0" indent="0">
              <a:buNone/>
            </a:pPr>
            <a:r>
              <a:rPr lang="en-US" sz="900" dirty="0">
                <a:solidFill>
                  <a:srgbClr val="4A5568"/>
                </a:solidFill>
                <a:latin typeface="맑은 고딕" pitchFamily="34" charset="0"/>
                <a:ea typeface="맑은 고딕" pitchFamily="34" charset="-122"/>
                <a:cs typeface="맑은 고딕" pitchFamily="34" charset="-120"/>
              </a:rPr>
              <a:t>📋 준비서류: 감정평가서, 이사회 의사록, 계약서</a:t>
            </a:r>
            <a:endParaRPr lang="en-US" sz="900" dirty="0"/>
          </a:p>
          <a:p>
            <a:pPr marL="0" indent="0">
              <a:buNone/>
            </a:pPr>
            <a:r>
              <a:rPr lang="en-US" sz="900" dirty="0">
                <a:solidFill>
                  <a:srgbClr val="4A5568"/>
                </a:solidFill>
                <a:latin typeface="맑은 고딕" pitchFamily="34" charset="0"/>
                <a:ea typeface="맑은 고딕" pitchFamily="34" charset="-122"/>
                <a:cs typeface="맑은 고딕" pitchFamily="34" charset="-120"/>
              </a:rPr>
              <a:t>🎯 목표: 절차적 하자 제로</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19</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VII. 실행 로드맵 (Plan A 기준) (2/7)</a:t>
            </a:r>
            <a:endParaRPr lang="en-US" sz="15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가지급금 정리로 세무리스크 해소하기</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19 / 62</a:t>
            </a:r>
            <a:endParaRPr lang="en-US" sz="800" dirty="0"/>
          </a:p>
        </p:txBody>
      </p:sp>
      <p:sp>
        <p:nvSpPr>
          <p:cNvPr id="7" name="Text 5"/>
          <p:cNvSpPr/>
          <p:nvPr/>
        </p:nvSpPr>
        <p:spPr>
          <a:xfrm>
            <a:off x="457200" y="685800"/>
            <a:ext cx="8229600" cy="365760"/>
          </a:xfrm>
          <a:prstGeom prst="rect">
            <a:avLst/>
          </a:prstGeom>
          <a:noFill/>
          <a:ln/>
        </p:spPr>
        <p:txBody>
          <a:bodyPr wrap="square"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3. 법적 리스크 체크리스트 (필수)</a:t>
            </a:r>
            <a:endParaRPr lang="en-US" sz="1400" dirty="0"/>
          </a:p>
        </p:txBody>
      </p:sp>
      <p:sp>
        <p:nvSpPr>
          <p:cNvPr id="8" name="Shape 6"/>
          <p:cNvSpPr/>
          <p:nvPr/>
        </p:nvSpPr>
        <p:spPr>
          <a:xfrm>
            <a:off x="457200" y="1143000"/>
            <a:ext cx="3931920" cy="2560320"/>
          </a:xfrm>
          <a:prstGeom prst="rect">
            <a:avLst/>
          </a:prstGeom>
          <a:solidFill>
            <a:srgbClr val="FFFBEB"/>
          </a:solidFill>
          <a:ln w="12700">
            <a:solidFill>
              <a:srgbClr val="FDE68A"/>
            </a:solidFill>
            <a:prstDash val="solid"/>
          </a:ln>
        </p:spPr>
        <p:txBody>
          <a:bodyPr/>
          <a:lstStyle/>
          <a:p>
            <a:endParaRPr lang="ko-KR" altLang="en-US"/>
          </a:p>
        </p:txBody>
      </p:sp>
      <p:sp>
        <p:nvSpPr>
          <p:cNvPr id="9" name="Shape 7"/>
          <p:cNvSpPr/>
          <p:nvPr/>
        </p:nvSpPr>
        <p:spPr>
          <a:xfrm>
            <a:off x="457200" y="1143000"/>
            <a:ext cx="3931920" cy="228600"/>
          </a:xfrm>
          <a:prstGeom prst="rect">
            <a:avLst/>
          </a:prstGeom>
          <a:solidFill>
            <a:srgbClr val="D97706"/>
          </a:solidFill>
          <a:ln/>
        </p:spPr>
        <p:txBody>
          <a:bodyPr/>
          <a:lstStyle/>
          <a:p>
            <a:endParaRPr lang="ko-KR" altLang="en-US"/>
          </a:p>
        </p:txBody>
      </p:sp>
      <p:sp>
        <p:nvSpPr>
          <p:cNvPr id="10" name="Text 8"/>
          <p:cNvSpPr/>
          <p:nvPr/>
        </p:nvSpPr>
        <p:spPr>
          <a:xfrm>
            <a:off x="640080" y="1463040"/>
            <a:ext cx="3657600" cy="228600"/>
          </a:xfrm>
          <a:prstGeom prst="rect">
            <a:avLst/>
          </a:prstGeom>
          <a:noFill/>
          <a:ln/>
        </p:spPr>
        <p:txBody>
          <a:bodyPr wrap="square" rtlCol="0" anchor="ctr"/>
          <a:lstStyle/>
          <a:p>
            <a:pPr marL="0" indent="0">
              <a:buNone/>
            </a:pPr>
            <a:r>
              <a:rPr lang="en-US" sz="1100" b="1" dirty="0">
                <a:solidFill>
                  <a:srgbClr val="92400E"/>
                </a:solidFill>
                <a:latin typeface="맑은 고딕" pitchFamily="34" charset="0"/>
                <a:ea typeface="맑은 고딕" pitchFamily="34" charset="-122"/>
                <a:cs typeface="맑은 고딕" pitchFamily="34" charset="-120"/>
              </a:rPr>
              <a:t>특허권 자본화 전</a:t>
            </a:r>
            <a:endParaRPr lang="en-US" sz="1100" dirty="0"/>
          </a:p>
        </p:txBody>
      </p:sp>
      <p:sp>
        <p:nvSpPr>
          <p:cNvPr id="11" name="Text 9"/>
          <p:cNvSpPr/>
          <p:nvPr/>
        </p:nvSpPr>
        <p:spPr>
          <a:xfrm>
            <a:off x="640080" y="1737360"/>
            <a:ext cx="3566160" cy="320040"/>
          </a:xfrm>
          <a:prstGeom prst="rect">
            <a:avLst/>
          </a:prstGeom>
          <a:noFill/>
          <a:ln/>
        </p:spPr>
        <p:txBody>
          <a:bodyPr wrap="square" rtlCol="0" anchor="ctr"/>
          <a:lstStyle/>
          <a:p>
            <a:pPr marL="0" indent="0">
              <a:buNone/>
            </a:pPr>
            <a:r>
              <a:rPr lang="en-US" sz="900" dirty="0">
                <a:solidFill>
                  <a:srgbClr val="4A5568"/>
                </a:solidFill>
                <a:latin typeface="맑은 고딕" pitchFamily="34" charset="0"/>
                <a:ea typeface="맑은 고딕" pitchFamily="34" charset="-122"/>
                <a:cs typeface="맑은 고딕" pitchFamily="34" charset="-120"/>
              </a:rPr>
              <a:t>☐ 대표이사 근로계약서 정비 완료</a:t>
            </a:r>
            <a:endParaRPr lang="en-US" sz="900" dirty="0"/>
          </a:p>
        </p:txBody>
      </p:sp>
      <p:sp>
        <p:nvSpPr>
          <p:cNvPr id="12" name="Text 10"/>
          <p:cNvSpPr/>
          <p:nvPr/>
        </p:nvSpPr>
        <p:spPr>
          <a:xfrm>
            <a:off x="640080" y="2084832"/>
            <a:ext cx="3566160" cy="320040"/>
          </a:xfrm>
          <a:prstGeom prst="rect">
            <a:avLst/>
          </a:prstGeom>
          <a:noFill/>
          <a:ln/>
        </p:spPr>
        <p:txBody>
          <a:bodyPr wrap="square" rtlCol="0" anchor="ctr"/>
          <a:lstStyle/>
          <a:p>
            <a:pPr marL="0" indent="0">
              <a:buNone/>
            </a:pPr>
            <a:r>
              <a:rPr lang="en-US" sz="900" dirty="0">
                <a:solidFill>
                  <a:srgbClr val="4A5568"/>
                </a:solidFill>
                <a:latin typeface="맑은 고딕" pitchFamily="34" charset="0"/>
                <a:ea typeface="맑은 고딕" pitchFamily="34" charset="-122"/>
                <a:cs typeface="맑은 고딕" pitchFamily="34" charset="-120"/>
              </a:rPr>
              <a:t>☐ 발명신고서 및 직무발명 인정서류 구비</a:t>
            </a:r>
            <a:endParaRPr lang="en-US" sz="900" dirty="0"/>
          </a:p>
        </p:txBody>
      </p:sp>
      <p:sp>
        <p:nvSpPr>
          <p:cNvPr id="13" name="Text 11"/>
          <p:cNvSpPr/>
          <p:nvPr/>
        </p:nvSpPr>
        <p:spPr>
          <a:xfrm>
            <a:off x="640080" y="2432304"/>
            <a:ext cx="3566160" cy="320040"/>
          </a:xfrm>
          <a:prstGeom prst="rect">
            <a:avLst/>
          </a:prstGeom>
          <a:noFill/>
          <a:ln/>
        </p:spPr>
        <p:txBody>
          <a:bodyPr wrap="square" rtlCol="0" anchor="ctr"/>
          <a:lstStyle/>
          <a:p>
            <a:pPr marL="0" indent="0">
              <a:buNone/>
            </a:pPr>
            <a:r>
              <a:rPr lang="en-US" sz="900" dirty="0">
                <a:solidFill>
                  <a:srgbClr val="4A5568"/>
                </a:solidFill>
                <a:latin typeface="맑은 고딕" pitchFamily="34" charset="0"/>
                <a:ea typeface="맑은 고딕" pitchFamily="34" charset="-122"/>
                <a:cs typeface="맑은 고딕" pitchFamily="34" charset="-120"/>
              </a:rPr>
              <a:t>☐ 기술의 독창성 및 신규성 검증 완료</a:t>
            </a:r>
            <a:endParaRPr lang="en-US" sz="900" dirty="0"/>
          </a:p>
        </p:txBody>
      </p:sp>
      <p:sp>
        <p:nvSpPr>
          <p:cNvPr id="14" name="Text 12"/>
          <p:cNvSpPr/>
          <p:nvPr/>
        </p:nvSpPr>
        <p:spPr>
          <a:xfrm>
            <a:off x="640080" y="2779776"/>
            <a:ext cx="3566160" cy="320040"/>
          </a:xfrm>
          <a:prstGeom prst="rect">
            <a:avLst/>
          </a:prstGeom>
          <a:noFill/>
          <a:ln/>
        </p:spPr>
        <p:txBody>
          <a:bodyPr wrap="square" rtlCol="0" anchor="ctr"/>
          <a:lstStyle/>
          <a:p>
            <a:pPr marL="0" indent="0">
              <a:buNone/>
            </a:pPr>
            <a:r>
              <a:rPr lang="en-US" sz="900" dirty="0">
                <a:solidFill>
                  <a:srgbClr val="4A5568"/>
                </a:solidFill>
                <a:latin typeface="맑은 고딕" pitchFamily="34" charset="0"/>
                <a:ea typeface="맑은 고딕" pitchFamily="34" charset="-122"/>
                <a:cs typeface="맑은 고딕" pitchFamily="34" charset="-120"/>
              </a:rPr>
              <a:t>☐ 복수기관 가치평가 의뢰 및 교차검증</a:t>
            </a:r>
            <a:endParaRPr lang="en-US" sz="900" dirty="0"/>
          </a:p>
        </p:txBody>
      </p:sp>
      <p:sp>
        <p:nvSpPr>
          <p:cNvPr id="15" name="Text 13"/>
          <p:cNvSpPr/>
          <p:nvPr/>
        </p:nvSpPr>
        <p:spPr>
          <a:xfrm>
            <a:off x="640080" y="3127248"/>
            <a:ext cx="3566160" cy="320040"/>
          </a:xfrm>
          <a:prstGeom prst="rect">
            <a:avLst/>
          </a:prstGeom>
          <a:noFill/>
          <a:ln/>
        </p:spPr>
        <p:txBody>
          <a:bodyPr wrap="square" rtlCol="0" anchor="ctr"/>
          <a:lstStyle/>
          <a:p>
            <a:pPr marL="0" indent="0">
              <a:buNone/>
            </a:pPr>
            <a:r>
              <a:rPr lang="en-US" sz="900" dirty="0">
                <a:solidFill>
                  <a:srgbClr val="4A5568"/>
                </a:solidFill>
                <a:latin typeface="맑은 고딕" pitchFamily="34" charset="0"/>
                <a:ea typeface="맑은 고딕" pitchFamily="34" charset="-122"/>
                <a:cs typeface="맑은 고딕" pitchFamily="34" charset="-120"/>
              </a:rPr>
              <a:t>☐ 증여의제 과세 시뮬레이션 완료</a:t>
            </a:r>
            <a:endParaRPr lang="en-US" sz="900" dirty="0"/>
          </a:p>
        </p:txBody>
      </p:sp>
      <p:sp>
        <p:nvSpPr>
          <p:cNvPr id="16" name="Shape 14"/>
          <p:cNvSpPr/>
          <p:nvPr/>
        </p:nvSpPr>
        <p:spPr>
          <a:xfrm>
            <a:off x="4754880" y="1143000"/>
            <a:ext cx="3931920" cy="2560320"/>
          </a:xfrm>
          <a:prstGeom prst="rect">
            <a:avLst/>
          </a:prstGeom>
          <a:solidFill>
            <a:srgbClr val="FFFBEB"/>
          </a:solidFill>
          <a:ln w="12700">
            <a:solidFill>
              <a:srgbClr val="FDE68A"/>
            </a:solidFill>
            <a:prstDash val="solid"/>
          </a:ln>
        </p:spPr>
        <p:txBody>
          <a:bodyPr/>
          <a:lstStyle/>
          <a:p>
            <a:endParaRPr lang="ko-KR" altLang="en-US"/>
          </a:p>
        </p:txBody>
      </p:sp>
      <p:sp>
        <p:nvSpPr>
          <p:cNvPr id="17" name="Shape 15"/>
          <p:cNvSpPr/>
          <p:nvPr/>
        </p:nvSpPr>
        <p:spPr>
          <a:xfrm>
            <a:off x="4754880" y="1143000"/>
            <a:ext cx="3931920" cy="228600"/>
          </a:xfrm>
          <a:prstGeom prst="rect">
            <a:avLst/>
          </a:prstGeom>
          <a:solidFill>
            <a:srgbClr val="D97706"/>
          </a:solidFill>
          <a:ln/>
        </p:spPr>
        <p:txBody>
          <a:bodyPr/>
          <a:lstStyle/>
          <a:p>
            <a:endParaRPr lang="ko-KR" altLang="en-US"/>
          </a:p>
        </p:txBody>
      </p:sp>
      <p:sp>
        <p:nvSpPr>
          <p:cNvPr id="18" name="Text 16"/>
          <p:cNvSpPr/>
          <p:nvPr/>
        </p:nvSpPr>
        <p:spPr>
          <a:xfrm>
            <a:off x="4937760" y="1463040"/>
            <a:ext cx="3657600" cy="228600"/>
          </a:xfrm>
          <a:prstGeom prst="rect">
            <a:avLst/>
          </a:prstGeom>
          <a:noFill/>
          <a:ln/>
        </p:spPr>
        <p:txBody>
          <a:bodyPr wrap="square" rtlCol="0" anchor="ctr"/>
          <a:lstStyle/>
          <a:p>
            <a:pPr marL="0" indent="0">
              <a:buNone/>
            </a:pPr>
            <a:r>
              <a:rPr lang="en-US" sz="1100" b="1" dirty="0">
                <a:solidFill>
                  <a:srgbClr val="92400E"/>
                </a:solidFill>
                <a:latin typeface="맑은 고딕" pitchFamily="34" charset="0"/>
                <a:ea typeface="맑은 고딕" pitchFamily="34" charset="-122"/>
                <a:cs typeface="맑은 고딕" pitchFamily="34" charset="-120"/>
              </a:rPr>
              <a:t>상여 지급 전</a:t>
            </a:r>
            <a:endParaRPr lang="en-US" sz="1100" dirty="0"/>
          </a:p>
        </p:txBody>
      </p:sp>
      <p:sp>
        <p:nvSpPr>
          <p:cNvPr id="19" name="Text 17"/>
          <p:cNvSpPr/>
          <p:nvPr/>
        </p:nvSpPr>
        <p:spPr>
          <a:xfrm>
            <a:off x="4937760" y="1737360"/>
            <a:ext cx="3566160" cy="320040"/>
          </a:xfrm>
          <a:prstGeom prst="rect">
            <a:avLst/>
          </a:prstGeom>
          <a:noFill/>
          <a:ln/>
        </p:spPr>
        <p:txBody>
          <a:bodyPr wrap="square" rtlCol="0" anchor="ctr"/>
          <a:lstStyle/>
          <a:p>
            <a:pPr marL="0" indent="0">
              <a:buNone/>
            </a:pPr>
            <a:r>
              <a:rPr lang="en-US" sz="900" dirty="0">
                <a:solidFill>
                  <a:srgbClr val="4A5568"/>
                </a:solidFill>
                <a:latin typeface="맑은 고딕" pitchFamily="34" charset="0"/>
                <a:ea typeface="맑은 고딕" pitchFamily="34" charset="-122"/>
                <a:cs typeface="맑은 고딕" pitchFamily="34" charset="-120"/>
              </a:rPr>
              <a:t>☐ 동종업계 임원보수 수준 조사 완료</a:t>
            </a:r>
            <a:endParaRPr lang="en-US" sz="900" dirty="0"/>
          </a:p>
        </p:txBody>
      </p:sp>
      <p:sp>
        <p:nvSpPr>
          <p:cNvPr id="20" name="Text 18"/>
          <p:cNvSpPr/>
          <p:nvPr/>
        </p:nvSpPr>
        <p:spPr>
          <a:xfrm>
            <a:off x="4937760" y="2084832"/>
            <a:ext cx="3566160" cy="320040"/>
          </a:xfrm>
          <a:prstGeom prst="rect">
            <a:avLst/>
          </a:prstGeom>
          <a:noFill/>
          <a:ln/>
        </p:spPr>
        <p:txBody>
          <a:bodyPr wrap="square" rtlCol="0" anchor="ctr"/>
          <a:lstStyle/>
          <a:p>
            <a:pPr marL="0" indent="0">
              <a:buNone/>
            </a:pPr>
            <a:r>
              <a:rPr lang="en-US" sz="900" dirty="0">
                <a:solidFill>
                  <a:srgbClr val="4A5568"/>
                </a:solidFill>
                <a:latin typeface="맑은 고딕" pitchFamily="34" charset="0"/>
                <a:ea typeface="맑은 고딕" pitchFamily="34" charset="-122"/>
                <a:cs typeface="맑은 고딕" pitchFamily="34" charset="-120"/>
              </a:rPr>
              <a:t>☐ 정관 및 보수규정 개정 완료</a:t>
            </a:r>
            <a:endParaRPr lang="en-US" sz="900" dirty="0"/>
          </a:p>
        </p:txBody>
      </p:sp>
      <p:sp>
        <p:nvSpPr>
          <p:cNvPr id="21" name="Text 19"/>
          <p:cNvSpPr/>
          <p:nvPr/>
        </p:nvSpPr>
        <p:spPr>
          <a:xfrm>
            <a:off x="4937760" y="2432304"/>
            <a:ext cx="3566160" cy="320040"/>
          </a:xfrm>
          <a:prstGeom prst="rect">
            <a:avLst/>
          </a:prstGeom>
          <a:noFill/>
          <a:ln/>
        </p:spPr>
        <p:txBody>
          <a:bodyPr wrap="square" rtlCol="0" anchor="ctr"/>
          <a:lstStyle/>
          <a:p>
            <a:pPr marL="0" indent="0">
              <a:buNone/>
            </a:pPr>
            <a:r>
              <a:rPr lang="en-US" sz="900" dirty="0">
                <a:solidFill>
                  <a:srgbClr val="4A5568"/>
                </a:solidFill>
                <a:latin typeface="맑은 고딕" pitchFamily="34" charset="0"/>
                <a:ea typeface="맑은 고딕" pitchFamily="34" charset="-122"/>
                <a:cs typeface="맑은 고딕" pitchFamily="34" charset="-120"/>
              </a:rPr>
              <a:t>☐ 주주총회 또는 이사회 결의 완료</a:t>
            </a:r>
            <a:endParaRPr lang="en-US" sz="900" dirty="0"/>
          </a:p>
        </p:txBody>
      </p:sp>
      <p:sp>
        <p:nvSpPr>
          <p:cNvPr id="22" name="Text 20"/>
          <p:cNvSpPr/>
          <p:nvPr/>
        </p:nvSpPr>
        <p:spPr>
          <a:xfrm>
            <a:off x="4937760" y="2779776"/>
            <a:ext cx="3566160" cy="320040"/>
          </a:xfrm>
          <a:prstGeom prst="rect">
            <a:avLst/>
          </a:prstGeom>
          <a:noFill/>
          <a:ln/>
        </p:spPr>
        <p:txBody>
          <a:bodyPr wrap="square" rtlCol="0" anchor="ctr"/>
          <a:lstStyle/>
          <a:p>
            <a:pPr marL="0" indent="0">
              <a:buNone/>
            </a:pPr>
            <a:r>
              <a:rPr lang="en-US" sz="900" dirty="0">
                <a:solidFill>
                  <a:srgbClr val="4A5568"/>
                </a:solidFill>
                <a:latin typeface="맑은 고딕" pitchFamily="34" charset="0"/>
                <a:ea typeface="맑은 고딕" pitchFamily="34" charset="-122"/>
                <a:cs typeface="맑은 고딕" pitchFamily="34" charset="-120"/>
              </a:rPr>
              <a:t>☐ 원천징수 및 4대보험 신고 준비 완료</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20</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VII. 실행 로드맵 (Plan A 기준) (3/7)</a:t>
            </a:r>
            <a:endParaRPr lang="en-US" sz="15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가지급금 정리로 세무리스크 해소하기</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20 / 62</a:t>
            </a:r>
            <a:endParaRPr lang="en-US" sz="800" dirty="0"/>
          </a:p>
        </p:txBody>
      </p:sp>
      <p:sp>
        <p:nvSpPr>
          <p:cNvPr id="7" name="Text 5"/>
          <p:cNvSpPr/>
          <p:nvPr/>
        </p:nvSpPr>
        <p:spPr>
          <a:xfrm>
            <a:off x="457200" y="685800"/>
            <a:ext cx="8229600" cy="365760"/>
          </a:xfrm>
          <a:prstGeom prst="rect">
            <a:avLst/>
          </a:prstGeom>
          <a:noFill/>
          <a:ln/>
        </p:spPr>
        <p:txBody>
          <a:bodyPr wrap="square"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4. 세무조사 시나리오별 대응전략</a:t>
            </a:r>
            <a:endParaRPr lang="en-US" sz="1400" dirty="0"/>
          </a:p>
        </p:txBody>
      </p:sp>
      <p:graphicFrame>
        <p:nvGraphicFramePr>
          <p:cNvPr id="22" name="Table 0"/>
          <p:cNvGraphicFramePr>
            <a:graphicFrameLocks noGrp="1"/>
          </p:cNvGraphicFramePr>
          <p:nvPr>
            <p:extLst>
              <p:ext uri="{D42A27DB-BD31-4B8C-83A1-F6EECF244321}">
                <p14:modId xmlns:p14="http://schemas.microsoft.com/office/powerpoint/2010/main" val="352529157"/>
              </p:ext>
            </p:extLst>
          </p:nvPr>
        </p:nvGraphicFramePr>
        <p:xfrm>
          <a:off x="457200" y="1143000"/>
          <a:ext cx="8229600" cy="1536192"/>
        </p:xfrm>
        <a:graphic>
          <a:graphicData uri="http://schemas.openxmlformats.org/drawingml/2006/table">
            <a:tbl>
              <a:tblPr/>
              <a:tblGrid>
                <a:gridCol w="228600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384048">
                <a:tc>
                  <a:txBody>
                    <a:bodyPr/>
                    <a:lstStyle/>
                    <a:p>
                      <a:pPr marL="0" indent="0" algn="ctr">
                        <a:buNone/>
                      </a:pPr>
                      <a:r>
                        <a:rPr lang="en-US" sz="900" b="1" dirty="0">
                          <a:solidFill>
                            <a:srgbClr val="FFFFFF"/>
                          </a:solidFill>
                        </a:rPr>
                        <a:t>시나리오</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rPr>
                        <a:t>대응 전략</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rPr>
                        <a:t>핵심 준비서류</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84048">
                <a:tc>
                  <a:txBody>
                    <a:bodyPr/>
                    <a:lstStyle/>
                    <a:p>
                      <a:pPr marL="0" indent="0" algn="ctr">
                        <a:buNone/>
                      </a:pPr>
                      <a:r>
                        <a:rPr lang="en-US" sz="900" b="1" dirty="0">
                          <a:solidFill>
                            <a:srgbClr val="2B2B2B"/>
                          </a:solidFill>
                        </a:rPr>
                        <a:t>1: 상환 과정 중 조사</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900" dirty="0">
                          <a:solidFill>
                            <a:srgbClr val="2B2B2B"/>
                          </a:solidFill>
                        </a:rPr>
                        <a:t>상환 진행상황과 합법적 재원 소명</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900" dirty="0">
                          <a:solidFill>
                            <a:srgbClr val="2B2B2B"/>
                          </a:solidFill>
                        </a:rPr>
                        <a:t>상환계획서, 이사회 의사록, 특허출원서</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1"/>
                  </a:ext>
                </a:extLst>
              </a:tr>
              <a:tr h="384048">
                <a:tc>
                  <a:txBody>
                    <a:bodyPr/>
                    <a:lstStyle/>
                    <a:p>
                      <a:pPr marL="0" indent="0" algn="ctr">
                        <a:buNone/>
                      </a:pPr>
                      <a:r>
                        <a:rPr lang="en-US" sz="900" b="1" dirty="0">
                          <a:solidFill>
                            <a:srgbClr val="2B2B2B"/>
                          </a:solidFill>
                        </a:rPr>
                        <a:t>2: 특허권 가치평가 문제 제기</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rPr>
                        <a:t>복수 감정기관 평가서 및 기술우위성 입증</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rPr>
                        <a:t>기술분석서, 시장분석서, 매출기여도 자료</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ctr">
                        <a:buNone/>
                      </a:pPr>
                      <a:r>
                        <a:rPr lang="en-US" sz="900" b="1" dirty="0">
                          <a:solidFill>
                            <a:srgbClr val="2B2B2B"/>
                          </a:solidFill>
                        </a:rPr>
                        <a:t>3: 인정이자 소급 적용</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900" dirty="0">
                          <a:solidFill>
                            <a:srgbClr val="2B2B2B"/>
                          </a:solidFill>
                        </a:rPr>
                        <a:t>과거 3년간 분할납부 협의</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900" dirty="0">
                          <a:solidFill>
                            <a:srgbClr val="2B2B2B"/>
                          </a:solidFill>
                        </a:rPr>
                        <a:t>현금흐름표, 상환능력 증명서</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3"/>
                  </a:ext>
                </a:extLst>
              </a:tr>
            </a:tbl>
          </a:graphicData>
        </a:graphic>
      </p:graphicFrame>
      <p:sp>
        <p:nvSpPr>
          <p:cNvPr id="9" name="Text 6"/>
          <p:cNvSpPr/>
          <p:nvPr/>
        </p:nvSpPr>
        <p:spPr>
          <a:xfrm>
            <a:off x="457200" y="2926080"/>
            <a:ext cx="8229600" cy="365760"/>
          </a:xfrm>
          <a:prstGeom prst="rect">
            <a:avLst/>
          </a:prstGeom>
          <a:noFill/>
          <a:ln/>
        </p:spPr>
        <p:txBody>
          <a:bodyPr wrap="square"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5. 3-Step 실행 시 현금흐름 영향 (월별 시뮬레이션)</a:t>
            </a:r>
            <a:endParaRPr lang="en-US" sz="1400" dirty="0"/>
          </a:p>
        </p:txBody>
      </p:sp>
      <p:graphicFrame>
        <p:nvGraphicFramePr>
          <p:cNvPr id="43" name="Table 1"/>
          <p:cNvGraphicFramePr>
            <a:graphicFrameLocks noGrp="1"/>
          </p:cNvGraphicFramePr>
          <p:nvPr>
            <p:extLst>
              <p:ext uri="{D42A27DB-BD31-4B8C-83A1-F6EECF244321}">
                <p14:modId xmlns:p14="http://schemas.microsoft.com/office/powerpoint/2010/main" val="503269479"/>
              </p:ext>
            </p:extLst>
          </p:nvPr>
        </p:nvGraphicFramePr>
        <p:xfrm>
          <a:off x="457200" y="3383280"/>
          <a:ext cx="8229600" cy="1389888"/>
        </p:xfrm>
        <a:graphic>
          <a:graphicData uri="http://schemas.openxmlformats.org/drawingml/2006/table">
            <a:tbl>
              <a:tblPr/>
              <a:tblGrid>
                <a:gridCol w="73152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2011680">
                  <a:extLst>
                    <a:ext uri="{9D8B030D-6E8A-4147-A177-3AD203B41FA5}">
                      <a16:colId xmlns:a16="http://schemas.microsoft.com/office/drawing/2014/main" val="20005"/>
                    </a:ext>
                  </a:extLst>
                </a:gridCol>
              </a:tblGrid>
              <a:tr h="347472">
                <a:tc>
                  <a:txBody>
                    <a:bodyPr/>
                    <a:lstStyle/>
                    <a:p>
                      <a:pPr marL="0" indent="0" algn="ctr">
                        <a:buNone/>
                      </a:pPr>
                      <a:r>
                        <a:rPr lang="en-US" sz="900" b="1" dirty="0">
                          <a:solidFill>
                            <a:srgbClr val="FFFFFF"/>
                          </a:solidFill>
                        </a:rPr>
                        <a:t>월</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rPr>
                        <a:t>Step 1</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rPr>
                        <a:t>Step 2</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rPr>
                        <a:t>Step 3</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rPr>
                        <a:t>누적상환액</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rPr>
                        <a:t>잔여가지급금</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47472">
                <a:tc>
                  <a:txBody>
                    <a:bodyPr/>
                    <a:lstStyle/>
                    <a:p>
                      <a:pPr marL="0" indent="0" algn="ctr">
                        <a:buNone/>
                      </a:pPr>
                      <a:r>
                        <a:rPr lang="en-US" sz="900" b="1" dirty="0">
                          <a:solidFill>
                            <a:srgbClr val="2B2B2B"/>
                          </a:solidFill>
                        </a:rPr>
                        <a:t>3월</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3B82F6"/>
                          </a:solidFill>
                        </a:rPr>
                        <a:t>1억 상환</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rPr>
                        <a:t>-</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rPr>
                        <a:t>-</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rPr>
                        <a:t>1억</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rPr>
                        <a:t>4억</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lgn="ctr">
                        <a:buNone/>
                      </a:pPr>
                      <a:r>
                        <a:rPr lang="en-US" sz="900" b="1" dirty="0">
                          <a:solidFill>
                            <a:srgbClr val="2B2B2B"/>
                          </a:solidFill>
                        </a:rPr>
                        <a:t>6월</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900" dirty="0">
                          <a:solidFill>
                            <a:srgbClr val="2B2B2B"/>
                          </a:solidFill>
                        </a:rPr>
                        <a:t>-</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900" b="1" dirty="0">
                          <a:solidFill>
                            <a:srgbClr val="3B82F6"/>
                          </a:solidFill>
                        </a:rPr>
                        <a:t>3억 상환</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900" dirty="0">
                          <a:solidFill>
                            <a:srgbClr val="2B2B2B"/>
                          </a:solidFill>
                        </a:rPr>
                        <a:t>-</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900" dirty="0">
                          <a:solidFill>
                            <a:srgbClr val="2B2B2B"/>
                          </a:solidFill>
                        </a:rPr>
                        <a:t>4억</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900" dirty="0">
                          <a:solidFill>
                            <a:srgbClr val="2B2B2B"/>
                          </a:solidFill>
                        </a:rPr>
                        <a:t>1억</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347472">
                <a:tc>
                  <a:txBody>
                    <a:bodyPr/>
                    <a:lstStyle/>
                    <a:p>
                      <a:pPr marL="0" indent="0" algn="ctr">
                        <a:buNone/>
                      </a:pPr>
                      <a:r>
                        <a:rPr lang="en-US" sz="900" b="1" dirty="0">
                          <a:solidFill>
                            <a:srgbClr val="2B2B2B"/>
                          </a:solidFill>
                        </a:rPr>
                        <a:t>9월</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rPr>
                        <a:t>-</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rPr>
                        <a:t>-</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3B82F6"/>
                          </a:solidFill>
                        </a:rPr>
                        <a:t>1억 상환</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2B2B2B"/>
                          </a:solidFill>
                        </a:rPr>
                        <a:t>5억</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D4382C"/>
                          </a:solidFill>
                        </a:rPr>
                        <a:t>0억</a:t>
                      </a:r>
                      <a:endParaRPr lang="en-US" sz="9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21</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VII. 실행 로드맵 (Plan A 기준) (4/7)</a:t>
            </a:r>
            <a:endParaRPr lang="en-US" sz="15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가지급금 정리로 세무리스크 해소하기</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21 / 62</a:t>
            </a:r>
            <a:endParaRPr lang="en-US" sz="800" dirty="0"/>
          </a:p>
        </p:txBody>
      </p:sp>
      <p:sp>
        <p:nvSpPr>
          <p:cNvPr id="7" name="Shape 5"/>
          <p:cNvSpPr/>
          <p:nvPr/>
        </p:nvSpPr>
        <p:spPr>
          <a:xfrm>
            <a:off x="457200" y="685800"/>
            <a:ext cx="8229600" cy="1280160"/>
          </a:xfrm>
          <a:prstGeom prst="rect">
            <a:avLst/>
          </a:prstGeom>
          <a:solidFill>
            <a:srgbClr val="EFF6FF"/>
          </a:solidFill>
          <a:ln w="12700">
            <a:solidFill>
              <a:srgbClr val="DBEAFE"/>
            </a:solidFill>
            <a:prstDash val="solid"/>
          </a:ln>
        </p:spPr>
        <p:txBody>
          <a:bodyPr/>
          <a:lstStyle/>
          <a:p>
            <a:endParaRPr lang="ko-KR" altLang="en-US"/>
          </a:p>
        </p:txBody>
      </p:sp>
      <p:sp>
        <p:nvSpPr>
          <p:cNvPr id="8" name="Text 6"/>
          <p:cNvSpPr/>
          <p:nvPr/>
        </p:nvSpPr>
        <p:spPr>
          <a:xfrm>
            <a:off x="640080" y="731520"/>
            <a:ext cx="7772400" cy="228600"/>
          </a:xfrm>
          <a:prstGeom prst="rect">
            <a:avLst/>
          </a:prstGeom>
          <a:noFill/>
          <a:ln/>
        </p:spPr>
        <p:txBody>
          <a:bodyPr wrap="square" rtlCol="0" anchor="ctr"/>
          <a:lstStyle/>
          <a:p>
            <a:pPr marL="0" indent="0">
              <a:buNone/>
            </a:pPr>
            <a:r>
              <a:rPr lang="en-US" sz="1100" b="1" dirty="0">
                <a:solidFill>
                  <a:srgbClr val="1E3A8A"/>
                </a:solidFill>
                <a:latin typeface="맑은 고딕" pitchFamily="34" charset="0"/>
                <a:ea typeface="맑은 고딕" pitchFamily="34" charset="-122"/>
                <a:cs typeface="맑은 고딕" pitchFamily="34" charset="-120"/>
              </a:rPr>
              <a:t>월별 세부담 변화:</a:t>
            </a:r>
            <a:endParaRPr lang="en-US" sz="1100" dirty="0"/>
          </a:p>
        </p:txBody>
      </p:sp>
      <p:sp>
        <p:nvSpPr>
          <p:cNvPr id="9" name="Text 7"/>
          <p:cNvSpPr/>
          <p:nvPr/>
        </p:nvSpPr>
        <p:spPr>
          <a:xfrm>
            <a:off x="640080" y="1005840"/>
            <a:ext cx="7772400" cy="594360"/>
          </a:xfrm>
          <a:prstGeom prst="rect">
            <a:avLst/>
          </a:prstGeom>
          <a:noFill/>
          <a:ln/>
        </p:spPr>
        <p:txBody>
          <a:bodyPr wrap="square" rtlCol="0" anchor="ctr"/>
          <a:lstStyle/>
          <a:p>
            <a:pPr marL="0" indent="0">
              <a:buNone/>
            </a:pPr>
            <a:r>
              <a:rPr lang="en-US" sz="1000" dirty="0">
                <a:solidFill>
                  <a:srgbClr val="1E40AF"/>
                </a:solidFill>
                <a:latin typeface="맑은 고딕" pitchFamily="34" charset="0"/>
                <a:ea typeface="맑은 고딕" pitchFamily="34" charset="-122"/>
                <a:cs typeface="맑은 고딕" pitchFamily="34" charset="-120"/>
              </a:rPr>
              <a:t>3월: 인정이자 650만원 → 520만원 (20% 감소)</a:t>
            </a:r>
            <a:endParaRPr lang="en-US" sz="1000" dirty="0"/>
          </a:p>
          <a:p>
            <a:pPr marL="0" indent="0">
              <a:buNone/>
            </a:pPr>
            <a:r>
              <a:rPr lang="en-US" sz="1000" dirty="0">
                <a:solidFill>
                  <a:srgbClr val="1E40AF"/>
                </a:solidFill>
                <a:latin typeface="맑은 고딕" pitchFamily="34" charset="0"/>
                <a:ea typeface="맑은 고딕" pitchFamily="34" charset="-122"/>
                <a:cs typeface="맑은 고딕" pitchFamily="34" charset="-120"/>
              </a:rPr>
              <a:t>6월: 인정이자 520만원 → 130만원 (75% 감소)</a:t>
            </a:r>
            <a:endParaRPr lang="en-US" sz="1000" dirty="0"/>
          </a:p>
          <a:p>
            <a:pPr marL="0" indent="0">
              <a:buNone/>
            </a:pPr>
            <a:r>
              <a:rPr lang="en-US" sz="1000" dirty="0">
                <a:solidFill>
                  <a:srgbClr val="1E40AF"/>
                </a:solidFill>
                <a:latin typeface="맑은 고딕" pitchFamily="34" charset="0"/>
                <a:ea typeface="맑은 고딕" pitchFamily="34" charset="-122"/>
                <a:cs typeface="맑은 고딕" pitchFamily="34" charset="-120"/>
              </a:rPr>
              <a:t>9월: 인정이자 130만원 → 0원 (완전해소)</a:t>
            </a:r>
            <a:endParaRPr lang="en-US" sz="1000" dirty="0"/>
          </a:p>
        </p:txBody>
      </p:sp>
      <p:sp>
        <p:nvSpPr>
          <p:cNvPr id="10" name="Text 8"/>
          <p:cNvSpPr/>
          <p:nvPr/>
        </p:nvSpPr>
        <p:spPr>
          <a:xfrm>
            <a:off x="640080" y="1645920"/>
            <a:ext cx="7772400" cy="274320"/>
          </a:xfrm>
          <a:prstGeom prst="rect">
            <a:avLst/>
          </a:prstGeom>
          <a:noFill/>
          <a:ln/>
        </p:spPr>
        <p:txBody>
          <a:bodyPr wrap="square" rtlCol="0" anchor="ctr"/>
          <a:lstStyle/>
          <a:p>
            <a:pPr marL="0" indent="0">
              <a:buNone/>
            </a:pPr>
            <a:r>
              <a:rPr lang="en-US" sz="800" dirty="0">
                <a:solidFill>
                  <a:srgbClr val="60A5FA"/>
                </a:solidFill>
                <a:latin typeface="맑은 고딕" pitchFamily="34" charset="0"/>
                <a:ea typeface="맑은 고딕" pitchFamily="34" charset="-122"/>
                <a:cs typeface="맑은 고딕" pitchFamily="34" charset="-120"/>
              </a:rPr>
              <a:t>주석: 위 월별 수치는 비례 배분 가정 예시이며, 실제 인정이자 계산은 월별 평균잔액·고시이율에 따라 달라질 수 있습니다.</a:t>
            </a:r>
            <a:endParaRPr lang="en-US" sz="800" dirty="0"/>
          </a:p>
        </p:txBody>
      </p:sp>
      <p:sp>
        <p:nvSpPr>
          <p:cNvPr id="11" name="Text 9"/>
          <p:cNvSpPr/>
          <p:nvPr/>
        </p:nvSpPr>
        <p:spPr>
          <a:xfrm>
            <a:off x="457200" y="2240280"/>
            <a:ext cx="8229600" cy="365760"/>
          </a:xfrm>
          <a:prstGeom prst="rect">
            <a:avLst/>
          </a:prstGeom>
          <a:noFill/>
          <a:ln/>
        </p:spPr>
        <p:txBody>
          <a:bodyPr wrap="square"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6. 재발 방지를 위한 내부통제 시스템 구축</a:t>
            </a:r>
            <a:endParaRPr lang="en-US" sz="1400" dirty="0"/>
          </a:p>
        </p:txBody>
      </p:sp>
      <p:sp>
        <p:nvSpPr>
          <p:cNvPr id="12" name="Shape 10"/>
          <p:cNvSpPr/>
          <p:nvPr/>
        </p:nvSpPr>
        <p:spPr>
          <a:xfrm>
            <a:off x="457200" y="2697480"/>
            <a:ext cx="8229600" cy="502920"/>
          </a:xfrm>
          <a:prstGeom prst="rect">
            <a:avLst/>
          </a:prstGeom>
          <a:solidFill>
            <a:srgbClr val="F7F8FA"/>
          </a:solidFill>
          <a:ln w="12700">
            <a:solidFill>
              <a:srgbClr val="E2E8F0"/>
            </a:solidFill>
            <a:prstDash val="solid"/>
          </a:ln>
          <a:effectLst>
            <a:outerShdw blurRad="50800" dist="25400" dir="8100000" algn="bl" rotWithShape="0">
              <a:srgbClr val="000000">
                <a:alpha val="10000"/>
              </a:srgbClr>
            </a:outerShdw>
          </a:effectLst>
        </p:spPr>
        <p:txBody>
          <a:bodyPr/>
          <a:lstStyle/>
          <a:p>
            <a:endParaRPr lang="ko-KR" altLang="en-US"/>
          </a:p>
        </p:txBody>
      </p:sp>
      <p:sp>
        <p:nvSpPr>
          <p:cNvPr id="13" name="Shape 11"/>
          <p:cNvSpPr/>
          <p:nvPr/>
        </p:nvSpPr>
        <p:spPr>
          <a:xfrm>
            <a:off x="457200" y="2697480"/>
            <a:ext cx="54864" cy="502920"/>
          </a:xfrm>
          <a:prstGeom prst="rect">
            <a:avLst/>
          </a:prstGeom>
          <a:solidFill>
            <a:srgbClr val="C8962E"/>
          </a:solidFill>
          <a:ln/>
        </p:spPr>
        <p:txBody>
          <a:bodyPr/>
          <a:lstStyle/>
          <a:p>
            <a:endParaRPr lang="ko-KR" altLang="en-US"/>
          </a:p>
        </p:txBody>
      </p:sp>
      <p:sp>
        <p:nvSpPr>
          <p:cNvPr id="14" name="Text 12"/>
          <p:cNvSpPr/>
          <p:nvPr/>
        </p:nvSpPr>
        <p:spPr>
          <a:xfrm>
            <a:off x="640080" y="2705318"/>
            <a:ext cx="7863840" cy="27432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 규정:</a:t>
            </a:r>
            <a:endParaRPr lang="en-US" sz="1100" dirty="0"/>
          </a:p>
        </p:txBody>
      </p:sp>
      <p:sp>
        <p:nvSpPr>
          <p:cNvPr id="15" name="Text 13"/>
          <p:cNvSpPr/>
          <p:nvPr/>
        </p:nvSpPr>
        <p:spPr>
          <a:xfrm>
            <a:off x="640080" y="2979638"/>
            <a:ext cx="7863840" cy="82296"/>
          </a:xfrm>
          <a:prstGeom prst="rect">
            <a:avLst/>
          </a:prstGeom>
          <a:noFill/>
          <a:ln/>
        </p:spPr>
        <p:txBody>
          <a:bodyPr wrap="square" rtlCol="0" anchor="t"/>
          <a:lstStyle/>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임직원 경비·법인카드 사전승인·증빙 자동수집 규정 제정</a:t>
            </a:r>
            <a:endParaRPr lang="en-US" sz="1000" dirty="0"/>
          </a:p>
        </p:txBody>
      </p:sp>
      <p:sp>
        <p:nvSpPr>
          <p:cNvPr id="16" name="Shape 14"/>
          <p:cNvSpPr/>
          <p:nvPr/>
        </p:nvSpPr>
        <p:spPr>
          <a:xfrm>
            <a:off x="457200" y="3337560"/>
            <a:ext cx="8229600" cy="502920"/>
          </a:xfrm>
          <a:prstGeom prst="rect">
            <a:avLst/>
          </a:prstGeom>
          <a:solidFill>
            <a:srgbClr val="F7F8FA"/>
          </a:solidFill>
          <a:ln w="12700">
            <a:solidFill>
              <a:srgbClr val="E2E8F0"/>
            </a:solidFill>
            <a:prstDash val="solid"/>
          </a:ln>
          <a:effectLst>
            <a:outerShdw blurRad="50800" dist="25400" dir="8100000" algn="bl" rotWithShape="0">
              <a:srgbClr val="000000">
                <a:alpha val="10000"/>
              </a:srgbClr>
            </a:outerShdw>
          </a:effectLst>
        </p:spPr>
        <p:txBody>
          <a:bodyPr/>
          <a:lstStyle/>
          <a:p>
            <a:endParaRPr lang="ko-KR" altLang="en-US"/>
          </a:p>
        </p:txBody>
      </p:sp>
      <p:sp>
        <p:nvSpPr>
          <p:cNvPr id="17" name="Shape 15"/>
          <p:cNvSpPr/>
          <p:nvPr/>
        </p:nvSpPr>
        <p:spPr>
          <a:xfrm>
            <a:off x="457200" y="3337560"/>
            <a:ext cx="54864" cy="502920"/>
          </a:xfrm>
          <a:prstGeom prst="rect">
            <a:avLst/>
          </a:prstGeom>
          <a:solidFill>
            <a:srgbClr val="C8962E"/>
          </a:solidFill>
          <a:ln/>
        </p:spPr>
        <p:txBody>
          <a:bodyPr/>
          <a:lstStyle/>
          <a:p>
            <a:endParaRPr lang="ko-KR" altLang="en-US"/>
          </a:p>
        </p:txBody>
      </p:sp>
      <p:sp>
        <p:nvSpPr>
          <p:cNvPr id="18" name="Text 16"/>
          <p:cNvSpPr/>
          <p:nvPr/>
        </p:nvSpPr>
        <p:spPr>
          <a:xfrm>
            <a:off x="640080" y="3345398"/>
            <a:ext cx="7863840" cy="27432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 모니터링:</a:t>
            </a:r>
            <a:endParaRPr lang="en-US" sz="1100" dirty="0"/>
          </a:p>
        </p:txBody>
      </p:sp>
      <p:sp>
        <p:nvSpPr>
          <p:cNvPr id="19" name="Text 17"/>
          <p:cNvSpPr/>
          <p:nvPr/>
        </p:nvSpPr>
        <p:spPr>
          <a:xfrm>
            <a:off x="640080" y="3619718"/>
            <a:ext cx="7863840" cy="82296"/>
          </a:xfrm>
          <a:prstGeom prst="rect">
            <a:avLst/>
          </a:prstGeom>
          <a:noFill/>
          <a:ln/>
        </p:spPr>
        <p:txBody>
          <a:bodyPr wrap="square" rtlCol="0" anchor="t"/>
          <a:lstStyle/>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특수관계자 거래 월간 모니터링 루틴 운영</a:t>
            </a:r>
            <a:endParaRPr lang="en-US" sz="1000" dirty="0"/>
          </a:p>
        </p:txBody>
      </p:sp>
      <p:sp>
        <p:nvSpPr>
          <p:cNvPr id="20" name="Shape 18"/>
          <p:cNvSpPr/>
          <p:nvPr/>
        </p:nvSpPr>
        <p:spPr>
          <a:xfrm>
            <a:off x="457200" y="3977640"/>
            <a:ext cx="8229600" cy="502920"/>
          </a:xfrm>
          <a:prstGeom prst="rect">
            <a:avLst/>
          </a:prstGeom>
          <a:solidFill>
            <a:srgbClr val="F7F8FA"/>
          </a:solidFill>
          <a:ln w="12700">
            <a:solidFill>
              <a:srgbClr val="E2E8F0"/>
            </a:solidFill>
            <a:prstDash val="solid"/>
          </a:ln>
          <a:effectLst>
            <a:outerShdw blurRad="50800" dist="25400" dir="8100000" algn="bl" rotWithShape="0">
              <a:srgbClr val="000000">
                <a:alpha val="10000"/>
              </a:srgbClr>
            </a:outerShdw>
          </a:effectLst>
        </p:spPr>
        <p:txBody>
          <a:bodyPr/>
          <a:lstStyle/>
          <a:p>
            <a:endParaRPr lang="ko-KR" altLang="en-US"/>
          </a:p>
        </p:txBody>
      </p:sp>
      <p:sp>
        <p:nvSpPr>
          <p:cNvPr id="21" name="Shape 19"/>
          <p:cNvSpPr/>
          <p:nvPr/>
        </p:nvSpPr>
        <p:spPr>
          <a:xfrm>
            <a:off x="457200" y="3977640"/>
            <a:ext cx="54864" cy="502920"/>
          </a:xfrm>
          <a:prstGeom prst="rect">
            <a:avLst/>
          </a:prstGeom>
          <a:solidFill>
            <a:srgbClr val="C8962E"/>
          </a:solidFill>
          <a:ln/>
        </p:spPr>
        <p:txBody>
          <a:bodyPr/>
          <a:lstStyle/>
          <a:p>
            <a:endParaRPr lang="ko-KR" altLang="en-US"/>
          </a:p>
        </p:txBody>
      </p:sp>
      <p:sp>
        <p:nvSpPr>
          <p:cNvPr id="22" name="Text 20"/>
          <p:cNvSpPr/>
          <p:nvPr/>
        </p:nvSpPr>
        <p:spPr>
          <a:xfrm>
            <a:off x="640080" y="3985478"/>
            <a:ext cx="7863840" cy="27432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 루틴:</a:t>
            </a:r>
            <a:endParaRPr lang="en-US" sz="1100" dirty="0"/>
          </a:p>
        </p:txBody>
      </p:sp>
      <p:sp>
        <p:nvSpPr>
          <p:cNvPr id="23" name="Text 21"/>
          <p:cNvSpPr/>
          <p:nvPr/>
        </p:nvSpPr>
        <p:spPr>
          <a:xfrm>
            <a:off x="640080" y="4259798"/>
            <a:ext cx="7863840" cy="82296"/>
          </a:xfrm>
          <a:prstGeom prst="rect">
            <a:avLst/>
          </a:prstGeom>
          <a:noFill/>
          <a:ln/>
        </p:spPr>
        <p:txBody>
          <a:bodyPr wrap="square" rtlCol="0" anchor="t"/>
          <a:lstStyle/>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가지급금 30일 초과 시 자동 보고·상계 루틴 도입</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22</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VII. 실행 로드맵 (Plan A 기준) (5/7)</a:t>
            </a:r>
            <a:endParaRPr lang="en-US" sz="15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가지급금 정리로 세무리스크 해소하기</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22 / 62</a:t>
            </a:r>
            <a:endParaRPr lang="en-US" sz="800" dirty="0"/>
          </a:p>
        </p:txBody>
      </p:sp>
      <p:sp>
        <p:nvSpPr>
          <p:cNvPr id="7" name="Text 5"/>
          <p:cNvSpPr/>
          <p:nvPr/>
        </p:nvSpPr>
        <p:spPr>
          <a:xfrm>
            <a:off x="457200" y="685800"/>
            <a:ext cx="8229600" cy="365760"/>
          </a:xfrm>
          <a:prstGeom prst="rect">
            <a:avLst/>
          </a:prstGeom>
          <a:noFill/>
          <a:ln/>
        </p:spPr>
        <p:txBody>
          <a:bodyPr wrap="square"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7. 통합 실행 체크리스트</a:t>
            </a:r>
            <a:endParaRPr lang="en-US" sz="1400" dirty="0"/>
          </a:p>
        </p:txBody>
      </p:sp>
      <p:sp>
        <p:nvSpPr>
          <p:cNvPr id="8" name="Shape 6"/>
          <p:cNvSpPr/>
          <p:nvPr/>
        </p:nvSpPr>
        <p:spPr>
          <a:xfrm>
            <a:off x="457200" y="1143000"/>
            <a:ext cx="8229600" cy="457200"/>
          </a:xfrm>
          <a:prstGeom prst="rect">
            <a:avLst/>
          </a:prstGeom>
          <a:solidFill>
            <a:srgbClr val="EFF6FF"/>
          </a:solidFill>
          <a:ln/>
        </p:spPr>
        <p:txBody>
          <a:bodyPr/>
          <a:lstStyle/>
          <a:p>
            <a:endParaRPr lang="ko-KR" altLang="en-US"/>
          </a:p>
        </p:txBody>
      </p:sp>
      <p:sp>
        <p:nvSpPr>
          <p:cNvPr id="9" name="Text 7"/>
          <p:cNvSpPr/>
          <p:nvPr/>
        </p:nvSpPr>
        <p:spPr>
          <a:xfrm>
            <a:off x="640080" y="1170432"/>
            <a:ext cx="7863840" cy="411480"/>
          </a:xfrm>
          <a:prstGeom prst="rect">
            <a:avLst/>
          </a:prstGeom>
          <a:noFill/>
          <a:ln/>
        </p:spPr>
        <p:txBody>
          <a:bodyPr wrap="square" rtlCol="0" anchor="ctr"/>
          <a:lstStyle/>
          <a:p>
            <a:pPr marL="0" indent="0">
              <a:buNone/>
            </a:pPr>
            <a:r>
              <a:rPr lang="en-US" sz="800" dirty="0">
                <a:solidFill>
                  <a:srgbClr val="1E40AF"/>
                </a:solidFill>
                <a:latin typeface="맑은 고딕" pitchFamily="34" charset="0"/>
                <a:ea typeface="맑은 고딕" pitchFamily="34" charset="-122"/>
                <a:cs typeface="맑은 고딕" pitchFamily="34" charset="-120"/>
              </a:rPr>
              <a:t>⚠️ 활용 목적: 가지급금 해소 전략(Plan A) 실행 시, 각 단계별 필수 점검 항목을 한눈에 확인하고 빠짐없이 이행 여부를 체크하기 위해 제작.</a:t>
            </a:r>
            <a:endParaRPr lang="en-US" sz="800" dirty="0"/>
          </a:p>
          <a:p>
            <a:pPr marL="0" indent="0">
              <a:buNone/>
            </a:pPr>
            <a:r>
              <a:rPr lang="en-US" sz="800" dirty="0">
                <a:solidFill>
                  <a:srgbClr val="1E40AF"/>
                </a:solidFill>
                <a:latin typeface="맑은 고딕" pitchFamily="34" charset="0"/>
                <a:ea typeface="맑은 고딕" pitchFamily="34" charset="-122"/>
                <a:cs typeface="맑은 고딕" pitchFamily="34" charset="-120"/>
              </a:rPr>
              <a:t>✅ 실무팀, 세무사, 컨설턴트가 공동 관리할 것을 권장합니다.</a:t>
            </a:r>
            <a:endParaRPr lang="en-US" sz="800" dirty="0"/>
          </a:p>
        </p:txBody>
      </p:sp>
      <p:sp>
        <p:nvSpPr>
          <p:cNvPr id="10" name="Shape 8"/>
          <p:cNvSpPr/>
          <p:nvPr/>
        </p:nvSpPr>
        <p:spPr>
          <a:xfrm>
            <a:off x="457200" y="1691640"/>
            <a:ext cx="320040" cy="320040"/>
          </a:xfrm>
          <a:prstGeom prst="rect">
            <a:avLst/>
          </a:prstGeom>
          <a:solidFill>
            <a:srgbClr val="4338CA"/>
          </a:solidFill>
          <a:ln/>
        </p:spPr>
        <p:txBody>
          <a:bodyPr/>
          <a:lstStyle/>
          <a:p>
            <a:endParaRPr lang="ko-KR" altLang="en-US"/>
          </a:p>
        </p:txBody>
      </p:sp>
      <p:sp>
        <p:nvSpPr>
          <p:cNvPr id="11" name="Text 9"/>
          <p:cNvSpPr/>
          <p:nvPr/>
        </p:nvSpPr>
        <p:spPr>
          <a:xfrm>
            <a:off x="457200" y="1691640"/>
            <a:ext cx="320040" cy="320040"/>
          </a:xfrm>
          <a:prstGeom prst="rect">
            <a:avLst/>
          </a:prstGeom>
          <a:noFill/>
          <a:ln/>
        </p:spPr>
        <p:txBody>
          <a:bodyPr wrap="square"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1</a:t>
            </a:r>
            <a:endParaRPr lang="en-US" sz="1200" dirty="0"/>
          </a:p>
        </p:txBody>
      </p:sp>
      <p:sp>
        <p:nvSpPr>
          <p:cNvPr id="12" name="Text 10"/>
          <p:cNvSpPr/>
          <p:nvPr/>
        </p:nvSpPr>
        <p:spPr>
          <a:xfrm>
            <a:off x="914400" y="1691640"/>
            <a:ext cx="7772400" cy="32004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Phase 1. 준비 단계 (1~3개월) — 특허출원 및 제도 정비, 사전 설계 작업</a:t>
            </a:r>
            <a:endParaRPr lang="en-US" sz="1100" dirty="0"/>
          </a:p>
        </p:txBody>
      </p:sp>
      <p:sp>
        <p:nvSpPr>
          <p:cNvPr id="13" name="Text 11"/>
          <p:cNvSpPr/>
          <p:nvPr/>
        </p:nvSpPr>
        <p:spPr>
          <a:xfrm>
            <a:off x="457200" y="2148840"/>
            <a:ext cx="8229600" cy="1828800"/>
          </a:xfrm>
          <a:prstGeom prst="rect">
            <a:avLst/>
          </a:prstGeom>
          <a:noFill/>
          <a:ln/>
        </p:spPr>
        <p:txBody>
          <a:bodyPr wrap="square" rtlCol="0" anchor="t"/>
          <a:lstStyle/>
          <a:p>
            <a:pPr marL="342900" indent="-342900">
              <a:lnSpc>
                <a:spcPct val="115000"/>
              </a:lnSpc>
              <a:buSzPct val="100000"/>
              <a:buChar char="•"/>
            </a:pPr>
            <a:r>
              <a:rPr lang="en-US" sz="900" dirty="0">
                <a:solidFill>
                  <a:srgbClr val="2B2B2B"/>
                </a:solidFill>
                <a:latin typeface="맑은 고딕" pitchFamily="34" charset="0"/>
                <a:ea typeface="맑은 고딕" pitchFamily="34" charset="-122"/>
                <a:cs typeface="맑은 고딕" pitchFamily="34" charset="-120"/>
              </a:rPr>
              <a:t>정관·보수규정 개정안 작성: 임원 보수 현실화 관련 규정 초안 준비 / 주주총회 의결 가능 문구 포함 확인</a:t>
            </a:r>
            <a:endParaRPr lang="en-US" sz="900" dirty="0"/>
          </a:p>
          <a:p>
            <a:pPr marL="342900" indent="-342900">
              <a:lnSpc>
                <a:spcPct val="115000"/>
              </a:lnSpc>
              <a:buSzPct val="100000"/>
              <a:buChar char="•"/>
            </a:pPr>
            <a:r>
              <a:rPr lang="en-US" sz="900" dirty="0">
                <a:solidFill>
                  <a:srgbClr val="2B2B2B"/>
                </a:solidFill>
                <a:latin typeface="맑은 고딕" pitchFamily="34" charset="0"/>
                <a:ea typeface="맑은 고딕" pitchFamily="34" charset="-122"/>
                <a:cs typeface="맑은 고딕" pitchFamily="34" charset="-120"/>
              </a:rPr>
              <a:t>변리사 선정 및 특허출원 착수: 핵심 기술(대표이사 보유)의 신규성 검토 / 발명신고서, 직무발명 인정서류 준비</a:t>
            </a:r>
            <a:endParaRPr lang="en-US" sz="900" dirty="0"/>
          </a:p>
          <a:p>
            <a:pPr marL="342900" indent="-342900">
              <a:lnSpc>
                <a:spcPct val="115000"/>
              </a:lnSpc>
              <a:buSzPct val="100000"/>
              <a:buChar char="•"/>
            </a:pPr>
            <a:r>
              <a:rPr lang="en-US" sz="900" dirty="0">
                <a:solidFill>
                  <a:srgbClr val="2B2B2B"/>
                </a:solidFill>
                <a:latin typeface="맑은 고딕" pitchFamily="34" charset="0"/>
                <a:ea typeface="맑은 고딕" pitchFamily="34" charset="-122"/>
                <a:cs typeface="맑은 고딕" pitchFamily="34" charset="-120"/>
              </a:rPr>
              <a:t>감정평가기관 2곳 이상 선정: 교차검증을 위한 2개 이상의 공신력 있는 기관</a:t>
            </a:r>
            <a:endParaRPr lang="en-US" sz="900" dirty="0"/>
          </a:p>
          <a:p>
            <a:pPr marL="342900" indent="-342900">
              <a:lnSpc>
                <a:spcPct val="115000"/>
              </a:lnSpc>
              <a:buSzPct val="100000"/>
              <a:buChar char="•"/>
            </a:pPr>
            <a:r>
              <a:rPr lang="en-US" sz="900" dirty="0">
                <a:solidFill>
                  <a:srgbClr val="2B2B2B"/>
                </a:solidFill>
                <a:latin typeface="맑은 고딕" pitchFamily="34" charset="0"/>
                <a:ea typeface="맑은 고딕" pitchFamily="34" charset="-122"/>
                <a:cs typeface="맑은 고딕" pitchFamily="34" charset="-120"/>
              </a:rPr>
              <a:t>세무 시뮬레이션: Step 1~3 각각의 세금 효과 사전 점검 / 소득세·법인세·건강보험료 예상부담 확인</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23</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VII. 실행 로드맵 (Plan A 기준) (6/7)</a:t>
            </a:r>
            <a:endParaRPr lang="en-US" sz="15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가지급금 정리로 세무리스크 해소하기</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23 / 62</a:t>
            </a:r>
            <a:endParaRPr lang="en-US" sz="800" dirty="0"/>
          </a:p>
        </p:txBody>
      </p:sp>
      <p:sp>
        <p:nvSpPr>
          <p:cNvPr id="7" name="Shape 5"/>
          <p:cNvSpPr/>
          <p:nvPr/>
        </p:nvSpPr>
        <p:spPr>
          <a:xfrm>
            <a:off x="457200" y="685800"/>
            <a:ext cx="320040" cy="320040"/>
          </a:xfrm>
          <a:prstGeom prst="rect">
            <a:avLst/>
          </a:prstGeom>
          <a:solidFill>
            <a:srgbClr val="4338CA"/>
          </a:solidFill>
          <a:ln/>
        </p:spPr>
        <p:txBody>
          <a:bodyPr/>
          <a:lstStyle/>
          <a:p>
            <a:endParaRPr lang="ko-KR" altLang="en-US"/>
          </a:p>
        </p:txBody>
      </p:sp>
      <p:sp>
        <p:nvSpPr>
          <p:cNvPr id="8" name="Text 6"/>
          <p:cNvSpPr/>
          <p:nvPr/>
        </p:nvSpPr>
        <p:spPr>
          <a:xfrm>
            <a:off x="457200" y="685800"/>
            <a:ext cx="320040" cy="320040"/>
          </a:xfrm>
          <a:prstGeom prst="rect">
            <a:avLst/>
          </a:prstGeom>
          <a:noFill/>
          <a:ln/>
        </p:spPr>
        <p:txBody>
          <a:bodyPr wrap="square"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2</a:t>
            </a:r>
            <a:endParaRPr lang="en-US" sz="1200" dirty="0"/>
          </a:p>
        </p:txBody>
      </p:sp>
      <p:sp>
        <p:nvSpPr>
          <p:cNvPr id="9" name="Text 7"/>
          <p:cNvSpPr/>
          <p:nvPr/>
        </p:nvSpPr>
        <p:spPr>
          <a:xfrm>
            <a:off x="914400" y="685800"/>
            <a:ext cx="7772400" cy="32004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Phase 2. 실행 단계 (4~6개월) — 주요 계약 체결 및 가지급금 상환 실행</a:t>
            </a:r>
            <a:endParaRPr lang="en-US" sz="1100" dirty="0"/>
          </a:p>
        </p:txBody>
      </p:sp>
      <p:sp>
        <p:nvSpPr>
          <p:cNvPr id="10" name="Text 8"/>
          <p:cNvSpPr/>
          <p:nvPr/>
        </p:nvSpPr>
        <p:spPr>
          <a:xfrm>
            <a:off x="457200" y="1097280"/>
            <a:ext cx="8229600" cy="2103120"/>
          </a:xfrm>
          <a:prstGeom prst="rect">
            <a:avLst/>
          </a:prstGeom>
          <a:noFill/>
          <a:ln/>
        </p:spPr>
        <p:txBody>
          <a:bodyPr wrap="square" rtlCol="0" anchor="t"/>
          <a:lstStyle/>
          <a:p>
            <a:pPr marL="342900" indent="-342900">
              <a:lnSpc>
                <a:spcPct val="115000"/>
              </a:lnSpc>
              <a:buSzPct val="100000"/>
              <a:buChar char="•"/>
            </a:pPr>
            <a:r>
              <a:rPr lang="en-US" sz="900" dirty="0">
                <a:solidFill>
                  <a:srgbClr val="2B2B2B"/>
                </a:solidFill>
                <a:latin typeface="맑은 고딕" pitchFamily="34" charset="0"/>
                <a:ea typeface="맑은 고딕" pitchFamily="34" charset="-122"/>
                <a:cs typeface="맑은 고딕" pitchFamily="34" charset="-120"/>
              </a:rPr>
              <a:t>주주총회 소집 및 의결 완료: 특허권 자본화, 보수규정 개정, 상여금 지급 건 / 회의록·결의서 보관</a:t>
            </a:r>
            <a:endParaRPr lang="en-US" sz="900" dirty="0"/>
          </a:p>
          <a:p>
            <a:pPr marL="342900" indent="-342900">
              <a:lnSpc>
                <a:spcPct val="115000"/>
              </a:lnSpc>
              <a:buSzPct val="100000"/>
              <a:buChar char="•"/>
            </a:pPr>
            <a:r>
              <a:rPr lang="en-US" sz="900" dirty="0">
                <a:solidFill>
                  <a:srgbClr val="2B2B2B"/>
                </a:solidFill>
                <a:latin typeface="맑은 고딕" pitchFamily="34" charset="0"/>
                <a:ea typeface="맑은 고딕" pitchFamily="34" charset="-122"/>
                <a:cs typeface="맑은 고딕" pitchFamily="34" charset="-120"/>
              </a:rPr>
              <a:t>특허출원 완료 및 가치평가 보고서 수령: 2개 기관 평가서 확보 및 비교분석 / '시가 입증 패키지' 준비</a:t>
            </a:r>
            <a:endParaRPr lang="en-US" sz="900" dirty="0"/>
          </a:p>
          <a:p>
            <a:pPr marL="342900" indent="-342900">
              <a:lnSpc>
                <a:spcPct val="115000"/>
              </a:lnSpc>
              <a:buSzPct val="100000"/>
              <a:buChar char="•"/>
            </a:pPr>
            <a:r>
              <a:rPr lang="en-US" sz="900" dirty="0">
                <a:solidFill>
                  <a:srgbClr val="2B2B2B"/>
                </a:solidFill>
                <a:latin typeface="맑은 고딕" pitchFamily="34" charset="0"/>
                <a:ea typeface="맑은 고딕" pitchFamily="34" charset="-122"/>
                <a:cs typeface="맑은 고딕" pitchFamily="34" charset="-120"/>
              </a:rPr>
              <a:t>양수도 계약 체결 및 세금계산서 발행: 부가가치세 포함 여부 확인 / 법인 매입세액 공제 계획 수립</a:t>
            </a:r>
            <a:endParaRPr lang="en-US" sz="900" dirty="0"/>
          </a:p>
          <a:p>
            <a:pPr marL="342900" indent="-342900">
              <a:lnSpc>
                <a:spcPct val="115000"/>
              </a:lnSpc>
              <a:buSzPct val="100000"/>
              <a:buChar char="•"/>
            </a:pPr>
            <a:r>
              <a:rPr lang="en-US" sz="900" dirty="0">
                <a:solidFill>
                  <a:srgbClr val="2B2B2B"/>
                </a:solidFill>
                <a:latin typeface="맑은 고딕" pitchFamily="34" charset="0"/>
                <a:ea typeface="맑은 고딕" pitchFamily="34" charset="-122"/>
                <a:cs typeface="맑은 고딕" pitchFamily="34" charset="-120"/>
              </a:rPr>
              <a:t>가지급금 상환 실행 (1~2차): Step 1: 보수 현실화 상여금 → 1억 상환 / Step 2: 특허권 자본화 대금 → 3억 상환</a:t>
            </a:r>
            <a:endParaRPr lang="en-US" sz="900" dirty="0"/>
          </a:p>
          <a:p>
            <a:pPr marL="342900" indent="-342900">
              <a:lnSpc>
                <a:spcPct val="115000"/>
              </a:lnSpc>
              <a:buSzPct val="100000"/>
              <a:buChar char="•"/>
            </a:pPr>
            <a:r>
              <a:rPr lang="en-US" sz="900" dirty="0">
                <a:solidFill>
                  <a:srgbClr val="2B2B2B"/>
                </a:solidFill>
                <a:latin typeface="맑은 고딕" pitchFamily="34" charset="0"/>
                <a:ea typeface="맑은 고딕" pitchFamily="34" charset="-122"/>
                <a:cs typeface="맑은 고딕" pitchFamily="34" charset="-120"/>
              </a:rPr>
              <a:t>원천징수 및 신고 처리: 대표이사 보상금 소득구분(근로·기타) 확정 / 지급명세서 제출 및 4대보험 신고</a:t>
            </a:r>
            <a:endParaRPr lang="en-US" sz="900" dirty="0"/>
          </a:p>
        </p:txBody>
      </p:sp>
      <p:sp>
        <p:nvSpPr>
          <p:cNvPr id="11" name="Shape 9"/>
          <p:cNvSpPr/>
          <p:nvPr/>
        </p:nvSpPr>
        <p:spPr>
          <a:xfrm>
            <a:off x="457200" y="2619103"/>
            <a:ext cx="320040" cy="320040"/>
          </a:xfrm>
          <a:prstGeom prst="rect">
            <a:avLst/>
          </a:prstGeom>
          <a:solidFill>
            <a:srgbClr val="4338CA"/>
          </a:solidFill>
          <a:ln/>
        </p:spPr>
        <p:txBody>
          <a:bodyPr/>
          <a:lstStyle/>
          <a:p>
            <a:endParaRPr lang="ko-KR" altLang="en-US"/>
          </a:p>
        </p:txBody>
      </p:sp>
      <p:sp>
        <p:nvSpPr>
          <p:cNvPr id="12" name="Text 10"/>
          <p:cNvSpPr/>
          <p:nvPr/>
        </p:nvSpPr>
        <p:spPr>
          <a:xfrm>
            <a:off x="457200" y="2619103"/>
            <a:ext cx="320040" cy="320040"/>
          </a:xfrm>
          <a:prstGeom prst="rect">
            <a:avLst/>
          </a:prstGeom>
          <a:noFill/>
          <a:ln/>
        </p:spPr>
        <p:txBody>
          <a:bodyPr wrap="square"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3</a:t>
            </a:r>
            <a:endParaRPr lang="en-US" sz="1200" dirty="0"/>
          </a:p>
        </p:txBody>
      </p:sp>
      <p:sp>
        <p:nvSpPr>
          <p:cNvPr id="13" name="Text 11"/>
          <p:cNvSpPr/>
          <p:nvPr/>
        </p:nvSpPr>
        <p:spPr>
          <a:xfrm>
            <a:off x="914400" y="2619103"/>
            <a:ext cx="7772400" cy="32004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Phase 3. 완료 및 사후관리 (7~12개월) — 마무리 점검 및 재발 방지 체계 구축</a:t>
            </a:r>
            <a:endParaRPr lang="en-US" sz="1100" dirty="0"/>
          </a:p>
        </p:txBody>
      </p:sp>
      <p:sp>
        <p:nvSpPr>
          <p:cNvPr id="14" name="Text 12"/>
          <p:cNvSpPr/>
          <p:nvPr/>
        </p:nvSpPr>
        <p:spPr>
          <a:xfrm>
            <a:off x="457200" y="3030583"/>
            <a:ext cx="8229600" cy="1463040"/>
          </a:xfrm>
          <a:prstGeom prst="rect">
            <a:avLst/>
          </a:prstGeom>
          <a:noFill/>
          <a:ln/>
        </p:spPr>
        <p:txBody>
          <a:bodyPr wrap="square" rtlCol="0" anchor="t"/>
          <a:lstStyle/>
          <a:p>
            <a:pPr marL="342900" indent="-342900">
              <a:lnSpc>
                <a:spcPct val="115000"/>
              </a:lnSpc>
              <a:buSzPct val="100000"/>
              <a:buChar char="•"/>
            </a:pPr>
            <a:r>
              <a:rPr lang="en-US" sz="900" dirty="0">
                <a:solidFill>
                  <a:srgbClr val="2B2B2B"/>
                </a:solidFill>
                <a:latin typeface="맑은 고딕" pitchFamily="34" charset="0"/>
                <a:ea typeface="맑은 고딕" pitchFamily="34" charset="-122"/>
                <a:cs typeface="맑은 고딕" pitchFamily="34" charset="-120"/>
              </a:rPr>
              <a:t>Step 3: 법인보험 약관대출 실행 → 즉시 상환 1억 완료 → 가지급금 전액 해소</a:t>
            </a:r>
            <a:endParaRPr lang="en-US" sz="900" dirty="0"/>
          </a:p>
          <a:p>
            <a:pPr marL="342900" indent="-342900">
              <a:lnSpc>
                <a:spcPct val="115000"/>
              </a:lnSpc>
              <a:buSzPct val="100000"/>
              <a:buChar char="•"/>
            </a:pPr>
            <a:r>
              <a:rPr lang="en-US" sz="900" dirty="0">
                <a:solidFill>
                  <a:srgbClr val="2B2B2B"/>
                </a:solidFill>
                <a:latin typeface="맑은 고딕" pitchFamily="34" charset="0"/>
                <a:ea typeface="맑은 고딕" pitchFamily="34" charset="-122"/>
                <a:cs typeface="맑은 고딕" pitchFamily="34" charset="-120"/>
              </a:rPr>
              <a:t>가지급금 잔액 '0원' 확인: 회계장부, 법인통장, 증빙 서류 확인</a:t>
            </a:r>
            <a:endParaRPr lang="en-US" sz="900" dirty="0"/>
          </a:p>
          <a:p>
            <a:pPr marL="342900" indent="-342900">
              <a:lnSpc>
                <a:spcPct val="115000"/>
              </a:lnSpc>
              <a:buSzPct val="100000"/>
              <a:buChar char="•"/>
            </a:pPr>
            <a:r>
              <a:rPr lang="en-US" sz="900" dirty="0">
                <a:solidFill>
                  <a:srgbClr val="2B2B2B"/>
                </a:solidFill>
                <a:latin typeface="맑은 고딕" pitchFamily="34" charset="0"/>
                <a:ea typeface="맑은 고딕" pitchFamily="34" charset="-122"/>
                <a:cs typeface="맑은 고딕" pitchFamily="34" charset="-120"/>
              </a:rPr>
              <a:t>세무신고 최종 점검: 부가가치세, 소득세, 법인세, 중간예납 및 연말정산 포함</a:t>
            </a:r>
            <a:endParaRPr lang="en-US" sz="900" dirty="0"/>
          </a:p>
          <a:p>
            <a:pPr marL="342900" indent="-342900">
              <a:lnSpc>
                <a:spcPct val="115000"/>
              </a:lnSpc>
              <a:buSzPct val="100000"/>
              <a:buChar char="•"/>
            </a:pPr>
            <a:r>
              <a:rPr lang="en-US" sz="900" dirty="0">
                <a:solidFill>
                  <a:srgbClr val="2B2B2B"/>
                </a:solidFill>
                <a:latin typeface="맑은 고딕" pitchFamily="34" charset="0"/>
                <a:ea typeface="맑은 고딕" pitchFamily="34" charset="-122"/>
                <a:cs typeface="맑은 고딕" pitchFamily="34" charset="-120"/>
              </a:rPr>
              <a:t>금융기관·신용평가사 보고: 가지급금 해소 보고 및 신용등급 개선 신청</a:t>
            </a:r>
            <a:endParaRPr lang="en-US" sz="900" dirty="0"/>
          </a:p>
          <a:p>
            <a:pPr marL="342900" indent="-342900">
              <a:lnSpc>
                <a:spcPct val="115000"/>
              </a:lnSpc>
              <a:buSzPct val="100000"/>
              <a:buChar char="•"/>
            </a:pPr>
            <a:r>
              <a:rPr lang="en-US" sz="900" dirty="0">
                <a:solidFill>
                  <a:srgbClr val="2B2B2B"/>
                </a:solidFill>
                <a:latin typeface="맑은 고딕" pitchFamily="34" charset="0"/>
                <a:ea typeface="맑은 고딕" pitchFamily="34" charset="-122"/>
                <a:cs typeface="맑은 고딕" pitchFamily="34" charset="-120"/>
              </a:rPr>
              <a:t>내부통제 규정 확정: 임직원 경비·법인카드 사전승인 제도 / 가지급금 30일 초과 시 자동보고 시스템</a:t>
            </a:r>
            <a:endParaRPr lang="en-US" sz="900" dirty="0"/>
          </a:p>
          <a:p>
            <a:pPr marL="342900" indent="-342900">
              <a:lnSpc>
                <a:spcPct val="115000"/>
              </a:lnSpc>
              <a:buSzPct val="100000"/>
              <a:buChar char="•"/>
            </a:pPr>
            <a:r>
              <a:rPr lang="en-US" sz="900" dirty="0">
                <a:solidFill>
                  <a:srgbClr val="2B2B2B"/>
                </a:solidFill>
                <a:latin typeface="맑은 고딕" pitchFamily="34" charset="0"/>
                <a:ea typeface="맑은 고딕" pitchFamily="34" charset="-122"/>
                <a:cs typeface="맑은 고딕" pitchFamily="34" charset="-120"/>
              </a:rPr>
              <a:t>연간 점검 스케줄: 매년 1월: 예상 국민연금액, 보수조정 / 5월: 종합소득세 / 12월: 재무 리스크 연말 평가</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24</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[부록] CEO 개인 세무최적화 가이드 (1/4)</a:t>
            </a:r>
            <a:endParaRPr lang="en-US" sz="15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가지급금 정리로 세무리스크 해소하기</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24 / 62</a:t>
            </a:r>
            <a:endParaRPr lang="en-US" sz="800" dirty="0"/>
          </a:p>
        </p:txBody>
      </p:sp>
      <p:sp>
        <p:nvSpPr>
          <p:cNvPr id="7" name="Text 5"/>
          <p:cNvSpPr/>
          <p:nvPr/>
        </p:nvSpPr>
        <p:spPr>
          <a:xfrm>
            <a:off x="457200" y="685800"/>
            <a:ext cx="8229600" cy="548640"/>
          </a:xfrm>
          <a:prstGeom prst="rect">
            <a:avLst/>
          </a:prstGeom>
          <a:noFill/>
          <a:ln/>
        </p:spPr>
        <p:txBody>
          <a:bodyPr wrap="square" rtlCol="0" anchor="t"/>
          <a:lstStyle/>
          <a:p>
            <a:pPr marL="0" indent="0">
              <a:lnSpc>
                <a:spcPct val="115000"/>
              </a:lnSpc>
              <a:buNone/>
            </a:pPr>
            <a:r>
              <a:rPr lang="en-US" sz="1100" dirty="0">
                <a:solidFill>
                  <a:srgbClr val="2B2B2B"/>
                </a:solidFill>
                <a:latin typeface="맑은 고딕" pitchFamily="34" charset="0"/>
                <a:ea typeface="맑은 고딕" pitchFamily="34" charset="-122"/>
                <a:cs typeface="맑은 고딕" pitchFamily="34" charset="-120"/>
              </a:rPr>
              <a:t>0. 목적: 법인(가지급금 해소)과 개인(세후 현금흐름)을 동시에 최적화하기 위한 의사결정 가이드. 핵심 포인트는 소득 구분(근로·기타·배당), 건강보험료 체계(직장·피부양·지역), 사적연금 과세 선택(분리/종합)의 3축을 한 번에 설계하는 것입니다.</a:t>
            </a:r>
            <a:endParaRPr lang="en-US" sz="1100" dirty="0"/>
          </a:p>
        </p:txBody>
      </p:sp>
      <p:sp>
        <p:nvSpPr>
          <p:cNvPr id="8" name="Text 6"/>
          <p:cNvSpPr/>
          <p:nvPr/>
        </p:nvSpPr>
        <p:spPr>
          <a:xfrm>
            <a:off x="457200" y="1280160"/>
            <a:ext cx="8229600" cy="365760"/>
          </a:xfrm>
          <a:prstGeom prst="rect">
            <a:avLst/>
          </a:prstGeom>
          <a:noFill/>
          <a:ln/>
        </p:spPr>
        <p:txBody>
          <a:bodyPr wrap="square"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1. 소득원별 세금·건보 한눈 비교</a:t>
            </a:r>
            <a:endParaRPr lang="en-US" sz="1400" dirty="0"/>
          </a:p>
        </p:txBody>
      </p:sp>
      <p:graphicFrame>
        <p:nvGraphicFramePr>
          <p:cNvPr id="26" name="Table 0"/>
          <p:cNvGraphicFramePr>
            <a:graphicFrameLocks noGrp="1"/>
          </p:cNvGraphicFramePr>
          <p:nvPr>
            <p:extLst>
              <p:ext uri="{D42A27DB-BD31-4B8C-83A1-F6EECF244321}">
                <p14:modId xmlns:p14="http://schemas.microsoft.com/office/powerpoint/2010/main" val="2667904529"/>
              </p:ext>
            </p:extLst>
          </p:nvPr>
        </p:nvGraphicFramePr>
        <p:xfrm>
          <a:off x="457200" y="1737360"/>
          <a:ext cx="8229600" cy="1645920"/>
        </p:xfrm>
        <a:graphic>
          <a:graphicData uri="http://schemas.openxmlformats.org/drawingml/2006/table">
            <a:tbl>
              <a:tblPr/>
              <a:tblGrid>
                <a:gridCol w="13716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468880">
                  <a:extLst>
                    <a:ext uri="{9D8B030D-6E8A-4147-A177-3AD203B41FA5}">
                      <a16:colId xmlns:a16="http://schemas.microsoft.com/office/drawing/2014/main" val="20003"/>
                    </a:ext>
                  </a:extLst>
                </a:gridCol>
              </a:tblGrid>
              <a:tr h="274320">
                <a:tc>
                  <a:txBody>
                    <a:bodyPr/>
                    <a:lstStyle/>
                    <a:p>
                      <a:pPr marL="0" indent="0" algn="ctr">
                        <a:buNone/>
                      </a:pPr>
                      <a:r>
                        <a:rPr lang="en-US" sz="800" b="1" dirty="0">
                          <a:solidFill>
                            <a:srgbClr val="FFFFFF"/>
                          </a:solidFill>
                        </a:rPr>
                        <a:t>구분</a:t>
                      </a:r>
                      <a:endParaRPr lang="en-US" sz="8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800" b="1" dirty="0">
                          <a:solidFill>
                            <a:srgbClr val="FFFFFF"/>
                          </a:solidFill>
                        </a:rPr>
                        <a:t>과세체계(핵심)</a:t>
                      </a:r>
                      <a:endParaRPr lang="en-US" sz="8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800" b="1" dirty="0">
                          <a:solidFill>
                            <a:srgbClr val="FFFFFF"/>
                          </a:solidFill>
                        </a:rPr>
                        <a:t>건강보험 영향</a:t>
                      </a:r>
                      <a:endParaRPr lang="en-US" sz="8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800" b="1" dirty="0">
                          <a:solidFill>
                            <a:srgbClr val="FFFFFF"/>
                          </a:solidFill>
                        </a:rPr>
                        <a:t>장단점/유의점</a:t>
                      </a:r>
                      <a:endParaRPr lang="en-US" sz="8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457200">
                <a:tc>
                  <a:txBody>
                    <a:bodyPr/>
                    <a:lstStyle/>
                    <a:p>
                      <a:pPr marL="0" indent="0" algn="ctr">
                        <a:buNone/>
                      </a:pPr>
                      <a:r>
                        <a:rPr lang="en-US" sz="800" b="1" dirty="0">
                          <a:solidFill>
                            <a:srgbClr val="2B2B2B"/>
                          </a:solidFill>
                        </a:rPr>
                        <a:t>근로소득</a:t>
                      </a:r>
                      <a:endParaRPr lang="en-US" sz="8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2B2B2B"/>
                          </a:solidFill>
                        </a:rPr>
                        <a:t>누진 종합과세</a:t>
                      </a:r>
                      <a:endParaRPr lang="en-US" sz="800" dirty="0"/>
                    </a:p>
                    <a:p>
                      <a:pPr marL="0" indent="0" algn="ctr">
                        <a:buNone/>
                      </a:pPr>
                      <a:r>
                        <a:rPr lang="en-US" sz="800" dirty="0">
                          <a:solidFill>
                            <a:srgbClr val="2B2B2B"/>
                          </a:solidFill>
                        </a:rPr>
                        <a:t>(근로소득공제·인적공제 가능)</a:t>
                      </a:r>
                      <a:endParaRPr lang="en-US" sz="8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2B2B2B"/>
                          </a:solidFill>
                        </a:rPr>
                        <a:t>보수월액 기준(직장)</a:t>
                      </a:r>
                      <a:endParaRPr lang="en-US" sz="800" dirty="0"/>
                    </a:p>
                    <a:p>
                      <a:pPr marL="0" indent="0" algn="ctr">
                        <a:buNone/>
                      </a:pPr>
                      <a:r>
                        <a:rPr lang="en-US" sz="800" dirty="0">
                          <a:solidFill>
                            <a:srgbClr val="2B2B2B"/>
                          </a:solidFill>
                        </a:rPr>
                        <a:t>퇴직 후 지역 전환</a:t>
                      </a:r>
                      <a:endParaRPr lang="en-US" sz="8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2B2B2B"/>
                          </a:solidFill>
                        </a:rPr>
                        <a:t>법인 비용처리 용이</a:t>
                      </a:r>
                      <a:endParaRPr lang="en-US" sz="800" dirty="0"/>
                    </a:p>
                    <a:p>
                      <a:pPr marL="0" indent="0" algn="ctr">
                        <a:buNone/>
                      </a:pPr>
                      <a:r>
                        <a:rPr lang="en-US" sz="800" dirty="0">
                          <a:solidFill>
                            <a:srgbClr val="2B2B2B"/>
                          </a:solidFill>
                        </a:rPr>
                        <a:t>4대보험 부담 동반</a:t>
                      </a:r>
                      <a:endParaRPr lang="en-US" sz="8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ctr">
                        <a:buNone/>
                      </a:pPr>
                      <a:r>
                        <a:rPr lang="en-US" sz="800" b="1" dirty="0">
                          <a:solidFill>
                            <a:srgbClr val="2B2B2B"/>
                          </a:solidFill>
                        </a:rPr>
                        <a:t>기타소득</a:t>
                      </a:r>
                      <a:endParaRPr lang="en-US" sz="800" dirty="0"/>
                    </a:p>
                    <a:p>
                      <a:pPr marL="0" indent="0" algn="ctr">
                        <a:buNone/>
                      </a:pPr>
                      <a:r>
                        <a:rPr lang="en-US" sz="800" b="1" dirty="0">
                          <a:solidFill>
                            <a:srgbClr val="2B2B2B"/>
                          </a:solidFill>
                        </a:rPr>
                        <a:t>(직무발명보상 등)</a:t>
                      </a:r>
                      <a:endParaRPr lang="en-US" sz="8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800" dirty="0">
                          <a:solidFill>
                            <a:srgbClr val="2B2B2B"/>
                          </a:solidFill>
                        </a:rPr>
                        <a:t>필요경비 인정 후 과세</a:t>
                      </a:r>
                      <a:endParaRPr lang="en-US" sz="800" dirty="0"/>
                    </a:p>
                    <a:p>
                      <a:pPr marL="0" indent="0" algn="ctr">
                        <a:buNone/>
                      </a:pPr>
                      <a:r>
                        <a:rPr lang="en-US" sz="800" dirty="0">
                          <a:solidFill>
                            <a:srgbClr val="2B2B2B"/>
                          </a:solidFill>
                        </a:rPr>
                        <a:t>일정 범위 분리과세 선택 가능</a:t>
                      </a:r>
                      <a:endParaRPr lang="en-US" sz="8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800" dirty="0">
                          <a:solidFill>
                            <a:srgbClr val="2B2B2B"/>
                          </a:solidFill>
                        </a:rPr>
                        <a:t>지역보험료 산정에</a:t>
                      </a:r>
                      <a:endParaRPr lang="en-US" sz="800" dirty="0"/>
                    </a:p>
                    <a:p>
                      <a:pPr marL="0" indent="0" algn="ctr">
                        <a:buNone/>
                      </a:pPr>
                      <a:r>
                        <a:rPr lang="en-US" sz="800" dirty="0">
                          <a:solidFill>
                            <a:srgbClr val="2B2B2B"/>
                          </a:solidFill>
                        </a:rPr>
                        <a:t>포함 가능</a:t>
                      </a:r>
                      <a:endParaRPr lang="en-US" sz="8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800" dirty="0">
                          <a:solidFill>
                            <a:srgbClr val="2B2B2B"/>
                          </a:solidFill>
                        </a:rPr>
                        <a:t>시가·절차 입증 필수</a:t>
                      </a:r>
                      <a:endParaRPr lang="en-US" sz="800" dirty="0"/>
                    </a:p>
                    <a:p>
                      <a:pPr marL="0" indent="0" algn="ctr">
                        <a:buNone/>
                      </a:pPr>
                      <a:r>
                        <a:rPr lang="en-US" sz="800" dirty="0">
                          <a:solidFill>
                            <a:srgbClr val="2B2B2B"/>
                          </a:solidFill>
                        </a:rPr>
                        <a:t>원천징수·신고 관리</a:t>
                      </a:r>
                      <a:endParaRPr lang="en-US" sz="8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457200">
                <a:tc>
                  <a:txBody>
                    <a:bodyPr/>
                    <a:lstStyle/>
                    <a:p>
                      <a:pPr marL="0" indent="0" algn="ctr">
                        <a:buNone/>
                      </a:pPr>
                      <a:r>
                        <a:rPr lang="en-US" sz="800" b="1" dirty="0">
                          <a:solidFill>
                            <a:srgbClr val="2B2B2B"/>
                          </a:solidFill>
                        </a:rPr>
                        <a:t>배당소득</a:t>
                      </a:r>
                      <a:endParaRPr lang="en-US" sz="8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2B2B2B"/>
                          </a:solidFill>
                        </a:rPr>
                        <a:t>원천징수 후</a:t>
                      </a:r>
                      <a:endParaRPr lang="en-US" sz="800" dirty="0"/>
                    </a:p>
                    <a:p>
                      <a:pPr marL="0" indent="0" algn="ctr">
                        <a:buNone/>
                      </a:pPr>
                      <a:r>
                        <a:rPr lang="en-US" sz="800" dirty="0">
                          <a:solidFill>
                            <a:srgbClr val="2B2B2B"/>
                          </a:solidFill>
                        </a:rPr>
                        <a:t>금융소득 합산(종합과세)</a:t>
                      </a:r>
                      <a:endParaRPr lang="en-US" sz="8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2B2B2B"/>
                          </a:solidFill>
                        </a:rPr>
                        <a:t>지역보험료에 포함</a:t>
                      </a:r>
                      <a:endParaRPr lang="en-US" sz="8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2B2B2B"/>
                          </a:solidFill>
                        </a:rPr>
                        <a:t>세율·건보 모두 부담 커</a:t>
                      </a:r>
                      <a:endParaRPr lang="en-US" sz="800" dirty="0"/>
                    </a:p>
                    <a:p>
                      <a:pPr marL="0" indent="0" algn="ctr">
                        <a:buNone/>
                      </a:pPr>
                      <a:r>
                        <a:rPr lang="en-US" sz="800" dirty="0">
                          <a:solidFill>
                            <a:srgbClr val="2B2B2B"/>
                          </a:solidFill>
                        </a:rPr>
                        <a:t>1인주주에겐 신중</a:t>
                      </a:r>
                      <a:endParaRPr lang="en-US" sz="8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0" name="Text 7"/>
          <p:cNvSpPr/>
          <p:nvPr/>
        </p:nvSpPr>
        <p:spPr>
          <a:xfrm>
            <a:off x="457200" y="3749040"/>
            <a:ext cx="8229600" cy="411480"/>
          </a:xfrm>
          <a:prstGeom prst="rect">
            <a:avLst/>
          </a:prstGeom>
          <a:noFill/>
          <a:ln/>
        </p:spPr>
        <p:txBody>
          <a:bodyPr wrap="square" rtlCol="0" anchor="t"/>
          <a:lstStyle/>
          <a:p>
            <a:pPr marL="0" indent="0">
              <a:lnSpc>
                <a:spcPct val="115000"/>
              </a:lnSpc>
              <a:buNone/>
            </a:pPr>
            <a:r>
              <a:rPr lang="en-US" sz="900" i="1" dirty="0">
                <a:solidFill>
                  <a:srgbClr val="92400E"/>
                </a:solidFill>
                <a:latin typeface="맑은 고딕" pitchFamily="34" charset="0"/>
                <a:ea typeface="맑은 고딕" pitchFamily="34" charset="-122"/>
                <a:cs typeface="맑은 고딕" pitchFamily="34" charset="-120"/>
              </a:rPr>
              <a:t>Tip: 같은 1억원이라도 근로 ↔ 기타 ↔ 배당에 따라 개인 세부담 + 건보료 + 법인 손금효과가 크게 달라집니다. 반드시 법인-개인 통합 시뮬레이션 후 결정하세요.</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25</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[부록] CEO 개인 세무최적화 가이드 (2/4)</a:t>
            </a:r>
            <a:endParaRPr lang="en-US" sz="15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가지급금 정리로 세무리스크 해소하기</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25 / 62</a:t>
            </a:r>
            <a:endParaRPr lang="en-US" sz="800" dirty="0"/>
          </a:p>
        </p:txBody>
      </p:sp>
      <p:sp>
        <p:nvSpPr>
          <p:cNvPr id="7" name="Text 5"/>
          <p:cNvSpPr/>
          <p:nvPr/>
        </p:nvSpPr>
        <p:spPr>
          <a:xfrm>
            <a:off x="457200" y="685800"/>
            <a:ext cx="8229600" cy="365760"/>
          </a:xfrm>
          <a:prstGeom prst="rect">
            <a:avLst/>
          </a:prstGeom>
          <a:noFill/>
          <a:ln/>
        </p:spPr>
        <p:txBody>
          <a:bodyPr wrap="square"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2. 건강보험료 최적화 루트맵</a:t>
            </a:r>
            <a:endParaRPr lang="en-US" sz="1400" dirty="0"/>
          </a:p>
        </p:txBody>
      </p:sp>
      <p:sp>
        <p:nvSpPr>
          <p:cNvPr id="8" name="Shape 6"/>
          <p:cNvSpPr/>
          <p:nvPr/>
        </p:nvSpPr>
        <p:spPr>
          <a:xfrm>
            <a:off x="457200" y="1051560"/>
            <a:ext cx="8229600" cy="960120"/>
          </a:xfrm>
          <a:prstGeom prst="rect">
            <a:avLst/>
          </a:prstGeom>
          <a:solidFill>
            <a:srgbClr val="F7F8FA"/>
          </a:solidFill>
          <a:ln w="12700">
            <a:solidFill>
              <a:srgbClr val="E2E8F0"/>
            </a:solidFill>
            <a:prstDash val="solid"/>
          </a:ln>
          <a:effectLst>
            <a:outerShdw blurRad="50800" dist="25400" dir="8100000" algn="bl" rotWithShape="0">
              <a:srgbClr val="000000">
                <a:alpha val="10000"/>
              </a:srgbClr>
            </a:outerShdw>
          </a:effectLst>
        </p:spPr>
        <p:txBody>
          <a:bodyPr/>
          <a:lstStyle/>
          <a:p>
            <a:endParaRPr lang="ko-KR" altLang="en-US"/>
          </a:p>
        </p:txBody>
      </p:sp>
      <p:sp>
        <p:nvSpPr>
          <p:cNvPr id="9" name="Shape 7"/>
          <p:cNvSpPr/>
          <p:nvPr/>
        </p:nvSpPr>
        <p:spPr>
          <a:xfrm>
            <a:off x="457200" y="1051560"/>
            <a:ext cx="54864" cy="960120"/>
          </a:xfrm>
          <a:prstGeom prst="rect">
            <a:avLst/>
          </a:prstGeom>
          <a:solidFill>
            <a:srgbClr val="C8962E"/>
          </a:solidFill>
          <a:ln/>
        </p:spPr>
        <p:txBody>
          <a:bodyPr/>
          <a:lstStyle/>
          <a:p>
            <a:endParaRPr lang="ko-KR" altLang="en-US"/>
          </a:p>
        </p:txBody>
      </p:sp>
      <p:sp>
        <p:nvSpPr>
          <p:cNvPr id="10" name="Text 8"/>
          <p:cNvSpPr/>
          <p:nvPr/>
        </p:nvSpPr>
        <p:spPr>
          <a:xfrm>
            <a:off x="640080" y="1097280"/>
            <a:ext cx="7863840" cy="27432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 임의계속가입자(퇴직자용)</a:t>
            </a:r>
            <a:endParaRPr lang="en-US" sz="1100" dirty="0"/>
          </a:p>
        </p:txBody>
      </p:sp>
      <p:sp>
        <p:nvSpPr>
          <p:cNvPr id="11" name="Text 9"/>
          <p:cNvSpPr/>
          <p:nvPr/>
        </p:nvSpPr>
        <p:spPr>
          <a:xfrm>
            <a:off x="640080" y="1371600"/>
            <a:ext cx="7863840" cy="448056"/>
          </a:xfrm>
          <a:prstGeom prst="rect">
            <a:avLst/>
          </a:prstGeom>
          <a:noFill/>
          <a:ln/>
        </p:spPr>
        <p:txBody>
          <a:bodyPr wrap="square" rtlCol="0" anchor="t"/>
          <a:lstStyle/>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요건: 퇴직 후 최초 고지된 지역보험료의 납부기한 2개월 이내 신청, 최대 36개월 직장수준 유지.</a:t>
            </a:r>
            <a:endParaRPr lang="en-US" sz="1000" dirty="0"/>
          </a:p>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추가 요건: 퇴직 전 18개월 중 12개월 이상 직장자격.</a:t>
            </a:r>
            <a:endParaRPr lang="en-US" sz="1000" dirty="0"/>
          </a:p>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메모: 기한 경과 시 소급 불가.</a:t>
            </a:r>
            <a:endParaRPr lang="en-US" sz="1000" dirty="0"/>
          </a:p>
        </p:txBody>
      </p:sp>
      <p:sp>
        <p:nvSpPr>
          <p:cNvPr id="12" name="Shape 10"/>
          <p:cNvSpPr/>
          <p:nvPr/>
        </p:nvSpPr>
        <p:spPr>
          <a:xfrm>
            <a:off x="457200" y="2099201"/>
            <a:ext cx="8229600" cy="960120"/>
          </a:xfrm>
          <a:prstGeom prst="rect">
            <a:avLst/>
          </a:prstGeom>
          <a:solidFill>
            <a:srgbClr val="F7F8FA"/>
          </a:solidFill>
          <a:ln w="12700">
            <a:solidFill>
              <a:srgbClr val="E2E8F0"/>
            </a:solidFill>
            <a:prstDash val="solid"/>
          </a:ln>
          <a:effectLst>
            <a:outerShdw blurRad="50800" dist="25400" dir="8100000" algn="bl" rotWithShape="0">
              <a:srgbClr val="000000">
                <a:alpha val="10000"/>
              </a:srgbClr>
            </a:outerShdw>
          </a:effectLst>
        </p:spPr>
        <p:txBody>
          <a:bodyPr/>
          <a:lstStyle/>
          <a:p>
            <a:endParaRPr lang="ko-KR" altLang="en-US"/>
          </a:p>
        </p:txBody>
      </p:sp>
      <p:sp>
        <p:nvSpPr>
          <p:cNvPr id="13" name="Shape 11"/>
          <p:cNvSpPr/>
          <p:nvPr/>
        </p:nvSpPr>
        <p:spPr>
          <a:xfrm>
            <a:off x="457200" y="2099201"/>
            <a:ext cx="54864" cy="960120"/>
          </a:xfrm>
          <a:prstGeom prst="rect">
            <a:avLst/>
          </a:prstGeom>
          <a:solidFill>
            <a:srgbClr val="C8962E"/>
          </a:solidFill>
          <a:ln/>
        </p:spPr>
        <p:txBody>
          <a:bodyPr/>
          <a:lstStyle/>
          <a:p>
            <a:endParaRPr lang="ko-KR" altLang="en-US"/>
          </a:p>
        </p:txBody>
      </p:sp>
      <p:sp>
        <p:nvSpPr>
          <p:cNvPr id="14" name="Text 12"/>
          <p:cNvSpPr/>
          <p:nvPr/>
        </p:nvSpPr>
        <p:spPr>
          <a:xfrm>
            <a:off x="640080" y="2165822"/>
            <a:ext cx="7863840" cy="27432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 피부양자 등재</a:t>
            </a:r>
            <a:endParaRPr lang="en-US" sz="1100" dirty="0"/>
          </a:p>
        </p:txBody>
      </p:sp>
      <p:sp>
        <p:nvSpPr>
          <p:cNvPr id="15" name="Text 13"/>
          <p:cNvSpPr/>
          <p:nvPr/>
        </p:nvSpPr>
        <p:spPr>
          <a:xfrm>
            <a:off x="640080" y="2440142"/>
            <a:ext cx="7863840" cy="448056"/>
          </a:xfrm>
          <a:prstGeom prst="rect">
            <a:avLst/>
          </a:prstGeom>
          <a:noFill/>
          <a:ln/>
        </p:spPr>
        <p:txBody>
          <a:bodyPr wrap="square" rtlCol="0" anchor="t"/>
          <a:lstStyle/>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소득: 연 2,000만원 이하(모든 소득 합계).</a:t>
            </a:r>
            <a:endParaRPr lang="en-US" sz="1000" dirty="0"/>
          </a:p>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재산: 과세표준 9억원 초과 즉시 탈락 / 5.4~9억원은 연소득 1,000만원 초과 시 탈락.</a:t>
            </a:r>
            <a:endParaRPr lang="en-US" sz="1000" dirty="0"/>
          </a:p>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리스크: 사후 미충족 발견 시 소급 추징.</a:t>
            </a:r>
            <a:endParaRPr lang="en-US" sz="1000" dirty="0"/>
          </a:p>
        </p:txBody>
      </p:sp>
      <p:sp>
        <p:nvSpPr>
          <p:cNvPr id="16" name="Shape 14"/>
          <p:cNvSpPr/>
          <p:nvPr/>
        </p:nvSpPr>
        <p:spPr>
          <a:xfrm>
            <a:off x="457200" y="3154680"/>
            <a:ext cx="8229600" cy="868680"/>
          </a:xfrm>
          <a:prstGeom prst="rect">
            <a:avLst/>
          </a:prstGeom>
          <a:solidFill>
            <a:srgbClr val="F7F8FA"/>
          </a:solidFill>
          <a:ln w="12700">
            <a:solidFill>
              <a:srgbClr val="E2E8F0"/>
            </a:solidFill>
            <a:prstDash val="solid"/>
          </a:ln>
          <a:effectLst>
            <a:outerShdw blurRad="50800" dist="25400" dir="8100000" algn="bl" rotWithShape="0">
              <a:srgbClr val="000000">
                <a:alpha val="10000"/>
              </a:srgbClr>
            </a:outerShdw>
          </a:effectLst>
        </p:spPr>
        <p:txBody>
          <a:bodyPr/>
          <a:lstStyle/>
          <a:p>
            <a:endParaRPr lang="ko-KR" altLang="en-US"/>
          </a:p>
        </p:txBody>
      </p:sp>
      <p:sp>
        <p:nvSpPr>
          <p:cNvPr id="17" name="Shape 15"/>
          <p:cNvSpPr/>
          <p:nvPr/>
        </p:nvSpPr>
        <p:spPr>
          <a:xfrm>
            <a:off x="457200" y="3154680"/>
            <a:ext cx="54864" cy="868680"/>
          </a:xfrm>
          <a:prstGeom prst="rect">
            <a:avLst/>
          </a:prstGeom>
          <a:solidFill>
            <a:srgbClr val="C8962E"/>
          </a:solidFill>
          <a:ln/>
        </p:spPr>
        <p:txBody>
          <a:bodyPr/>
          <a:lstStyle/>
          <a:p>
            <a:endParaRPr lang="ko-KR" altLang="en-US"/>
          </a:p>
        </p:txBody>
      </p:sp>
      <p:sp>
        <p:nvSpPr>
          <p:cNvPr id="18" name="Text 16"/>
          <p:cNvSpPr/>
          <p:nvPr/>
        </p:nvSpPr>
        <p:spPr>
          <a:xfrm>
            <a:off x="640080" y="3234363"/>
            <a:ext cx="7863840" cy="27432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 지역가입 전환</a:t>
            </a:r>
            <a:endParaRPr lang="en-US" sz="1100" dirty="0"/>
          </a:p>
        </p:txBody>
      </p:sp>
      <p:sp>
        <p:nvSpPr>
          <p:cNvPr id="19" name="Text 17"/>
          <p:cNvSpPr/>
          <p:nvPr/>
        </p:nvSpPr>
        <p:spPr>
          <a:xfrm>
            <a:off x="640080" y="3508683"/>
            <a:ext cx="7863840" cy="448056"/>
          </a:xfrm>
          <a:prstGeom prst="rect">
            <a:avLst/>
          </a:prstGeom>
          <a:noFill/>
          <a:ln/>
        </p:spPr>
        <p:txBody>
          <a:bodyPr wrap="square" rtlCol="0" anchor="t"/>
          <a:lstStyle/>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산정: 종합소득·재산·자동차 반영.</a:t>
            </a:r>
            <a:endParaRPr lang="en-US" sz="1000" dirty="0"/>
          </a:p>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주의: 배당·기타·연금 증가 시 보험료 급등 가능.</a:t>
            </a:r>
            <a:endParaRPr lang="en-US" sz="1000" dirty="0"/>
          </a:p>
        </p:txBody>
      </p:sp>
      <p:sp>
        <p:nvSpPr>
          <p:cNvPr id="20" name="Text 18"/>
          <p:cNvSpPr/>
          <p:nvPr/>
        </p:nvSpPr>
        <p:spPr>
          <a:xfrm>
            <a:off x="457200" y="4160520"/>
            <a:ext cx="8229600" cy="457200"/>
          </a:xfrm>
          <a:prstGeom prst="rect">
            <a:avLst/>
          </a:prstGeom>
          <a:noFill/>
          <a:ln/>
        </p:spPr>
        <p:txBody>
          <a:bodyPr wrap="square" rtlCol="0" anchor="t"/>
          <a:lstStyle/>
          <a:p>
            <a:pPr marL="0" indent="0">
              <a:lnSpc>
                <a:spcPct val="115000"/>
              </a:lnSpc>
              <a:buNone/>
            </a:pPr>
            <a:r>
              <a:rPr lang="en-US" sz="900" i="1" dirty="0">
                <a:solidFill>
                  <a:srgbClr val="92400E"/>
                </a:solidFill>
                <a:latin typeface="맑은 고딕" pitchFamily="34" charset="0"/>
                <a:ea typeface="맑은 고딕" pitchFamily="34" charset="-122"/>
                <a:cs typeface="맑은 고딕" pitchFamily="34" charset="-120"/>
              </a:rPr>
              <a:t>전략 포인트: 퇴직 직후 임의계속 → 피부양(가능 시) → 지역 순으로 검토. 대규모 배당·기타소득 집행 전, 피부양자 기준 충족 여부와 지역보험료 급등을 반드시 시뮬레이션하세요.</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26</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[부록] CEO 개인 세무최적화 가이드 (3/4)</a:t>
            </a:r>
            <a:endParaRPr lang="en-US" sz="15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가지급금 정리로 세무리스크 해소하기</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26 / 62</a:t>
            </a:r>
            <a:endParaRPr lang="en-US" sz="800" dirty="0"/>
          </a:p>
        </p:txBody>
      </p:sp>
      <p:sp>
        <p:nvSpPr>
          <p:cNvPr id="7" name="Text 5"/>
          <p:cNvSpPr/>
          <p:nvPr/>
        </p:nvSpPr>
        <p:spPr>
          <a:xfrm>
            <a:off x="457200" y="685800"/>
            <a:ext cx="8229600" cy="365760"/>
          </a:xfrm>
          <a:prstGeom prst="rect">
            <a:avLst/>
          </a:prstGeom>
          <a:noFill/>
          <a:ln/>
        </p:spPr>
        <p:txBody>
          <a:bodyPr wrap="square"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3. 사적연금 과세 선택 (핵심 의사결정)</a:t>
            </a:r>
            <a:endParaRPr lang="en-US" sz="1400" dirty="0"/>
          </a:p>
        </p:txBody>
      </p:sp>
      <p:sp>
        <p:nvSpPr>
          <p:cNvPr id="8" name="Text 6"/>
          <p:cNvSpPr/>
          <p:nvPr/>
        </p:nvSpPr>
        <p:spPr>
          <a:xfrm>
            <a:off x="457200" y="1143000"/>
            <a:ext cx="8229600" cy="274320"/>
          </a:xfrm>
          <a:prstGeom prst="rect">
            <a:avLst/>
          </a:prstGeom>
          <a:noFill/>
          <a:ln/>
        </p:spPr>
        <p:txBody>
          <a:bodyPr wrap="square" rtlCol="0" anchor="t"/>
          <a:lstStyle/>
          <a:p>
            <a:pPr marL="0" indent="0">
              <a:lnSpc>
                <a:spcPct val="115000"/>
              </a:lnSpc>
              <a:buNone/>
            </a:pPr>
            <a:r>
              <a:rPr lang="en-US" sz="1100" b="1" dirty="0">
                <a:solidFill>
                  <a:srgbClr val="2B2B2B"/>
                </a:solidFill>
                <a:latin typeface="맑은 고딕" pitchFamily="34" charset="0"/>
                <a:ea typeface="맑은 고딕" pitchFamily="34" charset="-122"/>
                <a:cs typeface="맑은 고딕" pitchFamily="34" charset="-120"/>
              </a:rPr>
              <a:t>대상: 사적연금 합계(개인연금·퇴직연금(IRP) 등) ※ 국민연금 제외</a:t>
            </a:r>
            <a:endParaRPr lang="en-US" sz="1100" dirty="0"/>
          </a:p>
        </p:txBody>
      </p:sp>
      <p:sp>
        <p:nvSpPr>
          <p:cNvPr id="9" name="Text 7"/>
          <p:cNvSpPr/>
          <p:nvPr/>
        </p:nvSpPr>
        <p:spPr>
          <a:xfrm>
            <a:off x="457200" y="1463040"/>
            <a:ext cx="8229600" cy="731520"/>
          </a:xfrm>
          <a:prstGeom prst="rect">
            <a:avLst/>
          </a:prstGeom>
          <a:noFill/>
          <a:ln/>
        </p:spPr>
        <p:txBody>
          <a:bodyPr wrap="square" rtlCol="0" anchor="t"/>
          <a:lstStyle/>
          <a:p>
            <a:pPr marL="342900" indent="-342900">
              <a:lnSpc>
                <a:spcPct val="115000"/>
              </a:lnSpc>
              <a:buSzPct val="100000"/>
              <a:buChar char="•"/>
            </a:pPr>
            <a:r>
              <a:rPr lang="en-US" sz="1000" dirty="0">
                <a:solidFill>
                  <a:srgbClr val="2B2B2B"/>
                </a:solidFill>
                <a:latin typeface="맑은 고딕" pitchFamily="34" charset="0"/>
                <a:ea typeface="맑은 고딕" pitchFamily="34" charset="-122"/>
                <a:cs typeface="맑은 고딕" pitchFamily="34" charset="-120"/>
              </a:rPr>
              <a:t>연간 1,200만원 이하: 분리과세 3.3%(지방세 포함) 선택 가능</a:t>
            </a:r>
            <a:endParaRPr lang="en-US" sz="1000" dirty="0"/>
          </a:p>
          <a:p>
            <a:pPr marL="342900" indent="-342900">
              <a:lnSpc>
                <a:spcPct val="115000"/>
              </a:lnSpc>
              <a:buSzPct val="100000"/>
              <a:buChar char="•"/>
            </a:pPr>
            <a:r>
              <a:rPr lang="en-US" sz="1000" dirty="0">
                <a:solidFill>
                  <a:srgbClr val="2B2B2B"/>
                </a:solidFill>
                <a:latin typeface="맑은 고딕" pitchFamily="34" charset="0"/>
                <a:ea typeface="맑은 고딕" pitchFamily="34" charset="-122"/>
                <a:cs typeface="맑은 고딕" pitchFamily="34" charset="-120"/>
              </a:rPr>
              <a:t>1,200만원 초과 ~ 1,500만원 이하: 분리과세 5.5% 또는 종합과세 중 선택</a:t>
            </a:r>
            <a:endParaRPr lang="en-US" sz="1000" dirty="0"/>
          </a:p>
          <a:p>
            <a:pPr marL="342900" indent="-342900">
              <a:lnSpc>
                <a:spcPct val="115000"/>
              </a:lnSpc>
              <a:buSzPct val="100000"/>
              <a:buChar char="•"/>
            </a:pPr>
            <a:r>
              <a:rPr lang="en-US" sz="1000" dirty="0">
                <a:solidFill>
                  <a:srgbClr val="2B2B2B"/>
                </a:solidFill>
                <a:latin typeface="맑은 고딕" pitchFamily="34" charset="0"/>
                <a:ea typeface="맑은 고딕" pitchFamily="34" charset="-122"/>
                <a:cs typeface="맑은 고딕" pitchFamily="34" charset="-120"/>
              </a:rPr>
              <a:t>1,500만원 초과: 종합과세만 가능(선택 불가)</a:t>
            </a:r>
            <a:endParaRPr lang="en-US" sz="1000" dirty="0"/>
          </a:p>
        </p:txBody>
      </p:sp>
      <p:sp>
        <p:nvSpPr>
          <p:cNvPr id="10" name="Text 8"/>
          <p:cNvSpPr/>
          <p:nvPr/>
        </p:nvSpPr>
        <p:spPr>
          <a:xfrm>
            <a:off x="457200" y="2286000"/>
            <a:ext cx="8229600" cy="457200"/>
          </a:xfrm>
          <a:prstGeom prst="rect">
            <a:avLst/>
          </a:prstGeom>
          <a:noFill/>
          <a:ln/>
        </p:spPr>
        <p:txBody>
          <a:bodyPr wrap="square" rtlCol="0" anchor="t"/>
          <a:lstStyle/>
          <a:p>
            <a:pPr marL="0" indent="0">
              <a:lnSpc>
                <a:spcPct val="115000"/>
              </a:lnSpc>
              <a:buNone/>
            </a:pPr>
            <a:r>
              <a:rPr lang="en-US" sz="900" i="1" dirty="0">
                <a:solidFill>
                  <a:srgbClr val="2B2B2B"/>
                </a:solidFill>
                <a:latin typeface="맑은 고딕" pitchFamily="34" charset="0"/>
                <a:ea typeface="맑은 고딕" pitchFamily="34" charset="-122"/>
                <a:cs typeface="맑은 고딕" pitchFamily="34" charset="-120"/>
              </a:rPr>
              <a:t>선택 기준: 다른 종합소득이 적고 공제가능액이 많으면 종합과세 유리할 수 있으나, 일반적으로 분리과세를 선호. 건강보험료는 분리/종합 여부와 무관하게 실제 수령액이 반영될 수 있으므로 별도 검토 필요.</a:t>
            </a:r>
            <a:endParaRPr lang="en-US" sz="900" dirty="0"/>
          </a:p>
        </p:txBody>
      </p:sp>
      <p:sp>
        <p:nvSpPr>
          <p:cNvPr id="11" name="Text 9"/>
          <p:cNvSpPr/>
          <p:nvPr/>
        </p:nvSpPr>
        <p:spPr>
          <a:xfrm>
            <a:off x="457200" y="2880360"/>
            <a:ext cx="8229600" cy="365760"/>
          </a:xfrm>
          <a:prstGeom prst="rect">
            <a:avLst/>
          </a:prstGeom>
          <a:noFill/>
          <a:ln/>
        </p:spPr>
        <p:txBody>
          <a:bodyPr wrap="square"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4. 국민연금 과세 요약</a:t>
            </a:r>
            <a:endParaRPr lang="en-US" sz="1400" dirty="0"/>
          </a:p>
        </p:txBody>
      </p:sp>
      <p:sp>
        <p:nvSpPr>
          <p:cNvPr id="12" name="Text 10"/>
          <p:cNvSpPr/>
          <p:nvPr/>
        </p:nvSpPr>
        <p:spPr>
          <a:xfrm>
            <a:off x="457200" y="3337560"/>
            <a:ext cx="8229600" cy="731520"/>
          </a:xfrm>
          <a:prstGeom prst="rect">
            <a:avLst/>
          </a:prstGeom>
          <a:noFill/>
          <a:ln/>
        </p:spPr>
        <p:txBody>
          <a:bodyPr wrap="square" rtlCol="0" anchor="t"/>
          <a:lstStyle/>
          <a:p>
            <a:pPr marL="342900" indent="-342900">
              <a:lnSpc>
                <a:spcPct val="115000"/>
              </a:lnSpc>
              <a:buSzPct val="100000"/>
              <a:buChar char="•"/>
            </a:pPr>
            <a:r>
              <a:rPr lang="en-US" sz="1000" dirty="0">
                <a:solidFill>
                  <a:srgbClr val="2B2B2B"/>
                </a:solidFill>
                <a:latin typeface="맑은 고딕" pitchFamily="34" charset="0"/>
                <a:ea typeface="맑은 고딕" pitchFamily="34" charset="-122"/>
                <a:cs typeface="맑은 고딕" pitchFamily="34" charset="-120"/>
              </a:rPr>
              <a:t>과세대상은 국민연금 전액이 아니라 '연금소득공제(최대 900만원)' 공제 후 금액</a:t>
            </a:r>
            <a:endParaRPr lang="en-US" sz="1000" dirty="0"/>
          </a:p>
          <a:p>
            <a:pPr marL="342900" indent="-342900">
              <a:lnSpc>
                <a:spcPct val="115000"/>
              </a:lnSpc>
              <a:buSzPct val="100000"/>
              <a:buChar char="•"/>
            </a:pPr>
            <a:r>
              <a:rPr lang="en-US" sz="1000" dirty="0">
                <a:solidFill>
                  <a:srgbClr val="2B2B2B"/>
                </a:solidFill>
                <a:latin typeface="맑은 고딕" pitchFamily="34" charset="0"/>
                <a:ea typeface="맑은 고딕" pitchFamily="34" charset="-122"/>
                <a:cs typeface="맑은 고딕" pitchFamily="34" charset="-120"/>
              </a:rPr>
              <a:t>예시: 국민연금 연 1,800만원 수령 → 연금소득공제 적용 후 과세표준에 합산</a:t>
            </a:r>
            <a:endParaRPr lang="en-US" sz="1000" dirty="0"/>
          </a:p>
          <a:p>
            <a:pPr marL="342900" indent="-342900">
              <a:lnSpc>
                <a:spcPct val="115000"/>
              </a:lnSpc>
              <a:buSzPct val="100000"/>
              <a:buChar char="•"/>
            </a:pPr>
            <a:r>
              <a:rPr lang="en-US" sz="1000" dirty="0">
                <a:solidFill>
                  <a:srgbClr val="2B2B2B"/>
                </a:solidFill>
                <a:latin typeface="맑은 고딕" pitchFamily="34" charset="0"/>
                <a:ea typeface="맑은 고딕" pitchFamily="34" charset="-122"/>
                <a:cs typeface="맑은 고딕" pitchFamily="34" charset="-120"/>
              </a:rPr>
              <a:t>국민연금은 사적연금 분리과세 한도 판단에 포함되지 않음</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27</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[부록] CEO 개인 세무최적화 가이드 (4/4)</a:t>
            </a:r>
            <a:endParaRPr lang="en-US" sz="15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가지급금 정리로 세무리스크 해소하기</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27 / 62</a:t>
            </a:r>
            <a:endParaRPr lang="en-US" sz="800" dirty="0"/>
          </a:p>
        </p:txBody>
      </p:sp>
      <p:sp>
        <p:nvSpPr>
          <p:cNvPr id="7" name="Text 5"/>
          <p:cNvSpPr/>
          <p:nvPr/>
        </p:nvSpPr>
        <p:spPr>
          <a:xfrm>
            <a:off x="457200" y="685800"/>
            <a:ext cx="8229600" cy="365760"/>
          </a:xfrm>
          <a:prstGeom prst="rect">
            <a:avLst/>
          </a:prstGeom>
          <a:noFill/>
          <a:ln/>
        </p:spPr>
        <p:txBody>
          <a:bodyPr wrap="square"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5. 실전 시나리오 &amp; 6. 연간 운영 체크리스트 &amp; 레드 플래그</a:t>
            </a:r>
            <a:endParaRPr lang="en-US" sz="1400" dirty="0"/>
          </a:p>
        </p:txBody>
      </p:sp>
      <p:sp>
        <p:nvSpPr>
          <p:cNvPr id="8" name="Shape 6"/>
          <p:cNvSpPr/>
          <p:nvPr/>
        </p:nvSpPr>
        <p:spPr>
          <a:xfrm>
            <a:off x="457200" y="1142999"/>
            <a:ext cx="8229600" cy="736093"/>
          </a:xfrm>
          <a:prstGeom prst="rect">
            <a:avLst/>
          </a:prstGeom>
          <a:solidFill>
            <a:srgbClr val="F7F8FA"/>
          </a:solidFill>
          <a:ln w="12700">
            <a:solidFill>
              <a:srgbClr val="E2E8F0"/>
            </a:solidFill>
            <a:prstDash val="solid"/>
          </a:ln>
          <a:effectLst>
            <a:outerShdw blurRad="50800" dist="25400" dir="8100000" algn="bl" rotWithShape="0">
              <a:srgbClr val="000000">
                <a:alpha val="10000"/>
              </a:srgbClr>
            </a:outerShdw>
          </a:effectLst>
        </p:spPr>
        <p:txBody>
          <a:bodyPr/>
          <a:lstStyle/>
          <a:p>
            <a:endParaRPr lang="ko-KR" altLang="en-US"/>
          </a:p>
        </p:txBody>
      </p:sp>
      <p:sp>
        <p:nvSpPr>
          <p:cNvPr id="9" name="Shape 7"/>
          <p:cNvSpPr/>
          <p:nvPr/>
        </p:nvSpPr>
        <p:spPr>
          <a:xfrm>
            <a:off x="457200" y="1142999"/>
            <a:ext cx="54864" cy="736093"/>
          </a:xfrm>
          <a:prstGeom prst="rect">
            <a:avLst/>
          </a:prstGeom>
          <a:solidFill>
            <a:srgbClr val="C8962E"/>
          </a:solidFill>
          <a:ln/>
        </p:spPr>
        <p:txBody>
          <a:bodyPr/>
          <a:lstStyle/>
          <a:p>
            <a:endParaRPr lang="ko-KR" altLang="en-US"/>
          </a:p>
        </p:txBody>
      </p:sp>
      <p:sp>
        <p:nvSpPr>
          <p:cNvPr id="10" name="Text 8"/>
          <p:cNvSpPr/>
          <p:nvPr/>
        </p:nvSpPr>
        <p:spPr>
          <a:xfrm>
            <a:off x="640080" y="1183497"/>
            <a:ext cx="7863840" cy="27432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 시나리오 A: 퇴직 직후 3년</a:t>
            </a:r>
            <a:endParaRPr lang="en-US" sz="1100" dirty="0"/>
          </a:p>
        </p:txBody>
      </p:sp>
      <p:sp>
        <p:nvSpPr>
          <p:cNvPr id="11" name="Text 9"/>
          <p:cNvSpPr/>
          <p:nvPr/>
        </p:nvSpPr>
        <p:spPr>
          <a:xfrm>
            <a:off x="640080" y="1457817"/>
            <a:ext cx="7863840" cy="219456"/>
          </a:xfrm>
          <a:prstGeom prst="rect">
            <a:avLst/>
          </a:prstGeom>
          <a:noFill/>
          <a:ln/>
        </p:spPr>
        <p:txBody>
          <a:bodyPr wrap="square" rtlCol="0" anchor="t"/>
          <a:lstStyle/>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임의계속 36개월 보험료 방어 → 사적연금 수령 연 1,200만원 이하 시작(3.3% 분리) → 종합소득이 낮은 연도에 점진 증액 → 효과: 초기 3년 보험료·세 부담 최소화</a:t>
            </a:r>
            <a:endParaRPr lang="en-US" sz="1000" dirty="0"/>
          </a:p>
        </p:txBody>
      </p:sp>
      <p:sp>
        <p:nvSpPr>
          <p:cNvPr id="12" name="Shape 10"/>
          <p:cNvSpPr/>
          <p:nvPr/>
        </p:nvSpPr>
        <p:spPr>
          <a:xfrm>
            <a:off x="457200" y="1952894"/>
            <a:ext cx="8229600" cy="736093"/>
          </a:xfrm>
          <a:prstGeom prst="rect">
            <a:avLst/>
          </a:prstGeom>
          <a:solidFill>
            <a:srgbClr val="F7F8FA"/>
          </a:solidFill>
          <a:ln w="12700">
            <a:solidFill>
              <a:srgbClr val="E2E8F0"/>
            </a:solidFill>
            <a:prstDash val="solid"/>
          </a:ln>
          <a:effectLst>
            <a:outerShdw blurRad="50800" dist="25400" dir="8100000" algn="bl" rotWithShape="0">
              <a:srgbClr val="000000">
                <a:alpha val="10000"/>
              </a:srgbClr>
            </a:outerShdw>
          </a:effectLst>
        </p:spPr>
        <p:txBody>
          <a:bodyPr/>
          <a:lstStyle/>
          <a:p>
            <a:endParaRPr lang="ko-KR" altLang="en-US"/>
          </a:p>
        </p:txBody>
      </p:sp>
      <p:sp>
        <p:nvSpPr>
          <p:cNvPr id="13" name="Shape 11"/>
          <p:cNvSpPr/>
          <p:nvPr/>
        </p:nvSpPr>
        <p:spPr>
          <a:xfrm>
            <a:off x="457200" y="1952894"/>
            <a:ext cx="54864" cy="736093"/>
          </a:xfrm>
          <a:prstGeom prst="rect">
            <a:avLst/>
          </a:prstGeom>
          <a:solidFill>
            <a:srgbClr val="C8962E"/>
          </a:solidFill>
          <a:ln/>
        </p:spPr>
        <p:txBody>
          <a:bodyPr/>
          <a:lstStyle/>
          <a:p>
            <a:endParaRPr lang="ko-KR" altLang="en-US"/>
          </a:p>
        </p:txBody>
      </p:sp>
      <p:sp>
        <p:nvSpPr>
          <p:cNvPr id="14" name="Text 12"/>
          <p:cNvSpPr/>
          <p:nvPr/>
        </p:nvSpPr>
        <p:spPr>
          <a:xfrm>
            <a:off x="640080" y="1980330"/>
            <a:ext cx="7863840" cy="27432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 시나리오 B: 피부양자 유지</a:t>
            </a:r>
            <a:endParaRPr lang="en-US" sz="1100" dirty="0"/>
          </a:p>
        </p:txBody>
      </p:sp>
      <p:sp>
        <p:nvSpPr>
          <p:cNvPr id="15" name="Text 13"/>
          <p:cNvSpPr/>
          <p:nvPr/>
        </p:nvSpPr>
        <p:spPr>
          <a:xfrm>
            <a:off x="640080" y="2254650"/>
            <a:ext cx="7863840" cy="219456"/>
          </a:xfrm>
          <a:prstGeom prst="rect">
            <a:avLst/>
          </a:prstGeom>
          <a:noFill/>
          <a:ln/>
        </p:spPr>
        <p:txBody>
          <a:bodyPr wrap="square" rtlCol="0" anchor="t"/>
          <a:lstStyle/>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요건 관리: 금융·기타·연금 합계 2,000만원 이하 유지 / 재산 과표 5.4~9억원 구간 주의 / 특허 보상 수령 시 분할수령·시기조절 → 효과: 지역보험 전환 지연/회피</a:t>
            </a:r>
            <a:endParaRPr lang="en-US" sz="1000" dirty="0"/>
          </a:p>
        </p:txBody>
      </p:sp>
      <p:sp>
        <p:nvSpPr>
          <p:cNvPr id="16" name="Shape 14"/>
          <p:cNvSpPr/>
          <p:nvPr/>
        </p:nvSpPr>
        <p:spPr>
          <a:xfrm>
            <a:off x="457200" y="2778470"/>
            <a:ext cx="8229600" cy="736093"/>
          </a:xfrm>
          <a:prstGeom prst="rect">
            <a:avLst/>
          </a:prstGeom>
          <a:solidFill>
            <a:srgbClr val="F7F8FA"/>
          </a:solidFill>
          <a:ln w="12700">
            <a:solidFill>
              <a:srgbClr val="E2E8F0"/>
            </a:solidFill>
            <a:prstDash val="solid"/>
          </a:ln>
          <a:effectLst>
            <a:outerShdw blurRad="50800" dist="25400" dir="8100000" algn="bl" rotWithShape="0">
              <a:srgbClr val="000000">
                <a:alpha val="10000"/>
              </a:srgbClr>
            </a:outerShdw>
          </a:effectLst>
        </p:spPr>
        <p:txBody>
          <a:bodyPr/>
          <a:lstStyle/>
          <a:p>
            <a:endParaRPr lang="ko-KR" altLang="en-US"/>
          </a:p>
        </p:txBody>
      </p:sp>
      <p:sp>
        <p:nvSpPr>
          <p:cNvPr id="17" name="Shape 15"/>
          <p:cNvSpPr/>
          <p:nvPr/>
        </p:nvSpPr>
        <p:spPr>
          <a:xfrm>
            <a:off x="457200" y="2778470"/>
            <a:ext cx="54864" cy="736093"/>
          </a:xfrm>
          <a:prstGeom prst="rect">
            <a:avLst/>
          </a:prstGeom>
          <a:solidFill>
            <a:srgbClr val="C8962E"/>
          </a:solidFill>
          <a:ln/>
        </p:spPr>
        <p:txBody>
          <a:bodyPr/>
          <a:lstStyle/>
          <a:p>
            <a:endParaRPr lang="ko-KR" altLang="en-US"/>
          </a:p>
        </p:txBody>
      </p:sp>
      <p:sp>
        <p:nvSpPr>
          <p:cNvPr id="18" name="Text 16"/>
          <p:cNvSpPr/>
          <p:nvPr/>
        </p:nvSpPr>
        <p:spPr>
          <a:xfrm>
            <a:off x="640080" y="2799375"/>
            <a:ext cx="7863840" cy="27432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 시나리오 C: 대주주 배당 필요</a:t>
            </a:r>
            <a:endParaRPr lang="en-US" sz="1100" dirty="0"/>
          </a:p>
        </p:txBody>
      </p:sp>
      <p:sp>
        <p:nvSpPr>
          <p:cNvPr id="19" name="Text 17"/>
          <p:cNvSpPr/>
          <p:nvPr/>
        </p:nvSpPr>
        <p:spPr>
          <a:xfrm>
            <a:off x="640080" y="3073695"/>
            <a:ext cx="7863840" cy="219456"/>
          </a:xfrm>
          <a:prstGeom prst="rect">
            <a:avLst/>
          </a:prstGeom>
          <a:noFill/>
          <a:ln/>
        </p:spPr>
        <p:txBody>
          <a:bodyPr wrap="square" rtlCol="0" anchor="t"/>
          <a:lstStyle/>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리스크: 배당은 세율·지역건보 모두 불리 / 대안: 직무발명보상 및 임원보수 현실화 우선 설계 후 배당은 보충재원으로 최소화 → 효과: 배당 세금/건보료 부담 최소화</a:t>
            </a:r>
            <a:endParaRPr lang="en-US" sz="1000" dirty="0"/>
          </a:p>
        </p:txBody>
      </p:sp>
      <p:sp>
        <p:nvSpPr>
          <p:cNvPr id="20" name="Text 18"/>
          <p:cNvSpPr/>
          <p:nvPr/>
        </p:nvSpPr>
        <p:spPr>
          <a:xfrm>
            <a:off x="457200" y="3749039"/>
            <a:ext cx="8229600" cy="411480"/>
          </a:xfrm>
          <a:prstGeom prst="rect">
            <a:avLst/>
          </a:prstGeom>
          <a:noFill/>
          <a:ln/>
        </p:spPr>
        <p:txBody>
          <a:bodyPr wrap="square" rtlCol="0" anchor="t"/>
          <a:lstStyle/>
          <a:p>
            <a:pPr marL="0" indent="0">
              <a:lnSpc>
                <a:spcPct val="115000"/>
              </a:lnSpc>
              <a:buNone/>
            </a:pPr>
            <a:r>
              <a:rPr lang="en-US" sz="800" dirty="0">
                <a:solidFill>
                  <a:srgbClr val="2B2B2B"/>
                </a:solidFill>
                <a:latin typeface="맑은 고딕" pitchFamily="34" charset="0"/>
                <a:ea typeface="맑은 고딕" pitchFamily="34" charset="-122"/>
                <a:cs typeface="맑은 고딕" pitchFamily="34" charset="-120"/>
              </a:rPr>
              <a:t>연간 운영 체크리스트: 1월-결산, 3월[중요]-사적연금 캡 점검, 5월[필수]-종합소득세 분리vs종합 비교, 7월[중요]-건보료 점검, 12월[필수]-다음 해 소득 스케줄링 확정</a:t>
            </a:r>
            <a:endParaRPr lang="en-US" sz="800" dirty="0"/>
          </a:p>
        </p:txBody>
      </p:sp>
      <p:sp>
        <p:nvSpPr>
          <p:cNvPr id="21" name="Text 19"/>
          <p:cNvSpPr/>
          <p:nvPr/>
        </p:nvSpPr>
        <p:spPr>
          <a:xfrm>
            <a:off x="457200" y="3984171"/>
            <a:ext cx="8229600" cy="411480"/>
          </a:xfrm>
          <a:prstGeom prst="rect">
            <a:avLst/>
          </a:prstGeom>
          <a:noFill/>
          <a:ln/>
        </p:spPr>
        <p:txBody>
          <a:bodyPr wrap="square" rtlCol="0" anchor="t"/>
          <a:lstStyle/>
          <a:p>
            <a:pPr marL="0" indent="0">
              <a:lnSpc>
                <a:spcPct val="115000"/>
              </a:lnSpc>
              <a:buNone/>
            </a:pPr>
            <a:r>
              <a:rPr lang="en-US" sz="800" dirty="0">
                <a:solidFill>
                  <a:srgbClr val="D4382C"/>
                </a:solidFill>
                <a:latin typeface="맑은 고딕" pitchFamily="34" charset="0"/>
                <a:ea typeface="맑은 고딕" pitchFamily="34" charset="-122"/>
                <a:cs typeface="맑은 고딕" pitchFamily="34" charset="-120"/>
              </a:rPr>
              <a:t>⚠ 레드 플래그: ①피부양자 등재 후 사후요건 미충족 → 소급 추징 ②사적연금 1,500만원 초과 미인지 → 종합과세 강제 ③직무발명보상 시가 입증 미흡 → 부당행위·증여의제 ④배당 남발 → 고세율+지역건보 폭증</a:t>
            </a:r>
            <a:endParaRPr lang="en-US" sz="800" dirty="0"/>
          </a:p>
        </p:txBody>
      </p:sp>
      <p:sp>
        <p:nvSpPr>
          <p:cNvPr id="22" name="Text 20"/>
          <p:cNvSpPr/>
          <p:nvPr/>
        </p:nvSpPr>
        <p:spPr>
          <a:xfrm>
            <a:off x="457200" y="4434840"/>
            <a:ext cx="8229600" cy="320040"/>
          </a:xfrm>
          <a:prstGeom prst="rect">
            <a:avLst/>
          </a:prstGeom>
          <a:noFill/>
          <a:ln/>
        </p:spPr>
        <p:txBody>
          <a:bodyPr wrap="square" rtlCol="0" anchor="t"/>
          <a:lstStyle/>
          <a:p>
            <a:pPr marL="0" indent="0">
              <a:lnSpc>
                <a:spcPct val="115000"/>
              </a:lnSpc>
              <a:buNone/>
            </a:pPr>
            <a:r>
              <a:rPr lang="en-US" sz="800" dirty="0">
                <a:solidFill>
                  <a:srgbClr val="2B2B2B"/>
                </a:solidFill>
                <a:latin typeface="맑은 고딕" pitchFamily="34" charset="0"/>
                <a:ea typeface="맑은 고딕" pitchFamily="34" charset="-122"/>
                <a:cs typeface="맑은 고딕" pitchFamily="34" charset="-120"/>
              </a:rPr>
              <a:t>의사결정 요약 룰: ①건강보험 경로 먼저(임의계속→피부양→지역) ②사적연금 1,200/1,500 캡 관리 ③배당은 최후 보충수단 ④정기 점검 루틴(3·5·7·12월)</a:t>
            </a:r>
            <a:endParaRPr lang="en-US" sz="800" dirty="0"/>
          </a:p>
        </p:txBody>
      </p:sp>
      <p:sp>
        <p:nvSpPr>
          <p:cNvPr id="23" name="Text 21"/>
          <p:cNvSpPr/>
          <p:nvPr/>
        </p:nvSpPr>
        <p:spPr>
          <a:xfrm>
            <a:off x="457200" y="4656906"/>
            <a:ext cx="8229600" cy="274320"/>
          </a:xfrm>
          <a:prstGeom prst="rect">
            <a:avLst/>
          </a:prstGeom>
          <a:noFill/>
          <a:ln/>
        </p:spPr>
        <p:txBody>
          <a:bodyPr wrap="square" rtlCol="0" anchor="t"/>
          <a:lstStyle/>
          <a:p>
            <a:pPr marL="0" indent="0">
              <a:lnSpc>
                <a:spcPct val="115000"/>
              </a:lnSpc>
              <a:buNone/>
            </a:pPr>
            <a:r>
              <a:rPr lang="en-US" sz="700" i="1" dirty="0">
                <a:solidFill>
                  <a:srgbClr val="4A5568"/>
                </a:solidFill>
                <a:latin typeface="맑은 고딕" pitchFamily="34" charset="0"/>
                <a:ea typeface="맑은 고딕" pitchFamily="34" charset="-122"/>
                <a:cs typeface="맑은 고딕" pitchFamily="34" charset="-120"/>
              </a:rPr>
              <a:t>주의(면책 요약): 본 가이드는 2025년 기준 일반 규정에 따른 실무 요약. 개인별 상황에 따라 결과가 크게 달라질 수 있으므로 신고 전 세무전문가 검토를 권장합니다.</a:t>
            </a:r>
            <a:endParaRPr lang="en-US" sz="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28</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VIII. 종합 결론 및 전략적 제언</a:t>
            </a:r>
            <a:endParaRPr lang="en-US" sz="15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가지급금 정리로 세무리스크 해소하기</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28 / 62</a:t>
            </a:r>
            <a:endParaRPr lang="en-US" sz="800" dirty="0"/>
          </a:p>
        </p:txBody>
      </p:sp>
      <p:sp>
        <p:nvSpPr>
          <p:cNvPr id="7" name="Shape 5"/>
          <p:cNvSpPr/>
          <p:nvPr/>
        </p:nvSpPr>
        <p:spPr>
          <a:xfrm>
            <a:off x="457200" y="685800"/>
            <a:ext cx="8229600" cy="1097280"/>
          </a:xfrm>
          <a:prstGeom prst="rect">
            <a:avLst/>
          </a:prstGeom>
          <a:solidFill>
            <a:srgbClr val="F7F8FA"/>
          </a:solidFill>
          <a:ln w="12700">
            <a:solidFill>
              <a:srgbClr val="E2E8F0"/>
            </a:solidFill>
            <a:prstDash val="solid"/>
          </a:ln>
          <a:effectLst>
            <a:outerShdw blurRad="50800" dist="25400" dir="8100000" algn="bl" rotWithShape="0">
              <a:srgbClr val="000000">
                <a:alpha val="10000"/>
              </a:srgbClr>
            </a:outerShdw>
          </a:effectLst>
        </p:spPr>
        <p:txBody>
          <a:bodyPr/>
          <a:lstStyle/>
          <a:p>
            <a:endParaRPr lang="ko-KR" altLang="en-US"/>
          </a:p>
        </p:txBody>
      </p:sp>
      <p:sp>
        <p:nvSpPr>
          <p:cNvPr id="8" name="Shape 6"/>
          <p:cNvSpPr/>
          <p:nvPr/>
        </p:nvSpPr>
        <p:spPr>
          <a:xfrm>
            <a:off x="457200" y="685800"/>
            <a:ext cx="54864" cy="1097280"/>
          </a:xfrm>
          <a:prstGeom prst="rect">
            <a:avLst/>
          </a:prstGeom>
          <a:solidFill>
            <a:srgbClr val="4338CA"/>
          </a:solidFill>
          <a:ln/>
        </p:spPr>
        <p:txBody>
          <a:bodyPr/>
          <a:lstStyle/>
          <a:p>
            <a:endParaRPr lang="ko-KR" altLang="en-US"/>
          </a:p>
        </p:txBody>
      </p:sp>
      <p:sp>
        <p:nvSpPr>
          <p:cNvPr id="9" name="Text 7"/>
          <p:cNvSpPr/>
          <p:nvPr/>
        </p:nvSpPr>
        <p:spPr>
          <a:xfrm>
            <a:off x="640080" y="758952"/>
            <a:ext cx="7863840" cy="27432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 1. 컨설팅 핵심 요약 및 결론</a:t>
            </a:r>
            <a:endParaRPr lang="en-US" sz="1100" dirty="0"/>
          </a:p>
        </p:txBody>
      </p:sp>
      <p:sp>
        <p:nvSpPr>
          <p:cNvPr id="10" name="Text 8"/>
          <p:cNvSpPr/>
          <p:nvPr/>
        </p:nvSpPr>
        <p:spPr>
          <a:xfrm>
            <a:off x="640080" y="1033272"/>
            <a:ext cx="7863840" cy="676656"/>
          </a:xfrm>
          <a:prstGeom prst="rect">
            <a:avLst/>
          </a:prstGeom>
          <a:noFill/>
          <a:ln/>
        </p:spPr>
        <p:txBody>
          <a:bodyPr wrap="square" rtlCol="0" anchor="t"/>
          <a:lstStyle/>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본 컨설팅은 (주)아성정밀의 고질적인 문제였던 가지급금 5억 원을, 대표님의 숨겨진 자산(특허)을 발굴하고 합리적인 보수체계를 확립하는 과정을 통해 1년 내에 안전하게 해결하는 실행 가능한 전략입니다. 이는 단순한 리스크 제거를 넘어, 기업의 재무구조를 근본적으로 개선하고 CEO의 자산을 합법적으로 증대시키는 가치 창출형 컨설팅입니다.</a:t>
            </a:r>
            <a:endParaRPr lang="en-US" sz="1000" dirty="0"/>
          </a:p>
        </p:txBody>
      </p:sp>
      <p:sp>
        <p:nvSpPr>
          <p:cNvPr id="11" name="Shape 9"/>
          <p:cNvSpPr/>
          <p:nvPr/>
        </p:nvSpPr>
        <p:spPr>
          <a:xfrm>
            <a:off x="457200" y="1920240"/>
            <a:ext cx="8229600" cy="731520"/>
          </a:xfrm>
          <a:prstGeom prst="rect">
            <a:avLst/>
          </a:prstGeom>
          <a:solidFill>
            <a:srgbClr val="F7F8FA"/>
          </a:solidFill>
          <a:ln w="12700">
            <a:solidFill>
              <a:srgbClr val="E2E8F0"/>
            </a:solidFill>
            <a:prstDash val="solid"/>
          </a:ln>
          <a:effectLst>
            <a:outerShdw blurRad="50800" dist="25400" dir="8100000" algn="bl" rotWithShape="0">
              <a:srgbClr val="000000">
                <a:alpha val="10000"/>
              </a:srgbClr>
            </a:outerShdw>
          </a:effectLst>
        </p:spPr>
        <p:txBody>
          <a:bodyPr/>
          <a:lstStyle/>
          <a:p>
            <a:endParaRPr lang="ko-KR" altLang="en-US"/>
          </a:p>
        </p:txBody>
      </p:sp>
      <p:sp>
        <p:nvSpPr>
          <p:cNvPr id="12" name="Shape 10"/>
          <p:cNvSpPr/>
          <p:nvPr/>
        </p:nvSpPr>
        <p:spPr>
          <a:xfrm>
            <a:off x="457200" y="1920240"/>
            <a:ext cx="54864" cy="731520"/>
          </a:xfrm>
          <a:prstGeom prst="rect">
            <a:avLst/>
          </a:prstGeom>
          <a:solidFill>
            <a:srgbClr val="4338CA"/>
          </a:solidFill>
          <a:ln/>
        </p:spPr>
        <p:txBody>
          <a:bodyPr/>
          <a:lstStyle/>
          <a:p>
            <a:endParaRPr lang="ko-KR" altLang="en-US"/>
          </a:p>
        </p:txBody>
      </p:sp>
      <p:sp>
        <p:nvSpPr>
          <p:cNvPr id="13" name="Text 11"/>
          <p:cNvSpPr/>
          <p:nvPr/>
        </p:nvSpPr>
        <p:spPr>
          <a:xfrm>
            <a:off x="640080" y="1947675"/>
            <a:ext cx="7863840" cy="27432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 2. 장기적 관점에서의 추가 제언</a:t>
            </a:r>
            <a:endParaRPr lang="en-US" sz="1100" dirty="0"/>
          </a:p>
        </p:txBody>
      </p:sp>
      <p:sp>
        <p:nvSpPr>
          <p:cNvPr id="14" name="Text 12"/>
          <p:cNvSpPr/>
          <p:nvPr/>
        </p:nvSpPr>
        <p:spPr>
          <a:xfrm>
            <a:off x="640080" y="2221995"/>
            <a:ext cx="7863840" cy="310896"/>
          </a:xfrm>
          <a:prstGeom prst="rect">
            <a:avLst/>
          </a:prstGeom>
          <a:noFill/>
          <a:ln/>
        </p:spPr>
        <p:txBody>
          <a:bodyPr wrap="square" rtlCol="0" anchor="t"/>
          <a:lstStyle/>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가지급금 문제 해결 이후, 미처분이익잉여금의 적정 관리 및 출구전략(배당, 자사주 매입 등)에 대한 후속 컨설팅을 통해 기업의 재무 리스크를 지속적으로 관리해 나갈 것을 제언합니다.</a:t>
            </a:r>
            <a:endParaRPr lang="en-US" sz="1000" dirty="0"/>
          </a:p>
        </p:txBody>
      </p:sp>
      <p:sp>
        <p:nvSpPr>
          <p:cNvPr id="15" name="Shape 13"/>
          <p:cNvSpPr/>
          <p:nvPr/>
        </p:nvSpPr>
        <p:spPr>
          <a:xfrm>
            <a:off x="457200" y="2788920"/>
            <a:ext cx="8229600" cy="731520"/>
          </a:xfrm>
          <a:prstGeom prst="rect">
            <a:avLst/>
          </a:prstGeom>
          <a:solidFill>
            <a:srgbClr val="F7F8FA"/>
          </a:solidFill>
          <a:ln w="12700">
            <a:solidFill>
              <a:srgbClr val="E2E8F0"/>
            </a:solidFill>
            <a:prstDash val="solid"/>
          </a:ln>
          <a:effectLst>
            <a:outerShdw blurRad="50800" dist="25400" dir="8100000" algn="bl" rotWithShape="0">
              <a:srgbClr val="000000">
                <a:alpha val="10000"/>
              </a:srgbClr>
            </a:outerShdw>
          </a:effectLst>
        </p:spPr>
        <p:txBody>
          <a:bodyPr/>
          <a:lstStyle/>
          <a:p>
            <a:endParaRPr lang="ko-KR" altLang="en-US"/>
          </a:p>
        </p:txBody>
      </p:sp>
      <p:sp>
        <p:nvSpPr>
          <p:cNvPr id="16" name="Shape 14"/>
          <p:cNvSpPr/>
          <p:nvPr/>
        </p:nvSpPr>
        <p:spPr>
          <a:xfrm>
            <a:off x="457200" y="2788920"/>
            <a:ext cx="54864" cy="731520"/>
          </a:xfrm>
          <a:prstGeom prst="rect">
            <a:avLst/>
          </a:prstGeom>
          <a:solidFill>
            <a:srgbClr val="4338CA"/>
          </a:solidFill>
          <a:ln/>
        </p:spPr>
        <p:txBody>
          <a:bodyPr/>
          <a:lstStyle/>
          <a:p>
            <a:endParaRPr lang="ko-KR" altLang="en-US"/>
          </a:p>
        </p:txBody>
      </p:sp>
      <p:sp>
        <p:nvSpPr>
          <p:cNvPr id="17" name="Text 15"/>
          <p:cNvSpPr/>
          <p:nvPr/>
        </p:nvSpPr>
        <p:spPr>
          <a:xfrm>
            <a:off x="640080" y="2816355"/>
            <a:ext cx="7863840" cy="27432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 3. 성공적인 실행을 위한 CEO의 리더십과 역할 강조</a:t>
            </a:r>
            <a:endParaRPr lang="en-US" sz="1100" dirty="0"/>
          </a:p>
        </p:txBody>
      </p:sp>
      <p:sp>
        <p:nvSpPr>
          <p:cNvPr id="18" name="Text 16"/>
          <p:cNvSpPr/>
          <p:nvPr/>
        </p:nvSpPr>
        <p:spPr>
          <a:xfrm>
            <a:off x="640080" y="3090675"/>
            <a:ext cx="7863840" cy="310896"/>
          </a:xfrm>
          <a:prstGeom prst="rect">
            <a:avLst/>
          </a:prstGeom>
          <a:noFill/>
          <a:ln/>
        </p:spPr>
        <p:txBody>
          <a:bodyPr wrap="square" rtlCol="0" anchor="t"/>
          <a:lstStyle/>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본 플랜의 성공적인 실행을 위해서는, 과거의 비공식적 자금 운용 관행을 과감히 개선하고, 모든 경영 활동을 법과 규정의 테두리 안에서 투명하게 진행하겠다는 대표님의 확고한 의사결정이 가장 중요합니다.</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29</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[부록] 가지급금 실전 사례집 (1/4)</a:t>
            </a:r>
            <a:endParaRPr lang="en-US" sz="15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가지급금 정리로 세무리스크 해소하기</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29 / 62</a:t>
            </a:r>
            <a:endParaRPr lang="en-US" sz="800" dirty="0"/>
          </a:p>
        </p:txBody>
      </p:sp>
      <p:sp>
        <p:nvSpPr>
          <p:cNvPr id="7" name="Text 5"/>
          <p:cNvSpPr/>
          <p:nvPr/>
        </p:nvSpPr>
        <p:spPr>
          <a:xfrm>
            <a:off x="457200" y="685800"/>
            <a:ext cx="8229600" cy="457200"/>
          </a:xfrm>
          <a:prstGeom prst="rect">
            <a:avLst/>
          </a:prstGeom>
          <a:noFill/>
          <a:ln/>
        </p:spPr>
        <p:txBody>
          <a:bodyPr wrap="square" rtlCol="0" anchor="t"/>
          <a:lstStyle/>
          <a:p>
            <a:pPr marL="0" indent="0">
              <a:lnSpc>
                <a:spcPct val="115000"/>
              </a:lnSpc>
              <a:buNone/>
            </a:pPr>
            <a:r>
              <a:rPr lang="en-US" sz="1100" dirty="0">
                <a:solidFill>
                  <a:srgbClr val="2B2B2B"/>
                </a:solidFill>
                <a:latin typeface="맑은 고딕" pitchFamily="34" charset="0"/>
                <a:ea typeface="맑은 고딕" pitchFamily="34" charset="-122"/>
                <a:cs typeface="맑은 고딕" pitchFamily="34" charset="-120"/>
              </a:rPr>
              <a:t>목적: 가지급금은 기업 재무구조와 대표이사 개인 자산 모두에 큰 영향을 미치는 핵심 리스크다. 아래 사례들은 성공/실패 케이스를 통해 어떤 접근을 취해야 하는지를 구체적으로 보여준다.</a:t>
            </a:r>
            <a:endParaRPr lang="en-US" sz="1100" dirty="0"/>
          </a:p>
        </p:txBody>
      </p:sp>
      <p:sp>
        <p:nvSpPr>
          <p:cNvPr id="8" name="Text 6"/>
          <p:cNvSpPr/>
          <p:nvPr/>
        </p:nvSpPr>
        <p:spPr>
          <a:xfrm>
            <a:off x="457200" y="1188720"/>
            <a:ext cx="8229600" cy="411480"/>
          </a:xfrm>
          <a:prstGeom prst="rect">
            <a:avLst/>
          </a:prstGeom>
          <a:noFill/>
          <a:ln/>
        </p:spPr>
        <p:txBody>
          <a:bodyPr wrap="square" rtlCol="0" anchor="t"/>
          <a:lstStyle/>
          <a:p>
            <a:pPr marL="0" indent="0">
              <a:lnSpc>
                <a:spcPct val="115000"/>
              </a:lnSpc>
              <a:buNone/>
            </a:pPr>
            <a:r>
              <a:rPr lang="en-US" sz="900" i="1" dirty="0">
                <a:solidFill>
                  <a:srgbClr val="92400E"/>
                </a:solidFill>
                <a:latin typeface="맑은 고딕" pitchFamily="34" charset="0"/>
                <a:ea typeface="맑은 고딕" pitchFamily="34" charset="-122"/>
                <a:cs typeface="맑은 고딕" pitchFamily="34" charset="-120"/>
              </a:rPr>
              <a:t>[중요 안내] 본 사례집에 수록된 모든 기업명, 인물, 수치, 상황은 가상의 예시입니다. 실제 기업 및 인물과는 아무런 관련이 없으며, 교육 및 이해를 돕기 위한 시뮬레이션 자료입니다.</a:t>
            </a:r>
            <a:endParaRPr lang="en-US" sz="900" dirty="0"/>
          </a:p>
        </p:txBody>
      </p:sp>
      <p:sp>
        <p:nvSpPr>
          <p:cNvPr id="9" name="Text 7"/>
          <p:cNvSpPr/>
          <p:nvPr/>
        </p:nvSpPr>
        <p:spPr>
          <a:xfrm>
            <a:off x="457200" y="1645920"/>
            <a:ext cx="8229600" cy="365760"/>
          </a:xfrm>
          <a:prstGeom prst="rect">
            <a:avLst/>
          </a:prstGeom>
          <a:noFill/>
          <a:ln/>
        </p:spPr>
        <p:txBody>
          <a:bodyPr wrap="square"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1. 성공 사례 (Best Practice)</a:t>
            </a:r>
            <a:endParaRPr lang="en-US" sz="1400" dirty="0"/>
          </a:p>
        </p:txBody>
      </p:sp>
      <p:sp>
        <p:nvSpPr>
          <p:cNvPr id="10" name="Shape 8"/>
          <p:cNvSpPr/>
          <p:nvPr/>
        </p:nvSpPr>
        <p:spPr>
          <a:xfrm>
            <a:off x="457200" y="2103120"/>
            <a:ext cx="8229600" cy="1463040"/>
          </a:xfrm>
          <a:prstGeom prst="rect">
            <a:avLst/>
          </a:prstGeom>
          <a:solidFill>
            <a:srgbClr val="F7F8FA"/>
          </a:solidFill>
          <a:ln w="12700">
            <a:solidFill>
              <a:srgbClr val="E2E8F0"/>
            </a:solidFill>
            <a:prstDash val="solid"/>
          </a:ln>
          <a:effectLst>
            <a:outerShdw blurRad="50800" dist="25400" dir="8100000" algn="bl" rotWithShape="0">
              <a:srgbClr val="000000">
                <a:alpha val="10000"/>
              </a:srgbClr>
            </a:outerShdw>
          </a:effectLst>
        </p:spPr>
        <p:txBody>
          <a:bodyPr/>
          <a:lstStyle/>
          <a:p>
            <a:endParaRPr lang="ko-KR" altLang="en-US"/>
          </a:p>
        </p:txBody>
      </p:sp>
      <p:sp>
        <p:nvSpPr>
          <p:cNvPr id="11" name="Shape 9"/>
          <p:cNvSpPr/>
          <p:nvPr/>
        </p:nvSpPr>
        <p:spPr>
          <a:xfrm>
            <a:off x="457200" y="2103120"/>
            <a:ext cx="54864" cy="1463040"/>
          </a:xfrm>
          <a:prstGeom prst="rect">
            <a:avLst/>
          </a:prstGeom>
          <a:solidFill>
            <a:srgbClr val="C8962E"/>
          </a:solidFill>
          <a:ln/>
        </p:spPr>
        <p:txBody>
          <a:bodyPr/>
          <a:lstStyle/>
          <a:p>
            <a:endParaRPr lang="ko-KR" altLang="en-US"/>
          </a:p>
        </p:txBody>
      </p:sp>
      <p:sp>
        <p:nvSpPr>
          <p:cNvPr id="12" name="Text 10"/>
          <p:cNvSpPr/>
          <p:nvPr/>
        </p:nvSpPr>
        <p:spPr>
          <a:xfrm>
            <a:off x="640080" y="2287309"/>
            <a:ext cx="7863840" cy="27432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사례 1. 특허권 자본화를 통한 완전 해소</a:t>
            </a:r>
            <a:endParaRPr lang="en-US" sz="1100" dirty="0"/>
          </a:p>
        </p:txBody>
      </p:sp>
      <p:sp>
        <p:nvSpPr>
          <p:cNvPr id="13" name="Text 11"/>
          <p:cNvSpPr/>
          <p:nvPr/>
        </p:nvSpPr>
        <p:spPr>
          <a:xfrm>
            <a:off x="640080" y="2561629"/>
            <a:ext cx="7863840" cy="1042416"/>
          </a:xfrm>
          <a:prstGeom prst="rect">
            <a:avLst/>
          </a:prstGeom>
          <a:noFill/>
          <a:ln/>
        </p:spPr>
        <p:txBody>
          <a:bodyPr wrap="square" rtlCol="0" anchor="t"/>
          <a:lstStyle/>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기업: 매출 200억 제조업, 가지급금 6억 / 문제: 대표이사 개인 현금 부족, 은행 차입 증가</a:t>
            </a:r>
            <a:endParaRPr lang="en-US" sz="1000" dirty="0"/>
          </a:p>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솔루션: 대표 기술 특허 등록→가치평가 4.5억→법인에 양도→가지급금 4.5억 즉시 상환→나머지 1.5억 보수증액 분할</a:t>
            </a:r>
            <a:endParaRPr lang="en-US" sz="1000" dirty="0"/>
          </a:p>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성과: 9개월 내 0원 달성, 연간 1,700만원 법인세 절감, 은행 신용등급 BBB→A- 2단계 상승</a:t>
            </a:r>
            <a:endParaRPr lang="en-US" sz="1000" dirty="0"/>
          </a:p>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핵심: 시가 입증 패키지 필수, 기타소득 처리로 소득세 부담 60% 경감</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30</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[부록] 가지급금 실전 사례집 (2/4)</a:t>
            </a:r>
            <a:endParaRPr lang="en-US" sz="15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가지급금 정리로 세무리스크 해소하기</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30 / 62</a:t>
            </a:r>
            <a:endParaRPr lang="en-US" sz="800" dirty="0"/>
          </a:p>
        </p:txBody>
      </p:sp>
      <p:sp>
        <p:nvSpPr>
          <p:cNvPr id="7" name="Shape 5"/>
          <p:cNvSpPr/>
          <p:nvPr/>
        </p:nvSpPr>
        <p:spPr>
          <a:xfrm>
            <a:off x="457200" y="685800"/>
            <a:ext cx="8229600" cy="1188720"/>
          </a:xfrm>
          <a:prstGeom prst="rect">
            <a:avLst/>
          </a:prstGeom>
          <a:solidFill>
            <a:srgbClr val="F7F8FA"/>
          </a:solidFill>
          <a:ln w="12700">
            <a:solidFill>
              <a:srgbClr val="E2E8F0"/>
            </a:solidFill>
            <a:prstDash val="solid"/>
          </a:ln>
          <a:effectLst>
            <a:outerShdw blurRad="50800" dist="25400" dir="8100000" algn="bl" rotWithShape="0">
              <a:srgbClr val="000000">
                <a:alpha val="10000"/>
              </a:srgbClr>
            </a:outerShdw>
          </a:effectLst>
        </p:spPr>
        <p:txBody>
          <a:bodyPr/>
          <a:lstStyle/>
          <a:p>
            <a:endParaRPr lang="ko-KR" altLang="en-US"/>
          </a:p>
        </p:txBody>
      </p:sp>
      <p:sp>
        <p:nvSpPr>
          <p:cNvPr id="8" name="Shape 6"/>
          <p:cNvSpPr/>
          <p:nvPr/>
        </p:nvSpPr>
        <p:spPr>
          <a:xfrm>
            <a:off x="457200" y="685800"/>
            <a:ext cx="54864" cy="1188720"/>
          </a:xfrm>
          <a:prstGeom prst="rect">
            <a:avLst/>
          </a:prstGeom>
          <a:solidFill>
            <a:srgbClr val="C8962E"/>
          </a:solidFill>
          <a:ln/>
        </p:spPr>
        <p:txBody>
          <a:bodyPr/>
          <a:lstStyle/>
          <a:p>
            <a:endParaRPr lang="ko-KR" altLang="en-US"/>
          </a:p>
        </p:txBody>
      </p:sp>
      <p:sp>
        <p:nvSpPr>
          <p:cNvPr id="9" name="Text 7"/>
          <p:cNvSpPr/>
          <p:nvPr/>
        </p:nvSpPr>
        <p:spPr>
          <a:xfrm>
            <a:off x="640080" y="758952"/>
            <a:ext cx="7863840" cy="27432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사례 2. 가지급금+건강보험료 동시 최적화</a:t>
            </a:r>
            <a:endParaRPr lang="en-US" sz="1100" dirty="0"/>
          </a:p>
        </p:txBody>
      </p:sp>
      <p:sp>
        <p:nvSpPr>
          <p:cNvPr id="10" name="Text 8"/>
          <p:cNvSpPr/>
          <p:nvPr/>
        </p:nvSpPr>
        <p:spPr>
          <a:xfrm>
            <a:off x="640080" y="1033272"/>
            <a:ext cx="7863840" cy="768096"/>
          </a:xfrm>
          <a:prstGeom prst="rect">
            <a:avLst/>
          </a:prstGeom>
          <a:noFill/>
          <a:ln/>
        </p:spPr>
        <p:txBody>
          <a:bodyPr wrap="square" rtlCol="0" anchor="t"/>
          <a:lstStyle/>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기업: 매출 120억 서비스업, 가지급금 3억 / 문제: CEO 개인 소득 급증으로 건강보험료 연 4천만 원 초과</a:t>
            </a:r>
            <a:endParaRPr lang="en-US" sz="1000" dirty="0"/>
          </a:p>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솔루션: 임원보수 줄이고 직무발명 보상금(기타소득)으로 전환→상환 시점 분산→연도별 소득 캡 관리→임의계속→피부양자 전환</a:t>
            </a:r>
            <a:endParaRPr lang="en-US" sz="1000" dirty="0"/>
          </a:p>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성과: 법인세·개인세·건보료 합계 1.2억→6천만 원 절반 절감, 2년 내 완전 해소</a:t>
            </a:r>
            <a:endParaRPr lang="en-US" sz="1000" dirty="0"/>
          </a:p>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핵심: 가지급금 상환 스케줄과 건강보험 자격관리를 통합 설계</a:t>
            </a:r>
            <a:endParaRPr lang="en-US" sz="1000" dirty="0"/>
          </a:p>
        </p:txBody>
      </p:sp>
      <p:sp>
        <p:nvSpPr>
          <p:cNvPr id="11" name="Shape 9"/>
          <p:cNvSpPr/>
          <p:nvPr/>
        </p:nvSpPr>
        <p:spPr>
          <a:xfrm>
            <a:off x="457200" y="2011680"/>
            <a:ext cx="8229600" cy="1188720"/>
          </a:xfrm>
          <a:prstGeom prst="rect">
            <a:avLst/>
          </a:prstGeom>
          <a:solidFill>
            <a:srgbClr val="F7F8FA"/>
          </a:solidFill>
          <a:ln w="12700">
            <a:solidFill>
              <a:srgbClr val="E2E8F0"/>
            </a:solidFill>
            <a:prstDash val="solid"/>
          </a:ln>
          <a:effectLst>
            <a:outerShdw blurRad="50800" dist="25400" dir="8100000" algn="bl" rotWithShape="0">
              <a:srgbClr val="000000">
                <a:alpha val="10000"/>
              </a:srgbClr>
            </a:outerShdw>
          </a:effectLst>
        </p:spPr>
        <p:txBody>
          <a:bodyPr/>
          <a:lstStyle/>
          <a:p>
            <a:endParaRPr lang="ko-KR" altLang="en-US"/>
          </a:p>
        </p:txBody>
      </p:sp>
      <p:sp>
        <p:nvSpPr>
          <p:cNvPr id="12" name="Shape 10"/>
          <p:cNvSpPr/>
          <p:nvPr/>
        </p:nvSpPr>
        <p:spPr>
          <a:xfrm>
            <a:off x="457200" y="2011680"/>
            <a:ext cx="54864" cy="1188720"/>
          </a:xfrm>
          <a:prstGeom prst="rect">
            <a:avLst/>
          </a:prstGeom>
          <a:solidFill>
            <a:srgbClr val="C8962E"/>
          </a:solidFill>
          <a:ln/>
        </p:spPr>
        <p:txBody>
          <a:bodyPr/>
          <a:lstStyle/>
          <a:p>
            <a:endParaRPr lang="ko-KR" altLang="en-US"/>
          </a:p>
        </p:txBody>
      </p:sp>
      <p:sp>
        <p:nvSpPr>
          <p:cNvPr id="13" name="Text 11"/>
          <p:cNvSpPr/>
          <p:nvPr/>
        </p:nvSpPr>
        <p:spPr>
          <a:xfrm>
            <a:off x="640080" y="2084832"/>
            <a:ext cx="7863840" cy="27432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사례 3. 금융기관 협상용 '해소 플랜'으로 차입 성공</a:t>
            </a:r>
            <a:endParaRPr lang="en-US" sz="1100" dirty="0"/>
          </a:p>
        </p:txBody>
      </p:sp>
      <p:sp>
        <p:nvSpPr>
          <p:cNvPr id="14" name="Text 12"/>
          <p:cNvSpPr/>
          <p:nvPr/>
        </p:nvSpPr>
        <p:spPr>
          <a:xfrm>
            <a:off x="640080" y="2359152"/>
            <a:ext cx="7863840" cy="768096"/>
          </a:xfrm>
          <a:prstGeom prst="rect">
            <a:avLst/>
          </a:prstGeom>
          <a:noFill/>
          <a:ln/>
        </p:spPr>
        <p:txBody>
          <a:bodyPr wrap="square" rtlCol="0" anchor="t"/>
          <a:lstStyle/>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기업: 매출 80억, 가지급금 2억, 신규설비 투자 필요 / 문제: 은행이 가지급금을 부실자산으로 간주, 대출 거절</a:t>
            </a:r>
            <a:endParaRPr lang="en-US" sz="1000" dirty="0"/>
          </a:p>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솔루션: 3-Step 해소 계획서 은행에 제출→CEO 급여 조정→5천만 원 상환→특허권 가치평가 진행 중 증빙→은행 일부 승인</a:t>
            </a:r>
            <a:endParaRPr lang="en-US" sz="1000" dirty="0"/>
          </a:p>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성과: 신규 설비 투자 지연 없이 진행, 6개월 후 50% 상환 완료, 은행 신뢰 회복</a:t>
            </a:r>
            <a:endParaRPr lang="en-US" sz="1000" dirty="0"/>
          </a:p>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핵심: 로드맵+증빙서류 선제 제시, 부분 해소 진행을 공식 기록에 남기는 것이 중요</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31</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[부록] 가지급금 실전 사례집 (3/4)</a:t>
            </a:r>
            <a:endParaRPr lang="en-US" sz="15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가지급금 정리로 세무리스크 해소하기</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31 / 62</a:t>
            </a:r>
            <a:endParaRPr lang="en-US" sz="800" dirty="0"/>
          </a:p>
        </p:txBody>
      </p:sp>
      <p:sp>
        <p:nvSpPr>
          <p:cNvPr id="7" name="Text 5"/>
          <p:cNvSpPr/>
          <p:nvPr/>
        </p:nvSpPr>
        <p:spPr>
          <a:xfrm>
            <a:off x="457200" y="685800"/>
            <a:ext cx="8229600" cy="365760"/>
          </a:xfrm>
          <a:prstGeom prst="rect">
            <a:avLst/>
          </a:prstGeom>
          <a:noFill/>
          <a:ln/>
        </p:spPr>
        <p:txBody>
          <a:bodyPr wrap="square"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2. 실패 사례 (Lessons Learned)</a:t>
            </a:r>
            <a:endParaRPr lang="en-US" sz="1400" dirty="0"/>
          </a:p>
        </p:txBody>
      </p:sp>
      <p:sp>
        <p:nvSpPr>
          <p:cNvPr id="8" name="Shape 6"/>
          <p:cNvSpPr/>
          <p:nvPr/>
        </p:nvSpPr>
        <p:spPr>
          <a:xfrm>
            <a:off x="457200" y="1092705"/>
            <a:ext cx="8229600" cy="914400"/>
          </a:xfrm>
          <a:prstGeom prst="rect">
            <a:avLst/>
          </a:prstGeom>
          <a:solidFill>
            <a:srgbClr val="F7F8FA"/>
          </a:solidFill>
          <a:ln w="12700">
            <a:solidFill>
              <a:srgbClr val="E2E8F0"/>
            </a:solidFill>
            <a:prstDash val="solid"/>
          </a:ln>
          <a:effectLst>
            <a:outerShdw blurRad="50800" dist="25400" dir="8100000" algn="bl" rotWithShape="0">
              <a:srgbClr val="000000">
                <a:alpha val="10000"/>
              </a:srgbClr>
            </a:outerShdw>
          </a:effectLst>
        </p:spPr>
        <p:txBody>
          <a:bodyPr/>
          <a:lstStyle/>
          <a:p>
            <a:endParaRPr lang="ko-KR" altLang="en-US"/>
          </a:p>
        </p:txBody>
      </p:sp>
      <p:sp>
        <p:nvSpPr>
          <p:cNvPr id="9" name="Shape 7"/>
          <p:cNvSpPr/>
          <p:nvPr/>
        </p:nvSpPr>
        <p:spPr>
          <a:xfrm>
            <a:off x="457200" y="1092705"/>
            <a:ext cx="54864" cy="914400"/>
          </a:xfrm>
          <a:prstGeom prst="rect">
            <a:avLst/>
          </a:prstGeom>
          <a:solidFill>
            <a:srgbClr val="D4382C"/>
          </a:solidFill>
          <a:ln/>
        </p:spPr>
        <p:txBody>
          <a:bodyPr/>
          <a:lstStyle/>
          <a:p>
            <a:endParaRPr lang="ko-KR" altLang="en-US"/>
          </a:p>
        </p:txBody>
      </p:sp>
      <p:sp>
        <p:nvSpPr>
          <p:cNvPr id="10" name="Text 8"/>
          <p:cNvSpPr/>
          <p:nvPr/>
        </p:nvSpPr>
        <p:spPr>
          <a:xfrm>
            <a:off x="640080" y="1126671"/>
            <a:ext cx="7863840" cy="27432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사례 4. 절차 누락으로 증여세 폭탄 발생</a:t>
            </a:r>
            <a:endParaRPr lang="en-US" sz="1100" dirty="0"/>
          </a:p>
        </p:txBody>
      </p:sp>
      <p:sp>
        <p:nvSpPr>
          <p:cNvPr id="11" name="Text 9"/>
          <p:cNvSpPr/>
          <p:nvPr/>
        </p:nvSpPr>
        <p:spPr>
          <a:xfrm>
            <a:off x="640080" y="1381398"/>
            <a:ext cx="7863840" cy="493776"/>
          </a:xfrm>
          <a:prstGeom prst="rect">
            <a:avLst/>
          </a:prstGeom>
          <a:noFill/>
          <a:ln/>
        </p:spPr>
        <p:txBody>
          <a:bodyPr wrap="square" rtlCol="0" anchor="t"/>
          <a:lstStyle/>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기업: 매출 150억, 가지급금 4억 / 실수: 비공식 양도, 평가서 1부만, 시가 대비 30% 저가, 이사회 결의 누락</a:t>
            </a:r>
            <a:endParaRPr lang="en-US" sz="1000" dirty="0"/>
          </a:p>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결과: 국세청 증여의제 과세 1.2억 부과, 은행 신용등급 2단계 하락</a:t>
            </a:r>
            <a:endParaRPr lang="en-US" sz="1000" dirty="0"/>
          </a:p>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교훈: 시가 입증 패키지와 절차적 정당성은 필수, 이사회 결의·주주총회 기록 반드시 남겨야 함</a:t>
            </a:r>
            <a:endParaRPr lang="en-US" sz="1000" dirty="0"/>
          </a:p>
        </p:txBody>
      </p:sp>
      <p:sp>
        <p:nvSpPr>
          <p:cNvPr id="12" name="Shape 10"/>
          <p:cNvSpPr/>
          <p:nvPr/>
        </p:nvSpPr>
        <p:spPr>
          <a:xfrm>
            <a:off x="457200" y="2101161"/>
            <a:ext cx="8229600" cy="914400"/>
          </a:xfrm>
          <a:prstGeom prst="rect">
            <a:avLst/>
          </a:prstGeom>
          <a:solidFill>
            <a:srgbClr val="F7F8FA"/>
          </a:solidFill>
          <a:ln w="12700">
            <a:solidFill>
              <a:srgbClr val="E2E8F0"/>
            </a:solidFill>
            <a:prstDash val="solid"/>
          </a:ln>
          <a:effectLst>
            <a:outerShdw blurRad="50800" dist="25400" dir="8100000" algn="bl" rotWithShape="0">
              <a:srgbClr val="000000">
                <a:alpha val="10000"/>
              </a:srgbClr>
            </a:outerShdw>
          </a:effectLst>
        </p:spPr>
        <p:txBody>
          <a:bodyPr/>
          <a:lstStyle/>
          <a:p>
            <a:endParaRPr lang="ko-KR" altLang="en-US"/>
          </a:p>
        </p:txBody>
      </p:sp>
      <p:sp>
        <p:nvSpPr>
          <p:cNvPr id="13" name="Shape 11"/>
          <p:cNvSpPr/>
          <p:nvPr/>
        </p:nvSpPr>
        <p:spPr>
          <a:xfrm>
            <a:off x="457200" y="2101161"/>
            <a:ext cx="54864" cy="914400"/>
          </a:xfrm>
          <a:prstGeom prst="rect">
            <a:avLst/>
          </a:prstGeom>
          <a:solidFill>
            <a:srgbClr val="D4382C"/>
          </a:solidFill>
          <a:ln/>
        </p:spPr>
        <p:txBody>
          <a:bodyPr/>
          <a:lstStyle/>
          <a:p>
            <a:endParaRPr lang="ko-KR" altLang="en-US"/>
          </a:p>
        </p:txBody>
      </p:sp>
      <p:sp>
        <p:nvSpPr>
          <p:cNvPr id="14" name="Text 12"/>
          <p:cNvSpPr/>
          <p:nvPr/>
        </p:nvSpPr>
        <p:spPr>
          <a:xfrm>
            <a:off x="640080" y="2135127"/>
            <a:ext cx="7863840" cy="27432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사례 5. 단기차입으로 상환 후 되레 부채 급증</a:t>
            </a:r>
            <a:endParaRPr lang="en-US" sz="1100" dirty="0"/>
          </a:p>
        </p:txBody>
      </p:sp>
      <p:sp>
        <p:nvSpPr>
          <p:cNvPr id="15" name="Text 13"/>
          <p:cNvSpPr/>
          <p:nvPr/>
        </p:nvSpPr>
        <p:spPr>
          <a:xfrm>
            <a:off x="640080" y="2389854"/>
            <a:ext cx="7863840" cy="493776"/>
          </a:xfrm>
          <a:prstGeom prst="rect">
            <a:avLst/>
          </a:prstGeom>
          <a:noFill/>
          <a:ln/>
        </p:spPr>
        <p:txBody>
          <a:bodyPr wrap="square" rtlCol="0" anchor="t"/>
          <a:lstStyle/>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기업: 매출 100억, 가지급금 3억 / 실수: 약관대출 3억 전액 상환 후 급여 증액·성과급 늦어 원금 미상환</a:t>
            </a:r>
            <a:endParaRPr lang="en-US" sz="1000" dirty="0"/>
          </a:p>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결과: 약관대출 이자 전액 손금불산입, 단기차입금 3억 증가, 재무구조 악화</a:t>
            </a:r>
            <a:endParaRPr lang="en-US" sz="1000" dirty="0"/>
          </a:p>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교훈: 약관대출은 최후의 수단으로만, 대출 상환계획 없는 경우 재악화 위험</a:t>
            </a:r>
            <a:endParaRPr lang="en-US" sz="1000" dirty="0"/>
          </a:p>
        </p:txBody>
      </p:sp>
      <p:sp>
        <p:nvSpPr>
          <p:cNvPr id="16" name="Text 14"/>
          <p:cNvSpPr/>
          <p:nvPr/>
        </p:nvSpPr>
        <p:spPr>
          <a:xfrm>
            <a:off x="457200" y="3175903"/>
            <a:ext cx="8229600" cy="365760"/>
          </a:xfrm>
          <a:prstGeom prst="rect">
            <a:avLst/>
          </a:prstGeom>
          <a:noFill/>
          <a:ln/>
        </p:spPr>
        <p:txBody>
          <a:bodyPr wrap="square"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3. 업종별 차이점 (Check Point)</a:t>
            </a:r>
            <a:endParaRPr lang="en-US" sz="1400" dirty="0"/>
          </a:p>
        </p:txBody>
      </p:sp>
      <p:graphicFrame>
        <p:nvGraphicFramePr>
          <p:cNvPr id="33" name="Table 0"/>
          <p:cNvGraphicFramePr>
            <a:graphicFrameLocks noGrp="1"/>
          </p:cNvGraphicFramePr>
          <p:nvPr>
            <p:extLst>
              <p:ext uri="{D42A27DB-BD31-4B8C-83A1-F6EECF244321}">
                <p14:modId xmlns:p14="http://schemas.microsoft.com/office/powerpoint/2010/main" val="404756069"/>
              </p:ext>
            </p:extLst>
          </p:nvPr>
        </p:nvGraphicFramePr>
        <p:xfrm>
          <a:off x="457200" y="3522069"/>
          <a:ext cx="8229600" cy="1371600"/>
        </p:xfrm>
        <a:graphic>
          <a:graphicData uri="http://schemas.openxmlformats.org/drawingml/2006/table">
            <a:tbl>
              <a:tblPr/>
              <a:tblGrid>
                <a:gridCol w="1371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274320">
                <a:tc>
                  <a:txBody>
                    <a:bodyPr/>
                    <a:lstStyle/>
                    <a:p>
                      <a:pPr marL="0" indent="0" algn="ctr">
                        <a:buNone/>
                      </a:pPr>
                      <a:r>
                        <a:rPr lang="en-US" sz="800" b="1" dirty="0">
                          <a:solidFill>
                            <a:srgbClr val="FFFFFF"/>
                          </a:solidFill>
                        </a:rPr>
                        <a:t>업종</a:t>
                      </a:r>
                      <a:endParaRPr lang="en-US" sz="8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800" b="1" dirty="0">
                          <a:solidFill>
                            <a:srgbClr val="FFFFFF"/>
                          </a:solidFill>
                        </a:rPr>
                        <a:t>가지급금 원인</a:t>
                      </a:r>
                      <a:endParaRPr lang="en-US" sz="8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800" b="1" dirty="0">
                          <a:solidFill>
                            <a:srgbClr val="FFFFFF"/>
                          </a:solidFill>
                        </a:rPr>
                        <a:t>대표적 해결전략</a:t>
                      </a:r>
                      <a:endParaRPr lang="en-US" sz="8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274320">
                <a:tc>
                  <a:txBody>
                    <a:bodyPr/>
                    <a:lstStyle/>
                    <a:p>
                      <a:pPr marL="0" indent="0" algn="ctr">
                        <a:buNone/>
                      </a:pPr>
                      <a:r>
                        <a:rPr lang="en-US" sz="800" b="1" dirty="0">
                          <a:solidFill>
                            <a:srgbClr val="2B2B2B"/>
                          </a:solidFill>
                        </a:rPr>
                        <a:t>제조업</a:t>
                      </a:r>
                      <a:endParaRPr lang="en-US" sz="8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2B2B2B"/>
                          </a:solidFill>
                        </a:rPr>
                        <a:t>원자재 대금, 해외거래 송금, 특허·기술 미정산</a:t>
                      </a:r>
                      <a:endParaRPr lang="en-US" sz="8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2B2B2B"/>
                          </a:solidFill>
                        </a:rPr>
                        <a:t>특허권 자본화, 법인 보유자산 매각</a:t>
                      </a:r>
                      <a:endParaRPr lang="en-US" sz="8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lgn="ctr">
                        <a:buNone/>
                      </a:pPr>
                      <a:r>
                        <a:rPr lang="en-US" sz="800" b="1" dirty="0">
                          <a:solidFill>
                            <a:srgbClr val="2B2B2B"/>
                          </a:solidFill>
                        </a:rPr>
                        <a:t>서비스업</a:t>
                      </a:r>
                      <a:endParaRPr lang="en-US" sz="8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800" dirty="0">
                          <a:solidFill>
                            <a:srgbClr val="2B2B2B"/>
                          </a:solidFill>
                        </a:rPr>
                        <a:t>급여·성과급 불균형, 복리후생비 미정산</a:t>
                      </a:r>
                      <a:endParaRPr lang="en-US" sz="8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800" dirty="0">
                          <a:solidFill>
                            <a:srgbClr val="2B2B2B"/>
                          </a:solidFill>
                        </a:rPr>
                        <a:t>보수체계 개편, 직무발명보상 전환</a:t>
                      </a:r>
                      <a:endParaRPr lang="en-US" sz="8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274320">
                <a:tc>
                  <a:txBody>
                    <a:bodyPr/>
                    <a:lstStyle/>
                    <a:p>
                      <a:pPr marL="0" indent="0" algn="ctr">
                        <a:buNone/>
                      </a:pPr>
                      <a:r>
                        <a:rPr lang="en-US" sz="800" b="1" dirty="0">
                          <a:solidFill>
                            <a:srgbClr val="2B2B2B"/>
                          </a:solidFill>
                        </a:rPr>
                        <a:t>건설/부동산</a:t>
                      </a:r>
                      <a:endParaRPr lang="en-US" sz="8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2B2B2B"/>
                          </a:solidFill>
                        </a:rPr>
                        <a:t>토지대금, 분양금 임시차입</a:t>
                      </a:r>
                      <a:endParaRPr lang="en-US" sz="8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2B2B2B"/>
                          </a:solidFill>
                        </a:rPr>
                        <a:t>비영업용 자산 매각, 상계·정산 처리</a:t>
                      </a:r>
                      <a:endParaRPr lang="en-US" sz="8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lgn="ctr">
                        <a:buNone/>
                      </a:pPr>
                      <a:r>
                        <a:rPr lang="en-US" sz="800" b="1" dirty="0">
                          <a:solidFill>
                            <a:srgbClr val="2B2B2B"/>
                          </a:solidFill>
                        </a:rPr>
                        <a:t>유통/무역</a:t>
                      </a:r>
                      <a:endParaRPr lang="en-US" sz="8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800" dirty="0">
                          <a:solidFill>
                            <a:srgbClr val="2B2B2B"/>
                          </a:solidFill>
                        </a:rPr>
                        <a:t>선급금 과다, 거래처 관리 미흡</a:t>
                      </a:r>
                      <a:endParaRPr lang="en-US" sz="8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800" dirty="0">
                          <a:solidFill>
                            <a:srgbClr val="2B2B2B"/>
                          </a:solidFill>
                        </a:rPr>
                        <a:t>계약서 정비, ERP 통제 강화</a:t>
                      </a:r>
                      <a:endParaRPr lang="en-US" sz="8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32</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[부록] 가지급금 실전 사례집 (4/4)</a:t>
            </a:r>
            <a:endParaRPr lang="en-US" sz="15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가지급금 정리로 세무리스크 해소하기</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32 / 62</a:t>
            </a:r>
            <a:endParaRPr lang="en-US" sz="800" dirty="0"/>
          </a:p>
        </p:txBody>
      </p:sp>
      <p:sp>
        <p:nvSpPr>
          <p:cNvPr id="7" name="Text 5"/>
          <p:cNvSpPr/>
          <p:nvPr/>
        </p:nvSpPr>
        <p:spPr>
          <a:xfrm>
            <a:off x="457200" y="685800"/>
            <a:ext cx="8229600" cy="365760"/>
          </a:xfrm>
          <a:prstGeom prst="rect">
            <a:avLst/>
          </a:prstGeom>
          <a:noFill/>
          <a:ln/>
        </p:spPr>
        <p:txBody>
          <a:bodyPr wrap="square"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4. 세무조사 대응 체크리스트</a:t>
            </a:r>
            <a:endParaRPr lang="en-US" sz="1400" dirty="0"/>
          </a:p>
        </p:txBody>
      </p:sp>
      <p:sp>
        <p:nvSpPr>
          <p:cNvPr id="8" name="Text 6"/>
          <p:cNvSpPr/>
          <p:nvPr/>
        </p:nvSpPr>
        <p:spPr>
          <a:xfrm>
            <a:off x="457200" y="1143000"/>
            <a:ext cx="8229600" cy="1097280"/>
          </a:xfrm>
          <a:prstGeom prst="rect">
            <a:avLst/>
          </a:prstGeom>
          <a:noFill/>
          <a:ln/>
        </p:spPr>
        <p:txBody>
          <a:bodyPr wrap="square" rtlCol="0" anchor="t"/>
          <a:lstStyle/>
          <a:p>
            <a:pPr marL="342900" indent="-342900">
              <a:lnSpc>
                <a:spcPct val="115000"/>
              </a:lnSpc>
              <a:buSzPct val="100000"/>
              <a:buChar char="•"/>
            </a:pPr>
            <a:r>
              <a:rPr lang="en-US" sz="1000" dirty="0">
                <a:solidFill>
                  <a:srgbClr val="2B2B2B"/>
                </a:solidFill>
                <a:latin typeface="맑은 고딕" pitchFamily="34" charset="0"/>
                <a:ea typeface="맑은 고딕" pitchFamily="34" charset="-122"/>
                <a:cs typeface="맑은 고딕" pitchFamily="34" charset="-120"/>
              </a:rPr>
              <a:t>상환 계획서 및 진행현황</a:t>
            </a:r>
            <a:endParaRPr lang="en-US" sz="1000" dirty="0"/>
          </a:p>
          <a:p>
            <a:pPr marL="342900" indent="-342900">
              <a:lnSpc>
                <a:spcPct val="115000"/>
              </a:lnSpc>
              <a:buSzPct val="100000"/>
              <a:buChar char="•"/>
            </a:pPr>
            <a:r>
              <a:rPr lang="en-US" sz="1000" dirty="0">
                <a:solidFill>
                  <a:srgbClr val="2B2B2B"/>
                </a:solidFill>
                <a:latin typeface="맑은 고딕" pitchFamily="34" charset="0"/>
                <a:ea typeface="맑은 고딕" pitchFamily="34" charset="-122"/>
                <a:cs typeface="맑은 고딕" pitchFamily="34" charset="-120"/>
              </a:rPr>
              <a:t>가치평가서(2곳 이상), 기술분석서, 비교대상 자료</a:t>
            </a:r>
            <a:endParaRPr lang="en-US" sz="1000" dirty="0"/>
          </a:p>
          <a:p>
            <a:pPr marL="342900" indent="-342900">
              <a:lnSpc>
                <a:spcPct val="115000"/>
              </a:lnSpc>
              <a:buSzPct val="100000"/>
              <a:buChar char="•"/>
            </a:pPr>
            <a:r>
              <a:rPr lang="en-US" sz="1000" dirty="0">
                <a:solidFill>
                  <a:srgbClr val="2B2B2B"/>
                </a:solidFill>
                <a:latin typeface="맑은 고딕" pitchFamily="34" charset="0"/>
                <a:ea typeface="맑은 고딕" pitchFamily="34" charset="-122"/>
                <a:cs typeface="맑은 고딕" pitchFamily="34" charset="-120"/>
              </a:rPr>
              <a:t>주주총회·이사회 의사록, 거래계약서</a:t>
            </a:r>
            <a:endParaRPr lang="en-US" sz="1000" dirty="0"/>
          </a:p>
          <a:p>
            <a:pPr marL="342900" indent="-342900">
              <a:lnSpc>
                <a:spcPct val="115000"/>
              </a:lnSpc>
              <a:buSzPct val="100000"/>
              <a:buChar char="•"/>
            </a:pPr>
            <a:r>
              <a:rPr lang="en-US" sz="1000" dirty="0">
                <a:solidFill>
                  <a:srgbClr val="2B2B2B"/>
                </a:solidFill>
                <a:latin typeface="맑은 고딕" pitchFamily="34" charset="0"/>
                <a:ea typeface="맑은 고딕" pitchFamily="34" charset="-122"/>
                <a:cs typeface="맑은 고딕" pitchFamily="34" charset="-120"/>
              </a:rPr>
              <a:t>원천징수내역, 소득세/법인세 신고서</a:t>
            </a:r>
            <a:endParaRPr lang="en-US" sz="1000" dirty="0"/>
          </a:p>
          <a:p>
            <a:pPr marL="342900" indent="-342900">
              <a:lnSpc>
                <a:spcPct val="115000"/>
              </a:lnSpc>
              <a:buSzPct val="100000"/>
              <a:buChar char="•"/>
            </a:pPr>
            <a:r>
              <a:rPr lang="en-US" sz="1000" dirty="0">
                <a:solidFill>
                  <a:srgbClr val="2B2B2B"/>
                </a:solidFill>
                <a:latin typeface="맑은 고딕" pitchFamily="34" charset="0"/>
                <a:ea typeface="맑은 고딕" pitchFamily="34" charset="-122"/>
                <a:cs typeface="맑은 고딕" pitchFamily="34" charset="-120"/>
              </a:rPr>
              <a:t>금융기관 약정서, 대출 계약서(약관대출 시 포함)</a:t>
            </a:r>
            <a:endParaRPr lang="en-US" sz="1000" dirty="0"/>
          </a:p>
        </p:txBody>
      </p:sp>
      <p:sp>
        <p:nvSpPr>
          <p:cNvPr id="9" name="Text 7"/>
          <p:cNvSpPr/>
          <p:nvPr/>
        </p:nvSpPr>
        <p:spPr>
          <a:xfrm>
            <a:off x="457200" y="2331720"/>
            <a:ext cx="8229600" cy="365760"/>
          </a:xfrm>
          <a:prstGeom prst="rect">
            <a:avLst/>
          </a:prstGeom>
          <a:noFill/>
          <a:ln/>
        </p:spPr>
        <p:txBody>
          <a:bodyPr wrap="square"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5. 종합 결론</a:t>
            </a:r>
            <a:endParaRPr lang="en-US" sz="1400" dirty="0"/>
          </a:p>
        </p:txBody>
      </p:sp>
      <p:sp>
        <p:nvSpPr>
          <p:cNvPr id="10" name="Text 8"/>
          <p:cNvSpPr/>
          <p:nvPr/>
        </p:nvSpPr>
        <p:spPr>
          <a:xfrm>
            <a:off x="457200" y="2788920"/>
            <a:ext cx="8229600" cy="1188720"/>
          </a:xfrm>
          <a:prstGeom prst="rect">
            <a:avLst/>
          </a:prstGeom>
          <a:noFill/>
          <a:ln/>
        </p:spPr>
        <p:txBody>
          <a:bodyPr wrap="square" rtlCol="0" anchor="t"/>
          <a:lstStyle/>
          <a:p>
            <a:pPr marL="342900" indent="-342900">
              <a:lnSpc>
                <a:spcPct val="115000"/>
              </a:lnSpc>
              <a:buSzPct val="100000"/>
              <a:buChar char="•"/>
            </a:pPr>
            <a:r>
              <a:rPr lang="en-US" sz="1000" dirty="0">
                <a:solidFill>
                  <a:srgbClr val="2B2B2B"/>
                </a:solidFill>
                <a:latin typeface="맑은 고딕" pitchFamily="34" charset="0"/>
                <a:ea typeface="맑은 고딕" pitchFamily="34" charset="-122"/>
                <a:cs typeface="맑은 고딕" pitchFamily="34" charset="-120"/>
              </a:rPr>
              <a:t>가지급금은 단순 회계 문제가 아니라 세무·금융·CEO 개인 자산에 직결되는 핵심 리스크</a:t>
            </a:r>
            <a:endParaRPr lang="en-US" sz="1000" dirty="0"/>
          </a:p>
          <a:p>
            <a:pPr marL="342900" indent="-342900">
              <a:lnSpc>
                <a:spcPct val="115000"/>
              </a:lnSpc>
              <a:buSzPct val="100000"/>
              <a:buChar char="•"/>
            </a:pPr>
            <a:r>
              <a:rPr lang="en-US" sz="1000" dirty="0">
                <a:solidFill>
                  <a:srgbClr val="2B2B2B"/>
                </a:solidFill>
                <a:latin typeface="맑은 고딕" pitchFamily="34" charset="0"/>
                <a:ea typeface="맑은 고딕" pitchFamily="34" charset="-122"/>
                <a:cs typeface="맑은 고딕" pitchFamily="34" charset="-120"/>
              </a:rPr>
              <a:t>성공사례 공통점: 시가 입증, 절차 준수, 법인-개인 통합 설계</a:t>
            </a:r>
            <a:endParaRPr lang="en-US" sz="1000" dirty="0"/>
          </a:p>
          <a:p>
            <a:pPr marL="342900" indent="-342900">
              <a:lnSpc>
                <a:spcPct val="115000"/>
              </a:lnSpc>
              <a:buSzPct val="100000"/>
              <a:buChar char="•"/>
            </a:pPr>
            <a:r>
              <a:rPr lang="en-US" sz="1000" dirty="0">
                <a:solidFill>
                  <a:srgbClr val="2B2B2B"/>
                </a:solidFill>
                <a:latin typeface="맑은 고딕" pitchFamily="34" charset="0"/>
                <a:ea typeface="맑은 고딕" pitchFamily="34" charset="-122"/>
                <a:cs typeface="맑은 고딕" pitchFamily="34" charset="-120"/>
              </a:rPr>
              <a:t>실패사례 공통점: 절차 생략, 시기 관리 실패, 단기효과만 추구</a:t>
            </a:r>
            <a:endParaRPr lang="en-US" sz="1000" dirty="0"/>
          </a:p>
          <a:p>
            <a:pPr marL="342900" indent="-342900">
              <a:lnSpc>
                <a:spcPct val="115000"/>
              </a:lnSpc>
              <a:buSzPct val="100000"/>
              <a:buChar char="•"/>
            </a:pPr>
            <a:r>
              <a:rPr lang="en-US" sz="1000" dirty="0">
                <a:solidFill>
                  <a:srgbClr val="2B2B2B"/>
                </a:solidFill>
                <a:latin typeface="맑은 고딕" pitchFamily="34" charset="0"/>
                <a:ea typeface="맑은 고딕" pitchFamily="34" charset="-122"/>
                <a:cs typeface="맑은 고딕" pitchFamily="34" charset="-120"/>
              </a:rPr>
              <a:t>최종 목표는 가지급금 0원 + 재발 방지 시스템 구축</a:t>
            </a:r>
            <a:endParaRPr lang="en-US" sz="1000" dirty="0"/>
          </a:p>
          <a:p>
            <a:pPr marL="342900" indent="-342900">
              <a:lnSpc>
                <a:spcPct val="115000"/>
              </a:lnSpc>
              <a:buSzPct val="100000"/>
              <a:buChar char="•"/>
            </a:pPr>
            <a:r>
              <a:rPr lang="en-US" sz="1000" dirty="0">
                <a:solidFill>
                  <a:srgbClr val="2B2B2B"/>
                </a:solidFill>
                <a:latin typeface="맑은 고딕" pitchFamily="34" charset="0"/>
                <a:ea typeface="맑은 고딕" pitchFamily="34" charset="-122"/>
                <a:cs typeface="맑은 고딕" pitchFamily="34" charset="-120"/>
              </a:rPr>
              <a:t>세무사·변리사·재무컨설턴트가 함께 참여하는 팀 기반 실행이 필수</a:t>
            </a:r>
            <a:endParaRPr lang="en-US" sz="1000" dirty="0"/>
          </a:p>
        </p:txBody>
      </p:sp>
      <p:sp>
        <p:nvSpPr>
          <p:cNvPr id="11" name="Text 9"/>
          <p:cNvSpPr/>
          <p:nvPr/>
        </p:nvSpPr>
        <p:spPr>
          <a:xfrm>
            <a:off x="457200" y="4069080"/>
            <a:ext cx="8229600" cy="274320"/>
          </a:xfrm>
          <a:prstGeom prst="rect">
            <a:avLst/>
          </a:prstGeom>
          <a:noFill/>
          <a:ln/>
        </p:spPr>
        <p:txBody>
          <a:bodyPr wrap="square" rtlCol="0" anchor="t"/>
          <a:lstStyle/>
          <a:p>
            <a:pPr marL="0" indent="0">
              <a:lnSpc>
                <a:spcPct val="115000"/>
              </a:lnSpc>
              <a:buNone/>
            </a:pPr>
            <a:r>
              <a:rPr lang="en-US" sz="800" i="1" dirty="0">
                <a:solidFill>
                  <a:srgbClr val="4A5568"/>
                </a:solidFill>
                <a:latin typeface="맑은 고딕" pitchFamily="34" charset="0"/>
                <a:ea typeface="맑은 고딕" pitchFamily="34" charset="-122"/>
                <a:cs typeface="맑은 고딕" pitchFamily="34" charset="-120"/>
              </a:rPr>
              <a:t>📌 본 가이드의 사례 및 수치는 모두 가상의 시뮬레이션 자료이며, 실제 적용 시 반드시 세무·법무 전문가의 자문을 거쳐야 합니다.</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33</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[부록] 특허권 가치평가 실무 가이드 (1/2)</a:t>
            </a:r>
            <a:endParaRPr lang="en-US" sz="15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가지급금 정리로 세무리스크 해소하기</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33 / 62</a:t>
            </a:r>
            <a:endParaRPr lang="en-US" sz="800" dirty="0"/>
          </a:p>
        </p:txBody>
      </p:sp>
      <p:sp>
        <p:nvSpPr>
          <p:cNvPr id="7" name="Text 5"/>
          <p:cNvSpPr/>
          <p:nvPr/>
        </p:nvSpPr>
        <p:spPr>
          <a:xfrm>
            <a:off x="457200" y="685800"/>
            <a:ext cx="8229600" cy="457200"/>
          </a:xfrm>
          <a:prstGeom prst="rect">
            <a:avLst/>
          </a:prstGeom>
          <a:noFill/>
          <a:ln/>
        </p:spPr>
        <p:txBody>
          <a:bodyPr wrap="square" rtlCol="0" anchor="t"/>
          <a:lstStyle/>
          <a:p>
            <a:pPr marL="0" indent="0">
              <a:lnSpc>
                <a:spcPct val="115000"/>
              </a:lnSpc>
              <a:buNone/>
            </a:pPr>
            <a:r>
              <a:rPr lang="en-US" sz="1100" dirty="0">
                <a:solidFill>
                  <a:srgbClr val="2B2B2B"/>
                </a:solidFill>
                <a:latin typeface="맑은 고딕" pitchFamily="34" charset="0"/>
                <a:ea typeface="맑은 고딕" pitchFamily="34" charset="-122"/>
                <a:cs typeface="맑은 고딕" pitchFamily="34" charset="-120"/>
              </a:rPr>
              <a:t>목적: 특허권은 기업의 핵심 무형자산이자, CEO 개인의 기술을 법인 자산으로 이전할 수 있는 가장 강력한 도구. 이 가이드는 특허권 자본화 과정에서의 실무 흐름, 평가 방법, 세무·법률 체크포인트를 정리한다.</a:t>
            </a:r>
            <a:endParaRPr lang="en-US" sz="1100" dirty="0"/>
          </a:p>
        </p:txBody>
      </p:sp>
      <p:sp>
        <p:nvSpPr>
          <p:cNvPr id="8" name="Text 6"/>
          <p:cNvSpPr/>
          <p:nvPr/>
        </p:nvSpPr>
        <p:spPr>
          <a:xfrm>
            <a:off x="457200" y="1188720"/>
            <a:ext cx="8229600" cy="365760"/>
          </a:xfrm>
          <a:prstGeom prst="rect">
            <a:avLst/>
          </a:prstGeom>
          <a:noFill/>
          <a:ln/>
        </p:spPr>
        <p:txBody>
          <a:bodyPr wrap="square"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2. 평가 프로세스 개요</a:t>
            </a:r>
            <a:endParaRPr lang="en-US" sz="1400" dirty="0"/>
          </a:p>
        </p:txBody>
      </p:sp>
      <p:graphicFrame>
        <p:nvGraphicFramePr>
          <p:cNvPr id="35" name="Table 0"/>
          <p:cNvGraphicFramePr>
            <a:graphicFrameLocks noGrp="1"/>
          </p:cNvGraphicFramePr>
          <p:nvPr>
            <p:extLst>
              <p:ext uri="{D42A27DB-BD31-4B8C-83A1-F6EECF244321}">
                <p14:modId xmlns:p14="http://schemas.microsoft.com/office/powerpoint/2010/main" val="1269021872"/>
              </p:ext>
            </p:extLst>
          </p:nvPr>
        </p:nvGraphicFramePr>
        <p:xfrm>
          <a:off x="457200" y="1645920"/>
          <a:ext cx="8229600" cy="1920240"/>
        </p:xfrm>
        <a:graphic>
          <a:graphicData uri="http://schemas.openxmlformats.org/drawingml/2006/table">
            <a:tbl>
              <a:tblPr/>
              <a:tblGrid>
                <a:gridCol w="1371600">
                  <a:extLst>
                    <a:ext uri="{9D8B030D-6E8A-4147-A177-3AD203B41FA5}">
                      <a16:colId xmlns:a16="http://schemas.microsoft.com/office/drawing/2014/main" val="20000"/>
                    </a:ext>
                  </a:extLst>
                </a:gridCol>
                <a:gridCol w="484632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274320">
                <a:tc>
                  <a:txBody>
                    <a:bodyPr/>
                    <a:lstStyle/>
                    <a:p>
                      <a:pPr marL="0" indent="0" algn="ctr">
                        <a:buNone/>
                      </a:pPr>
                      <a:r>
                        <a:rPr lang="en-US" sz="800" b="1" dirty="0">
                          <a:solidFill>
                            <a:srgbClr val="FFFFFF"/>
                          </a:solidFill>
                        </a:rPr>
                        <a:t>단계</a:t>
                      </a:r>
                      <a:endParaRPr lang="en-US" sz="8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800" b="1" dirty="0">
                          <a:solidFill>
                            <a:srgbClr val="FFFFFF"/>
                          </a:solidFill>
                        </a:rPr>
                        <a:t>주요 활동</a:t>
                      </a:r>
                      <a:endParaRPr lang="en-US" sz="8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800" b="1" dirty="0">
                          <a:solidFill>
                            <a:srgbClr val="FFFFFF"/>
                          </a:solidFill>
                        </a:rPr>
                        <a:t>담당자</a:t>
                      </a:r>
                      <a:endParaRPr lang="en-US" sz="8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274320">
                <a:tc>
                  <a:txBody>
                    <a:bodyPr/>
                    <a:lstStyle/>
                    <a:p>
                      <a:pPr marL="0" indent="0">
                        <a:buNone/>
                      </a:pPr>
                      <a:r>
                        <a:rPr lang="en-US" sz="800" b="1" dirty="0">
                          <a:solidFill>
                            <a:srgbClr val="2B2B2B"/>
                          </a:solidFill>
                        </a:rPr>
                        <a:t>1. 특허 출원</a:t>
                      </a:r>
                      <a:endParaRPr lang="en-US" sz="8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2B2B2B"/>
                          </a:solidFill>
                        </a:rPr>
                        <a:t>아이디어 및 기술 자료 정리 → 변리사와 출원 진행</a:t>
                      </a:r>
                      <a:endParaRPr lang="en-US" sz="8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2B2B2B"/>
                          </a:solidFill>
                        </a:rPr>
                        <a:t>대표이사, 변리사</a:t>
                      </a:r>
                      <a:endParaRPr lang="en-US" sz="8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buNone/>
                      </a:pPr>
                      <a:r>
                        <a:rPr lang="en-US" sz="800" b="1" dirty="0">
                          <a:solidFill>
                            <a:srgbClr val="2B2B2B"/>
                          </a:solidFill>
                        </a:rPr>
                        <a:t>2. 기술 분석</a:t>
                      </a:r>
                      <a:endParaRPr lang="en-US" sz="8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buNone/>
                      </a:pPr>
                      <a:r>
                        <a:rPr lang="en-US" sz="800" dirty="0">
                          <a:solidFill>
                            <a:srgbClr val="2B2B2B"/>
                          </a:solidFill>
                        </a:rPr>
                        <a:t>기술성·사업성 분석 보고서 작성</a:t>
                      </a:r>
                      <a:endParaRPr lang="en-US" sz="8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buNone/>
                      </a:pPr>
                      <a:r>
                        <a:rPr lang="en-US" sz="800" dirty="0">
                          <a:solidFill>
                            <a:srgbClr val="2B2B2B"/>
                          </a:solidFill>
                        </a:rPr>
                        <a:t>평가기관</a:t>
                      </a:r>
                      <a:endParaRPr lang="en-US" sz="8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274320">
                <a:tc>
                  <a:txBody>
                    <a:bodyPr/>
                    <a:lstStyle/>
                    <a:p>
                      <a:pPr marL="0" indent="0">
                        <a:buNone/>
                      </a:pPr>
                      <a:r>
                        <a:rPr lang="en-US" sz="800" b="1" dirty="0">
                          <a:solidFill>
                            <a:srgbClr val="2B2B2B"/>
                          </a:solidFill>
                        </a:rPr>
                        <a:t>3. 가치평가</a:t>
                      </a:r>
                      <a:endParaRPr lang="en-US" sz="8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2B2B2B"/>
                          </a:solidFill>
                        </a:rPr>
                        <a:t>수익가치법, 시장가치법 등 2개 이상 평가 방식 활용</a:t>
                      </a:r>
                      <a:endParaRPr lang="en-US" sz="8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2B2B2B"/>
                          </a:solidFill>
                        </a:rPr>
                        <a:t>평가기관</a:t>
                      </a:r>
                      <a:endParaRPr lang="en-US" sz="8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buNone/>
                      </a:pPr>
                      <a:r>
                        <a:rPr lang="en-US" sz="800" b="1" dirty="0">
                          <a:solidFill>
                            <a:srgbClr val="2B2B2B"/>
                          </a:solidFill>
                        </a:rPr>
                        <a:t>4. 시가 입증</a:t>
                      </a:r>
                      <a:endParaRPr lang="en-US" sz="8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buNone/>
                      </a:pPr>
                      <a:r>
                        <a:rPr lang="en-US" sz="800" dirty="0">
                          <a:solidFill>
                            <a:srgbClr val="2B2B2B"/>
                          </a:solidFill>
                        </a:rPr>
                        <a:t>평가서, 외부 전문가 의견서, 비교대상 자료 확보</a:t>
                      </a:r>
                      <a:endParaRPr lang="en-US" sz="8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buNone/>
                      </a:pPr>
                      <a:r>
                        <a:rPr lang="en-US" sz="800" dirty="0">
                          <a:solidFill>
                            <a:srgbClr val="2B2B2B"/>
                          </a:solidFill>
                        </a:rPr>
                        <a:t>컨설턴트</a:t>
                      </a:r>
                      <a:endParaRPr lang="en-US" sz="8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4"/>
                  </a:ext>
                </a:extLst>
              </a:tr>
              <a:tr h="274320">
                <a:tc>
                  <a:txBody>
                    <a:bodyPr/>
                    <a:lstStyle/>
                    <a:p>
                      <a:pPr marL="0" indent="0">
                        <a:buNone/>
                      </a:pPr>
                      <a:r>
                        <a:rPr lang="en-US" sz="800" b="1" dirty="0">
                          <a:solidFill>
                            <a:srgbClr val="2B2B2B"/>
                          </a:solidFill>
                        </a:rPr>
                        <a:t>5. 계약·회계</a:t>
                      </a:r>
                      <a:endParaRPr lang="en-US" sz="8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2B2B2B"/>
                          </a:solidFill>
                        </a:rPr>
                        <a:t>양수도 계약 체결, 세금계산서 발행, 회계 처리</a:t>
                      </a:r>
                      <a:endParaRPr lang="en-US" sz="8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2B2B2B"/>
                          </a:solidFill>
                        </a:rPr>
                        <a:t>대표이사, 재무팀</a:t>
                      </a:r>
                      <a:endParaRPr lang="en-US" sz="8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74320">
                <a:tc>
                  <a:txBody>
                    <a:bodyPr/>
                    <a:lstStyle/>
                    <a:p>
                      <a:pPr marL="0" indent="0">
                        <a:buNone/>
                      </a:pPr>
                      <a:r>
                        <a:rPr lang="en-US" sz="800" b="1" dirty="0">
                          <a:solidFill>
                            <a:srgbClr val="2B2B2B"/>
                          </a:solidFill>
                        </a:rPr>
                        <a:t>6. 세무보고</a:t>
                      </a:r>
                      <a:endParaRPr lang="en-US" sz="8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buNone/>
                      </a:pPr>
                      <a:r>
                        <a:rPr lang="en-US" sz="800" dirty="0">
                          <a:solidFill>
                            <a:srgbClr val="2B2B2B"/>
                          </a:solidFill>
                        </a:rPr>
                        <a:t>원천징수 신고, 부가세 신고, 법인세 반영</a:t>
                      </a:r>
                      <a:endParaRPr lang="en-US" sz="8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buNone/>
                      </a:pPr>
                      <a:r>
                        <a:rPr lang="en-US" sz="800" dirty="0">
                          <a:solidFill>
                            <a:srgbClr val="2B2B2B"/>
                          </a:solidFill>
                        </a:rPr>
                        <a:t>세무사</a:t>
                      </a:r>
                      <a:endParaRPr lang="en-US" sz="8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6"/>
                  </a:ext>
                </a:extLst>
              </a:tr>
            </a:tbl>
          </a:graphicData>
        </a:graphic>
      </p:graphicFrame>
      <p:sp>
        <p:nvSpPr>
          <p:cNvPr id="10" name="Text 7"/>
          <p:cNvSpPr/>
          <p:nvPr/>
        </p:nvSpPr>
        <p:spPr>
          <a:xfrm>
            <a:off x="457200" y="3931920"/>
            <a:ext cx="8229600" cy="411480"/>
          </a:xfrm>
          <a:prstGeom prst="rect">
            <a:avLst/>
          </a:prstGeom>
          <a:noFill/>
          <a:ln/>
        </p:spPr>
        <p:txBody>
          <a:bodyPr wrap="square" rtlCol="0" anchor="t"/>
          <a:lstStyle/>
          <a:p>
            <a:pPr marL="0" indent="0">
              <a:lnSpc>
                <a:spcPct val="115000"/>
              </a:lnSpc>
              <a:buNone/>
            </a:pPr>
            <a:r>
              <a:rPr lang="en-US" sz="900" dirty="0">
                <a:solidFill>
                  <a:srgbClr val="2B2B2B"/>
                </a:solidFill>
                <a:latin typeface="맑은 고딕" pitchFamily="34" charset="0"/>
                <a:ea typeface="맑은 고딕" pitchFamily="34" charset="-122"/>
                <a:cs typeface="맑은 고딕" pitchFamily="34" charset="-120"/>
              </a:rPr>
              <a:t>주요 평가 방법론: 수익가치접근법(향후 수익의 현재가치 환산) / 시장가치접근법(유사 거래 사례 기준) / 원가접근법(개발 비용 기준). 일반적으로 수익가치+시장가치 혼합 평가.</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34</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[부록] 특허권 가치평가 실무 가이드 (2/2)</a:t>
            </a:r>
            <a:endParaRPr lang="en-US" sz="15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가지급금 정리로 세무리스크 해소하기</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34 / 62</a:t>
            </a:r>
            <a:endParaRPr lang="en-US" sz="800" dirty="0"/>
          </a:p>
        </p:txBody>
      </p:sp>
      <p:sp>
        <p:nvSpPr>
          <p:cNvPr id="7" name="Text 5"/>
          <p:cNvSpPr/>
          <p:nvPr/>
        </p:nvSpPr>
        <p:spPr>
          <a:xfrm>
            <a:off x="457200" y="685800"/>
            <a:ext cx="8229600" cy="365760"/>
          </a:xfrm>
          <a:prstGeom prst="rect">
            <a:avLst/>
          </a:prstGeom>
          <a:noFill/>
          <a:ln/>
        </p:spPr>
        <p:txBody>
          <a:bodyPr wrap="square"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세무·법률 체크포인트 &amp; 성공 실행 체크리스트</a:t>
            </a:r>
            <a:endParaRPr lang="en-US" sz="1400" dirty="0"/>
          </a:p>
        </p:txBody>
      </p:sp>
      <p:sp>
        <p:nvSpPr>
          <p:cNvPr id="8" name="Text 6"/>
          <p:cNvSpPr/>
          <p:nvPr/>
        </p:nvSpPr>
        <p:spPr>
          <a:xfrm>
            <a:off x="457200" y="1143000"/>
            <a:ext cx="8229600" cy="1188720"/>
          </a:xfrm>
          <a:prstGeom prst="rect">
            <a:avLst/>
          </a:prstGeom>
          <a:noFill/>
          <a:ln/>
        </p:spPr>
        <p:txBody>
          <a:bodyPr wrap="square" rtlCol="0" anchor="t"/>
          <a:lstStyle/>
          <a:p>
            <a:pPr marL="342900" indent="-342900">
              <a:lnSpc>
                <a:spcPct val="115000"/>
              </a:lnSpc>
              <a:buSzPct val="100000"/>
              <a:buChar char="•"/>
            </a:pPr>
            <a:r>
              <a:rPr lang="en-US" sz="900" dirty="0">
                <a:solidFill>
                  <a:srgbClr val="2B2B2B"/>
                </a:solidFill>
                <a:latin typeface="맑은 고딕" pitchFamily="34" charset="0"/>
                <a:ea typeface="맑은 고딕" pitchFamily="34" charset="-122"/>
                <a:cs typeface="맑은 고딕" pitchFamily="34" charset="-120"/>
              </a:rPr>
              <a:t>(세무) 부가가치세: 특허권 양수도 시 세금계산서 발행 필수 (법인 매입세액 공제 가능)</a:t>
            </a:r>
            <a:endParaRPr lang="en-US" sz="900" dirty="0"/>
          </a:p>
          <a:p>
            <a:pPr marL="342900" indent="-342900">
              <a:lnSpc>
                <a:spcPct val="115000"/>
              </a:lnSpc>
              <a:buSzPct val="100000"/>
              <a:buChar char="•"/>
            </a:pPr>
            <a:r>
              <a:rPr lang="en-US" sz="900" dirty="0">
                <a:solidFill>
                  <a:srgbClr val="2B2B2B"/>
                </a:solidFill>
                <a:latin typeface="맑은 고딕" pitchFamily="34" charset="0"/>
                <a:ea typeface="맑은 고딕" pitchFamily="34" charset="-122"/>
                <a:cs typeface="맑은 고딕" pitchFamily="34" charset="-120"/>
              </a:rPr>
              <a:t>(세무) 원천징수세: 대표이사 수령 보상금 기타소득 처리 시 22% 원천징수</a:t>
            </a:r>
            <a:endParaRPr lang="en-US" sz="900" dirty="0"/>
          </a:p>
          <a:p>
            <a:pPr marL="342900" indent="-342900">
              <a:lnSpc>
                <a:spcPct val="115000"/>
              </a:lnSpc>
              <a:buSzPct val="100000"/>
              <a:buChar char="•"/>
            </a:pPr>
            <a:r>
              <a:rPr lang="en-US" sz="900" dirty="0">
                <a:solidFill>
                  <a:srgbClr val="2B2B2B"/>
                </a:solidFill>
                <a:latin typeface="맑은 고딕" pitchFamily="34" charset="0"/>
                <a:ea typeface="맑은 고딕" pitchFamily="34" charset="-122"/>
                <a:cs typeface="맑은 고딕" pitchFamily="34" charset="-120"/>
              </a:rPr>
              <a:t>(세무) 증여세 리스크: 평가액이 시가보다 낮으면 증여세 과세 가능</a:t>
            </a:r>
            <a:endParaRPr lang="en-US" sz="900" dirty="0"/>
          </a:p>
          <a:p>
            <a:pPr marL="342900" indent="-342900">
              <a:lnSpc>
                <a:spcPct val="115000"/>
              </a:lnSpc>
              <a:buSzPct val="100000"/>
              <a:buChar char="•"/>
            </a:pPr>
            <a:r>
              <a:rPr lang="en-US" sz="900" dirty="0">
                <a:solidFill>
                  <a:srgbClr val="2B2B2B"/>
                </a:solidFill>
                <a:latin typeface="맑은 고딕" pitchFamily="34" charset="0"/>
                <a:ea typeface="맑은 고딕" pitchFamily="34" charset="-122"/>
                <a:cs typeface="맑은 고딕" pitchFamily="34" charset="-120"/>
              </a:rPr>
              <a:t>(법률) 발명진흥법 제15조: 직무발명 보상 지급 의무 / 상증세법 §35: 저가 양도 증여세 과세</a:t>
            </a:r>
            <a:endParaRPr lang="en-US" sz="900" dirty="0"/>
          </a:p>
          <a:p>
            <a:pPr marL="342900" indent="-342900">
              <a:lnSpc>
                <a:spcPct val="115000"/>
              </a:lnSpc>
              <a:buSzPct val="100000"/>
              <a:buChar char="•"/>
            </a:pPr>
            <a:r>
              <a:rPr lang="en-US" sz="900" dirty="0">
                <a:solidFill>
                  <a:srgbClr val="2B2B2B"/>
                </a:solidFill>
                <a:latin typeface="맑은 고딕" pitchFamily="34" charset="0"/>
                <a:ea typeface="맑은 고딕" pitchFamily="34" charset="-122"/>
                <a:cs typeface="맑은 고딕" pitchFamily="34" charset="-120"/>
              </a:rPr>
              <a:t>(법률) 법인세법 §52: 부당행위계산 부인 방지를 위해 시가 입증 필수</a:t>
            </a:r>
            <a:endParaRPr lang="en-US" sz="900" dirty="0"/>
          </a:p>
        </p:txBody>
      </p:sp>
      <p:sp>
        <p:nvSpPr>
          <p:cNvPr id="9" name="Text 7"/>
          <p:cNvSpPr/>
          <p:nvPr/>
        </p:nvSpPr>
        <p:spPr>
          <a:xfrm>
            <a:off x="457200" y="2423160"/>
            <a:ext cx="8229600" cy="365760"/>
          </a:xfrm>
          <a:prstGeom prst="rect">
            <a:avLst/>
          </a:prstGeom>
          <a:noFill/>
          <a:ln/>
        </p:spPr>
        <p:txBody>
          <a:bodyPr wrap="square"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실무 팁</a:t>
            </a:r>
            <a:endParaRPr lang="en-US" sz="1400" dirty="0"/>
          </a:p>
        </p:txBody>
      </p:sp>
      <p:sp>
        <p:nvSpPr>
          <p:cNvPr id="10" name="Text 8"/>
          <p:cNvSpPr/>
          <p:nvPr/>
        </p:nvSpPr>
        <p:spPr>
          <a:xfrm>
            <a:off x="457200" y="2880360"/>
            <a:ext cx="8229600" cy="640080"/>
          </a:xfrm>
          <a:prstGeom prst="rect">
            <a:avLst/>
          </a:prstGeom>
          <a:noFill/>
          <a:ln/>
        </p:spPr>
        <p:txBody>
          <a:bodyPr wrap="square" rtlCol="0" anchor="t"/>
          <a:lstStyle/>
          <a:p>
            <a:pPr marL="342900" indent="-342900">
              <a:lnSpc>
                <a:spcPct val="115000"/>
              </a:lnSpc>
              <a:buSzPct val="100000"/>
              <a:buChar char="•"/>
            </a:pPr>
            <a:r>
              <a:rPr lang="en-US" sz="900" dirty="0">
                <a:solidFill>
                  <a:srgbClr val="2B2B2B"/>
                </a:solidFill>
                <a:latin typeface="맑은 고딕" pitchFamily="34" charset="0"/>
                <a:ea typeface="맑은 고딕" pitchFamily="34" charset="-122"/>
                <a:cs typeface="맑은 고딕" pitchFamily="34" charset="-120"/>
              </a:rPr>
              <a:t>특허권 평가액이 너무 낮으면 증여세 리스크 발생 / 너무 높으면 법인세 부담 과중</a:t>
            </a:r>
            <a:endParaRPr lang="en-US" sz="900" dirty="0"/>
          </a:p>
          <a:p>
            <a:pPr marL="342900" indent="-342900">
              <a:lnSpc>
                <a:spcPct val="115000"/>
              </a:lnSpc>
              <a:buSzPct val="100000"/>
              <a:buChar char="•"/>
            </a:pPr>
            <a:r>
              <a:rPr lang="en-US" sz="900" dirty="0">
                <a:solidFill>
                  <a:srgbClr val="2B2B2B"/>
                </a:solidFill>
                <a:latin typeface="맑은 고딕" pitchFamily="34" charset="0"/>
                <a:ea typeface="맑은 고딕" pitchFamily="34" charset="-122"/>
                <a:cs typeface="맑은 고딕" pitchFamily="34" charset="-120"/>
              </a:rPr>
              <a:t>보수적인 수익 추정과 객관적인 근거자료 확보가 핵심</a:t>
            </a:r>
            <a:endParaRPr lang="en-US" sz="900" dirty="0"/>
          </a:p>
          <a:p>
            <a:pPr marL="342900" indent="-342900">
              <a:lnSpc>
                <a:spcPct val="115000"/>
              </a:lnSpc>
              <a:buSzPct val="100000"/>
              <a:buChar char="•"/>
            </a:pPr>
            <a:r>
              <a:rPr lang="en-US" sz="900" dirty="0">
                <a:solidFill>
                  <a:srgbClr val="2B2B2B"/>
                </a:solidFill>
                <a:latin typeface="맑은 고딕" pitchFamily="34" charset="0"/>
                <a:ea typeface="맑은 고딕" pitchFamily="34" charset="-122"/>
                <a:cs typeface="맑은 고딕" pitchFamily="34" charset="-120"/>
              </a:rPr>
              <a:t>변리사·세무사·컨설턴트 3자 협업 필수</a:t>
            </a:r>
            <a:endParaRPr lang="en-US" sz="900" dirty="0"/>
          </a:p>
        </p:txBody>
      </p:sp>
      <p:sp>
        <p:nvSpPr>
          <p:cNvPr id="11" name="Text 9"/>
          <p:cNvSpPr/>
          <p:nvPr/>
        </p:nvSpPr>
        <p:spPr>
          <a:xfrm>
            <a:off x="457200" y="3611880"/>
            <a:ext cx="8229600" cy="502920"/>
          </a:xfrm>
          <a:prstGeom prst="rect">
            <a:avLst/>
          </a:prstGeom>
          <a:noFill/>
          <a:ln/>
        </p:spPr>
        <p:txBody>
          <a:bodyPr wrap="square" rtlCol="0" anchor="t"/>
          <a:lstStyle/>
          <a:p>
            <a:pPr marL="0" indent="0">
              <a:lnSpc>
                <a:spcPct val="115000"/>
              </a:lnSpc>
              <a:buNone/>
            </a:pPr>
            <a:r>
              <a:rPr lang="en-US" sz="900" b="1" dirty="0">
                <a:solidFill>
                  <a:srgbClr val="2B2B2B"/>
                </a:solidFill>
                <a:latin typeface="맑은 고딕" pitchFamily="34" charset="0"/>
                <a:ea typeface="맑은 고딕" pitchFamily="34" charset="-122"/>
                <a:cs typeface="맑은 고딕" pitchFamily="34" charset="-120"/>
              </a:rPr>
              <a:t>최종 결론: 특허권 자본화는 가지급금 해소를 넘어, 기업 재무구조 개선, 세무 절세, 무형자산 가치 상승을 동시에 달성할 수 있는 전략. 단, 전문가 사전 검토→다기관 평가→시가 입증→세무보고의 4단계 체계를 반드시 준수해야 한다.</a:t>
            </a:r>
            <a:endParaRPr lang="en-US" sz="900" dirty="0"/>
          </a:p>
        </p:txBody>
      </p:sp>
      <p:sp>
        <p:nvSpPr>
          <p:cNvPr id="12" name="Text 10"/>
          <p:cNvSpPr/>
          <p:nvPr/>
        </p:nvSpPr>
        <p:spPr>
          <a:xfrm>
            <a:off x="457200" y="4160520"/>
            <a:ext cx="8229600" cy="228600"/>
          </a:xfrm>
          <a:prstGeom prst="rect">
            <a:avLst/>
          </a:prstGeom>
          <a:noFill/>
          <a:ln/>
        </p:spPr>
        <p:txBody>
          <a:bodyPr wrap="square" rtlCol="0" anchor="t"/>
          <a:lstStyle/>
          <a:p>
            <a:pPr marL="0" indent="0">
              <a:lnSpc>
                <a:spcPct val="115000"/>
              </a:lnSpc>
              <a:buNone/>
            </a:pPr>
            <a:r>
              <a:rPr lang="en-US" sz="700" i="1" dirty="0">
                <a:solidFill>
                  <a:srgbClr val="4A5568"/>
                </a:solidFill>
                <a:latin typeface="맑은 고딕" pitchFamily="34" charset="0"/>
                <a:ea typeface="맑은 고딕" pitchFamily="34" charset="-122"/>
                <a:cs typeface="맑은 고딕" pitchFamily="34" charset="-120"/>
              </a:rPr>
              <a:t>📌 본 가이드의 사례 및 수치는 모두 가상의 시뮬레이션 자료이며, 실제 적용 시 반드시 세무·법무 전문가의 자문을 거쳐야 합니다.</a:t>
            </a:r>
            <a:endParaRPr lang="en-US" sz="7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Shape 2"/>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5" name="Text 3"/>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35</a:t>
            </a:r>
            <a:endParaRPr lang="en-US" sz="900" dirty="0"/>
          </a:p>
        </p:txBody>
      </p:sp>
      <p:sp>
        <p:nvSpPr>
          <p:cNvPr id="6" name="Text 4"/>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IX. 컨설팅 시나리오 (1/6)</a:t>
            </a:r>
            <a:endParaRPr lang="en-US" sz="1500" dirty="0"/>
          </a:p>
        </p:txBody>
      </p:sp>
      <p:sp>
        <p:nvSpPr>
          <p:cNvPr id="7" name="Text 5"/>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가지급금 정리로 세무리스크 해소하기</a:t>
            </a:r>
            <a:endParaRPr lang="en-US" sz="800" dirty="0"/>
          </a:p>
        </p:txBody>
      </p:sp>
      <p:sp>
        <p:nvSpPr>
          <p:cNvPr id="8" name="Text 6"/>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35 / 62</a:t>
            </a:r>
            <a:endParaRPr lang="en-US" sz="800" dirty="0"/>
          </a:p>
        </p:txBody>
      </p:sp>
      <p:sp>
        <p:nvSpPr>
          <p:cNvPr id="9" name="Text 7"/>
          <p:cNvSpPr/>
          <p:nvPr/>
        </p:nvSpPr>
        <p:spPr>
          <a:xfrm>
            <a:off x="457200" y="685800"/>
            <a:ext cx="8229600" cy="365760"/>
          </a:xfrm>
          <a:prstGeom prst="rect">
            <a:avLst/>
          </a:prstGeom>
          <a:noFill/>
          <a:ln/>
        </p:spPr>
        <p:txBody>
          <a:bodyPr wrap="square"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 상담주제 1: 회사 성장의 발목을 잡는 '보이지 않는 비용'</a:t>
            </a:r>
            <a:endParaRPr lang="en-US" sz="1400" dirty="0"/>
          </a:p>
        </p:txBody>
      </p:sp>
      <p:sp>
        <p:nvSpPr>
          <p:cNvPr id="10" name="Text 8"/>
          <p:cNvSpPr/>
          <p:nvPr/>
        </p:nvSpPr>
        <p:spPr>
          <a:xfrm>
            <a:off x="457200" y="1143000"/>
            <a:ext cx="8229600" cy="777240"/>
          </a:xfrm>
          <a:prstGeom prst="rect">
            <a:avLst/>
          </a:prstGeom>
          <a:noFill/>
          <a:ln/>
        </p:spPr>
        <p:txBody>
          <a:bodyPr wrap="square" rtlCol="0" anchor="t"/>
          <a:lstStyle/>
          <a:p>
            <a:pPr marL="0" indent="0">
              <a:lnSpc>
                <a:spcPct val="115000"/>
              </a:lnSpc>
              <a:buNone/>
            </a:pPr>
            <a:r>
              <a:rPr lang="en-US" sz="900" dirty="0">
                <a:solidFill>
                  <a:srgbClr val="2B2B2B"/>
                </a:solidFill>
                <a:latin typeface="맑은 고딕" pitchFamily="34" charset="0"/>
                <a:ea typeface="맑은 고딕" pitchFamily="34" charset="-122"/>
                <a:cs typeface="맑은 고딕" pitchFamily="34" charset="-120"/>
              </a:rPr>
              <a:t>리스크 진단: "대표님, 재무상태표의 '가지급금 5억'이라는 숫자는 자산이 아니라, 매년 3,570만원씩 회사의 현금을 태우고 있는 연기 나는 폭탄입니다. ①매년 반복되는 고정비용 ②세무조사 시 2억 이상 추징 위험 ③신용등급 하락으로 인한 금융비용 증가. '복합 리스크'입니다."</a:t>
            </a:r>
            <a:endParaRPr lang="en-US" sz="900" dirty="0"/>
          </a:p>
        </p:txBody>
      </p:sp>
      <p:sp>
        <p:nvSpPr>
          <p:cNvPr id="11" name="Text 9"/>
          <p:cNvSpPr/>
          <p:nvPr/>
        </p:nvSpPr>
        <p:spPr>
          <a:xfrm>
            <a:off x="457200" y="1965960"/>
            <a:ext cx="8229600" cy="685800"/>
          </a:xfrm>
          <a:prstGeom prst="rect">
            <a:avLst/>
          </a:prstGeom>
          <a:noFill/>
          <a:ln/>
        </p:spPr>
        <p:txBody>
          <a:bodyPr wrap="square" rtlCol="0" anchor="t"/>
          <a:lstStyle/>
          <a:p>
            <a:pPr marL="0" indent="0">
              <a:lnSpc>
                <a:spcPct val="115000"/>
              </a:lnSpc>
              <a:buNone/>
            </a:pPr>
            <a:r>
              <a:rPr lang="en-US" sz="900" dirty="0">
                <a:solidFill>
                  <a:srgbClr val="2B2B2B"/>
                </a:solidFill>
                <a:latin typeface="맑은 고딕" pitchFamily="34" charset="0"/>
                <a:ea typeface="맑은 고딕" pitchFamily="34" charset="-122"/>
                <a:cs typeface="맑은 고딕" pitchFamily="34" charset="-120"/>
              </a:rPr>
              <a:t>전략 제안: "이 폭탄을 안전하게 제거할 '3단계 해체 작전'을 제안합니다. Step 1은 보수 현실화 1억, Step 2는 핵심기술 특허 자산화 3억, Step 3은 법인보험 단기 브릿지. 각 단계마다 합법성을 100% 확보하면서 회사 가치는 높이는 전략입니다."</a:t>
            </a:r>
            <a:endParaRPr lang="en-US" sz="900" dirty="0"/>
          </a:p>
        </p:txBody>
      </p:sp>
      <p:sp>
        <p:nvSpPr>
          <p:cNvPr id="12" name="Text 10"/>
          <p:cNvSpPr/>
          <p:nvPr/>
        </p:nvSpPr>
        <p:spPr>
          <a:xfrm>
            <a:off x="457200" y="2697480"/>
            <a:ext cx="8229600" cy="502920"/>
          </a:xfrm>
          <a:prstGeom prst="rect">
            <a:avLst/>
          </a:prstGeom>
          <a:noFill/>
          <a:ln/>
        </p:spPr>
        <p:txBody>
          <a:bodyPr wrap="square" rtlCol="0" anchor="t"/>
          <a:lstStyle/>
          <a:p>
            <a:pPr marL="0" indent="0">
              <a:lnSpc>
                <a:spcPct val="115000"/>
              </a:lnSpc>
              <a:buNone/>
            </a:pPr>
            <a:r>
              <a:rPr lang="en-US" sz="900" dirty="0">
                <a:solidFill>
                  <a:srgbClr val="2B2B2B"/>
                </a:solidFill>
                <a:latin typeface="맑은 고딕" pitchFamily="34" charset="0"/>
                <a:ea typeface="맑은 고딕" pitchFamily="34" charset="-122"/>
                <a:cs typeface="맑은 고딕" pitchFamily="34" charset="-120"/>
              </a:rPr>
              <a:t>기대효과: "①연간 3,570만원 현금유출 중단 ②잠재 세금폭탄 2억+ 리스크 제거 ③무형자산 3억 확보 ④5년간 법인세 5,700만원 절감. 5년간 약 2억 5천의 재무적 효과입니다."</a:t>
            </a:r>
            <a:endParaRPr lang="en-US" sz="900" dirty="0"/>
          </a:p>
        </p:txBody>
      </p:sp>
      <p:sp>
        <p:nvSpPr>
          <p:cNvPr id="13" name="Text 11"/>
          <p:cNvSpPr/>
          <p:nvPr/>
        </p:nvSpPr>
        <p:spPr>
          <a:xfrm>
            <a:off x="457200" y="3246120"/>
            <a:ext cx="8229600" cy="502920"/>
          </a:xfrm>
          <a:prstGeom prst="rect">
            <a:avLst/>
          </a:prstGeom>
          <a:noFill/>
          <a:ln/>
        </p:spPr>
        <p:txBody>
          <a:bodyPr wrap="square" rtlCol="0" anchor="t"/>
          <a:lstStyle/>
          <a:p>
            <a:pPr marL="0" indent="0">
              <a:lnSpc>
                <a:spcPct val="115000"/>
              </a:lnSpc>
              <a:buNone/>
            </a:pPr>
            <a:r>
              <a:rPr lang="en-US" sz="900" dirty="0">
                <a:solidFill>
                  <a:srgbClr val="2B2B2B"/>
                </a:solidFill>
                <a:latin typeface="맑은 고딕" pitchFamily="34" charset="0"/>
                <a:ea typeface="맑은 고딕" pitchFamily="34" charset="-122"/>
                <a:cs typeface="맑은 고딕" pitchFamily="34" charset="-120"/>
              </a:rPr>
              <a:t>FAQ: "그냥 두다가 폐업하면 없어지나요?" → "폐업 청산 시 가지급금은 대표이사 귀속 상여 처리. 소득세 약 1.7억+건보료 5천만+가산세 = 2억 5천 이상 한꺼번에 청구됩니다."</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Shape 2"/>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5" name="Text 3"/>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36</a:t>
            </a:r>
            <a:endParaRPr lang="en-US" sz="900" dirty="0"/>
          </a:p>
        </p:txBody>
      </p:sp>
      <p:sp>
        <p:nvSpPr>
          <p:cNvPr id="6" name="Text 4"/>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IX. 컨설팅 시나리오 (2/6)</a:t>
            </a:r>
            <a:endParaRPr lang="en-US" sz="1500" dirty="0"/>
          </a:p>
        </p:txBody>
      </p:sp>
      <p:sp>
        <p:nvSpPr>
          <p:cNvPr id="7" name="Text 5"/>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가지급금 정리로 세무리스크 해소하기</a:t>
            </a:r>
            <a:endParaRPr lang="en-US" sz="800" dirty="0"/>
          </a:p>
        </p:txBody>
      </p:sp>
      <p:sp>
        <p:nvSpPr>
          <p:cNvPr id="8" name="Text 6"/>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36 / 62</a:t>
            </a:r>
            <a:endParaRPr lang="en-US" sz="800" dirty="0"/>
          </a:p>
        </p:txBody>
      </p:sp>
      <p:sp>
        <p:nvSpPr>
          <p:cNvPr id="9" name="Text 7"/>
          <p:cNvSpPr/>
          <p:nvPr/>
        </p:nvSpPr>
        <p:spPr>
          <a:xfrm>
            <a:off x="457200" y="685800"/>
            <a:ext cx="8229600" cy="320040"/>
          </a:xfrm>
          <a:prstGeom prst="rect">
            <a:avLst/>
          </a:prstGeom>
          <a:noFill/>
          <a:ln/>
        </p:spPr>
        <p:txBody>
          <a:bodyPr wrap="square" rtlCol="0" anchor="t"/>
          <a:lstStyle/>
          <a:p>
            <a:pPr marL="0" indent="0">
              <a:lnSpc>
                <a:spcPct val="115000"/>
              </a:lnSpc>
              <a:buNone/>
            </a:pPr>
            <a:r>
              <a:rPr lang="en-US" sz="1200" b="1" dirty="0">
                <a:solidFill>
                  <a:srgbClr val="C8962E"/>
                </a:solidFill>
                <a:latin typeface="맑은 고딕" pitchFamily="34" charset="0"/>
                <a:ea typeface="맑은 고딕" pitchFamily="34" charset="-122"/>
                <a:cs typeface="맑은 고딕" pitchFamily="34" charset="-120"/>
              </a:rPr>
              <a:t>심화 응대 스킬 — 상담주제 1</a:t>
            </a:r>
            <a:endParaRPr lang="en-US" sz="1200" dirty="0"/>
          </a:p>
        </p:txBody>
      </p:sp>
      <p:sp>
        <p:nvSpPr>
          <p:cNvPr id="10" name="Text 8"/>
          <p:cNvSpPr/>
          <p:nvPr/>
        </p:nvSpPr>
        <p:spPr>
          <a:xfrm>
            <a:off x="457200" y="1051560"/>
            <a:ext cx="8229600" cy="640080"/>
          </a:xfrm>
          <a:prstGeom prst="rect">
            <a:avLst/>
          </a:prstGeom>
          <a:noFill/>
          <a:ln/>
        </p:spPr>
        <p:txBody>
          <a:bodyPr wrap="square" rtlCol="0" anchor="t"/>
          <a:lstStyle/>
          <a:p>
            <a:pPr marL="0" indent="0">
              <a:lnSpc>
                <a:spcPct val="115000"/>
              </a:lnSpc>
              <a:buNone/>
            </a:pPr>
            <a:r>
              <a:rPr lang="en-US" sz="900" dirty="0">
                <a:solidFill>
                  <a:srgbClr val="2B2B2B"/>
                </a:solidFill>
                <a:latin typeface="맑은 고딕" pitchFamily="34" charset="0"/>
                <a:ea typeface="맑은 고딕" pitchFamily="34" charset="-122"/>
                <a:cs typeface="맑은 고딕" pitchFamily="34" charset="-120"/>
              </a:rPr>
              <a:t>[복합 손실 가시화 기법] "연 3,570만원 × 5년 = 1.78억+복리=약 2억. 세무조사 시 2억 추가, 신용등급 하락 시 대출이자 연 5천만 증가. 단일 리스크가 아니라 '도미노 리스크'입니다."</a:t>
            </a:r>
            <a:endParaRPr lang="en-US" sz="900" dirty="0"/>
          </a:p>
        </p:txBody>
      </p:sp>
      <p:sp>
        <p:nvSpPr>
          <p:cNvPr id="11" name="Text 9"/>
          <p:cNvSpPr/>
          <p:nvPr/>
        </p:nvSpPr>
        <p:spPr>
          <a:xfrm>
            <a:off x="457200" y="1737360"/>
            <a:ext cx="8229600" cy="640080"/>
          </a:xfrm>
          <a:prstGeom prst="rect">
            <a:avLst/>
          </a:prstGeom>
          <a:noFill/>
          <a:ln/>
        </p:spPr>
        <p:txBody>
          <a:bodyPr wrap="square" rtlCol="0" anchor="t"/>
          <a:lstStyle/>
          <a:p>
            <a:pPr marL="0" indent="0">
              <a:lnSpc>
                <a:spcPct val="115000"/>
              </a:lnSpc>
              <a:buNone/>
            </a:pPr>
            <a:r>
              <a:rPr lang="en-US" sz="900" dirty="0">
                <a:solidFill>
                  <a:srgbClr val="2B2B2B"/>
                </a:solidFill>
                <a:latin typeface="맑은 고딕" pitchFamily="34" charset="0"/>
                <a:ea typeface="맑은 고딕" pitchFamily="34" charset="-122"/>
                <a:cs typeface="맑은 고딕" pitchFamily="34" charset="-120"/>
              </a:rPr>
              <a:t>[기회비용 전환 기법] "역설적으로 지금이 가장 '여유 있을 때'입니다. ①안정적 매출 ②법인 이익잉여금 ③건강한 신체. 2년 후에는 경기 악화, 이익잉여금 소진, 건강 문제 가능. 기다리는 게 아니라 기회를 놓치는 겁니다."</a:t>
            </a:r>
            <a:endParaRPr lang="en-US" sz="900" dirty="0"/>
          </a:p>
        </p:txBody>
      </p:sp>
      <p:sp>
        <p:nvSpPr>
          <p:cNvPr id="12" name="Text 10"/>
          <p:cNvSpPr/>
          <p:nvPr/>
        </p:nvSpPr>
        <p:spPr>
          <a:xfrm>
            <a:off x="457200" y="2514600"/>
            <a:ext cx="8229600" cy="365760"/>
          </a:xfrm>
          <a:prstGeom prst="rect">
            <a:avLst/>
          </a:prstGeom>
          <a:noFill/>
          <a:ln/>
        </p:spPr>
        <p:txBody>
          <a:bodyPr wrap="square"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 상담주제 2: 대표님의 머릿속 기술, 잠자고 있는 기업의 자산</a:t>
            </a:r>
            <a:endParaRPr lang="en-US" sz="1400" dirty="0"/>
          </a:p>
        </p:txBody>
      </p:sp>
      <p:sp>
        <p:nvSpPr>
          <p:cNvPr id="13" name="Text 11"/>
          <p:cNvSpPr/>
          <p:nvPr/>
        </p:nvSpPr>
        <p:spPr>
          <a:xfrm>
            <a:off x="457200" y="2971800"/>
            <a:ext cx="8229600" cy="914400"/>
          </a:xfrm>
          <a:prstGeom prst="rect">
            <a:avLst/>
          </a:prstGeom>
          <a:noFill/>
          <a:ln/>
        </p:spPr>
        <p:txBody>
          <a:bodyPr wrap="square" rtlCol="0" anchor="t"/>
          <a:lstStyle/>
          <a:p>
            <a:pPr marL="0" indent="0">
              <a:lnSpc>
                <a:spcPct val="115000"/>
              </a:lnSpc>
              <a:buNone/>
            </a:pPr>
            <a:r>
              <a:rPr lang="en-US" sz="900" dirty="0">
                <a:solidFill>
                  <a:srgbClr val="2B2B2B"/>
                </a:solidFill>
                <a:latin typeface="맑은 고딕" pitchFamily="34" charset="0"/>
                <a:ea typeface="맑은 고딕" pitchFamily="34" charset="-122"/>
                <a:cs typeface="맑은 고딕" pitchFamily="34" charset="-120"/>
              </a:rPr>
              <a:t>핵심: "대표님께는 이미 3억원짜리 '숨겨진 금광'이 있습니다. '초미세 프레스 공법' 기술을 ①특허 등록 ②감정평가 ③발명진흥법에 따른 정당한 보상. '편법'이 아니라 법이 보장하는 '권리'입니다."</a:t>
            </a:r>
            <a:endParaRPr lang="en-US" sz="900" dirty="0"/>
          </a:p>
          <a:p>
            <a:pPr marL="0" indent="0">
              <a:lnSpc>
                <a:spcPct val="115000"/>
              </a:lnSpc>
              <a:buNone/>
            </a:pPr>
            <a:r>
              <a:rPr lang="en-US" sz="900" dirty="0">
                <a:solidFill>
                  <a:srgbClr val="2B2B2B"/>
                </a:solidFill>
                <a:latin typeface="맑은 고딕" pitchFamily="34" charset="0"/>
                <a:ea typeface="맑은 고딕" pitchFamily="34" charset="-122"/>
                <a:cs typeface="맑은 고딕" pitchFamily="34" charset="-120"/>
              </a:rPr>
              <a:t>기대효과: "일석사조 — ①가지급금 3억 해결 ②무형자산 확보 ③기타소득 절세 ④법인세 5,700만원 절감"</a:t>
            </a:r>
            <a:endParaRPr lang="en-US" sz="900" dirty="0"/>
          </a:p>
        </p:txBody>
      </p:sp>
      <p:sp>
        <p:nvSpPr>
          <p:cNvPr id="14" name="Text 12"/>
          <p:cNvSpPr/>
          <p:nvPr/>
        </p:nvSpPr>
        <p:spPr>
          <a:xfrm>
            <a:off x="457200" y="3931920"/>
            <a:ext cx="8229600" cy="502920"/>
          </a:xfrm>
          <a:prstGeom prst="rect">
            <a:avLst/>
          </a:prstGeom>
          <a:noFill/>
          <a:ln/>
        </p:spPr>
        <p:txBody>
          <a:bodyPr wrap="square" rtlCol="0" anchor="t"/>
          <a:lstStyle/>
          <a:p>
            <a:pPr marL="0" indent="0">
              <a:lnSpc>
                <a:spcPct val="115000"/>
              </a:lnSpc>
              <a:buNone/>
            </a:pPr>
            <a:r>
              <a:rPr lang="en-US" sz="900" dirty="0">
                <a:solidFill>
                  <a:srgbClr val="2B2B2B"/>
                </a:solidFill>
                <a:latin typeface="맑은 고딕" pitchFamily="34" charset="0"/>
                <a:ea typeface="맑은 고딕" pitchFamily="34" charset="-122"/>
                <a:cs typeface="맑은 고딕" pitchFamily="34" charset="-120"/>
              </a:rPr>
              <a:t>FAQ: "내 기술을 내 회사에 파는 게 세법상 문제가 없나요?" → "발명진흥법 제15조가 명시적으로 보장하는 권리. 핵심은 ①객관적 가치평가 ②적법한 절차(이사회 결의) ③정당한 대가 지급. 대법원 판례도 지지합니다."</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Shape 2"/>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5" name="Text 3"/>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37</a:t>
            </a:r>
            <a:endParaRPr lang="en-US" sz="900" dirty="0"/>
          </a:p>
        </p:txBody>
      </p:sp>
      <p:sp>
        <p:nvSpPr>
          <p:cNvPr id="6" name="Text 4"/>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IX. 컨설팅 시나리오 (3/6)</a:t>
            </a:r>
            <a:endParaRPr lang="en-US" sz="1500" dirty="0"/>
          </a:p>
        </p:txBody>
      </p:sp>
      <p:sp>
        <p:nvSpPr>
          <p:cNvPr id="7" name="Text 5"/>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가지급금 정리로 세무리스크 해소하기</a:t>
            </a:r>
            <a:endParaRPr lang="en-US" sz="800" dirty="0"/>
          </a:p>
        </p:txBody>
      </p:sp>
      <p:sp>
        <p:nvSpPr>
          <p:cNvPr id="8" name="Text 6"/>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37 / 62</a:t>
            </a:r>
            <a:endParaRPr lang="en-US" sz="800" dirty="0"/>
          </a:p>
        </p:txBody>
      </p:sp>
      <p:sp>
        <p:nvSpPr>
          <p:cNvPr id="9" name="Text 7"/>
          <p:cNvSpPr/>
          <p:nvPr/>
        </p:nvSpPr>
        <p:spPr>
          <a:xfrm>
            <a:off x="457200" y="685800"/>
            <a:ext cx="8229600" cy="320040"/>
          </a:xfrm>
          <a:prstGeom prst="rect">
            <a:avLst/>
          </a:prstGeom>
          <a:noFill/>
          <a:ln/>
        </p:spPr>
        <p:txBody>
          <a:bodyPr wrap="square" rtlCol="0" anchor="t"/>
          <a:lstStyle/>
          <a:p>
            <a:pPr marL="0" indent="0">
              <a:lnSpc>
                <a:spcPct val="115000"/>
              </a:lnSpc>
              <a:buNone/>
            </a:pPr>
            <a:r>
              <a:rPr lang="en-US" sz="1200" b="1" dirty="0">
                <a:solidFill>
                  <a:srgbClr val="C8962E"/>
                </a:solidFill>
                <a:latin typeface="맑은 고딕" pitchFamily="34" charset="0"/>
                <a:ea typeface="맑은 고딕" pitchFamily="34" charset="-122"/>
                <a:cs typeface="맑은 고딕" pitchFamily="34" charset="-120"/>
              </a:rPr>
              <a:t>심화 응대 스킬 — 상담주제 2</a:t>
            </a:r>
            <a:endParaRPr lang="en-US" sz="1200" dirty="0"/>
          </a:p>
        </p:txBody>
      </p:sp>
      <p:sp>
        <p:nvSpPr>
          <p:cNvPr id="10" name="Text 8"/>
          <p:cNvSpPr/>
          <p:nvPr/>
        </p:nvSpPr>
        <p:spPr>
          <a:xfrm>
            <a:off x="457200" y="1051560"/>
            <a:ext cx="8229600" cy="548640"/>
          </a:xfrm>
          <a:prstGeom prst="rect">
            <a:avLst/>
          </a:prstGeom>
          <a:noFill/>
          <a:ln/>
        </p:spPr>
        <p:txBody>
          <a:bodyPr wrap="square" rtlCol="0" anchor="t"/>
          <a:lstStyle/>
          <a:p>
            <a:pPr marL="0" indent="0">
              <a:lnSpc>
                <a:spcPct val="115000"/>
              </a:lnSpc>
              <a:buNone/>
            </a:pPr>
            <a:r>
              <a:rPr lang="en-US" sz="900" dirty="0">
                <a:solidFill>
                  <a:srgbClr val="2B2B2B"/>
                </a:solidFill>
                <a:latin typeface="맑은 고딕" pitchFamily="34" charset="0"/>
                <a:ea typeface="맑은 고딕" pitchFamily="34" charset="-122"/>
                <a:cs typeface="맑은 고딕" pitchFamily="34" charset="-120"/>
              </a:rPr>
              <a:t>[과대평가 우려 해소] "2곳 이상 감정평가. 한 곳 3억, 다른 곳 2.5억이면 보수적으로 2.5억 진행. '독립적 전문기관이 산출한 객관적 가격'이 핵심. 투명성과 객관성이 곧 정당성입니다."</a:t>
            </a:r>
            <a:endParaRPr lang="en-US" sz="900" dirty="0"/>
          </a:p>
        </p:txBody>
      </p:sp>
      <p:sp>
        <p:nvSpPr>
          <p:cNvPr id="11" name="Text 9"/>
          <p:cNvSpPr/>
          <p:nvPr/>
        </p:nvSpPr>
        <p:spPr>
          <a:xfrm>
            <a:off x="457200" y="1645920"/>
            <a:ext cx="8229600" cy="548640"/>
          </a:xfrm>
          <a:prstGeom prst="rect">
            <a:avLst/>
          </a:prstGeom>
          <a:noFill/>
          <a:ln/>
        </p:spPr>
        <p:txBody>
          <a:bodyPr wrap="square" rtlCol="0" anchor="t"/>
          <a:lstStyle/>
          <a:p>
            <a:pPr marL="0" indent="0">
              <a:lnSpc>
                <a:spcPct val="115000"/>
              </a:lnSpc>
              <a:buNone/>
            </a:pPr>
            <a:r>
              <a:rPr lang="en-US" sz="900" dirty="0">
                <a:solidFill>
                  <a:srgbClr val="2B2B2B"/>
                </a:solidFill>
                <a:latin typeface="맑은 고딕" pitchFamily="34" charset="0"/>
                <a:ea typeface="맑은 고딕" pitchFamily="34" charset="-122"/>
                <a:cs typeface="맑은 고딕" pitchFamily="34" charset="-120"/>
              </a:rPr>
              <a:t>[절세 효과 정량화] "급여로 3억 받으려면 세전 4.5억 필요(소득세35%+건보료). 기타소득은 필요경비 60% 인정→과세표준 1.2억→세율22%=약2,640만원. 무려 1억 원 이상 차이. '합법적 최적화'입니다."</a:t>
            </a:r>
            <a:endParaRPr lang="en-US" sz="900" dirty="0"/>
          </a:p>
        </p:txBody>
      </p:sp>
      <p:sp>
        <p:nvSpPr>
          <p:cNvPr id="12" name="Text 10"/>
          <p:cNvSpPr/>
          <p:nvPr/>
        </p:nvSpPr>
        <p:spPr>
          <a:xfrm>
            <a:off x="457200" y="2331720"/>
            <a:ext cx="8229600" cy="365760"/>
          </a:xfrm>
          <a:prstGeom prst="rect">
            <a:avLst/>
          </a:prstGeom>
          <a:noFill/>
          <a:ln/>
        </p:spPr>
        <p:txBody>
          <a:bodyPr wrap="square"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 상담주제 3: 특허권 자본화, '세무 리스크'와 '절차적 정당성'의 균형</a:t>
            </a:r>
            <a:endParaRPr lang="en-US" sz="1400" dirty="0"/>
          </a:p>
        </p:txBody>
      </p:sp>
      <p:sp>
        <p:nvSpPr>
          <p:cNvPr id="13" name="Text 11"/>
          <p:cNvSpPr/>
          <p:nvPr/>
        </p:nvSpPr>
        <p:spPr>
          <a:xfrm>
            <a:off x="457200" y="2788920"/>
            <a:ext cx="8229600" cy="868680"/>
          </a:xfrm>
          <a:prstGeom prst="rect">
            <a:avLst/>
          </a:prstGeom>
          <a:noFill/>
          <a:ln/>
        </p:spPr>
        <p:txBody>
          <a:bodyPr wrap="square" rtlCol="0" anchor="t"/>
          <a:lstStyle/>
          <a:p>
            <a:pPr marL="0" indent="0">
              <a:lnSpc>
                <a:spcPct val="115000"/>
              </a:lnSpc>
              <a:buNone/>
            </a:pPr>
            <a:r>
              <a:rPr lang="en-US" sz="900" dirty="0">
                <a:solidFill>
                  <a:srgbClr val="2B2B2B"/>
                </a:solidFill>
                <a:latin typeface="맑은 고딕" pitchFamily="34" charset="0"/>
                <a:ea typeface="맑은 고딕" pitchFamily="34" charset="-122"/>
                <a:cs typeface="맑은 고딕" pitchFamily="34" charset="-120"/>
              </a:rPr>
              <a:t>핵심: "'편법'이 아닌 '정도(正道)'. ①독립적 2개 이상 감정평가기관 교차검증 ②발명진흥법 제15조 근거 직무발명 보상체계 구축 ③기술 경제적 기여도 입증 데이터 패키지. 세무당국이 문제 삼을 여지를 원천 차단."</a:t>
            </a:r>
            <a:endParaRPr lang="en-US" sz="900" dirty="0"/>
          </a:p>
          <a:p>
            <a:pPr marL="0" indent="0">
              <a:lnSpc>
                <a:spcPct val="115000"/>
              </a:lnSpc>
              <a:buNone/>
            </a:pPr>
            <a:r>
              <a:rPr lang="en-US" sz="900" dirty="0">
                <a:solidFill>
                  <a:srgbClr val="2B2B2B"/>
                </a:solidFill>
                <a:latin typeface="맑은 고딕" pitchFamily="34" charset="0"/>
                <a:ea typeface="맑은 고딕" pitchFamily="34" charset="-122"/>
                <a:cs typeface="맑은 고딕" pitchFamily="34" charset="-120"/>
              </a:rPr>
              <a:t>기대효과: "①가지급금 해결 ②3억 무형자산 확보 ③기타소득으로 낮은 세율 ④매년 1,140만원 법인세 절감. 일석삼조."</a:t>
            </a:r>
            <a:endParaRPr lang="en-US" sz="900" dirty="0"/>
          </a:p>
        </p:txBody>
      </p:sp>
      <p:sp>
        <p:nvSpPr>
          <p:cNvPr id="14" name="Text 12"/>
          <p:cNvSpPr/>
          <p:nvPr/>
        </p:nvSpPr>
        <p:spPr>
          <a:xfrm>
            <a:off x="457200" y="3703320"/>
            <a:ext cx="8229600" cy="594360"/>
          </a:xfrm>
          <a:prstGeom prst="rect">
            <a:avLst/>
          </a:prstGeom>
          <a:noFill/>
          <a:ln/>
        </p:spPr>
        <p:txBody>
          <a:bodyPr wrap="square" rtlCol="0" anchor="t"/>
          <a:lstStyle/>
          <a:p>
            <a:pPr marL="0" indent="0">
              <a:lnSpc>
                <a:spcPct val="115000"/>
              </a:lnSpc>
              <a:buNone/>
            </a:pPr>
            <a:r>
              <a:rPr lang="en-US" sz="900" dirty="0">
                <a:solidFill>
                  <a:srgbClr val="2B2B2B"/>
                </a:solidFill>
                <a:latin typeface="맑은 고딕" pitchFamily="34" charset="0"/>
                <a:ea typeface="맑은 고딕" pitchFamily="34" charset="-122"/>
                <a:cs typeface="맑은 고딕" pitchFamily="34" charset="-120"/>
              </a:rPr>
              <a:t>FAQ: "특허가 나올지 확신이 없는데?" → "변리사가 선행기술 조사로 등록 가능성 먼저 판단. 출원 중 기술만으로도 가치평가 가능. 실용신안, 영업비밀 등 대안도 있고, Plan B 전환도 가능. 확률 80%의 기회를 두려움 때문에 포기하시겠습니까?"</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Shape 2"/>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5" name="Text 3"/>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38</a:t>
            </a:r>
            <a:endParaRPr lang="en-US" sz="900" dirty="0"/>
          </a:p>
        </p:txBody>
      </p:sp>
      <p:sp>
        <p:nvSpPr>
          <p:cNvPr id="6" name="Text 4"/>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IX. 컨설팅 시나리오 (4/6)</a:t>
            </a:r>
            <a:endParaRPr lang="en-US" sz="1500" dirty="0"/>
          </a:p>
        </p:txBody>
      </p:sp>
      <p:sp>
        <p:nvSpPr>
          <p:cNvPr id="7" name="Text 5"/>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가지급금 정리로 세무리스크 해소하기</a:t>
            </a:r>
            <a:endParaRPr lang="en-US" sz="800" dirty="0"/>
          </a:p>
        </p:txBody>
      </p:sp>
      <p:sp>
        <p:nvSpPr>
          <p:cNvPr id="8" name="Text 6"/>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38 / 62</a:t>
            </a:r>
            <a:endParaRPr lang="en-US" sz="800" dirty="0"/>
          </a:p>
        </p:txBody>
      </p:sp>
      <p:sp>
        <p:nvSpPr>
          <p:cNvPr id="9" name="Text 7"/>
          <p:cNvSpPr/>
          <p:nvPr/>
        </p:nvSpPr>
        <p:spPr>
          <a:xfrm>
            <a:off x="457200" y="685800"/>
            <a:ext cx="8229600" cy="320040"/>
          </a:xfrm>
          <a:prstGeom prst="rect">
            <a:avLst/>
          </a:prstGeom>
          <a:noFill/>
          <a:ln/>
        </p:spPr>
        <p:txBody>
          <a:bodyPr wrap="square" rtlCol="0" anchor="t"/>
          <a:lstStyle/>
          <a:p>
            <a:pPr marL="0" indent="0">
              <a:lnSpc>
                <a:spcPct val="115000"/>
              </a:lnSpc>
              <a:buNone/>
            </a:pPr>
            <a:r>
              <a:rPr lang="en-US" sz="1200" b="1" dirty="0">
                <a:solidFill>
                  <a:srgbClr val="C8962E"/>
                </a:solidFill>
                <a:latin typeface="맑은 고딕" pitchFamily="34" charset="0"/>
                <a:ea typeface="맑은 고딕" pitchFamily="34" charset="-122"/>
                <a:cs typeface="맑은 고딕" pitchFamily="34" charset="-120"/>
              </a:rPr>
              <a:t>심화 응대 스킬 — 상담주제 3</a:t>
            </a:r>
            <a:endParaRPr lang="en-US" sz="1200" dirty="0"/>
          </a:p>
        </p:txBody>
      </p:sp>
      <p:sp>
        <p:nvSpPr>
          <p:cNvPr id="10" name="Text 8"/>
          <p:cNvSpPr/>
          <p:nvPr/>
        </p:nvSpPr>
        <p:spPr>
          <a:xfrm>
            <a:off x="457200" y="1051560"/>
            <a:ext cx="8229600" cy="594360"/>
          </a:xfrm>
          <a:prstGeom prst="rect">
            <a:avLst/>
          </a:prstGeom>
          <a:noFill/>
          <a:ln/>
        </p:spPr>
        <p:txBody>
          <a:bodyPr wrap="square" rtlCol="0" anchor="t"/>
          <a:lstStyle/>
          <a:p>
            <a:pPr marL="0" indent="0">
              <a:lnSpc>
                <a:spcPct val="115000"/>
              </a:lnSpc>
              <a:buNone/>
            </a:pPr>
            <a:r>
              <a:rPr lang="en-US" sz="900" dirty="0">
                <a:solidFill>
                  <a:srgbClr val="2B2B2B"/>
                </a:solidFill>
                <a:latin typeface="맑은 고딕" pitchFamily="34" charset="0"/>
                <a:ea typeface="맑은 고딕" pitchFamily="34" charset="-122"/>
                <a:cs typeface="맑은 고딕" pitchFamily="34" charset="-120"/>
              </a:rPr>
              <a:t>[VAT 부담 완화] "부가세 3천만원 발생. 하지만 법인은 매입세액 공제로 전액 환급. ①양수도 대금 2회 분할 ②부가세 환급 시점 맞춰 잔금 지급 ③약관대출 단기 브릿지. 세금은 '부담'이 아니라 '관리'의 문제입니다."</a:t>
            </a:r>
            <a:endParaRPr lang="en-US" sz="900" dirty="0"/>
          </a:p>
        </p:txBody>
      </p:sp>
      <p:sp>
        <p:nvSpPr>
          <p:cNvPr id="11" name="Text 9"/>
          <p:cNvSpPr/>
          <p:nvPr/>
        </p:nvSpPr>
        <p:spPr>
          <a:xfrm>
            <a:off x="457200" y="1691640"/>
            <a:ext cx="8229600" cy="548640"/>
          </a:xfrm>
          <a:prstGeom prst="rect">
            <a:avLst/>
          </a:prstGeom>
          <a:noFill/>
          <a:ln/>
        </p:spPr>
        <p:txBody>
          <a:bodyPr wrap="square" rtlCol="0" anchor="t"/>
          <a:lstStyle/>
          <a:p>
            <a:pPr marL="0" indent="0">
              <a:lnSpc>
                <a:spcPct val="115000"/>
              </a:lnSpc>
              <a:buNone/>
            </a:pPr>
            <a:r>
              <a:rPr lang="en-US" sz="900" dirty="0">
                <a:solidFill>
                  <a:srgbClr val="2B2B2B"/>
                </a:solidFill>
                <a:latin typeface="맑은 고딕" pitchFamily="34" charset="0"/>
                <a:ea typeface="맑은 고딕" pitchFamily="34" charset="-122"/>
                <a:cs typeface="맑은 고딕" pitchFamily="34" charset="-120"/>
              </a:rPr>
              <a:t>[역발상 리스크 전환] "급여로 5억 마련하려면 세전 약 7.5억 필요. 특허권은 기타소득 필요경비 60% 인정. 게다가 급여는 매년 반복, 특허권은 단 한 번. 숫자로 보면 답이 명확합니다."</a:t>
            </a:r>
            <a:endParaRPr lang="en-US" sz="900" dirty="0"/>
          </a:p>
        </p:txBody>
      </p:sp>
      <p:sp>
        <p:nvSpPr>
          <p:cNvPr id="12" name="Text 10"/>
          <p:cNvSpPr/>
          <p:nvPr/>
        </p:nvSpPr>
        <p:spPr>
          <a:xfrm>
            <a:off x="457200" y="2286000"/>
            <a:ext cx="8229600" cy="640080"/>
          </a:xfrm>
          <a:prstGeom prst="rect">
            <a:avLst/>
          </a:prstGeom>
          <a:noFill/>
          <a:ln/>
        </p:spPr>
        <p:txBody>
          <a:bodyPr wrap="square" rtlCol="0" anchor="t"/>
          <a:lstStyle/>
          <a:p>
            <a:pPr marL="0" indent="0">
              <a:lnSpc>
                <a:spcPct val="115000"/>
              </a:lnSpc>
              <a:buNone/>
            </a:pPr>
            <a:r>
              <a:rPr lang="en-US" sz="900" dirty="0">
                <a:solidFill>
                  <a:srgbClr val="2B2B2B"/>
                </a:solidFill>
                <a:latin typeface="맑은 고딕" pitchFamily="34" charset="0"/>
                <a:ea typeface="맑은 고딕" pitchFamily="34" charset="-122"/>
                <a:cs typeface="맑은 고딕" pitchFamily="34" charset="-120"/>
              </a:rPr>
              <a:t>[프로세스 투명화] "모든 과정을 '감사 대비 수준'으로 문서화. ①특허출원서 ②감정평가 2부 ③이사회 의사록 ④양수도 계약서(세금계산서) ⑤기술기여도 분석 보고서. 7년간 보관하면 세무조사가 와도 1시간 안에 모든 의문 해소. 투명성이 곧 안전입니다."</a:t>
            </a:r>
            <a:endParaRPr lang="en-US" sz="900" dirty="0"/>
          </a:p>
        </p:txBody>
      </p:sp>
      <p:sp>
        <p:nvSpPr>
          <p:cNvPr id="13" name="Text 11"/>
          <p:cNvSpPr/>
          <p:nvPr/>
        </p:nvSpPr>
        <p:spPr>
          <a:xfrm>
            <a:off x="457200" y="3063240"/>
            <a:ext cx="8229600" cy="365760"/>
          </a:xfrm>
          <a:prstGeom prst="rect">
            <a:avLst/>
          </a:prstGeom>
          <a:noFill/>
          <a:ln/>
        </p:spPr>
        <p:txBody>
          <a:bodyPr wrap="square"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 상담주제 4: 세무조사 불안감, '방어적 정리'보다 '공격적 투명화'</a:t>
            </a:r>
            <a:endParaRPr lang="en-US" sz="1400" dirty="0"/>
          </a:p>
        </p:txBody>
      </p:sp>
      <p:sp>
        <p:nvSpPr>
          <p:cNvPr id="14" name="Text 12"/>
          <p:cNvSpPr/>
          <p:nvPr/>
        </p:nvSpPr>
        <p:spPr>
          <a:xfrm>
            <a:off x="457200" y="3520440"/>
            <a:ext cx="8229600" cy="777240"/>
          </a:xfrm>
          <a:prstGeom prst="rect">
            <a:avLst/>
          </a:prstGeom>
          <a:noFill/>
          <a:ln/>
        </p:spPr>
        <p:txBody>
          <a:bodyPr wrap="square" rtlCol="0" anchor="t"/>
          <a:lstStyle/>
          <a:p>
            <a:pPr marL="0" indent="0">
              <a:lnSpc>
                <a:spcPct val="115000"/>
              </a:lnSpc>
              <a:buNone/>
            </a:pPr>
            <a:r>
              <a:rPr lang="en-US" sz="900" dirty="0">
                <a:solidFill>
                  <a:srgbClr val="2B2B2B"/>
                </a:solidFill>
                <a:latin typeface="맑은 고딕" pitchFamily="34" charset="0"/>
                <a:ea typeface="맑은 고딕" pitchFamily="34" charset="-122"/>
                <a:cs typeface="맑은 고딕" pitchFamily="34" charset="-120"/>
              </a:rPr>
              <a:t>핵심: "'숨기는 정리'가 아닌 '드러내는 정리'. ①합법적 재원 확보 ②완벽한 절차 준수 ③경제적 합리성 소명자료. '공격적 투명화' 전략."</a:t>
            </a:r>
            <a:endParaRPr lang="en-US" sz="900" dirty="0"/>
          </a:p>
          <a:p>
            <a:pPr marL="0" indent="0">
              <a:lnSpc>
                <a:spcPct val="115000"/>
              </a:lnSpc>
              <a:buNone/>
            </a:pPr>
            <a:r>
              <a:rPr lang="en-US" sz="900" dirty="0">
                <a:solidFill>
                  <a:srgbClr val="2B2B2B"/>
                </a:solidFill>
                <a:latin typeface="맑은 고딕" pitchFamily="34" charset="0"/>
                <a:ea typeface="맑은 고딕" pitchFamily="34" charset="-122"/>
                <a:cs typeface="맑은 고딕" pitchFamily="34" charset="-120"/>
              </a:rPr>
              <a:t>기대효과: "투명한 재무구조로 ①세무조사 시 당당하게 대응할 기반 ②금융기관 신용평가 개선 ③코스닥 상장 준비까지 가능."</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Shape 2"/>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5" name="Text 3"/>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39</a:t>
            </a:r>
            <a:endParaRPr lang="en-US" sz="900" dirty="0"/>
          </a:p>
        </p:txBody>
      </p:sp>
      <p:sp>
        <p:nvSpPr>
          <p:cNvPr id="6" name="Text 4"/>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IX. 컨설팅 시나리오 (5/6)</a:t>
            </a:r>
            <a:endParaRPr lang="en-US" sz="1500" dirty="0"/>
          </a:p>
        </p:txBody>
      </p:sp>
      <p:sp>
        <p:nvSpPr>
          <p:cNvPr id="7" name="Text 5"/>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가지급금 정리로 세무리스크 해소하기</a:t>
            </a:r>
            <a:endParaRPr lang="en-US" sz="800" dirty="0"/>
          </a:p>
        </p:txBody>
      </p:sp>
      <p:sp>
        <p:nvSpPr>
          <p:cNvPr id="8" name="Text 6"/>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39 / 62</a:t>
            </a:r>
            <a:endParaRPr lang="en-US" sz="800" dirty="0"/>
          </a:p>
        </p:txBody>
      </p:sp>
      <p:sp>
        <p:nvSpPr>
          <p:cNvPr id="9" name="Text 7"/>
          <p:cNvSpPr/>
          <p:nvPr/>
        </p:nvSpPr>
        <p:spPr>
          <a:xfrm>
            <a:off x="457200" y="685800"/>
            <a:ext cx="8229600" cy="320040"/>
          </a:xfrm>
          <a:prstGeom prst="rect">
            <a:avLst/>
          </a:prstGeom>
          <a:noFill/>
          <a:ln/>
        </p:spPr>
        <p:txBody>
          <a:bodyPr wrap="square" rtlCol="0" anchor="t"/>
          <a:lstStyle/>
          <a:p>
            <a:pPr marL="0" indent="0">
              <a:lnSpc>
                <a:spcPct val="115000"/>
              </a:lnSpc>
              <a:buNone/>
            </a:pPr>
            <a:r>
              <a:rPr lang="en-US" sz="1100" b="1" dirty="0">
                <a:solidFill>
                  <a:srgbClr val="2B2B2B"/>
                </a:solidFill>
                <a:latin typeface="맑은 고딕" pitchFamily="34" charset="0"/>
                <a:ea typeface="맑은 고딕" pitchFamily="34" charset="-122"/>
                <a:cs typeface="맑은 고딕" pitchFamily="34" charset="-120"/>
              </a:rPr>
              <a:t>FAQ — 상담주제 4:</a:t>
            </a:r>
            <a:endParaRPr lang="en-US" sz="1100" dirty="0"/>
          </a:p>
        </p:txBody>
      </p:sp>
      <p:sp>
        <p:nvSpPr>
          <p:cNvPr id="10" name="Text 8"/>
          <p:cNvSpPr/>
          <p:nvPr/>
        </p:nvSpPr>
        <p:spPr>
          <a:xfrm>
            <a:off x="457200" y="1051560"/>
            <a:ext cx="8229600" cy="777240"/>
          </a:xfrm>
          <a:prstGeom prst="rect">
            <a:avLst/>
          </a:prstGeom>
          <a:noFill/>
          <a:ln/>
        </p:spPr>
        <p:txBody>
          <a:bodyPr wrap="square" rtlCol="0" anchor="t"/>
          <a:lstStyle/>
          <a:p>
            <a:pPr marL="0" indent="0">
              <a:lnSpc>
                <a:spcPct val="115000"/>
              </a:lnSpc>
              <a:buNone/>
            </a:pPr>
            <a:r>
              <a:rPr lang="en-US" sz="900" dirty="0">
                <a:solidFill>
                  <a:srgbClr val="2B2B2B"/>
                </a:solidFill>
                <a:latin typeface="맑은 고딕" pitchFamily="34" charset="0"/>
                <a:ea typeface="맑은 고딕" pitchFamily="34" charset="-122"/>
                <a:cs typeface="맑은 고딕" pitchFamily="34" charset="-120"/>
              </a:rPr>
              <a:t>Q: "이렇게 크게 움직이면 오히려 세무서 눈에 띄지 않나요?"</a:t>
            </a:r>
            <a:endParaRPr lang="en-US" sz="900" dirty="0"/>
          </a:p>
          <a:p>
            <a:pPr marL="0" indent="0">
              <a:lnSpc>
                <a:spcPct val="115000"/>
              </a:lnSpc>
              <a:buNone/>
            </a:pPr>
            <a:r>
              <a:rPr lang="en-US" sz="900" dirty="0">
                <a:solidFill>
                  <a:srgbClr val="2B2B2B"/>
                </a:solidFill>
                <a:latin typeface="맑은 고딕" pitchFamily="34" charset="0"/>
                <a:ea typeface="맑은 고딕" pitchFamily="34" charset="-122"/>
                <a:cs typeface="맑은 고딕" pitchFamily="34" charset="-120"/>
              </a:rPr>
              <a:t>A: "가지급금 5억이 5년간 방치된 상태가 훨씬 더 의심스럽습니다. '정당한 절차로 정리했다'는 건 오히려 투명성의 증거. '이사회 결의 보세요, 감정평가 보세요, 모든 세금 신고했습니다'라고 당당하게 대응 가능."</a:t>
            </a:r>
            <a:endParaRPr lang="en-US" sz="900" dirty="0"/>
          </a:p>
        </p:txBody>
      </p:sp>
      <p:sp>
        <p:nvSpPr>
          <p:cNvPr id="11" name="Text 9"/>
          <p:cNvSpPr/>
          <p:nvPr/>
        </p:nvSpPr>
        <p:spPr>
          <a:xfrm>
            <a:off x="457200" y="1965960"/>
            <a:ext cx="8229600" cy="320040"/>
          </a:xfrm>
          <a:prstGeom prst="rect">
            <a:avLst/>
          </a:prstGeom>
          <a:noFill/>
          <a:ln/>
        </p:spPr>
        <p:txBody>
          <a:bodyPr wrap="square" rtlCol="0" anchor="t"/>
          <a:lstStyle/>
          <a:p>
            <a:pPr marL="0" indent="0">
              <a:lnSpc>
                <a:spcPct val="115000"/>
              </a:lnSpc>
              <a:buNone/>
            </a:pPr>
            <a:r>
              <a:rPr lang="en-US" sz="1200" b="1" dirty="0">
                <a:solidFill>
                  <a:srgbClr val="C8962E"/>
                </a:solidFill>
                <a:latin typeface="맑은 고딕" pitchFamily="34" charset="0"/>
                <a:ea typeface="맑은 고딕" pitchFamily="34" charset="-122"/>
                <a:cs typeface="맑은 고딕" pitchFamily="34" charset="-120"/>
              </a:rPr>
              <a:t>심화 응대 스킬 — 상담주제 4</a:t>
            </a:r>
            <a:endParaRPr lang="en-US" sz="1200" dirty="0"/>
          </a:p>
        </p:txBody>
      </p:sp>
      <p:sp>
        <p:nvSpPr>
          <p:cNvPr id="12" name="Text 10"/>
          <p:cNvSpPr/>
          <p:nvPr/>
        </p:nvSpPr>
        <p:spPr>
          <a:xfrm>
            <a:off x="457200" y="2331720"/>
            <a:ext cx="8229600" cy="502920"/>
          </a:xfrm>
          <a:prstGeom prst="rect">
            <a:avLst/>
          </a:prstGeom>
          <a:noFill/>
          <a:ln/>
        </p:spPr>
        <p:txBody>
          <a:bodyPr wrap="square" rtlCol="0" anchor="t"/>
          <a:lstStyle/>
          <a:p>
            <a:pPr marL="0" indent="0">
              <a:lnSpc>
                <a:spcPct val="115000"/>
              </a:lnSpc>
              <a:buNone/>
            </a:pPr>
            <a:r>
              <a:rPr lang="en-US" sz="900" dirty="0">
                <a:solidFill>
                  <a:srgbClr val="2B2B2B"/>
                </a:solidFill>
                <a:latin typeface="맑은 고딕" pitchFamily="34" charset="0"/>
                <a:ea typeface="맑은 고딕" pitchFamily="34" charset="-122"/>
                <a:cs typeface="맑은 고딕" pitchFamily="34" charset="-120"/>
              </a:rPr>
              <a:t>[통계 기반 안심 제공] "주변 사례 분석 시 대부분 '절차 미비'가 원인. 복수 감정평가+완벽한 절차+전액 세금신고를 갖춘 경우 문제없이 종결됩니다. 핵심은 '어떻게 정리하느냐'."</a:t>
            </a:r>
            <a:endParaRPr lang="en-US" sz="900" dirty="0"/>
          </a:p>
        </p:txBody>
      </p:sp>
      <p:sp>
        <p:nvSpPr>
          <p:cNvPr id="13" name="Text 11"/>
          <p:cNvSpPr/>
          <p:nvPr/>
        </p:nvSpPr>
        <p:spPr>
          <a:xfrm>
            <a:off x="457200" y="2880360"/>
            <a:ext cx="8229600" cy="502920"/>
          </a:xfrm>
          <a:prstGeom prst="rect">
            <a:avLst/>
          </a:prstGeom>
          <a:noFill/>
          <a:ln/>
        </p:spPr>
        <p:txBody>
          <a:bodyPr wrap="square" rtlCol="0" anchor="t"/>
          <a:lstStyle/>
          <a:p>
            <a:pPr marL="0" indent="0">
              <a:lnSpc>
                <a:spcPct val="115000"/>
              </a:lnSpc>
              <a:buNone/>
            </a:pPr>
            <a:r>
              <a:rPr lang="en-US" sz="900" dirty="0">
                <a:solidFill>
                  <a:srgbClr val="2B2B2B"/>
                </a:solidFill>
                <a:latin typeface="맑은 고딕" pitchFamily="34" charset="0"/>
                <a:ea typeface="맑은 고딕" pitchFamily="34" charset="-122"/>
                <a:cs typeface="맑은 고딕" pitchFamily="34" charset="-120"/>
              </a:rPr>
              <a:t>[타임라인 역산] "3년 후 세무조사 통보 → 8년치 인정이자 약 1.2억+상여처분 소득세 2억+가산세 → 3억 넘게 추징. 지금 1년 투자해서 정리하면 이 모든 게 사라집니다."</a:t>
            </a:r>
            <a:endParaRPr lang="en-US" sz="900" dirty="0"/>
          </a:p>
        </p:txBody>
      </p:sp>
      <p:sp>
        <p:nvSpPr>
          <p:cNvPr id="14" name="Text 12"/>
          <p:cNvSpPr/>
          <p:nvPr/>
        </p:nvSpPr>
        <p:spPr>
          <a:xfrm>
            <a:off x="457200" y="3429000"/>
            <a:ext cx="8229600" cy="502920"/>
          </a:xfrm>
          <a:prstGeom prst="rect">
            <a:avLst/>
          </a:prstGeom>
          <a:noFill/>
          <a:ln/>
        </p:spPr>
        <p:txBody>
          <a:bodyPr wrap="square" rtlCol="0" anchor="t"/>
          <a:lstStyle/>
          <a:p>
            <a:pPr marL="0" indent="0">
              <a:lnSpc>
                <a:spcPct val="115000"/>
              </a:lnSpc>
              <a:buNone/>
            </a:pPr>
            <a:r>
              <a:rPr lang="en-US" sz="900" dirty="0">
                <a:solidFill>
                  <a:srgbClr val="2B2B2B"/>
                </a:solidFill>
                <a:latin typeface="맑은 고딕" pitchFamily="34" charset="0"/>
                <a:ea typeface="맑은 고딕" pitchFamily="34" charset="-122"/>
                <a:cs typeface="맑은 고딕" pitchFamily="34" charset="-120"/>
              </a:rPr>
              <a:t>[투명성=경쟁력] "상장 예비심사에서 가장 먼저 보는 게 '특수관계자 거래'. 지금 완벽하게 정리하면 상장 준비의 첫걸음. 투명한 재무구조는 낮은 금리와 높은 여신한도로 돌아옵니다."</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40</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X. 부록 (Appendix) (1/3)</a:t>
            </a:r>
            <a:endParaRPr lang="en-US" sz="15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가지급금 정리로 세무리스크 해소하기</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40 / 62</a:t>
            </a:r>
            <a:endParaRPr lang="en-US" sz="800" dirty="0"/>
          </a:p>
        </p:txBody>
      </p:sp>
      <p:sp>
        <p:nvSpPr>
          <p:cNvPr id="7" name="Text 5"/>
          <p:cNvSpPr/>
          <p:nvPr/>
        </p:nvSpPr>
        <p:spPr>
          <a:xfrm>
            <a:off x="457200" y="685800"/>
            <a:ext cx="8229600" cy="365760"/>
          </a:xfrm>
          <a:prstGeom prst="rect">
            <a:avLst/>
          </a:prstGeom>
          <a:noFill/>
          <a:ln/>
        </p:spPr>
        <p:txBody>
          <a:bodyPr wrap="square"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1. 전문용어 설명</a:t>
            </a:r>
            <a:endParaRPr lang="en-US" sz="1400" dirty="0"/>
          </a:p>
        </p:txBody>
      </p:sp>
      <p:sp>
        <p:nvSpPr>
          <p:cNvPr id="8" name="Shape 6"/>
          <p:cNvSpPr/>
          <p:nvPr/>
        </p:nvSpPr>
        <p:spPr>
          <a:xfrm>
            <a:off x="457200" y="1143000"/>
            <a:ext cx="8229600" cy="708660"/>
          </a:xfrm>
          <a:prstGeom prst="rect">
            <a:avLst/>
          </a:prstGeom>
          <a:solidFill>
            <a:srgbClr val="F7F8FA"/>
          </a:solidFill>
          <a:ln w="12700">
            <a:solidFill>
              <a:srgbClr val="E2E8F0"/>
            </a:solidFill>
            <a:prstDash val="solid"/>
          </a:ln>
          <a:effectLst>
            <a:outerShdw blurRad="50800" dist="25400" dir="8100000" algn="bl" rotWithShape="0">
              <a:srgbClr val="000000">
                <a:alpha val="10000"/>
              </a:srgbClr>
            </a:outerShdw>
          </a:effectLst>
        </p:spPr>
        <p:txBody>
          <a:bodyPr/>
          <a:lstStyle/>
          <a:p>
            <a:endParaRPr lang="ko-KR" altLang="en-US"/>
          </a:p>
        </p:txBody>
      </p:sp>
      <p:sp>
        <p:nvSpPr>
          <p:cNvPr id="9" name="Shape 7"/>
          <p:cNvSpPr/>
          <p:nvPr/>
        </p:nvSpPr>
        <p:spPr>
          <a:xfrm>
            <a:off x="457200" y="1143000"/>
            <a:ext cx="54864" cy="708660"/>
          </a:xfrm>
          <a:prstGeom prst="rect">
            <a:avLst/>
          </a:prstGeom>
          <a:solidFill>
            <a:srgbClr val="C8962E"/>
          </a:solidFill>
          <a:ln/>
        </p:spPr>
        <p:txBody>
          <a:bodyPr/>
          <a:lstStyle/>
          <a:p>
            <a:endParaRPr lang="ko-KR" altLang="en-US"/>
          </a:p>
        </p:txBody>
      </p:sp>
      <p:sp>
        <p:nvSpPr>
          <p:cNvPr id="10" name="Text 8"/>
          <p:cNvSpPr/>
          <p:nvPr/>
        </p:nvSpPr>
        <p:spPr>
          <a:xfrm>
            <a:off x="640080" y="1146918"/>
            <a:ext cx="7863840" cy="27432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가지급금:</a:t>
            </a:r>
            <a:endParaRPr lang="en-US" sz="1100" dirty="0"/>
          </a:p>
        </p:txBody>
      </p:sp>
      <p:sp>
        <p:nvSpPr>
          <p:cNvPr id="11" name="Text 9"/>
          <p:cNvSpPr/>
          <p:nvPr/>
        </p:nvSpPr>
        <p:spPr>
          <a:xfrm>
            <a:off x="640080" y="1421238"/>
            <a:ext cx="7863840" cy="219456"/>
          </a:xfrm>
          <a:prstGeom prst="rect">
            <a:avLst/>
          </a:prstGeom>
          <a:noFill/>
          <a:ln/>
        </p:spPr>
        <p:txBody>
          <a:bodyPr wrap="square" rtlCol="0" anchor="t"/>
          <a:lstStyle/>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실제 현금 지출은 있었지만 거래 내용이 불분명하거나 거래가 완전히 종결되지 않아 계정과목이나 금액이 미확정인 경우의 일시적인 채권 계정과목. 실무적으로는 주로 대표이사 등 특수관계인에 대한 업무 무관 대여금을 의미.</a:t>
            </a:r>
            <a:endParaRPr lang="en-US" sz="1000" dirty="0"/>
          </a:p>
        </p:txBody>
      </p:sp>
      <p:sp>
        <p:nvSpPr>
          <p:cNvPr id="12" name="Shape 10"/>
          <p:cNvSpPr/>
          <p:nvPr/>
        </p:nvSpPr>
        <p:spPr>
          <a:xfrm>
            <a:off x="457200" y="2011680"/>
            <a:ext cx="8229600" cy="708660"/>
          </a:xfrm>
          <a:prstGeom prst="rect">
            <a:avLst/>
          </a:prstGeom>
          <a:solidFill>
            <a:srgbClr val="F7F8FA"/>
          </a:solidFill>
          <a:ln w="12700">
            <a:solidFill>
              <a:srgbClr val="E2E8F0"/>
            </a:solidFill>
            <a:prstDash val="solid"/>
          </a:ln>
          <a:effectLst>
            <a:outerShdw blurRad="50800" dist="25400" dir="8100000" algn="bl" rotWithShape="0">
              <a:srgbClr val="000000">
                <a:alpha val="10000"/>
              </a:srgbClr>
            </a:outerShdw>
          </a:effectLst>
        </p:spPr>
        <p:txBody>
          <a:bodyPr/>
          <a:lstStyle/>
          <a:p>
            <a:endParaRPr lang="ko-KR" altLang="en-US"/>
          </a:p>
        </p:txBody>
      </p:sp>
      <p:sp>
        <p:nvSpPr>
          <p:cNvPr id="13" name="Shape 11"/>
          <p:cNvSpPr/>
          <p:nvPr/>
        </p:nvSpPr>
        <p:spPr>
          <a:xfrm>
            <a:off x="457200" y="2011680"/>
            <a:ext cx="54864" cy="708660"/>
          </a:xfrm>
          <a:prstGeom prst="rect">
            <a:avLst/>
          </a:prstGeom>
          <a:solidFill>
            <a:srgbClr val="C8962E"/>
          </a:solidFill>
          <a:ln/>
        </p:spPr>
        <p:txBody>
          <a:bodyPr/>
          <a:lstStyle/>
          <a:p>
            <a:endParaRPr lang="ko-KR" altLang="en-US"/>
          </a:p>
        </p:txBody>
      </p:sp>
      <p:sp>
        <p:nvSpPr>
          <p:cNvPr id="14" name="Text 12"/>
          <p:cNvSpPr/>
          <p:nvPr/>
        </p:nvSpPr>
        <p:spPr>
          <a:xfrm>
            <a:off x="640080" y="2032578"/>
            <a:ext cx="7863840" cy="27432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인정이자:</a:t>
            </a:r>
            <a:endParaRPr lang="en-US" sz="1100" dirty="0"/>
          </a:p>
        </p:txBody>
      </p:sp>
      <p:sp>
        <p:nvSpPr>
          <p:cNvPr id="15" name="Text 13"/>
          <p:cNvSpPr/>
          <p:nvPr/>
        </p:nvSpPr>
        <p:spPr>
          <a:xfrm>
            <a:off x="640080" y="2306898"/>
            <a:ext cx="7863840" cy="219456"/>
          </a:xfrm>
          <a:prstGeom prst="rect">
            <a:avLst/>
          </a:prstGeom>
          <a:noFill/>
          <a:ln/>
        </p:spPr>
        <p:txBody>
          <a:bodyPr wrap="square" rtlCol="0" anchor="t"/>
          <a:lstStyle/>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법인이 특수관계인에게 무상 또는 저리로 금전을 대여한 경우, 세법에서 정한 정상이자율(당좌대출이자율, 2025년 5.2%)에 따라 계산한 이자 상당액을 법인의 익금으로 간주하는 것.</a:t>
            </a:r>
            <a:endParaRPr lang="en-US" sz="1000" dirty="0"/>
          </a:p>
        </p:txBody>
      </p:sp>
      <p:sp>
        <p:nvSpPr>
          <p:cNvPr id="16" name="Shape 14"/>
          <p:cNvSpPr/>
          <p:nvPr/>
        </p:nvSpPr>
        <p:spPr>
          <a:xfrm>
            <a:off x="457200" y="2880360"/>
            <a:ext cx="8229600" cy="708660"/>
          </a:xfrm>
          <a:prstGeom prst="rect">
            <a:avLst/>
          </a:prstGeom>
          <a:solidFill>
            <a:srgbClr val="F7F8FA"/>
          </a:solidFill>
          <a:ln w="12700">
            <a:solidFill>
              <a:srgbClr val="E2E8F0"/>
            </a:solidFill>
            <a:prstDash val="solid"/>
          </a:ln>
          <a:effectLst>
            <a:outerShdw blurRad="50800" dist="25400" dir="8100000" algn="bl" rotWithShape="0">
              <a:srgbClr val="000000">
                <a:alpha val="10000"/>
              </a:srgbClr>
            </a:outerShdw>
          </a:effectLst>
        </p:spPr>
        <p:txBody>
          <a:bodyPr/>
          <a:lstStyle/>
          <a:p>
            <a:endParaRPr lang="ko-KR" altLang="en-US"/>
          </a:p>
        </p:txBody>
      </p:sp>
      <p:sp>
        <p:nvSpPr>
          <p:cNvPr id="17" name="Shape 15"/>
          <p:cNvSpPr/>
          <p:nvPr/>
        </p:nvSpPr>
        <p:spPr>
          <a:xfrm>
            <a:off x="457200" y="2880360"/>
            <a:ext cx="54864" cy="708660"/>
          </a:xfrm>
          <a:prstGeom prst="rect">
            <a:avLst/>
          </a:prstGeom>
          <a:solidFill>
            <a:srgbClr val="C8962E"/>
          </a:solidFill>
          <a:ln/>
        </p:spPr>
        <p:txBody>
          <a:bodyPr/>
          <a:lstStyle/>
          <a:p>
            <a:endParaRPr lang="ko-KR" altLang="en-US"/>
          </a:p>
        </p:txBody>
      </p:sp>
      <p:sp>
        <p:nvSpPr>
          <p:cNvPr id="18" name="Text 16"/>
          <p:cNvSpPr/>
          <p:nvPr/>
        </p:nvSpPr>
        <p:spPr>
          <a:xfrm>
            <a:off x="640080" y="2923141"/>
            <a:ext cx="7863840" cy="27432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지급이자 손금불산입:</a:t>
            </a:r>
            <a:endParaRPr lang="en-US" sz="1100" dirty="0"/>
          </a:p>
        </p:txBody>
      </p:sp>
      <p:sp>
        <p:nvSpPr>
          <p:cNvPr id="19" name="Text 17"/>
          <p:cNvSpPr/>
          <p:nvPr/>
        </p:nvSpPr>
        <p:spPr>
          <a:xfrm>
            <a:off x="640080" y="3197461"/>
            <a:ext cx="7863840" cy="219456"/>
          </a:xfrm>
          <a:prstGeom prst="rect">
            <a:avLst/>
          </a:prstGeom>
          <a:noFill/>
          <a:ln/>
        </p:spPr>
        <p:txBody>
          <a:bodyPr wrap="square" rtlCol="0" anchor="t"/>
          <a:lstStyle/>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법인이 보유한 차입금에 대한 이자비용 중, 업무무관자산(가지급금 등)에 상당하는 부분은 법인의 비용으로 인정하지 않는 세무상 페널티.</a:t>
            </a:r>
            <a:endParaRPr lang="en-US" sz="1000" dirty="0"/>
          </a:p>
        </p:txBody>
      </p:sp>
      <p:sp>
        <p:nvSpPr>
          <p:cNvPr id="20" name="Shape 18"/>
          <p:cNvSpPr/>
          <p:nvPr/>
        </p:nvSpPr>
        <p:spPr>
          <a:xfrm>
            <a:off x="457200" y="3749040"/>
            <a:ext cx="8229600" cy="708660"/>
          </a:xfrm>
          <a:prstGeom prst="rect">
            <a:avLst/>
          </a:prstGeom>
          <a:solidFill>
            <a:srgbClr val="F7F8FA"/>
          </a:solidFill>
          <a:ln w="12700">
            <a:solidFill>
              <a:srgbClr val="E2E8F0"/>
            </a:solidFill>
            <a:prstDash val="solid"/>
          </a:ln>
          <a:effectLst>
            <a:outerShdw blurRad="50800" dist="25400" dir="8100000" algn="bl" rotWithShape="0">
              <a:srgbClr val="000000">
                <a:alpha val="10000"/>
              </a:srgbClr>
            </a:outerShdw>
          </a:effectLst>
        </p:spPr>
        <p:txBody>
          <a:bodyPr/>
          <a:lstStyle/>
          <a:p>
            <a:endParaRPr lang="ko-KR" altLang="en-US"/>
          </a:p>
        </p:txBody>
      </p:sp>
      <p:sp>
        <p:nvSpPr>
          <p:cNvPr id="21" name="Shape 19"/>
          <p:cNvSpPr/>
          <p:nvPr/>
        </p:nvSpPr>
        <p:spPr>
          <a:xfrm>
            <a:off x="457200" y="3749040"/>
            <a:ext cx="54864" cy="708660"/>
          </a:xfrm>
          <a:prstGeom prst="rect">
            <a:avLst/>
          </a:prstGeom>
          <a:solidFill>
            <a:srgbClr val="C8962E"/>
          </a:solidFill>
          <a:ln/>
        </p:spPr>
        <p:txBody>
          <a:bodyPr/>
          <a:lstStyle/>
          <a:p>
            <a:endParaRPr lang="ko-KR" altLang="en-US"/>
          </a:p>
        </p:txBody>
      </p:sp>
      <p:sp>
        <p:nvSpPr>
          <p:cNvPr id="22" name="Text 20"/>
          <p:cNvSpPr/>
          <p:nvPr/>
        </p:nvSpPr>
        <p:spPr>
          <a:xfrm>
            <a:off x="640080" y="3843093"/>
            <a:ext cx="7863840" cy="27432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산업재산권(IP):</a:t>
            </a:r>
            <a:endParaRPr lang="en-US" sz="1100" dirty="0"/>
          </a:p>
        </p:txBody>
      </p:sp>
      <p:sp>
        <p:nvSpPr>
          <p:cNvPr id="23" name="Text 21"/>
          <p:cNvSpPr/>
          <p:nvPr/>
        </p:nvSpPr>
        <p:spPr>
          <a:xfrm>
            <a:off x="640080" y="4117413"/>
            <a:ext cx="7863840" cy="219456"/>
          </a:xfrm>
          <a:prstGeom prst="rect">
            <a:avLst/>
          </a:prstGeom>
          <a:noFill/>
          <a:ln/>
        </p:spPr>
        <p:txBody>
          <a:bodyPr wrap="square" rtlCol="0" anchor="t"/>
          <a:lstStyle/>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특허권, 실용신안권, 디자인권, 상표권 등 법률에 의해 보호되는 발명이나 고안에 대한 독점적 권리.</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41</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X. 부록 (Appendix) (2/3)</a:t>
            </a:r>
            <a:endParaRPr lang="en-US" sz="15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가지급금 정리로 세무리스크 해소하기</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41 / 62</a:t>
            </a:r>
            <a:endParaRPr lang="en-US" sz="800" dirty="0"/>
          </a:p>
        </p:txBody>
      </p:sp>
      <p:sp>
        <p:nvSpPr>
          <p:cNvPr id="7" name="Text 5"/>
          <p:cNvSpPr/>
          <p:nvPr/>
        </p:nvSpPr>
        <p:spPr>
          <a:xfrm>
            <a:off x="457200" y="685800"/>
            <a:ext cx="8229600" cy="365760"/>
          </a:xfrm>
          <a:prstGeom prst="rect">
            <a:avLst/>
          </a:prstGeom>
          <a:noFill/>
          <a:ln/>
        </p:spPr>
        <p:txBody>
          <a:bodyPr wrap="square"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2. FAQ</a:t>
            </a:r>
            <a:endParaRPr lang="en-US" sz="1400" dirty="0"/>
          </a:p>
        </p:txBody>
      </p:sp>
      <p:sp>
        <p:nvSpPr>
          <p:cNvPr id="8" name="Shape 6"/>
          <p:cNvSpPr/>
          <p:nvPr/>
        </p:nvSpPr>
        <p:spPr>
          <a:xfrm>
            <a:off x="457200" y="1143000"/>
            <a:ext cx="8229600" cy="914400"/>
          </a:xfrm>
          <a:prstGeom prst="rect">
            <a:avLst/>
          </a:prstGeom>
          <a:solidFill>
            <a:srgbClr val="F7F8FA"/>
          </a:solidFill>
          <a:ln w="12700">
            <a:solidFill>
              <a:srgbClr val="E2E8F0"/>
            </a:solidFill>
            <a:prstDash val="solid"/>
          </a:ln>
          <a:effectLst>
            <a:outerShdw blurRad="50800" dist="25400" dir="8100000" algn="bl" rotWithShape="0">
              <a:srgbClr val="000000">
                <a:alpha val="10000"/>
              </a:srgbClr>
            </a:outerShdw>
          </a:effectLst>
        </p:spPr>
        <p:txBody>
          <a:bodyPr/>
          <a:lstStyle/>
          <a:p>
            <a:endParaRPr lang="ko-KR" altLang="en-US"/>
          </a:p>
        </p:txBody>
      </p:sp>
      <p:sp>
        <p:nvSpPr>
          <p:cNvPr id="9" name="Shape 7"/>
          <p:cNvSpPr/>
          <p:nvPr/>
        </p:nvSpPr>
        <p:spPr>
          <a:xfrm>
            <a:off x="457200" y="1143000"/>
            <a:ext cx="54864" cy="914400"/>
          </a:xfrm>
          <a:prstGeom prst="rect">
            <a:avLst/>
          </a:prstGeom>
          <a:solidFill>
            <a:srgbClr val="C8962E"/>
          </a:solidFill>
          <a:ln/>
        </p:spPr>
        <p:txBody>
          <a:bodyPr/>
          <a:lstStyle/>
          <a:p>
            <a:endParaRPr lang="ko-KR" altLang="en-US"/>
          </a:p>
        </p:txBody>
      </p:sp>
      <p:sp>
        <p:nvSpPr>
          <p:cNvPr id="10" name="Text 8"/>
          <p:cNvSpPr/>
          <p:nvPr/>
        </p:nvSpPr>
        <p:spPr>
          <a:xfrm>
            <a:off x="640080" y="1248807"/>
            <a:ext cx="7863840" cy="27432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Q1. 가지급금을 회계상 손실(대손) 처리하면 안 되나요?</a:t>
            </a:r>
            <a:endParaRPr lang="en-US" sz="1100" dirty="0"/>
          </a:p>
        </p:txBody>
      </p:sp>
      <p:sp>
        <p:nvSpPr>
          <p:cNvPr id="11" name="Text 9"/>
          <p:cNvSpPr/>
          <p:nvPr/>
        </p:nvSpPr>
        <p:spPr>
          <a:xfrm>
            <a:off x="640080" y="1523127"/>
            <a:ext cx="7863840" cy="493776"/>
          </a:xfrm>
          <a:prstGeom prst="rect">
            <a:avLst/>
          </a:prstGeom>
          <a:noFill/>
          <a:ln/>
        </p:spPr>
        <p:txBody>
          <a:bodyPr wrap="square" rtlCol="0" anchor="t"/>
          <a:lstStyle/>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A1. 불가능합니다. 세법에서는 특수관계인에 대한 업무무관 가지급금을 대손금으로 인정하지 않습니다. (출처: 법인세법 시행령 제19조의2 제3항) 회수하지 못하면 영원히 부실자산으로 남게 되며, 세무조사 시 대표이사 상여로 처분될 가능성이 매우 높습니다.</a:t>
            </a:r>
            <a:endParaRPr lang="en-US" sz="1000" dirty="0"/>
          </a:p>
        </p:txBody>
      </p:sp>
      <p:sp>
        <p:nvSpPr>
          <p:cNvPr id="12" name="Shape 10"/>
          <p:cNvSpPr/>
          <p:nvPr/>
        </p:nvSpPr>
        <p:spPr>
          <a:xfrm>
            <a:off x="457200" y="2194560"/>
            <a:ext cx="8229600" cy="822960"/>
          </a:xfrm>
          <a:prstGeom prst="rect">
            <a:avLst/>
          </a:prstGeom>
          <a:solidFill>
            <a:srgbClr val="F7F8FA"/>
          </a:solidFill>
          <a:ln w="12700">
            <a:solidFill>
              <a:srgbClr val="E2E8F0"/>
            </a:solidFill>
            <a:prstDash val="solid"/>
          </a:ln>
          <a:effectLst>
            <a:outerShdw blurRad="50800" dist="25400" dir="8100000" algn="bl" rotWithShape="0">
              <a:srgbClr val="000000">
                <a:alpha val="10000"/>
              </a:srgbClr>
            </a:outerShdw>
          </a:effectLst>
        </p:spPr>
        <p:txBody>
          <a:bodyPr/>
          <a:lstStyle/>
          <a:p>
            <a:endParaRPr lang="ko-KR" altLang="en-US"/>
          </a:p>
        </p:txBody>
      </p:sp>
      <p:sp>
        <p:nvSpPr>
          <p:cNvPr id="13" name="Shape 11"/>
          <p:cNvSpPr/>
          <p:nvPr/>
        </p:nvSpPr>
        <p:spPr>
          <a:xfrm>
            <a:off x="457200" y="2194560"/>
            <a:ext cx="54864" cy="822960"/>
          </a:xfrm>
          <a:prstGeom prst="rect">
            <a:avLst/>
          </a:prstGeom>
          <a:solidFill>
            <a:srgbClr val="C8962E"/>
          </a:solidFill>
          <a:ln/>
        </p:spPr>
        <p:txBody>
          <a:bodyPr/>
          <a:lstStyle/>
          <a:p>
            <a:endParaRPr lang="ko-KR" altLang="en-US"/>
          </a:p>
        </p:txBody>
      </p:sp>
      <p:sp>
        <p:nvSpPr>
          <p:cNvPr id="14" name="Text 12"/>
          <p:cNvSpPr/>
          <p:nvPr/>
        </p:nvSpPr>
        <p:spPr>
          <a:xfrm>
            <a:off x="640080" y="2267712"/>
            <a:ext cx="7863840" cy="27432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Q2. 특허권 가치평가는 어떻게 이루어지며, 세무서에서 인정해주나요?</a:t>
            </a:r>
            <a:endParaRPr lang="en-US" sz="1100" dirty="0"/>
          </a:p>
        </p:txBody>
      </p:sp>
      <p:sp>
        <p:nvSpPr>
          <p:cNvPr id="15" name="Text 13"/>
          <p:cNvSpPr/>
          <p:nvPr/>
        </p:nvSpPr>
        <p:spPr>
          <a:xfrm>
            <a:off x="640080" y="2542032"/>
            <a:ext cx="7863840" cy="402336"/>
          </a:xfrm>
          <a:prstGeom prst="rect">
            <a:avLst/>
          </a:prstGeom>
          <a:noFill/>
          <a:ln/>
        </p:spPr>
        <p:txBody>
          <a:bodyPr wrap="square" rtlCol="0" anchor="t"/>
          <a:lstStyle/>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A2. 특허권의 기술성, 시장성, 사업성 등을 종합적으로 고려하여 수익가치접근법 등 공인된 평가 방법을 통해 이루어집니다. 공신력 있는 제3자 기관에서 평가하고, 그 절차와 내용이 합리적이라면 세무 당국도 존중합니다.</a:t>
            </a:r>
            <a:endParaRPr lang="en-US" sz="1000" dirty="0"/>
          </a:p>
        </p:txBody>
      </p:sp>
      <p:sp>
        <p:nvSpPr>
          <p:cNvPr id="16" name="Shape 14"/>
          <p:cNvSpPr/>
          <p:nvPr/>
        </p:nvSpPr>
        <p:spPr>
          <a:xfrm>
            <a:off x="457200" y="3154680"/>
            <a:ext cx="8229600" cy="804672"/>
          </a:xfrm>
          <a:prstGeom prst="rect">
            <a:avLst/>
          </a:prstGeom>
          <a:solidFill>
            <a:srgbClr val="F7F8FA"/>
          </a:solidFill>
          <a:ln w="12700">
            <a:solidFill>
              <a:srgbClr val="E2E8F0"/>
            </a:solidFill>
            <a:prstDash val="solid"/>
          </a:ln>
          <a:effectLst>
            <a:outerShdw blurRad="50800" dist="25400" dir="8100000" algn="bl" rotWithShape="0">
              <a:srgbClr val="000000">
                <a:alpha val="10000"/>
              </a:srgbClr>
            </a:outerShdw>
          </a:effectLst>
        </p:spPr>
        <p:txBody>
          <a:bodyPr/>
          <a:lstStyle/>
          <a:p>
            <a:endParaRPr lang="ko-KR" altLang="en-US"/>
          </a:p>
        </p:txBody>
      </p:sp>
      <p:sp>
        <p:nvSpPr>
          <p:cNvPr id="17" name="Shape 15"/>
          <p:cNvSpPr/>
          <p:nvPr/>
        </p:nvSpPr>
        <p:spPr>
          <a:xfrm>
            <a:off x="457200" y="3154680"/>
            <a:ext cx="54864" cy="804672"/>
          </a:xfrm>
          <a:prstGeom prst="rect">
            <a:avLst/>
          </a:prstGeom>
          <a:solidFill>
            <a:srgbClr val="C8962E"/>
          </a:solidFill>
          <a:ln/>
        </p:spPr>
        <p:txBody>
          <a:bodyPr/>
          <a:lstStyle/>
          <a:p>
            <a:endParaRPr lang="ko-KR" altLang="en-US"/>
          </a:p>
        </p:txBody>
      </p:sp>
      <p:sp>
        <p:nvSpPr>
          <p:cNvPr id="18" name="Text 16"/>
          <p:cNvSpPr/>
          <p:nvPr/>
        </p:nvSpPr>
        <p:spPr>
          <a:xfrm>
            <a:off x="640080" y="3221301"/>
            <a:ext cx="7863840" cy="27432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Q3. CEO 퇴직금 중간정산으로 해결하는 방법은 불가능한가요?</a:t>
            </a:r>
            <a:endParaRPr lang="en-US" sz="1100" dirty="0"/>
          </a:p>
        </p:txBody>
      </p:sp>
      <p:sp>
        <p:nvSpPr>
          <p:cNvPr id="19" name="Text 17"/>
          <p:cNvSpPr/>
          <p:nvPr/>
        </p:nvSpPr>
        <p:spPr>
          <a:xfrm>
            <a:off x="640080" y="3495621"/>
            <a:ext cx="7863840" cy="310896"/>
          </a:xfrm>
          <a:prstGeom prst="rect">
            <a:avLst/>
          </a:prstGeom>
          <a:noFill/>
          <a:ln/>
        </p:spPr>
        <p:txBody>
          <a:bodyPr wrap="square" rtlCol="0" anchor="t"/>
          <a:lstStyle/>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A3. 네, 2020년부터 법 개정으로 인해 원칙적으로 임원의 퇴직금 중간정산이 금지되었습니다. 주택 구입 등 제한적 사유만 가능하며, 가지급금 상환 목적의 중간정산은 인정받기 매우 어렵습니다.</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42</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X. 부록 (Appendix) (3/3)</a:t>
            </a:r>
            <a:endParaRPr lang="en-US" sz="15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가지급금 정리로 세무리스크 해소하기</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42 / 62</a:t>
            </a:r>
            <a:endParaRPr lang="en-US" sz="800" dirty="0"/>
          </a:p>
        </p:txBody>
      </p:sp>
      <p:sp>
        <p:nvSpPr>
          <p:cNvPr id="7" name="Text 5"/>
          <p:cNvSpPr/>
          <p:nvPr/>
        </p:nvSpPr>
        <p:spPr>
          <a:xfrm>
            <a:off x="457200" y="685800"/>
            <a:ext cx="8229600" cy="365760"/>
          </a:xfrm>
          <a:prstGeom prst="rect">
            <a:avLst/>
          </a:prstGeom>
          <a:noFill/>
          <a:ln/>
        </p:spPr>
        <p:txBody>
          <a:bodyPr wrap="square"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3. 관련 법규·출처 (상세 해설 버전)</a:t>
            </a:r>
            <a:endParaRPr lang="en-US" sz="1400" dirty="0"/>
          </a:p>
        </p:txBody>
      </p:sp>
      <p:sp>
        <p:nvSpPr>
          <p:cNvPr id="8" name="Shape 6"/>
          <p:cNvSpPr/>
          <p:nvPr/>
        </p:nvSpPr>
        <p:spPr>
          <a:xfrm>
            <a:off x="457200" y="1143000"/>
            <a:ext cx="8229600" cy="640080"/>
          </a:xfrm>
          <a:prstGeom prst="rect">
            <a:avLst/>
          </a:prstGeom>
          <a:solidFill>
            <a:srgbClr val="F7F8FA"/>
          </a:solidFill>
          <a:ln w="12700">
            <a:solidFill>
              <a:srgbClr val="E2E8F0"/>
            </a:solidFill>
            <a:prstDash val="solid"/>
          </a:ln>
          <a:effectLst>
            <a:outerShdw blurRad="50800" dist="25400" dir="8100000" algn="bl" rotWithShape="0">
              <a:srgbClr val="000000">
                <a:alpha val="10000"/>
              </a:srgbClr>
            </a:outerShdw>
          </a:effectLst>
        </p:spPr>
        <p:txBody>
          <a:bodyPr/>
          <a:lstStyle/>
          <a:p>
            <a:endParaRPr lang="ko-KR" altLang="en-US"/>
          </a:p>
        </p:txBody>
      </p:sp>
      <p:sp>
        <p:nvSpPr>
          <p:cNvPr id="9" name="Shape 7"/>
          <p:cNvSpPr/>
          <p:nvPr/>
        </p:nvSpPr>
        <p:spPr>
          <a:xfrm>
            <a:off x="457200" y="1143000"/>
            <a:ext cx="54864" cy="640080"/>
          </a:xfrm>
          <a:prstGeom prst="rect">
            <a:avLst/>
          </a:prstGeom>
          <a:solidFill>
            <a:srgbClr val="C8962E"/>
          </a:solidFill>
          <a:ln/>
        </p:spPr>
        <p:txBody>
          <a:bodyPr/>
          <a:lstStyle/>
          <a:p>
            <a:endParaRPr lang="ko-KR" altLang="en-US"/>
          </a:p>
        </p:txBody>
      </p:sp>
      <p:sp>
        <p:nvSpPr>
          <p:cNvPr id="10" name="Text 8"/>
          <p:cNvSpPr/>
          <p:nvPr/>
        </p:nvSpPr>
        <p:spPr>
          <a:xfrm>
            <a:off x="640080" y="1216152"/>
            <a:ext cx="7863840" cy="27432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법인세법 제52조 (부당행위계산의 부인) 및 동법 시행령 제88조, 제89조</a:t>
            </a:r>
            <a:endParaRPr lang="en-US" sz="1100" dirty="0"/>
          </a:p>
        </p:txBody>
      </p:sp>
      <p:sp>
        <p:nvSpPr>
          <p:cNvPr id="11" name="Text 9"/>
          <p:cNvSpPr/>
          <p:nvPr/>
        </p:nvSpPr>
        <p:spPr>
          <a:xfrm>
            <a:off x="640080" y="1490472"/>
            <a:ext cx="7863840" cy="219456"/>
          </a:xfrm>
          <a:prstGeom prst="rect">
            <a:avLst/>
          </a:prstGeom>
          <a:noFill/>
          <a:ln/>
        </p:spPr>
        <p:txBody>
          <a:bodyPr wrap="square" rtlCol="0" anchor="t"/>
          <a:lstStyle/>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핵심: 특수관계인과의 거래가 조세 부담을 부당하게 감소시킨 경우 과세관청이 소득금액을 재계산. 인정이자 과세의 근거.</a:t>
            </a:r>
            <a:endParaRPr lang="en-US" sz="1000" dirty="0"/>
          </a:p>
        </p:txBody>
      </p:sp>
      <p:sp>
        <p:nvSpPr>
          <p:cNvPr id="12" name="Shape 10"/>
          <p:cNvSpPr/>
          <p:nvPr/>
        </p:nvSpPr>
        <p:spPr>
          <a:xfrm>
            <a:off x="457200" y="1920240"/>
            <a:ext cx="8229600" cy="640080"/>
          </a:xfrm>
          <a:prstGeom prst="rect">
            <a:avLst/>
          </a:prstGeom>
          <a:solidFill>
            <a:srgbClr val="F7F8FA"/>
          </a:solidFill>
          <a:ln w="12700">
            <a:solidFill>
              <a:srgbClr val="E2E8F0"/>
            </a:solidFill>
            <a:prstDash val="solid"/>
          </a:ln>
          <a:effectLst>
            <a:outerShdw blurRad="50800" dist="25400" dir="8100000" algn="bl" rotWithShape="0">
              <a:srgbClr val="000000">
                <a:alpha val="10000"/>
              </a:srgbClr>
            </a:outerShdw>
          </a:effectLst>
        </p:spPr>
        <p:txBody>
          <a:bodyPr/>
          <a:lstStyle/>
          <a:p>
            <a:endParaRPr lang="ko-KR" altLang="en-US"/>
          </a:p>
        </p:txBody>
      </p:sp>
      <p:sp>
        <p:nvSpPr>
          <p:cNvPr id="13" name="Shape 11"/>
          <p:cNvSpPr/>
          <p:nvPr/>
        </p:nvSpPr>
        <p:spPr>
          <a:xfrm>
            <a:off x="457200" y="1920240"/>
            <a:ext cx="54864" cy="640080"/>
          </a:xfrm>
          <a:prstGeom prst="rect">
            <a:avLst/>
          </a:prstGeom>
          <a:solidFill>
            <a:srgbClr val="C8962E"/>
          </a:solidFill>
          <a:ln/>
        </p:spPr>
        <p:txBody>
          <a:bodyPr/>
          <a:lstStyle/>
          <a:p>
            <a:endParaRPr lang="ko-KR" altLang="en-US"/>
          </a:p>
        </p:txBody>
      </p:sp>
      <p:sp>
        <p:nvSpPr>
          <p:cNvPr id="14" name="Text 12"/>
          <p:cNvSpPr/>
          <p:nvPr/>
        </p:nvSpPr>
        <p:spPr>
          <a:xfrm>
            <a:off x="640080" y="1993392"/>
            <a:ext cx="7863840" cy="27432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법인세법 제28조 (지급이자의 손금불산입)</a:t>
            </a:r>
            <a:endParaRPr lang="en-US" sz="1100" dirty="0"/>
          </a:p>
        </p:txBody>
      </p:sp>
      <p:sp>
        <p:nvSpPr>
          <p:cNvPr id="15" name="Text 13"/>
          <p:cNvSpPr/>
          <p:nvPr/>
        </p:nvSpPr>
        <p:spPr>
          <a:xfrm>
            <a:off x="640080" y="2267712"/>
            <a:ext cx="7863840" cy="219456"/>
          </a:xfrm>
          <a:prstGeom prst="rect">
            <a:avLst/>
          </a:prstGeom>
          <a:noFill/>
          <a:ln/>
        </p:spPr>
        <p:txBody>
          <a:bodyPr wrap="square" rtlCol="0" anchor="t"/>
          <a:lstStyle/>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핵심: 업무무관 자산 보유 시 총 지급이자 중 해당 비율만큼 손금 불인정. 법인세 부담 직접 증가.</a:t>
            </a:r>
            <a:endParaRPr lang="en-US" sz="1000" dirty="0"/>
          </a:p>
        </p:txBody>
      </p:sp>
      <p:sp>
        <p:nvSpPr>
          <p:cNvPr id="16" name="Shape 14"/>
          <p:cNvSpPr/>
          <p:nvPr/>
        </p:nvSpPr>
        <p:spPr>
          <a:xfrm>
            <a:off x="457200" y="2697480"/>
            <a:ext cx="8229600" cy="640080"/>
          </a:xfrm>
          <a:prstGeom prst="rect">
            <a:avLst/>
          </a:prstGeom>
          <a:solidFill>
            <a:srgbClr val="F7F8FA"/>
          </a:solidFill>
          <a:ln w="12700">
            <a:solidFill>
              <a:srgbClr val="E2E8F0"/>
            </a:solidFill>
            <a:prstDash val="solid"/>
          </a:ln>
          <a:effectLst>
            <a:outerShdw blurRad="50800" dist="25400" dir="8100000" algn="bl" rotWithShape="0">
              <a:srgbClr val="000000">
                <a:alpha val="10000"/>
              </a:srgbClr>
            </a:outerShdw>
          </a:effectLst>
        </p:spPr>
        <p:txBody>
          <a:bodyPr/>
          <a:lstStyle/>
          <a:p>
            <a:endParaRPr lang="ko-KR" altLang="en-US"/>
          </a:p>
        </p:txBody>
      </p:sp>
      <p:sp>
        <p:nvSpPr>
          <p:cNvPr id="17" name="Shape 15"/>
          <p:cNvSpPr/>
          <p:nvPr/>
        </p:nvSpPr>
        <p:spPr>
          <a:xfrm>
            <a:off x="457200" y="2697480"/>
            <a:ext cx="54864" cy="640080"/>
          </a:xfrm>
          <a:prstGeom prst="rect">
            <a:avLst/>
          </a:prstGeom>
          <a:solidFill>
            <a:srgbClr val="C8962E"/>
          </a:solidFill>
          <a:ln/>
        </p:spPr>
        <p:txBody>
          <a:bodyPr/>
          <a:lstStyle/>
          <a:p>
            <a:endParaRPr lang="ko-KR" altLang="en-US"/>
          </a:p>
        </p:txBody>
      </p:sp>
      <p:sp>
        <p:nvSpPr>
          <p:cNvPr id="18" name="Text 16"/>
          <p:cNvSpPr/>
          <p:nvPr/>
        </p:nvSpPr>
        <p:spPr>
          <a:xfrm>
            <a:off x="640080" y="2770632"/>
            <a:ext cx="7863840" cy="27432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발명진흥법 제15조 (직무발명에 대한 보상) 및 소득세법 시행령 제87조</a:t>
            </a:r>
            <a:endParaRPr lang="en-US" sz="1100" dirty="0"/>
          </a:p>
        </p:txBody>
      </p:sp>
      <p:sp>
        <p:nvSpPr>
          <p:cNvPr id="19" name="Text 17"/>
          <p:cNvSpPr/>
          <p:nvPr/>
        </p:nvSpPr>
        <p:spPr>
          <a:xfrm>
            <a:off x="640080" y="3044952"/>
            <a:ext cx="7863840" cy="219456"/>
          </a:xfrm>
          <a:prstGeom prst="rect">
            <a:avLst/>
          </a:prstGeom>
          <a:noFill/>
          <a:ln/>
        </p:spPr>
        <p:txBody>
          <a:bodyPr wrap="square" rtlCol="0" anchor="t"/>
          <a:lstStyle/>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핵심: 대표이사의 기술을 법인이 승계 시 정당한 보상 의무. 보상금은 기타소득으로 필요경비 인정.</a:t>
            </a:r>
            <a:endParaRPr lang="en-US" sz="1000" dirty="0"/>
          </a:p>
        </p:txBody>
      </p:sp>
      <p:sp>
        <p:nvSpPr>
          <p:cNvPr id="20" name="Shape 18"/>
          <p:cNvSpPr/>
          <p:nvPr/>
        </p:nvSpPr>
        <p:spPr>
          <a:xfrm>
            <a:off x="457200" y="3474720"/>
            <a:ext cx="8229600" cy="640080"/>
          </a:xfrm>
          <a:prstGeom prst="rect">
            <a:avLst/>
          </a:prstGeom>
          <a:solidFill>
            <a:srgbClr val="F7F8FA"/>
          </a:solidFill>
          <a:ln w="12700">
            <a:solidFill>
              <a:srgbClr val="E2E8F0"/>
            </a:solidFill>
            <a:prstDash val="solid"/>
          </a:ln>
          <a:effectLst>
            <a:outerShdw blurRad="50800" dist="25400" dir="8100000" algn="bl" rotWithShape="0">
              <a:srgbClr val="000000">
                <a:alpha val="10000"/>
              </a:srgbClr>
            </a:outerShdw>
          </a:effectLst>
        </p:spPr>
        <p:txBody>
          <a:bodyPr/>
          <a:lstStyle/>
          <a:p>
            <a:endParaRPr lang="ko-KR" altLang="en-US"/>
          </a:p>
        </p:txBody>
      </p:sp>
      <p:sp>
        <p:nvSpPr>
          <p:cNvPr id="21" name="Shape 19"/>
          <p:cNvSpPr/>
          <p:nvPr/>
        </p:nvSpPr>
        <p:spPr>
          <a:xfrm>
            <a:off x="457200" y="3474720"/>
            <a:ext cx="54864" cy="640080"/>
          </a:xfrm>
          <a:prstGeom prst="rect">
            <a:avLst/>
          </a:prstGeom>
          <a:solidFill>
            <a:srgbClr val="C8962E"/>
          </a:solidFill>
          <a:ln/>
        </p:spPr>
        <p:txBody>
          <a:bodyPr/>
          <a:lstStyle/>
          <a:p>
            <a:endParaRPr lang="ko-KR" altLang="en-US"/>
          </a:p>
        </p:txBody>
      </p:sp>
      <p:sp>
        <p:nvSpPr>
          <p:cNvPr id="22" name="Text 20"/>
          <p:cNvSpPr/>
          <p:nvPr/>
        </p:nvSpPr>
        <p:spPr>
          <a:xfrm>
            <a:off x="640080" y="3547872"/>
            <a:ext cx="7863840" cy="27432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상속세및증여세법 제35조 (저가·고가 양도에 따른 이익의 증여)</a:t>
            </a:r>
            <a:endParaRPr lang="en-US" sz="1100" dirty="0"/>
          </a:p>
        </p:txBody>
      </p:sp>
      <p:sp>
        <p:nvSpPr>
          <p:cNvPr id="23" name="Text 21"/>
          <p:cNvSpPr/>
          <p:nvPr/>
        </p:nvSpPr>
        <p:spPr>
          <a:xfrm>
            <a:off x="640080" y="3822192"/>
            <a:ext cx="7863840" cy="219456"/>
          </a:xfrm>
          <a:prstGeom prst="rect">
            <a:avLst/>
          </a:prstGeom>
          <a:noFill/>
          <a:ln/>
        </p:spPr>
        <p:txBody>
          <a:bodyPr wrap="square" rtlCol="0" anchor="t"/>
          <a:lstStyle/>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핵심: 특수관계인 간 시가 대비 저가/고가 거래 시 증여세 과세. 특허권 시가 입증의 핵심 근거.</a:t>
            </a:r>
            <a:endParaRPr lang="en-US" sz="1000" dirty="0"/>
          </a:p>
        </p:txBody>
      </p:sp>
      <p:sp>
        <p:nvSpPr>
          <p:cNvPr id="24" name="Shape 22"/>
          <p:cNvSpPr/>
          <p:nvPr/>
        </p:nvSpPr>
        <p:spPr>
          <a:xfrm>
            <a:off x="457200" y="4251960"/>
            <a:ext cx="8229600" cy="640080"/>
          </a:xfrm>
          <a:prstGeom prst="rect">
            <a:avLst/>
          </a:prstGeom>
          <a:solidFill>
            <a:srgbClr val="F7F8FA"/>
          </a:solidFill>
          <a:ln w="12700">
            <a:solidFill>
              <a:srgbClr val="E2E8F0"/>
            </a:solidFill>
            <a:prstDash val="solid"/>
          </a:ln>
          <a:effectLst>
            <a:outerShdw blurRad="50800" dist="25400" dir="8100000" algn="bl" rotWithShape="0">
              <a:srgbClr val="000000">
                <a:alpha val="10000"/>
              </a:srgbClr>
            </a:outerShdw>
          </a:effectLst>
        </p:spPr>
        <p:txBody>
          <a:bodyPr/>
          <a:lstStyle/>
          <a:p>
            <a:endParaRPr lang="ko-KR" altLang="en-US"/>
          </a:p>
        </p:txBody>
      </p:sp>
      <p:sp>
        <p:nvSpPr>
          <p:cNvPr id="25" name="Shape 23"/>
          <p:cNvSpPr/>
          <p:nvPr/>
        </p:nvSpPr>
        <p:spPr>
          <a:xfrm>
            <a:off x="457200" y="4251960"/>
            <a:ext cx="54864" cy="640080"/>
          </a:xfrm>
          <a:prstGeom prst="rect">
            <a:avLst/>
          </a:prstGeom>
          <a:solidFill>
            <a:srgbClr val="C8962E"/>
          </a:solidFill>
          <a:ln/>
        </p:spPr>
        <p:txBody>
          <a:bodyPr/>
          <a:lstStyle/>
          <a:p>
            <a:endParaRPr lang="ko-KR" altLang="en-US"/>
          </a:p>
        </p:txBody>
      </p:sp>
      <p:sp>
        <p:nvSpPr>
          <p:cNvPr id="26" name="Text 24"/>
          <p:cNvSpPr/>
          <p:nvPr/>
        </p:nvSpPr>
        <p:spPr>
          <a:xfrm>
            <a:off x="640080" y="4325112"/>
            <a:ext cx="7863840" cy="27432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법인세법 시행령 제43조 (상여금 등의 손금불산입)</a:t>
            </a:r>
            <a:endParaRPr lang="en-US" sz="1100" dirty="0"/>
          </a:p>
        </p:txBody>
      </p:sp>
      <p:sp>
        <p:nvSpPr>
          <p:cNvPr id="27" name="Text 25"/>
          <p:cNvSpPr/>
          <p:nvPr/>
        </p:nvSpPr>
        <p:spPr>
          <a:xfrm>
            <a:off x="640080" y="4599432"/>
            <a:ext cx="7863840" cy="219456"/>
          </a:xfrm>
          <a:prstGeom prst="rect">
            <a:avLst/>
          </a:prstGeom>
          <a:noFill/>
          <a:ln/>
        </p:spPr>
        <p:txBody>
          <a:bodyPr wrap="square" rtlCol="0" anchor="t"/>
          <a:lstStyle/>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핵심: 임원 상여금 중 정관·주주총회·이사회 결의에 의한 기준 초과 금액은 손금 불인정.</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43</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면책조항</a:t>
            </a:r>
            <a:endParaRPr lang="en-US" sz="15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가지급금 정리로 세무리스크 해소하기</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43 / 62</a:t>
            </a:r>
            <a:endParaRPr lang="en-US" sz="800" dirty="0"/>
          </a:p>
        </p:txBody>
      </p:sp>
      <p:sp>
        <p:nvSpPr>
          <p:cNvPr id="7" name="Shape 5"/>
          <p:cNvSpPr/>
          <p:nvPr/>
        </p:nvSpPr>
        <p:spPr>
          <a:xfrm>
            <a:off x="457200" y="685800"/>
            <a:ext cx="8229600" cy="1005840"/>
          </a:xfrm>
          <a:prstGeom prst="rect">
            <a:avLst/>
          </a:prstGeom>
          <a:solidFill>
            <a:srgbClr val="F7F8FA"/>
          </a:solidFill>
          <a:ln w="12700">
            <a:solidFill>
              <a:srgbClr val="E2E8F0"/>
            </a:solidFill>
            <a:prstDash val="solid"/>
          </a:ln>
          <a:effectLst>
            <a:outerShdw blurRad="50800" dist="25400" dir="8100000" algn="bl" rotWithShape="0">
              <a:srgbClr val="000000">
                <a:alpha val="10000"/>
              </a:srgbClr>
            </a:outerShdw>
          </a:effectLst>
        </p:spPr>
        <p:txBody>
          <a:bodyPr/>
          <a:lstStyle/>
          <a:p>
            <a:endParaRPr lang="ko-KR" altLang="en-US"/>
          </a:p>
        </p:txBody>
      </p:sp>
      <p:sp>
        <p:nvSpPr>
          <p:cNvPr id="8" name="Shape 6"/>
          <p:cNvSpPr/>
          <p:nvPr/>
        </p:nvSpPr>
        <p:spPr>
          <a:xfrm>
            <a:off x="457200" y="685800"/>
            <a:ext cx="54864" cy="1005840"/>
          </a:xfrm>
          <a:prstGeom prst="rect">
            <a:avLst/>
          </a:prstGeom>
          <a:solidFill>
            <a:srgbClr val="4A5568"/>
          </a:solidFill>
          <a:ln/>
        </p:spPr>
        <p:txBody>
          <a:bodyPr/>
          <a:lstStyle/>
          <a:p>
            <a:endParaRPr lang="ko-KR" altLang="en-US"/>
          </a:p>
        </p:txBody>
      </p:sp>
      <p:sp>
        <p:nvSpPr>
          <p:cNvPr id="9" name="Text 7"/>
          <p:cNvSpPr/>
          <p:nvPr/>
        </p:nvSpPr>
        <p:spPr>
          <a:xfrm>
            <a:off x="640080" y="758952"/>
            <a:ext cx="7863840" cy="27432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컨설턴트 주의사항</a:t>
            </a:r>
            <a:endParaRPr lang="en-US" sz="1100" dirty="0"/>
          </a:p>
        </p:txBody>
      </p:sp>
      <p:sp>
        <p:nvSpPr>
          <p:cNvPr id="10" name="Text 8"/>
          <p:cNvSpPr/>
          <p:nvPr/>
        </p:nvSpPr>
        <p:spPr>
          <a:xfrm>
            <a:off x="640080" y="1033272"/>
            <a:ext cx="7863840" cy="585216"/>
          </a:xfrm>
          <a:prstGeom prst="rect">
            <a:avLst/>
          </a:prstGeom>
          <a:noFill/>
          <a:ln/>
        </p:spPr>
        <p:txBody>
          <a:bodyPr wrap="square" rtlCol="0" anchor="t"/>
          <a:lstStyle/>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본 보고서에 제시된 보험료, 보장 내용, 효과 분석 등은 가상의 사례를 기반으로 한 시뮬레이션입니다. 실제 계약 시에는 개별 고객의 조건과 보험사 심사, 제도 변화 등에 따라 모든 내용이 달라질 수 있습니다. 따라서 실제 상담 시에는 반드시 최신 약관과 상품설명서를 기준으로 정확한 내용을 안내하시기 바랍니다.</a:t>
            </a:r>
            <a:endParaRPr lang="en-US" sz="1000" dirty="0"/>
          </a:p>
        </p:txBody>
      </p:sp>
      <p:sp>
        <p:nvSpPr>
          <p:cNvPr id="11" name="Shape 9"/>
          <p:cNvSpPr/>
          <p:nvPr/>
        </p:nvSpPr>
        <p:spPr>
          <a:xfrm>
            <a:off x="457200" y="1828800"/>
            <a:ext cx="8229600" cy="1097280"/>
          </a:xfrm>
          <a:prstGeom prst="rect">
            <a:avLst/>
          </a:prstGeom>
          <a:solidFill>
            <a:srgbClr val="F7F8FA"/>
          </a:solidFill>
          <a:ln w="12700">
            <a:solidFill>
              <a:srgbClr val="E2E8F0"/>
            </a:solidFill>
            <a:prstDash val="solid"/>
          </a:ln>
          <a:effectLst>
            <a:outerShdw blurRad="50800" dist="25400" dir="8100000" algn="bl" rotWithShape="0">
              <a:srgbClr val="000000">
                <a:alpha val="10000"/>
              </a:srgbClr>
            </a:outerShdw>
          </a:effectLst>
        </p:spPr>
        <p:txBody>
          <a:bodyPr/>
          <a:lstStyle/>
          <a:p>
            <a:endParaRPr lang="ko-KR" altLang="en-US"/>
          </a:p>
        </p:txBody>
      </p:sp>
      <p:sp>
        <p:nvSpPr>
          <p:cNvPr id="12" name="Shape 10"/>
          <p:cNvSpPr/>
          <p:nvPr/>
        </p:nvSpPr>
        <p:spPr>
          <a:xfrm>
            <a:off x="457200" y="1828800"/>
            <a:ext cx="54864" cy="1097280"/>
          </a:xfrm>
          <a:prstGeom prst="rect">
            <a:avLst/>
          </a:prstGeom>
          <a:solidFill>
            <a:srgbClr val="D4882C"/>
          </a:solidFill>
          <a:ln/>
        </p:spPr>
        <p:txBody>
          <a:bodyPr/>
          <a:lstStyle/>
          <a:p>
            <a:endParaRPr lang="ko-KR" altLang="en-US"/>
          </a:p>
        </p:txBody>
      </p:sp>
      <p:sp>
        <p:nvSpPr>
          <p:cNvPr id="13" name="Text 11"/>
          <p:cNvSpPr/>
          <p:nvPr/>
        </p:nvSpPr>
        <p:spPr>
          <a:xfrm>
            <a:off x="640080" y="1901952"/>
            <a:ext cx="7863840" cy="27432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보고서 안내</a:t>
            </a:r>
            <a:endParaRPr lang="en-US" sz="1100" dirty="0"/>
          </a:p>
        </p:txBody>
      </p:sp>
      <p:sp>
        <p:nvSpPr>
          <p:cNvPr id="14" name="Text 12"/>
          <p:cNvSpPr/>
          <p:nvPr/>
        </p:nvSpPr>
        <p:spPr>
          <a:xfrm>
            <a:off x="640080" y="2176272"/>
            <a:ext cx="7863840" cy="676656"/>
          </a:xfrm>
          <a:prstGeom prst="rect">
            <a:avLst/>
          </a:prstGeom>
          <a:noFill/>
          <a:ln/>
        </p:spPr>
        <p:txBody>
          <a:bodyPr wrap="square" rtlCol="0" anchor="t"/>
          <a:lstStyle/>
          <a:p>
            <a:pPr marL="0" indent="0">
              <a:lnSpc>
                <a:spcPct val="115000"/>
              </a:lnSpc>
              <a:buNone/>
            </a:pPr>
            <a:r>
              <a:rPr lang="en-US" sz="1000" dirty="0">
                <a:solidFill>
                  <a:srgbClr val="4A5568"/>
                </a:solidFill>
                <a:latin typeface="맑은 고딕" pitchFamily="34" charset="0"/>
                <a:ea typeface="맑은 고딕" pitchFamily="34" charset="-122"/>
                <a:cs typeface="맑은 고딕" pitchFamily="34" charset="-120"/>
              </a:rPr>
              <a:t>본 보고서는 일반적인 사례를 바탕으로 한 교육용 시뮬레이션이며, 2025년 9월 현재 정보를 기준으로 합니다. 개인의 특수한 상황이나 향후 법령 변경 사항은 반영되지 않았습니다. 모든 전략의 실행 전에는 반드시 세무사, 변호사, 회계사 등 관련 전문가의 구체적인 검토와 자문을 받으시기 바라며, 실행 결과에 대한 책임은 전적으로 의사결정권자에게 있습니다.</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TotalTime>
  <Words>7295</Words>
  <Application>Microsoft Office PowerPoint</Application>
  <PresentationFormat>화면 슬라이드 쇼(16:9)</PresentationFormat>
  <Paragraphs>777</Paragraphs>
  <Slides>44</Slides>
  <Notes>44</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44</vt:i4>
      </vt:variant>
    </vt:vector>
  </HeadingPairs>
  <TitlesOfParts>
    <vt:vector size="48" baseType="lpstr">
      <vt:lpstr>맑은 고딕</vt:lpstr>
      <vt:lpstr>Arial</vt:lpstr>
      <vt:lpstr>Georgia</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에프피센터 한국</cp:lastModifiedBy>
  <cp:revision>2</cp:revision>
  <dcterms:created xsi:type="dcterms:W3CDTF">2026-03-17T08:23:25Z</dcterms:created>
  <dcterms:modified xsi:type="dcterms:W3CDTF">2026-03-17T08:51:38Z</dcterms:modified>
</cp:coreProperties>
</file>