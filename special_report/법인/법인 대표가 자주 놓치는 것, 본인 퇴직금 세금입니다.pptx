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850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926080" y="914400"/>
            <a:ext cx="3291840" cy="2743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대표가 자주 놓치는 것, 본인 퇴직금 세금입니다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D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기업의 지속가능 성장 및 CEO 자산가치 극대화를 위한 컨설팅 특급보고서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0D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(주)정호테크 · 박정호 대표이사 · 2025년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3794760"/>
            <a:ext cx="3291840" cy="2743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 컨설팅 특급보고서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제작_(주)한국FP센터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024128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0058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기업 및 대표이사 프로필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1353312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08176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13898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재무현황 및 퇴직금 현황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1737360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1792224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177393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Executive Summary — 핵심 진단 요약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51560" y="2121408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176272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215798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전략 과제 도출 — 리스크 통합 진단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51560" y="2505456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2560320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25420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맞춤형 솔루션 및 기대효과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및 대표이사 프로필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233476"/>
              </p:ext>
            </p:extLst>
          </p:nvPr>
        </p:nvGraphicFramePr>
        <p:xfrm>
          <a:off x="365760" y="914400"/>
          <a:ext cx="8412480" cy="2798064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법인명 / 업종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(주)정호테크 / 제조업 (산업용 부품)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설립 연도 / 근속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2004년 설립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매출 / 영업이익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80억 원 / 약 6억 원 (영업이익률 7.5%)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이익잉여금 / 직원 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12억 원 / 정규직 35명 포함 총 40명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대표이사 / 연령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박정호 / 만 55세, 창업자 겸 최대주주(지분 60%)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총급여 / 근속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1억 4,400만 원 (월 1,200만 원) / 22년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가지급금 / 법인대출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8,000만 원 (미정리) / 2억 원 (대표 연대보증)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사내적립(퇴직급여 부채)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4억 원 — 별도 계좌·자산 분리 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 개인 재무현황 및 퇴직금 관련 현황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936023"/>
              </p:ext>
            </p:extLst>
          </p:nvPr>
        </p:nvGraphicFramePr>
        <p:xfrm>
          <a:off x="365760" y="914400"/>
          <a:ext cx="8412480" cy="2798064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 / 상태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아파트 (시가)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12억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금융자산 (예적금·펀드·주식)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3억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주택담보대출 (잔여 12년)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3억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법인 연대보증(우발채무)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2억 원 (직접 채무 아님)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생활비·교육·대출상환·보험료 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국민연금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 28년 → 65세 수령 예상액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170만 원 예상(공단 조회 필요)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정관 퇴직금 규정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포괄 조항만 존재, 지급배수 내규 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미정비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사외적립 / 법인보험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사외적립 0원 / 법인 명의 보험 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 — 지금 점검하지 않으면 수천만 원의 차이가 납니다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06070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정관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미비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지급배수 내규 부재 시 손금 인정 한도 약 3억 1,680만 원으로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퇴직금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4억 원 수령 시 8,320만 원이 손금 불인정·근로소득 과세(최고 49.5%) 대상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6362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 부재 리스크 — 사외적립 0원·법인보험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전무</a:t>
            </a:r>
            <a:endParaRPr lang="en-US" sz="1100" dirty="0">
              <a:solidFill>
                <a:srgbClr val="2C3E5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퇴직 시 법인 운영자금에서 수억 원 일시 유출 불가피, 유동성 위기 가능성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6654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수령 방식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미검토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일시금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수령만 전제 시 퇴직소득세 약 3,312만 원,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IRP 연금 전환 시 세부담이 낮아질 수 있어 수천만 원 규모 절감 가능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946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가지급금 8,000만 원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미정리</a:t>
            </a:r>
            <a:endParaRPr lang="en-US" sz="1100" dirty="0">
              <a:solidFill>
                <a:srgbClr val="2C3E5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연 인정이자 약 368만 원 과세 지속, 퇴직 시 퇴직금과 상계 처리되어 실수령액 8,000만 원 감소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3단계 — ① 정관·지급규정 정비(비용 0원)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② 법인 명의 보험으로 재원 확보(월 200~350만 원) → ③ IRP 연금 전환으로 수령 최적화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3개년 핵심 재무지표 추이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77535"/>
              </p:ext>
            </p:extLst>
          </p:nvPr>
        </p:nvGraphicFramePr>
        <p:xfrm>
          <a:off x="365760" y="914400"/>
          <a:ext cx="8412480" cy="2487168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2023년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2024년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2025년(실적 가정)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동종업계 평균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매출액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76억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영업이익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4.8억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5.5억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영업이익률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6.7%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7.2%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7.5%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6.2%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이익잉여금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10.5억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부채비율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사내적립(퇴직급여 부채)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가지급금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7,500만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상기 수치는 업계 기준 및 제시된 기초자료에 근거한 추정치이며, 실제 재무제표와 차이가 있을 수 있습니다.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통합 진단 — 3중 사각지대 현황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130779"/>
              </p:ext>
            </p:extLst>
          </p:nvPr>
        </p:nvGraphicFramePr>
        <p:xfrm>
          <a:off x="365760" y="914400"/>
          <a:ext cx="8412480" cy="2304288"/>
        </p:xfrm>
        <a:graphic>
          <a:graphicData uri="http://schemas.openxmlformats.org/drawingml/2006/table">
            <a:tbl>
              <a:tblPr/>
              <a:tblGrid>
                <a:gridCol w="1567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3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9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 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 (구체적 수치)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미조치 시 영향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심각도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시급성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정관 퇴직금 규정 미비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포괄 조항만 존재, 지급배수 내규 없음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손금 인정 한도 약 3.17억 원으로 축소, 초과분 </a:t>
                      </a: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법인세</a:t>
                      </a: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↑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altLang="ko-KR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r>
                        <a:rPr lang="ko-KR" alt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근로소득 과세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임원 퇴직소득 한도 초과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22년 근속, 연 총급여 1.44억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한도 초과분은 최고 49.5% 근로소득 </a:t>
                      </a: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과세</a:t>
                      </a: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</a:t>
                      </a:r>
                      <a:endParaRPr lang="en-US" sz="8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분류과세 실효세율 예시 약 </a:t>
                      </a:r>
                      <a:r>
                        <a:rPr lang="en-US" altLang="ko-KR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8.3%</a:t>
                      </a:r>
                      <a:r>
                        <a:rPr lang="ko-KR" alt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 큰 차이</a:t>
                      </a:r>
                      <a:r>
                        <a:rPr lang="en-US" altLang="ko-KR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퇴직금 재원 부재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사외적립 0원, 사내적립 4억 원(부채만)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퇴직 시 운영자금 수억 원 일시 유출 → 유동성 위기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수령 방식 미검토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일시금 수령만 전제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 전환 대비 퇴직소득세 30~40% 추가 부담 가능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가지급금 미정리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8,000만 원, 인정이자 연 368만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인정이자 과세 지속 + 퇴직금 실수령액 감소 + 세무조사 리스크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과제 도출 — 우선순위별 해결 방향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06070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1순위: 정관·임원퇴직금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지급규정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정비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비용 0원, 손금 인정 범위·퇴직소득 한도 모두 확대, 퇴직 직전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부인 리스크가 커지므로 여유 있는 지금이 최적 시점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6362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 병행: 가지급금 8,000만 원 조기 정리 — 연 368만 원 인정이자 과세 즉시 해소, 퇴직 시 상계 방지로 실수령액 8,000만 원 보전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6654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2순위: 법인 명의 보험(월 200~350만 원) 가입 — 퇴직금 재원 사외적립 + 대표 유고 시 사망보험금 5억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원으로</a:t>
            </a:r>
            <a:endParaRPr lang="en-US" sz="1100" dirty="0">
              <a:solidFill>
                <a:srgbClr val="2C3E5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경영안정자금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동시 확보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946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3순위: 퇴직금 수령 방식 최적화 — IRP 연금 전환 시 이연퇴직소득 70%~50% 세율 체계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연금수령한도·수령기간을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함께 설계하여 세부담 최적화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로드맵: 단기(1~3개월) 정관 정비·가지급금 정리 → 중기(3~12개월)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법인보험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</a:t>
            </a:r>
            <a:endParaRPr lang="en-US" sz="1100" dirty="0">
              <a:solidFill>
                <a:srgbClr val="2C3E5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장기(은퇴 시점) IRP 연금 전환으로 3단계 순차 실행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1 — 정관 미정비 시 손금 인정 한도 vs 정비 후 퇴직소득 한도 구조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712900"/>
              </p:ext>
            </p:extLst>
          </p:nvPr>
        </p:nvGraphicFramePr>
        <p:xfrm>
          <a:off x="365760" y="914400"/>
          <a:ext cx="8412480" cy="1865376"/>
        </p:xfrm>
        <a:graphic>
          <a:graphicData uri="http://schemas.openxmlformats.org/drawingml/2006/table">
            <a:tbl>
              <a:tblPr/>
              <a:tblGrid>
                <a:gridCol w="2488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1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산식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 / 효과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정관 미정비 시 손금 한도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총급여 1.44억 × 1/10 × 22년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3억 1,680만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퇴직금 4억 원 수령 시 초과분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4억 원 − 3억 1,680만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8,320만 원 → 손금불산입 + 근로소득 과세(최고 49.5%)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정비 후 — 2011.12.31 이전(약 8년)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정관 배수 × 연평균 총급여 × 1/10 × 8년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정관 배수 전액 인정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정비 후 — 2012~2019년(약 8년)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연평균 총급여 × 1/10 × 8년 × 3배 한도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한도 내 퇴직소득 분류과세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정비 후 — 2020년 이후(약 6년)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연평균 총급여 × 1/10 × 6년 × 2배 한도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한도 내 퇴직소득 분류과세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852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법인세법 시행령 제44조 / 소득세법 시행령 제42조의2 (2026.04 기준). 지급배수의 적정 수준은 동종업계 관행 및 부당행위계산부인 리스크를 고려하여 반드시 세무사와 사전 협의 후 결정해야 합니다.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2 — 법인 명의 보험 설계안 및 활용 시나리오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045648"/>
              </p:ext>
            </p:extLst>
          </p:nvPr>
        </p:nvGraphicFramePr>
        <p:xfrm>
          <a:off x="365760" y="914400"/>
          <a:ext cx="8412480" cy="3200400"/>
        </p:xfrm>
        <a:graphic>
          <a:graphicData uri="http://schemas.openxmlformats.org/drawingml/2006/table">
            <a:tbl>
              <a:tblPr/>
              <a:tblGrid>
                <a:gridCol w="3037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5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계약자 / 수익자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(주)정호테크 (법인) / (주)정호테크 (법인)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피보험자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박정호 대표이사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유형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저해지환급금형 종신보험 또는 법인 전용 적립보험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사망보장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5억 원 이상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보험료 (추정)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200~350만 원 수준 (10~15년 납입, 은퇴 시점 맞춤 설계)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퇴직 시 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보험 해지 → 해지환급금을 퇴직금 재원으로 활용 → 법인 운영자금 유출 최소화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유고(사망) 시 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사망보험금 5억 원 법인 귀속 → 사망퇴직금·경영안정자금·유족위로금 재원으로 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세무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보장성(만기환급 없는 구조) → 보험료 손금산입 / 저축성·환급형 → 자산 계상 후 해지 시 차액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상기 보험료는 업계 평균 추정치이며 확정 보험료가 아닙니다. 실제 보험료는 보험사·상품·특약 구성·건강 상태에 따라 상이합니다. 손금 인정 범위는 상품 구조에 따라 달라지므로 가입 전 세무사와 반드시 사전 협의가 필요합니다.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3 — 퇴직금 4억 원 일시금 수령 시 세부담 시뮬레이션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334994"/>
              </p:ext>
            </p:extLst>
          </p:nvPr>
        </p:nvGraphicFramePr>
        <p:xfrm>
          <a:off x="365760" y="914400"/>
          <a:ext cx="8412480" cy="2798064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과세대상 퇴직소득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4억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근속연수공제 (22년)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4,600만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공제 후 퇴직소득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3억 5,400만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환산급여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9,309만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환산급여공제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359만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과세표준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8,950만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산출세액 (지방소득세 포함)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3,312만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실효세율 / 세후 실수령액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8.3% / 약 3억 6,688만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7856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소득세법 제55조(기본세율), 소득세법 시행령 제42조의2 (2026.04 기준). 상기 수치는 법정 산식에 의한 산출 결과이며, 실제 세액은 퇴직 시점의 세법·공제 항목·개인별 사정에 따라 달라질 수 있습니다. 실행 전 세무사의 정밀 검토를 받으시기 바랍니다.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기대효과: 솔루션 실행 전 · 후 비교 (Before &amp; After)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3931920" cy="2212848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3931920" cy="1645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(Before) — 3중 사각지대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정관 미비 → 손금 인정 한도 약 3.17억 원, 초과분 8,320만 원       </a:t>
            </a:r>
            <a:r>
              <a:rPr lang="en-US" sz="9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근로소득</a:t>
            </a: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과세(최고 49.5%)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6733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사외적립 0원·법인보험 전무 → 퇴직 시 운영자금 </a:t>
            </a:r>
            <a:r>
              <a:rPr lang="en-US" sz="9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수억</a:t>
            </a: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</a:t>
            </a:r>
          </a:p>
          <a:p>
            <a:pPr marL="0" indent="0">
              <a:buNone/>
            </a:pPr>
            <a:r>
              <a:rPr lang="en-US" sz="9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</a:t>
            </a: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유출 위기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0208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일시금 수령만 전제 → 퇴직소득세 약 3,312만 원 전후 일시 납부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3682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가지급금 8,000만 원 → 연 368만 원 인정이자 과세 + 퇴직금 실수령액 감소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15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대표 유고 시 법인 보험금 0원 → 경영 </a:t>
            </a:r>
            <a:r>
              <a:rPr lang="en-US" sz="9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공백·사망퇴직금</a:t>
            </a: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</a:t>
            </a:r>
            <a:endParaRPr lang="en-US" sz="900" dirty="0">
              <a:solidFill>
                <a:srgbClr val="2C3E5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</a:t>
            </a: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전무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60520" y="183794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914400"/>
            <a:ext cx="3931920" cy="2212848"/>
          </a:xfrm>
          <a:prstGeom prst="rect">
            <a:avLst/>
          </a:prstGeom>
          <a:solidFill>
            <a:srgbClr val="EAFAF1"/>
          </a:solidFill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937760" y="914400"/>
            <a:ext cx="3931920" cy="3474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937760" y="1097280"/>
            <a:ext cx="3931920" cy="16459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37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실행 후 (After) — 3단계 최적화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정관·지급규정 정비 → 손금 인정 범위 확대, 3구간 배수 적용으로 퇴직소득 분류과세 최대 적용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16733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법인 명의 보험(월 200~350만 원, 10~15년) → 해지환급금으로 퇴직금 재원 확보, 법인 유동성 보호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0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IRP 연금 전환 → 이연퇴직소득 70%~50% 세율 체계 적용, 연금수령한도·수령기간 설계로 세부담 최적화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3682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가지급금 조기 정리 → 연 368만 원 인정이자 과세 해소 + 실수령액 8,000만 원 보전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2715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대표 유고 시 사망보험금 5억 원 → 사망퇴직금·경영안정자금 동시 확보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4 — 가지급금 8,000만 원 정리 방안 비교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035366"/>
              </p:ext>
            </p:extLst>
          </p:nvPr>
        </p:nvGraphicFramePr>
        <p:xfrm>
          <a:off x="365760" y="914400"/>
          <a:ext cx="8412480" cy="1554480"/>
        </p:xfrm>
        <a:graphic>
          <a:graphicData uri="http://schemas.openxmlformats.org/drawingml/2006/table">
            <a:tbl>
              <a:tblPr/>
              <a:tblGrid>
                <a:gridCol w="1992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0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 방법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비용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유의사항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급여 정산 (상여 처분)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근로소득세 + 4대보험료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정리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종합소득세 합산 → 높은 세율 적용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배당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세무사 정밀 산출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법인 잉여금 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배당소득세 + 건보료 영향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 현물출자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2,768만 원 (추정)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 효율성 가장 높음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적합한 부동산 보유 시에만 적용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상환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인정이자 지속 발생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자금 부담 분산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 기간 중 인정이자 과세 계속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542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법인세법 시행령 제89조 인정이자율 4.6% (2026.04 기준). 정리 방법별 최적안은 개인 소득 구조에 따라 달라지므로 세무사와 정밀 시뮬레이션 후 결정하시기 바랍니다.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제언 — 지금 시작하면 수천만 원이 달라집니다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06070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실행 (1~3개월): 세무사와 협의하여 임원퇴직금 지급규정(배수 명시) 작성 → 주주총회 결의로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정관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endParaRPr lang="en-US" sz="1100" dirty="0">
              <a:solidFill>
                <a:srgbClr val="2C3E5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비용 0원, 효과는 퇴직소득 분류과세 한도 극대화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6362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실행: 가지급금 8,000만 원 정리 방안 선택 → 연 368만 원 인정이자 과세 즉시 해소, 퇴직금 실수령액 8,000만 원 확보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6654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중기 실행 (3~12개월): 법인 명의 종신보험 가입(월 200~350만 원) → 10년 누적 약 3억 원 규모 재원 마련, 대표 유고 시 5억 원 경영안정자금 동시 확보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946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실행 (은퇴 시점): 퇴직금 전액 또는 일부를 IRP로 이전 → 이연퇴직소득 70%~50% 세율 체계 적용, 연금수령한도와 수령기간을 함께 설계하여 세부담 최적화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22년 근속·퇴직금 수억 원 규모에서 정관 정비 → 재원 확보 → 연금 전환이라는 3단계를 순차 실행하면, 수천만 원의 세금 차이와 법인 유동성 위기를 동시에 예방할 수 있습니다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및 면책 고지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7432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보고서는 제공된 기초자료와 2026년 4월 기준 세법·보험 관련 법령에 근거하여 작성된 참고용 컨설팅 자료입니다.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보고서에 포함된 세금 시뮬레이션, 보험료 추정치, 재무 수치 등은 법정 산식 및 업계 평균에 기반한 예시 자료이며, 실제 결과는 개인별 소득 구조, 퇴직 시점의 세법 변경, 보험사·상품·건강 상태 등에 따라 달라질 수 있습니다.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보고서의 내용은 세무·법률·보험 등 전문 분야에 대한 최종 의견이나 확정적 조언이 아닙니다. 실행 전 반드시 세무사·회계사·법무사·보험 전문가 등 관련 전문가의 정밀 검토 및 확인을 받으시기 바랍니다.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보고서의 무단 복제·배포·인용을 금지합니다.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제작_(주)한국FP센터 All Rights Reserved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4114800"/>
            <a:ext cx="27432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 | 제작_(주)한국FP센터 All Rights Reserved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2030</Words>
  <Application>Microsoft Office PowerPoint</Application>
  <PresentationFormat>화면 슬라이드 쇼(16:9)</PresentationFormat>
  <Paragraphs>303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JARVIA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법인 대표가 자주 놓치는 것, 본인 퇴직금 세금입니다</dc:title>
  <dc:subject>컨설팅 특급보고서</dc:subject>
  <dc:creator>(주)한국FP센터</dc:creator>
  <cp:lastModifiedBy>에프피센터 한국</cp:lastModifiedBy>
  <cp:revision>2</cp:revision>
  <dcterms:created xsi:type="dcterms:W3CDTF">2026-04-02T22:27:12Z</dcterms:created>
  <dcterms:modified xsi:type="dcterms:W3CDTF">2026-04-03T00:07:21Z</dcterms:modified>
</cp:coreProperties>
</file>