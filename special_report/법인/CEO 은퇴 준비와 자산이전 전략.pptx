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1" d="100"/>
          <a:sy n="141" d="100"/>
        </p:scale>
        <p:origin x="6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635883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548640"/>
          </a:xfrm>
          <a:prstGeom prst="rect">
            <a:avLst/>
          </a:prstGeom>
          <a:noFill/>
          <a:ln/>
        </p:spPr>
        <p:txBody>
          <a:bodyPr wrap="square" rtlCol="0" anchor="ctr"/>
          <a:lstStyle/>
          <a:p>
            <a:pPr marL="0" indent="0" algn="ctr">
              <a:buNone/>
            </a:pPr>
            <a:r>
              <a:rPr lang="en-US" sz="1800" dirty="0">
                <a:solidFill>
                  <a:srgbClr val="CBD5E1"/>
                </a:solidFill>
                <a:latin typeface="맑은 고딕" pitchFamily="34" charset="0"/>
                <a:ea typeface="맑은 고딕" pitchFamily="34" charset="-122"/>
                <a:cs typeface="맑은 고딕" pitchFamily="34" charset="-120"/>
              </a:rPr>
              <a:t>기업의 지속가능 성장 및 CEO 자산가치 극대화를 위한</a:t>
            </a:r>
            <a:endParaRPr lang="en-US" sz="1800" dirty="0"/>
          </a:p>
        </p:txBody>
      </p:sp>
      <p:sp>
        <p:nvSpPr>
          <p:cNvPr id="3" name="Text 1"/>
          <p:cNvSpPr/>
          <p:nvPr/>
        </p:nvSpPr>
        <p:spPr>
          <a:xfrm>
            <a:off x="731520" y="1737360"/>
            <a:ext cx="7680960" cy="914400"/>
          </a:xfrm>
          <a:prstGeom prst="rect">
            <a:avLst/>
          </a:prstGeom>
          <a:noFill/>
          <a:ln/>
        </p:spPr>
        <p:txBody>
          <a:bodyPr wrap="square" rtlCol="0" anchor="ctr"/>
          <a:lstStyle/>
          <a:p>
            <a:pPr marL="0" indent="0" algn="ctr">
              <a:buNone/>
            </a:pPr>
            <a:r>
              <a:rPr lang="en-US" sz="3200" b="1" dirty="0">
                <a:solidFill>
                  <a:srgbClr val="C8962E"/>
                </a:solidFill>
                <a:latin typeface="맑은 고딕" pitchFamily="34" charset="0"/>
                <a:ea typeface="맑은 고딕" pitchFamily="34" charset="-122"/>
                <a:cs typeface="맑은 고딕" pitchFamily="34" charset="-120"/>
              </a:rPr>
              <a:t>『컨설팅 특급보고서』</a:t>
            </a:r>
            <a:endParaRPr lang="en-US" sz="3200" dirty="0"/>
          </a:p>
        </p:txBody>
      </p:sp>
      <p:sp>
        <p:nvSpPr>
          <p:cNvPr id="4" name="Text 2"/>
          <p:cNvSpPr/>
          <p:nvPr/>
        </p:nvSpPr>
        <p:spPr>
          <a:xfrm>
            <a:off x="731520" y="2834640"/>
            <a:ext cx="7680960" cy="640080"/>
          </a:xfrm>
          <a:prstGeom prst="rect">
            <a:avLst/>
          </a:prstGeom>
          <a:noFill/>
          <a:ln/>
        </p:spPr>
        <p:txBody>
          <a:bodyPr wrap="square" rtlCol="0" anchor="ctr"/>
          <a:lstStyle/>
          <a:p>
            <a:pPr marL="0" indent="0" algn="ctr">
              <a:buNone/>
            </a:pPr>
            <a:r>
              <a:rPr lang="en-US" sz="2000" dirty="0">
                <a:solidFill>
                  <a:srgbClr val="E8ECF1"/>
                </a:solidFill>
                <a:latin typeface="맑은 고딕" pitchFamily="34" charset="0"/>
                <a:ea typeface="맑은 고딕" pitchFamily="34" charset="-122"/>
                <a:cs typeface="맑은 고딕" pitchFamily="34" charset="-120"/>
              </a:rPr>
              <a:t>CEO 은퇴 준비와 자산이전 전략</a:t>
            </a:r>
            <a:endParaRPr lang="en-US" sz="2000" dirty="0"/>
          </a:p>
        </p:txBody>
      </p:sp>
      <p:sp>
        <p:nvSpPr>
          <p:cNvPr id="5" name="Text 3"/>
          <p:cNvSpPr/>
          <p:nvPr/>
        </p:nvSpPr>
        <p:spPr>
          <a:xfrm>
            <a:off x="731520" y="4572000"/>
            <a:ext cx="7680960" cy="274320"/>
          </a:xfrm>
          <a:prstGeom prst="rect">
            <a:avLst/>
          </a:prstGeom>
          <a:noFill/>
          <a:ln/>
        </p:spPr>
        <p:txBody>
          <a:bodyPr wrap="square" lIns="0" tIns="0" rIns="0" bIns="0" rtlCol="0" anchor="ctr"/>
          <a:lstStyle/>
          <a:p>
            <a:pPr algn="ctr"/>
            <a:r>
              <a:rPr lang="en-US" altLang="ko-KR" sz="750" i="1" dirty="0">
                <a:solidFill>
                  <a:schemeClr val="bg2"/>
                </a:solidFill>
                <a:latin typeface="맑은 고딕" pitchFamily="34" charset="0"/>
                <a:ea typeface="맑은 고딕" pitchFamily="34" charset="-122"/>
                <a:cs typeface="맑은 고딕" pitchFamily="34" charset="-120"/>
              </a:rPr>
              <a:t>본 </a:t>
            </a:r>
            <a:r>
              <a:rPr lang="en-US" altLang="ko-KR" sz="750" i="1" dirty="0" err="1">
                <a:solidFill>
                  <a:schemeClr val="bg2"/>
                </a:solidFill>
                <a:latin typeface="맑은 고딕" pitchFamily="34" charset="0"/>
                <a:ea typeface="맑은 고딕" pitchFamily="34" charset="-122"/>
                <a:cs typeface="맑은 고딕" pitchFamily="34" charset="-120"/>
              </a:rPr>
              <a:t>자료는</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AI를</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활용하여</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생성되었으며</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실무적용</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시에는</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분야별</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전문가와</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협의</a:t>
            </a:r>
            <a:r>
              <a:rPr lang="en-US" altLang="ko-KR" sz="750" i="1" dirty="0">
                <a:solidFill>
                  <a:schemeClr val="bg2"/>
                </a:solidFill>
                <a:latin typeface="맑은 고딕" pitchFamily="34" charset="0"/>
                <a:ea typeface="맑은 고딕" pitchFamily="34" charset="-122"/>
                <a:cs typeface="맑은 고딕" pitchFamily="34" charset="-120"/>
              </a:rPr>
              <a:t> 후 </a:t>
            </a:r>
            <a:r>
              <a:rPr lang="en-US" altLang="ko-KR" sz="750" i="1" dirty="0" err="1">
                <a:solidFill>
                  <a:schemeClr val="bg2"/>
                </a:solidFill>
                <a:latin typeface="맑은 고딕" pitchFamily="34" charset="0"/>
                <a:ea typeface="맑은 고딕" pitchFamily="34" charset="-122"/>
                <a:cs typeface="맑은 고딕" pitchFamily="34" charset="-120"/>
              </a:rPr>
              <a:t>사용하시기</a:t>
            </a:r>
            <a:r>
              <a:rPr lang="en-US" altLang="ko-KR" sz="750" i="1" dirty="0">
                <a:solidFill>
                  <a:schemeClr val="bg2"/>
                </a:solidFill>
                <a:latin typeface="맑은 고딕" pitchFamily="34" charset="0"/>
                <a:ea typeface="맑은 고딕" pitchFamily="34" charset="-122"/>
                <a:cs typeface="맑은 고딕" pitchFamily="34" charset="-120"/>
              </a:rPr>
              <a:t> </a:t>
            </a:r>
            <a:r>
              <a:rPr lang="en-US" altLang="ko-KR" sz="750" i="1" dirty="0" err="1">
                <a:solidFill>
                  <a:schemeClr val="bg2"/>
                </a:solidFill>
                <a:latin typeface="맑은 고딕" pitchFamily="34" charset="0"/>
                <a:ea typeface="맑은 고딕" pitchFamily="34" charset="-122"/>
                <a:cs typeface="맑은 고딕" pitchFamily="34" charset="-120"/>
              </a:rPr>
              <a:t>바랍니다</a:t>
            </a:r>
            <a:r>
              <a:rPr lang="en-US" altLang="ko-KR" sz="750" i="1" dirty="0">
                <a:solidFill>
                  <a:schemeClr val="bg2"/>
                </a:solidFill>
                <a:latin typeface="맑은 고딕" pitchFamily="34" charset="0"/>
                <a:ea typeface="맑은 고딕" pitchFamily="34" charset="-122"/>
                <a:cs typeface="맑은 고딕" pitchFamily="34" charset="-120"/>
              </a:rPr>
              <a:t>.</a:t>
            </a:r>
            <a:endParaRPr lang="en-US" altLang="ko-KR" sz="750"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02</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자료 읽기에 앞서</a:t>
            </a:r>
            <a:endParaRPr lang="en-US" sz="1600" dirty="0"/>
          </a:p>
        </p:txBody>
      </p:sp>
      <p:sp>
        <p:nvSpPr>
          <p:cNvPr id="5" name="Text 3"/>
          <p:cNvSpPr/>
          <p:nvPr/>
        </p:nvSpPr>
        <p:spPr>
          <a:xfrm>
            <a:off x="457200" y="685800"/>
            <a:ext cx="8229600" cy="731520"/>
          </a:xfrm>
          <a:prstGeom prst="rect">
            <a:avLst/>
          </a:prstGeom>
          <a:noFill/>
          <a:ln/>
        </p:spPr>
        <p:txBody>
          <a:bodyPr wrap="square" rtlCol="0" anchor="t"/>
          <a:lstStyle/>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성공한 창업 CEO의 마지막 여정은 아름다운 퇴장으로 완성됩니다. 이 '아름다운 퇴장'이란, 평생을 바친 기업을 안정적으로 후계자에게 물려주고, 대표님께서는 경제적 자유 속에서 품격 있는 제2의 인생을 시작하는 것을 의미합니다.</a:t>
            </a:r>
            <a:endParaRPr lang="en-US" sz="1100" dirty="0"/>
          </a:p>
        </p:txBody>
      </p:sp>
      <p:sp>
        <p:nvSpPr>
          <p:cNvPr id="6" name="Text 4"/>
          <p:cNvSpPr/>
          <p:nvPr/>
        </p:nvSpPr>
        <p:spPr>
          <a:xfrm>
            <a:off x="457200" y="1348740"/>
            <a:ext cx="8229600" cy="502920"/>
          </a:xfrm>
          <a:prstGeom prst="rect">
            <a:avLst/>
          </a:prstGeom>
          <a:noFill/>
          <a:ln/>
        </p:spPr>
        <p:txBody>
          <a:bodyPr wrap="square" rtlCol="0" anchor="t"/>
          <a:lstStyle/>
          <a:p>
            <a:pPr marL="0" indent="0">
              <a:lnSpc>
                <a:spcPct val="130000"/>
              </a:lnSpc>
              <a:buNone/>
            </a:pPr>
            <a:r>
              <a:rPr lang="en-US" sz="1100" dirty="0">
                <a:solidFill>
                  <a:srgbClr val="2B2B2B"/>
                </a:solidFill>
                <a:latin typeface="맑은 고딕" pitchFamily="34" charset="0"/>
                <a:ea typeface="맑은 고딕" pitchFamily="34" charset="-122"/>
                <a:cs typeface="맑은 고딕" pitchFamily="34" charset="-120"/>
              </a:rPr>
              <a:t>그러나 많은 CEO들께서 이 마지막 프로젝트에 대한 구체적인 설계도 없이 막연한 생각만 가지고 계시다가, 은퇴 시점이 닥쳐서야 수많은 재무적, 세무적 문제에 직면하곤 합니다.</a:t>
            </a:r>
            <a:endParaRPr lang="en-US" sz="1100" dirty="0"/>
          </a:p>
        </p:txBody>
      </p:sp>
      <p:sp>
        <p:nvSpPr>
          <p:cNvPr id="7" name="Shape 5"/>
          <p:cNvSpPr/>
          <p:nvPr/>
        </p:nvSpPr>
        <p:spPr>
          <a:xfrm>
            <a:off x="457200" y="1963505"/>
            <a:ext cx="8229600" cy="1138682"/>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6"/>
          <p:cNvSpPr/>
          <p:nvPr/>
        </p:nvSpPr>
        <p:spPr>
          <a:xfrm>
            <a:off x="457200" y="1963505"/>
            <a:ext cx="54864" cy="1138682"/>
          </a:xfrm>
          <a:prstGeom prst="rect">
            <a:avLst/>
          </a:prstGeom>
          <a:solidFill>
            <a:srgbClr val="D4382C"/>
          </a:solidFill>
          <a:ln/>
        </p:spPr>
        <p:txBody>
          <a:bodyPr/>
          <a:lstStyle/>
          <a:p>
            <a:endParaRPr lang="ko-KR" altLang="en-US"/>
          </a:p>
        </p:txBody>
      </p:sp>
      <p:sp>
        <p:nvSpPr>
          <p:cNvPr id="9" name="Text 7"/>
          <p:cNvSpPr/>
          <p:nvPr/>
        </p:nvSpPr>
        <p:spPr>
          <a:xfrm>
            <a:off x="640080" y="2036657"/>
            <a:ext cx="7863840" cy="292608"/>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 CEO 은퇴의 본질</a:t>
            </a:r>
            <a:endParaRPr lang="en-US" sz="1300" dirty="0"/>
          </a:p>
        </p:txBody>
      </p:sp>
      <p:sp>
        <p:nvSpPr>
          <p:cNvPr id="10" name="Text 8"/>
          <p:cNvSpPr/>
          <p:nvPr/>
        </p:nvSpPr>
        <p:spPr>
          <a:xfrm>
            <a:off x="640080" y="2329265"/>
            <a:ext cx="7863840" cy="822960"/>
          </a:xfrm>
          <a:prstGeom prst="rect">
            <a:avLst/>
          </a:prstGeom>
          <a:noFill/>
          <a:ln/>
        </p:spPr>
        <p:txBody>
          <a:bodyPr wrap="square" rtlCol="0" anchor="t"/>
          <a:lstStyle/>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CEO의 은퇴는 단순히 개인의 퇴직이 아닙니다. 이는 '기업 자산의 개인 자산으로의 이전'이라는 1단계 과제와, 그렇게 이전된 '개인 자산과 기업 지분의 다음 세대로의 이전'이라는 2단계 과제가 맞물려 있는 복합적인 재무 프로젝트입니다.</a:t>
            </a:r>
            <a:endParaRPr lang="en-US" sz="1050" dirty="0"/>
          </a:p>
        </p:txBody>
      </p:sp>
      <p:sp>
        <p:nvSpPr>
          <p:cNvPr id="11" name="Shape 9"/>
          <p:cNvSpPr/>
          <p:nvPr/>
        </p:nvSpPr>
        <p:spPr>
          <a:xfrm>
            <a:off x="457200" y="3197945"/>
            <a:ext cx="8229600" cy="1509522"/>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3197945"/>
            <a:ext cx="54864" cy="1509522"/>
          </a:xfrm>
          <a:prstGeom prst="rect">
            <a:avLst/>
          </a:prstGeom>
          <a:solidFill>
            <a:srgbClr val="C8962E"/>
          </a:solidFill>
          <a:ln/>
        </p:spPr>
        <p:txBody>
          <a:bodyPr/>
          <a:lstStyle/>
          <a:p>
            <a:endParaRPr lang="ko-KR" altLang="en-US"/>
          </a:p>
        </p:txBody>
      </p:sp>
      <p:sp>
        <p:nvSpPr>
          <p:cNvPr id="13" name="Text 11"/>
          <p:cNvSpPr/>
          <p:nvPr/>
        </p:nvSpPr>
        <p:spPr>
          <a:xfrm>
            <a:off x="640080" y="3271097"/>
            <a:ext cx="7863840" cy="292608"/>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 보고서의 핵심 전략: Legacy Project</a:t>
            </a:r>
            <a:endParaRPr lang="en-US" sz="1300" dirty="0"/>
          </a:p>
        </p:txBody>
      </p:sp>
      <p:sp>
        <p:nvSpPr>
          <p:cNvPr id="14" name="Text 12"/>
          <p:cNvSpPr/>
          <p:nvPr/>
        </p:nvSpPr>
        <p:spPr>
          <a:xfrm>
            <a:off x="640080" y="3545417"/>
            <a:ext cx="7863840" cy="1005840"/>
          </a:xfrm>
          <a:prstGeom prst="rect">
            <a:avLst/>
          </a:prstGeom>
          <a:noFill/>
          <a:ln/>
        </p:spPr>
        <p:txBody>
          <a:bodyPr wrap="square" rtlCol="0" anchor="t"/>
          <a:lstStyle/>
          <a:p>
            <a:pPr marL="0" indent="0">
              <a:lnSpc>
                <a:spcPct val="120000"/>
              </a:lnSpc>
              <a:buNone/>
            </a:pPr>
            <a:r>
              <a:rPr lang="en-US" sz="1050" dirty="0">
                <a:solidFill>
                  <a:srgbClr val="2B2B2B"/>
                </a:solidFill>
                <a:latin typeface="맑은 고딕" pitchFamily="34" charset="0"/>
                <a:ea typeface="맑은 고딕" pitchFamily="34" charset="-122"/>
                <a:cs typeface="맑은 고딕" pitchFamily="34" charset="-120"/>
              </a:rPr>
              <a:t>본 보고서는 이 중차대한 레거시 프로젝트(Legacy Project)를 성공적으로 완수하기 위한 종합적인 마스터플랜을 제시합니다.</a:t>
            </a:r>
            <a:endParaRPr lang="en-US" sz="1050" dirty="0"/>
          </a:p>
          <a:p>
            <a:pPr marL="0" indent="0">
              <a:lnSpc>
                <a:spcPct val="120000"/>
              </a:lnSpc>
              <a:buNone/>
            </a:pPr>
            <a:r>
              <a:rPr lang="en-US" sz="1000" dirty="0">
                <a:solidFill>
                  <a:srgbClr val="2B2B2B"/>
                </a:solidFill>
                <a:latin typeface="맑은 고딕" pitchFamily="34" charset="0"/>
                <a:ea typeface="맑은 고딕" pitchFamily="34" charset="-122"/>
                <a:cs typeface="맑은 고딕" pitchFamily="34" charset="-120"/>
              </a:rPr>
              <a:t>• 1단계: 법인의 재원을 활용하여 대표님의 은퇴 후 현금흐름을 확보하는 가장 효율적인 방법을 설계합니다.</a:t>
            </a:r>
            <a:endParaRPr lang="en-US" sz="1050" dirty="0"/>
          </a:p>
          <a:p>
            <a:pPr marL="0" indent="0">
              <a:lnSpc>
                <a:spcPct val="120000"/>
              </a:lnSpc>
              <a:buNone/>
            </a:pPr>
            <a:r>
              <a:rPr lang="en-US" sz="1000" dirty="0">
                <a:solidFill>
                  <a:srgbClr val="2B2B2B"/>
                </a:solidFill>
                <a:latin typeface="맑은 고딕" pitchFamily="34" charset="0"/>
                <a:ea typeface="맑은 고딕" pitchFamily="34" charset="-122"/>
                <a:cs typeface="맑은 고딕" pitchFamily="34" charset="-120"/>
              </a:rPr>
              <a:t>• 2단계: 확보된 개인 자산과 기업 지분을 어떻게 세금 부담을 최소화하며 자녀에게 이전할 것인지에 대한 장기적인 로드맵을 구체적인 숫자로 보여드립니다.</a:t>
            </a:r>
            <a:endParaRPr lang="en-US" sz="1050" dirty="0"/>
          </a:p>
          <a:p>
            <a:pPr marL="0" indent="0">
              <a:lnSpc>
                <a:spcPct val="120000"/>
              </a:lnSpc>
              <a:buNone/>
            </a:pPr>
            <a:r>
              <a:rPr lang="en-US" sz="1050" dirty="0">
                <a:solidFill>
                  <a:srgbClr val="2B2B2B"/>
                </a:solidFill>
                <a:latin typeface="맑은 고딕" pitchFamily="34" charset="0"/>
                <a:ea typeface="맑은 고딕" pitchFamily="34" charset="-122"/>
                <a:cs typeface="맑은 고딕" pitchFamily="34" charset="-120"/>
              </a:rPr>
              <a:t>이 보고서는 대표님의 성공적인 은퇴와 기업의 영속성을 동시에 달성하는 가장 확실한 내비게이션이 될 것입니다.</a:t>
            </a:r>
            <a:endParaRPr lang="en-US" sz="1050" dirty="0"/>
          </a:p>
        </p:txBody>
      </p:sp>
      <p:sp>
        <p:nvSpPr>
          <p:cNvPr id="15" name="Text 1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6" name="Text 1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 / 28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03</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기업개요</a:t>
            </a:r>
            <a:endParaRPr lang="en-US" sz="1600" dirty="0"/>
          </a:p>
        </p:txBody>
      </p:sp>
      <p:sp>
        <p:nvSpPr>
          <p:cNvPr id="5" name="Text 3"/>
          <p:cNvSpPr/>
          <p:nvPr/>
        </p:nvSpPr>
        <p:spPr>
          <a:xfrm>
            <a:off x="457200" y="685800"/>
            <a:ext cx="8229600" cy="36576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법인 기본 정보 (가상 기업)</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3314225116"/>
              </p:ext>
            </p:extLst>
          </p:nvPr>
        </p:nvGraphicFramePr>
        <p:xfrm>
          <a:off x="457200" y="1143000"/>
          <a:ext cx="8229600" cy="2779776"/>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47472">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내용</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법인명</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(주)글로벌로지스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대표이사</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최경호 (만 63세)</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설립일</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1995년 9월 20일 (업력 30년)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업종</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국제물류 주선업 (포워딩)</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소재지</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서울시 마포구</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주주 구성</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대표이사 최경호 80%, 장남(후계자) 10%, 기타 10%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47472">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임직원 수</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150명</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3 / 28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04</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 기업개요</a:t>
            </a:r>
            <a:endParaRPr lang="en-US" sz="1600" dirty="0"/>
          </a:p>
        </p:txBody>
      </p:sp>
      <p:sp>
        <p:nvSpPr>
          <p:cNvPr id="5" name="Text 3"/>
          <p:cNvSpPr/>
          <p:nvPr/>
        </p:nvSpPr>
        <p:spPr>
          <a:xfrm>
            <a:off x="457200" y="685800"/>
            <a:ext cx="8229600" cy="36576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사업 영역 및 핵심 경쟁력 분석</a:t>
            </a:r>
            <a:endParaRPr lang="en-US" sz="1400" dirty="0"/>
          </a:p>
        </p:txBody>
      </p:sp>
      <p:sp>
        <p:nvSpPr>
          <p:cNvPr id="6" name="Shape 4"/>
          <p:cNvSpPr/>
          <p:nvPr/>
        </p:nvSpPr>
        <p:spPr>
          <a:xfrm>
            <a:off x="457200" y="1188720"/>
            <a:ext cx="8229600" cy="2956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88720"/>
            <a:ext cx="54864" cy="2956560"/>
          </a:xfrm>
          <a:prstGeom prst="rect">
            <a:avLst/>
          </a:prstGeom>
          <a:solidFill>
            <a:srgbClr val="C8962E"/>
          </a:solidFill>
          <a:ln/>
        </p:spPr>
        <p:txBody>
          <a:bodyPr/>
          <a:lstStyle/>
          <a:p>
            <a:endParaRPr lang="ko-KR" altLang="en-US"/>
          </a:p>
        </p:txBody>
      </p:sp>
      <p:sp>
        <p:nvSpPr>
          <p:cNvPr id="8" name="Text 6"/>
          <p:cNvSpPr/>
          <p:nvPr/>
        </p:nvSpPr>
        <p:spPr>
          <a:xfrm>
            <a:off x="640080" y="1376172"/>
            <a:ext cx="7863840" cy="27432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주요 사업</a:t>
            </a:r>
            <a:endParaRPr lang="en-US" sz="1200" dirty="0"/>
          </a:p>
        </p:txBody>
      </p:sp>
      <p:sp>
        <p:nvSpPr>
          <p:cNvPr id="9" name="Text 7"/>
          <p:cNvSpPr/>
          <p:nvPr/>
        </p:nvSpPr>
        <p:spPr>
          <a:xfrm>
            <a:off x="640080" y="1650492"/>
            <a:ext cx="7863840" cy="274320"/>
          </a:xfrm>
          <a:prstGeom prst="rect">
            <a:avLst/>
          </a:prstGeom>
          <a:noFill/>
          <a:ln/>
        </p:spPr>
        <p:txBody>
          <a:bodyPr wrap="square" rtlCol="0" anchor="ctr"/>
          <a:lstStyle/>
          <a:p>
            <a:pPr marL="0" indent="0">
              <a:buNone/>
            </a:pPr>
            <a:r>
              <a:rPr lang="en-US" sz="1050" dirty="0">
                <a:solidFill>
                  <a:srgbClr val="2B2B2B"/>
                </a:solidFill>
                <a:latin typeface="맑은 고딕" pitchFamily="34" charset="0"/>
                <a:ea typeface="맑은 고딕" pitchFamily="34" charset="-122"/>
                <a:cs typeface="맑은 고딕" pitchFamily="34" charset="-120"/>
              </a:rPr>
              <a:t>해상 및 항공 수출입 화물에 대한 종합 물류 서비스 제공.</a:t>
            </a:r>
            <a:endParaRPr lang="en-US" sz="1050" dirty="0"/>
          </a:p>
        </p:txBody>
      </p:sp>
      <p:sp>
        <p:nvSpPr>
          <p:cNvPr id="10" name="Shape 8"/>
          <p:cNvSpPr/>
          <p:nvPr/>
        </p:nvSpPr>
        <p:spPr>
          <a:xfrm>
            <a:off x="640080" y="2016252"/>
            <a:ext cx="7863840" cy="9144"/>
          </a:xfrm>
          <a:prstGeom prst="rect">
            <a:avLst/>
          </a:prstGeom>
          <a:solidFill>
            <a:srgbClr val="E2E8F0"/>
          </a:solidFill>
          <a:ln/>
        </p:spPr>
        <p:txBody>
          <a:bodyPr/>
          <a:lstStyle/>
          <a:p>
            <a:endParaRPr lang="ko-KR" altLang="en-US"/>
          </a:p>
        </p:txBody>
      </p:sp>
      <p:sp>
        <p:nvSpPr>
          <p:cNvPr id="11" name="Text 9"/>
          <p:cNvSpPr/>
          <p:nvPr/>
        </p:nvSpPr>
        <p:spPr>
          <a:xfrm>
            <a:off x="640080" y="2107692"/>
            <a:ext cx="7863840" cy="27432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핵심 경쟁력</a:t>
            </a:r>
            <a:endParaRPr lang="en-US" sz="1200" dirty="0"/>
          </a:p>
        </p:txBody>
      </p:sp>
      <p:sp>
        <p:nvSpPr>
          <p:cNvPr id="12" name="Text 10"/>
          <p:cNvSpPr/>
          <p:nvPr/>
        </p:nvSpPr>
        <p:spPr>
          <a:xfrm>
            <a:off x="640080" y="2382012"/>
            <a:ext cx="7863840" cy="457200"/>
          </a:xfrm>
          <a:prstGeom prst="rect">
            <a:avLst/>
          </a:prstGeom>
          <a:noFill/>
          <a:ln/>
        </p:spPr>
        <p:txBody>
          <a:bodyPr wrap="square" rtlCol="0" anchor="ctr"/>
          <a:lstStyle/>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30년간 구축한 해외 파트너 네트워크와 대기업 고객과의 장기적인 신뢰 관계. 안정적인 현금흐름과 높은 이익률을 바탕으로 한 무차입 경영.</a:t>
            </a:r>
            <a:endParaRPr lang="en-US" sz="1050" dirty="0"/>
          </a:p>
        </p:txBody>
      </p:sp>
      <p:sp>
        <p:nvSpPr>
          <p:cNvPr id="13" name="Shape 11"/>
          <p:cNvSpPr/>
          <p:nvPr/>
        </p:nvSpPr>
        <p:spPr>
          <a:xfrm>
            <a:off x="640080" y="2930652"/>
            <a:ext cx="7863840" cy="9144"/>
          </a:xfrm>
          <a:prstGeom prst="rect">
            <a:avLst/>
          </a:prstGeom>
          <a:solidFill>
            <a:srgbClr val="E2E8F0"/>
          </a:solidFill>
          <a:ln/>
        </p:spPr>
        <p:txBody>
          <a:bodyPr/>
          <a:lstStyle/>
          <a:p>
            <a:endParaRPr lang="ko-KR" altLang="en-US"/>
          </a:p>
        </p:txBody>
      </p:sp>
      <p:sp>
        <p:nvSpPr>
          <p:cNvPr id="14" name="Text 12"/>
          <p:cNvSpPr/>
          <p:nvPr/>
        </p:nvSpPr>
        <p:spPr>
          <a:xfrm>
            <a:off x="640080" y="3022092"/>
            <a:ext cx="7863840" cy="27432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가족 및 승계 계획</a:t>
            </a:r>
            <a:endParaRPr lang="en-US" sz="1200" dirty="0"/>
          </a:p>
        </p:txBody>
      </p:sp>
      <p:sp>
        <p:nvSpPr>
          <p:cNvPr id="15" name="Text 13"/>
          <p:cNvSpPr/>
          <p:nvPr/>
        </p:nvSpPr>
        <p:spPr>
          <a:xfrm>
            <a:off x="640080" y="3314700"/>
            <a:ext cx="7863840" cy="640080"/>
          </a:xfrm>
          <a:prstGeom prst="rect">
            <a:avLst/>
          </a:prstGeom>
          <a:noFill/>
          <a:ln/>
        </p:spPr>
        <p:txBody>
          <a:bodyPr wrap="square" rtlCol="0" anchor="t"/>
          <a:lstStyle/>
          <a:p>
            <a:pPr marL="0" indent="0">
              <a:lnSpc>
                <a:spcPct val="140000"/>
              </a:lnSpc>
              <a:buNone/>
            </a:pPr>
            <a:r>
              <a:rPr lang="en-US" sz="1050" dirty="0">
                <a:solidFill>
                  <a:srgbClr val="2B2B2B"/>
                </a:solidFill>
                <a:latin typeface="맑은 고딕" pitchFamily="34" charset="0"/>
                <a:ea typeface="맑은 고딕" pitchFamily="34" charset="-122"/>
                <a:cs typeface="맑은 고딕" pitchFamily="34" charset="-120"/>
              </a:rPr>
              <a:t>✔ 장남(만 38세): 부사장으로 12년째 경영 수업 중. 사실상 후계자로 내정.</a:t>
            </a:r>
            <a:endParaRPr lang="en-US" sz="1050" dirty="0"/>
          </a:p>
          <a:p>
            <a:pPr marL="0" indent="0">
              <a:lnSpc>
                <a:spcPct val="140000"/>
              </a:lnSpc>
              <a:buNone/>
            </a:pPr>
            <a:r>
              <a:rPr lang="en-US" sz="1050" dirty="0">
                <a:solidFill>
                  <a:srgbClr val="2B2B2B"/>
                </a:solidFill>
                <a:latin typeface="맑은 고딕" pitchFamily="34" charset="0"/>
                <a:ea typeface="맑은 고딕" pitchFamily="34" charset="-122"/>
                <a:cs typeface="맑은 고딕" pitchFamily="34" charset="-120"/>
              </a:rPr>
              <a:t>✔ 장녀(만 35세): 교육계에 종사하며 회사 경영에는 참여하고 있지 않음.</a:t>
            </a:r>
            <a:endParaRPr lang="en-US" sz="10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4 / 28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05</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 기업 현황 및 CEO Needs 심층 진단</a:t>
            </a:r>
            <a:endParaRPr lang="en-US" sz="1600" dirty="0"/>
          </a:p>
        </p:txBody>
      </p:sp>
      <p:sp>
        <p:nvSpPr>
          <p:cNvPr id="5" name="Text 3"/>
          <p:cNvSpPr/>
          <p:nvPr/>
        </p:nvSpPr>
        <p:spPr>
          <a:xfrm>
            <a:off x="457200" y="685800"/>
            <a:ext cx="8229600" cy="36576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재무구조 정밀 분석</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281339122"/>
              </p:ext>
            </p:extLst>
          </p:nvPr>
        </p:nvGraphicFramePr>
        <p:xfrm>
          <a:off x="457200" y="1143000"/>
          <a:ext cx="8229600" cy="192024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384048">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계정과목 (단위: 억 원)</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2023년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2024년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2025년 (추정)</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비고</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84048">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매출액</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220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240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250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안정적 캐시카우</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당기순이익</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18</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19</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고수익성 유지</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84048">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미처분이익잉여금</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150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169</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189</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주식가치 상승 및 잠재적 배당 압력</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순자산가치 (추정)</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220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245</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270</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bl>
          </a:graphicData>
        </a:graphic>
      </p:graphicFrame>
      <p:sp>
        <p:nvSpPr>
          <p:cNvPr id="7" name="Shape 4"/>
          <p:cNvSpPr/>
          <p:nvPr/>
        </p:nvSpPr>
        <p:spPr>
          <a:xfrm>
            <a:off x="457200" y="3429000"/>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8" name="Shape 5"/>
          <p:cNvSpPr/>
          <p:nvPr/>
        </p:nvSpPr>
        <p:spPr>
          <a:xfrm>
            <a:off x="457200" y="3429000"/>
            <a:ext cx="54864" cy="1188720"/>
          </a:xfrm>
          <a:prstGeom prst="rect">
            <a:avLst/>
          </a:prstGeom>
          <a:solidFill>
            <a:srgbClr val="C8962E"/>
          </a:solidFill>
          <a:ln/>
        </p:spPr>
        <p:txBody>
          <a:bodyPr/>
          <a:lstStyle/>
          <a:p>
            <a:endParaRPr lang="ko-KR" altLang="en-US"/>
          </a:p>
        </p:txBody>
      </p:sp>
      <p:sp>
        <p:nvSpPr>
          <p:cNvPr id="9" name="Text 6"/>
          <p:cNvSpPr/>
          <p:nvPr/>
        </p:nvSpPr>
        <p:spPr>
          <a:xfrm>
            <a:off x="640080" y="3502152"/>
            <a:ext cx="7863840" cy="27432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분석</a:t>
            </a:r>
            <a:endParaRPr lang="en-US" sz="1200" dirty="0"/>
          </a:p>
        </p:txBody>
      </p:sp>
      <p:sp>
        <p:nvSpPr>
          <p:cNvPr id="10" name="Text 7"/>
          <p:cNvSpPr/>
          <p:nvPr/>
        </p:nvSpPr>
        <p:spPr>
          <a:xfrm>
            <a:off x="640080" y="3749040"/>
            <a:ext cx="7863840" cy="777240"/>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회사는 매년 20억 원에 가까운 현금을 창출하는 건실한 '</a:t>
            </a:r>
            <a:r>
              <a:rPr lang="en-US" sz="1000" dirty="0" err="1">
                <a:solidFill>
                  <a:srgbClr val="2B2B2B"/>
                </a:solidFill>
                <a:latin typeface="맑은 고딕" pitchFamily="34" charset="0"/>
                <a:ea typeface="맑은 고딕" pitchFamily="34" charset="-122"/>
                <a:cs typeface="맑은 고딕" pitchFamily="34" charset="-120"/>
              </a:rPr>
              <a:t>캐시카우'입니다</a:t>
            </a:r>
            <a:r>
              <a:rPr lang="en-US" sz="1000" dirty="0">
                <a:solidFill>
                  <a:srgbClr val="2B2B2B"/>
                </a:solidFill>
                <a:latin typeface="맑은 고딕" pitchFamily="34" charset="0"/>
                <a:ea typeface="맑은 고딕" pitchFamily="34" charset="-122"/>
                <a:cs typeface="맑은 고딕" pitchFamily="34" charset="-120"/>
              </a:rPr>
              <a:t>.</a:t>
            </a:r>
          </a:p>
          <a:p>
            <a:pPr marL="0" indent="0">
              <a:lnSpc>
                <a:spcPct val="130000"/>
              </a:lnSpc>
              <a:buNone/>
            </a:pPr>
            <a:r>
              <a:rPr lang="en-US" sz="1000" dirty="0" err="1">
                <a:solidFill>
                  <a:srgbClr val="2B2B2B"/>
                </a:solidFill>
                <a:latin typeface="맑은 고딕" pitchFamily="34" charset="0"/>
                <a:ea typeface="맑은 고딕" pitchFamily="34" charset="-122"/>
                <a:cs typeface="맑은 고딕" pitchFamily="34" charset="-120"/>
              </a:rPr>
              <a:t>이는</a:t>
            </a:r>
            <a:r>
              <a:rPr lang="en-US" sz="1000" dirty="0">
                <a:solidFill>
                  <a:srgbClr val="2B2B2B"/>
                </a:solidFill>
                <a:latin typeface="맑은 고딕" pitchFamily="34" charset="0"/>
                <a:ea typeface="맑은 고딕" pitchFamily="34" charset="-122"/>
                <a:cs typeface="맑은 고딕" pitchFamily="34" charset="-120"/>
              </a:rPr>
              <a:t> CEO 퇴직금 재원을 마련하고 장기적인 승계 플랜을 실행할 충분한 재무적 체력이 있음을 방증합니다.</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그러나 동시에, 급증하는 이익잉여금은 주식 가치를 끌어올려 상속세 부담을 가중시키는 양날의 검으로 작용하고 있습니다.</a:t>
            </a:r>
            <a:endParaRPr lang="en-US" sz="1000" dirty="0"/>
          </a:p>
        </p:txBody>
      </p:sp>
      <p:sp>
        <p:nvSpPr>
          <p:cNvPr id="11"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2"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5 / 28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06</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 기업 현황 및 CEO Needs 심층 진단</a:t>
            </a:r>
            <a:endParaRPr lang="en-US" sz="1600" dirty="0"/>
          </a:p>
        </p:txBody>
      </p:sp>
      <p:sp>
        <p:nvSpPr>
          <p:cNvPr id="5" name="Text 3"/>
          <p:cNvSpPr/>
          <p:nvPr/>
        </p:nvSpPr>
        <p:spPr>
          <a:xfrm>
            <a:off x="457200" y="685800"/>
            <a:ext cx="8229600" cy="36576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CEO Needs 및 경영 목표 분석</a:t>
            </a:r>
            <a:endParaRPr lang="en-US" sz="1400" dirty="0"/>
          </a:p>
        </p:txBody>
      </p:sp>
      <p:sp>
        <p:nvSpPr>
          <p:cNvPr id="6" name="Shape 4"/>
          <p:cNvSpPr/>
          <p:nvPr/>
        </p:nvSpPr>
        <p:spPr>
          <a:xfrm>
            <a:off x="457200" y="1188720"/>
            <a:ext cx="8229600" cy="79552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88720"/>
            <a:ext cx="54864" cy="795528"/>
          </a:xfrm>
          <a:prstGeom prst="rect">
            <a:avLst/>
          </a:prstGeom>
          <a:solidFill>
            <a:srgbClr val="C8962E"/>
          </a:solidFill>
          <a:ln/>
        </p:spPr>
        <p:txBody>
          <a:bodyPr/>
          <a:lstStyle/>
          <a:p>
            <a:endParaRPr lang="ko-KR" altLang="en-US"/>
          </a:p>
        </p:txBody>
      </p:sp>
      <p:sp>
        <p:nvSpPr>
          <p:cNvPr id="8" name="Text 6"/>
          <p:cNvSpPr/>
          <p:nvPr/>
        </p:nvSpPr>
        <p:spPr>
          <a:xfrm>
            <a:off x="640080" y="1234440"/>
            <a:ext cx="7863840" cy="256032"/>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CEO 개인 목표</a:t>
            </a:r>
            <a:endParaRPr lang="en-US" sz="1200" dirty="0"/>
          </a:p>
        </p:txBody>
      </p:sp>
      <p:sp>
        <p:nvSpPr>
          <p:cNvPr id="9" name="Text 7"/>
          <p:cNvSpPr/>
          <p:nvPr/>
        </p:nvSpPr>
        <p:spPr>
          <a:xfrm>
            <a:off x="640080" y="1490472"/>
            <a:ext cx="7863840" cy="320040"/>
          </a:xfrm>
          <a:prstGeom prst="rect">
            <a:avLst/>
          </a:prstGeom>
          <a:noFill/>
          <a:ln/>
        </p:spPr>
        <p:txBody>
          <a:bodyPr wrap="square" rtlCol="0" anchor="t"/>
          <a:lstStyle/>
          <a:p>
            <a:pPr marL="0" indent="0">
              <a:lnSpc>
                <a:spcPct val="120000"/>
              </a:lnSpc>
              <a:buNone/>
            </a:pPr>
            <a:r>
              <a:rPr lang="en-US" sz="1000" dirty="0">
                <a:solidFill>
                  <a:srgbClr val="2B2B2B"/>
                </a:solidFill>
                <a:latin typeface="맑은 고딕" pitchFamily="34" charset="0"/>
                <a:ea typeface="맑은 고딕" pitchFamily="34" charset="-122"/>
                <a:cs typeface="맑은 고딕" pitchFamily="34" charset="-120"/>
              </a:rPr>
              <a:t>68세에 은퇴 후, 아내와 함께 경제적 걱정 없이 세계 여행 등을 즐기며 살고 싶어 함. 평생 일군 부를 자녀들에게 공평하고 지혜롭게 물려주고 싶어 함.</a:t>
            </a:r>
            <a:endParaRPr lang="en-US" sz="1000" dirty="0"/>
          </a:p>
        </p:txBody>
      </p:sp>
      <p:sp>
        <p:nvSpPr>
          <p:cNvPr id="10" name="Shape 8"/>
          <p:cNvSpPr/>
          <p:nvPr/>
        </p:nvSpPr>
        <p:spPr>
          <a:xfrm>
            <a:off x="457200" y="2103120"/>
            <a:ext cx="8229600" cy="5943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103120"/>
            <a:ext cx="54864" cy="594360"/>
          </a:xfrm>
          <a:prstGeom prst="rect">
            <a:avLst/>
          </a:prstGeom>
          <a:solidFill>
            <a:srgbClr val="C8962E"/>
          </a:solidFill>
          <a:ln/>
        </p:spPr>
        <p:txBody>
          <a:bodyPr/>
          <a:lstStyle/>
          <a:p>
            <a:endParaRPr lang="ko-KR" altLang="en-US"/>
          </a:p>
        </p:txBody>
      </p:sp>
      <p:sp>
        <p:nvSpPr>
          <p:cNvPr id="12" name="Text 10"/>
          <p:cNvSpPr/>
          <p:nvPr/>
        </p:nvSpPr>
        <p:spPr>
          <a:xfrm>
            <a:off x="640080" y="2148840"/>
            <a:ext cx="7863840" cy="256032"/>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기업 경영 목표</a:t>
            </a:r>
            <a:endParaRPr lang="en-US" sz="1200" dirty="0"/>
          </a:p>
        </p:txBody>
      </p:sp>
      <p:sp>
        <p:nvSpPr>
          <p:cNvPr id="13" name="Text 11"/>
          <p:cNvSpPr/>
          <p:nvPr/>
        </p:nvSpPr>
        <p:spPr>
          <a:xfrm>
            <a:off x="640080" y="2404872"/>
            <a:ext cx="7863840" cy="274320"/>
          </a:xfrm>
          <a:prstGeom prst="rect">
            <a:avLst/>
          </a:prstGeom>
          <a:noFill/>
          <a:ln/>
        </p:spPr>
        <p:txBody>
          <a:bodyPr wrap="square" rtlCol="0" anchor="t"/>
          <a:lstStyle/>
          <a:p>
            <a:pPr marL="0" indent="0">
              <a:lnSpc>
                <a:spcPct val="120000"/>
              </a:lnSpc>
              <a:buNone/>
            </a:pPr>
            <a:r>
              <a:rPr lang="en-US" sz="1000" dirty="0">
                <a:solidFill>
                  <a:srgbClr val="2B2B2B"/>
                </a:solidFill>
                <a:latin typeface="맑은 고딕" pitchFamily="34" charset="0"/>
                <a:ea typeface="맑은 고딕" pitchFamily="34" charset="-122"/>
                <a:cs typeface="맑은 고딕" pitchFamily="34" charset="-120"/>
              </a:rPr>
              <a:t>아들이 안정적으로 회사를 이끌어갈 수 있는 지배구조를 확립하고, 본인의 은퇴가 회사 성장에 걸림돌이 되지 않도록 하는 것.</a:t>
            </a:r>
            <a:endParaRPr lang="en-US" sz="1000" dirty="0"/>
          </a:p>
        </p:txBody>
      </p:sp>
      <p:sp>
        <p:nvSpPr>
          <p:cNvPr id="14" name="Shape 12"/>
          <p:cNvSpPr/>
          <p:nvPr/>
        </p:nvSpPr>
        <p:spPr>
          <a:xfrm>
            <a:off x="457200" y="2816352"/>
            <a:ext cx="8229600" cy="12344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457200" y="2816352"/>
            <a:ext cx="54864" cy="1234440"/>
          </a:xfrm>
          <a:prstGeom prst="rect">
            <a:avLst/>
          </a:prstGeom>
          <a:solidFill>
            <a:srgbClr val="4A5568"/>
          </a:solidFill>
          <a:ln/>
        </p:spPr>
        <p:txBody>
          <a:bodyPr/>
          <a:lstStyle/>
          <a:p>
            <a:endParaRPr lang="ko-KR" altLang="en-US"/>
          </a:p>
        </p:txBody>
      </p:sp>
      <p:sp>
        <p:nvSpPr>
          <p:cNvPr id="16" name="Text 14"/>
          <p:cNvSpPr/>
          <p:nvPr/>
        </p:nvSpPr>
        <p:spPr>
          <a:xfrm>
            <a:off x="640080" y="2862072"/>
            <a:ext cx="7863840" cy="256032"/>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CEO 애로사항</a:t>
            </a:r>
            <a:endParaRPr lang="en-US" sz="1200" dirty="0"/>
          </a:p>
        </p:txBody>
      </p:sp>
      <p:sp>
        <p:nvSpPr>
          <p:cNvPr id="17" name="Shape 15"/>
          <p:cNvSpPr/>
          <p:nvPr/>
        </p:nvSpPr>
        <p:spPr>
          <a:xfrm>
            <a:off x="640080" y="3163824"/>
            <a:ext cx="7863840" cy="822960"/>
          </a:xfrm>
          <a:prstGeom prst="rect">
            <a:avLst/>
          </a:prstGeom>
          <a:solidFill>
            <a:srgbClr val="EEF2F7"/>
          </a:solidFill>
          <a:ln/>
        </p:spPr>
        <p:txBody>
          <a:bodyPr/>
          <a:lstStyle/>
          <a:p>
            <a:endParaRPr lang="ko-KR" altLang="en-US"/>
          </a:p>
        </p:txBody>
      </p:sp>
      <p:sp>
        <p:nvSpPr>
          <p:cNvPr id="18" name="Text 16"/>
          <p:cNvSpPr/>
          <p:nvPr/>
        </p:nvSpPr>
        <p:spPr>
          <a:xfrm>
            <a:off x="731520" y="3182112"/>
            <a:ext cx="7680960" cy="777240"/>
          </a:xfrm>
          <a:prstGeom prst="rect">
            <a:avLst/>
          </a:prstGeom>
          <a:noFill/>
          <a:ln/>
        </p:spPr>
        <p:txBody>
          <a:bodyPr wrap="square" rtlCol="0" anchor="t"/>
          <a:lstStyle/>
          <a:p>
            <a:pPr marL="0" indent="0">
              <a:lnSpc>
                <a:spcPct val="130000"/>
              </a:lnSpc>
              <a:buNone/>
            </a:pPr>
            <a:r>
              <a:rPr lang="en-US" sz="1000" i="1" dirty="0">
                <a:solidFill>
                  <a:srgbClr val="4A5568"/>
                </a:solidFill>
                <a:latin typeface="맑은 고딕" pitchFamily="34" charset="0"/>
                <a:ea typeface="맑은 고딕" pitchFamily="34" charset="-122"/>
                <a:cs typeface="맑은 고딕" pitchFamily="34" charset="-120"/>
              </a:rPr>
              <a:t>"평생 회사만 보고 살아서 내 개인 통장에는 돈이 별로 없어요. 은퇴하려면 회사에서 돈을 받아야 하는데, 세금도 무섭고 아들한테 부담 주기도 싫고... 또 아들한테 회사를 물려주면 딸한테는 뭘 줘야 할지도 고민이고... 어디서부터 풀어야 할지 모르겠습니다."</a:t>
            </a:r>
            <a:endParaRPr lang="en-US" sz="1000" dirty="0"/>
          </a:p>
        </p:txBody>
      </p:sp>
      <p:sp>
        <p:nvSpPr>
          <p:cNvPr id="19" name="Text 1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6 / 28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07</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Executive Summary (경영자를 위한 핵심 요약)</a:t>
            </a:r>
            <a:endParaRPr lang="en-US" sz="1600" dirty="0"/>
          </a:p>
        </p:txBody>
      </p:sp>
      <p:sp>
        <p:nvSpPr>
          <p:cNvPr id="5" name="Shape 3"/>
          <p:cNvSpPr/>
          <p:nvPr/>
        </p:nvSpPr>
        <p:spPr>
          <a:xfrm>
            <a:off x="457200" y="685799"/>
            <a:ext cx="8229600" cy="1226312"/>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799"/>
            <a:ext cx="54864" cy="1226312"/>
          </a:xfrm>
          <a:prstGeom prst="rect">
            <a:avLst/>
          </a:prstGeom>
          <a:solidFill>
            <a:srgbClr val="C8962E"/>
          </a:solidFill>
          <a:ln/>
        </p:spPr>
        <p:txBody>
          <a:bodyPr/>
          <a:lstStyle/>
          <a:p>
            <a:endParaRPr lang="ko-KR" altLang="en-US"/>
          </a:p>
        </p:txBody>
      </p:sp>
      <p:sp>
        <p:nvSpPr>
          <p:cNvPr id="7" name="Text 5"/>
          <p:cNvSpPr/>
          <p:nvPr/>
        </p:nvSpPr>
        <p:spPr>
          <a:xfrm>
            <a:off x="640080" y="731520"/>
            <a:ext cx="7863840" cy="256032"/>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컨설팅 배경 및 목적</a:t>
            </a:r>
            <a:endParaRPr lang="en-US" sz="1200" dirty="0"/>
          </a:p>
        </p:txBody>
      </p:sp>
      <p:sp>
        <p:nvSpPr>
          <p:cNvPr id="8" name="Text 6"/>
          <p:cNvSpPr/>
          <p:nvPr/>
        </p:nvSpPr>
        <p:spPr>
          <a:xfrm>
            <a:off x="640080" y="987552"/>
            <a:ext cx="7863840" cy="640080"/>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창업 30주년을 맞은 대표님의 은퇴(5년 후 목표)가 가시화됨에 따라, 다음 두 가지 중대한 과제를 동시에 해결할 종합적인 재무 전략 수립이 시급합니다.</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① 대표님의 안정적인 노후 생활자금 확보</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② 후계자인 장남에게로의 안정적인 경영권 및 자산 승계</a:t>
            </a:r>
            <a:endParaRPr lang="en-US" sz="1000" dirty="0"/>
          </a:p>
        </p:txBody>
      </p:sp>
      <p:sp>
        <p:nvSpPr>
          <p:cNvPr id="9" name="Shape 7"/>
          <p:cNvSpPr/>
          <p:nvPr/>
        </p:nvSpPr>
        <p:spPr>
          <a:xfrm>
            <a:off x="457200" y="2004566"/>
            <a:ext cx="8229600" cy="1059349"/>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2004566"/>
            <a:ext cx="54864" cy="1059349"/>
          </a:xfrm>
          <a:prstGeom prst="rect">
            <a:avLst/>
          </a:prstGeom>
          <a:solidFill>
            <a:srgbClr val="D4382C"/>
          </a:solidFill>
          <a:ln/>
        </p:spPr>
        <p:txBody>
          <a:bodyPr/>
          <a:lstStyle/>
          <a:p>
            <a:endParaRPr lang="ko-KR" altLang="en-US"/>
          </a:p>
        </p:txBody>
      </p:sp>
      <p:sp>
        <p:nvSpPr>
          <p:cNvPr id="11" name="Text 9"/>
          <p:cNvSpPr/>
          <p:nvPr/>
        </p:nvSpPr>
        <p:spPr>
          <a:xfrm>
            <a:off x="640080" y="2050286"/>
            <a:ext cx="7863840" cy="256032"/>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현황 진단 핵심 요약 (As-Is)</a:t>
            </a:r>
            <a:endParaRPr lang="en-US" sz="1200" dirty="0"/>
          </a:p>
        </p:txBody>
      </p:sp>
      <p:sp>
        <p:nvSpPr>
          <p:cNvPr id="12" name="Text 10"/>
          <p:cNvSpPr/>
          <p:nvPr/>
        </p:nvSpPr>
        <p:spPr>
          <a:xfrm>
            <a:off x="640080" y="2306318"/>
            <a:ext cx="7863840" cy="1051560"/>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대표님의 개인 자산 대부분이 회사 주식에 묶여 있어, 은퇴 후 생활을 위해서는 회사 자금을 인출해야만 </a:t>
            </a:r>
            <a:r>
              <a:rPr lang="en-US" sz="1000" dirty="0" err="1">
                <a:solidFill>
                  <a:srgbClr val="2B2B2B"/>
                </a:solidFill>
                <a:latin typeface="맑은 고딕" pitchFamily="34" charset="0"/>
                <a:ea typeface="맑은 고딕" pitchFamily="34" charset="-122"/>
                <a:cs typeface="맑은 고딕" pitchFamily="34" charset="-120"/>
              </a:rPr>
              <a:t>합니다</a:t>
            </a:r>
            <a:r>
              <a:rPr lang="en-US" sz="1000" dirty="0">
                <a:solidFill>
                  <a:srgbClr val="2B2B2B"/>
                </a:solidFill>
                <a:latin typeface="맑은 고딕" pitchFamily="34" charset="0"/>
                <a:ea typeface="맑은 고딕" pitchFamily="34" charset="-122"/>
                <a:cs typeface="맑은 고딕" pitchFamily="34" charset="-120"/>
              </a:rPr>
              <a:t>.</a:t>
            </a:r>
            <a:r>
              <a:rPr lang="en-US" sz="1000" dirty="0"/>
              <a:t> </a:t>
            </a:r>
            <a:r>
              <a:rPr lang="en-US" sz="1000" dirty="0" err="1">
                <a:solidFill>
                  <a:srgbClr val="2B2B2B"/>
                </a:solidFill>
                <a:latin typeface="맑은 고딕" pitchFamily="34" charset="0"/>
                <a:ea typeface="맑은 고딕" pitchFamily="34" charset="-122"/>
                <a:cs typeface="맑은 고딕" pitchFamily="34" charset="-120"/>
              </a:rPr>
              <a:t>그러나</a:t>
            </a:r>
            <a:r>
              <a:rPr lang="en-US" sz="1000" dirty="0">
                <a:solidFill>
                  <a:srgbClr val="2B2B2B"/>
                </a:solidFill>
                <a:latin typeface="맑은 고딕" pitchFamily="34" charset="0"/>
                <a:ea typeface="맑은 고딕" pitchFamily="34" charset="-122"/>
                <a:cs typeface="맑은 고딕" pitchFamily="34" charset="-120"/>
              </a:rPr>
              <a:t> 사전 계획 없이 퇴직금이나 배당으로 인출할 경우, 막대한 세금(소득세, 건보료) 부담과 회사의 유동성 위축을 초래합니다. 또한, 약 200억 원에 달하는 주식 가치에 대한 상속세 계획이 전무하여, 대표님 유고 시 가업승계 자체가 무산될 수 있는 '시한폭탄'을 안고 있습니다.</a:t>
            </a:r>
            <a:endParaRPr lang="en-US" sz="1000" dirty="0"/>
          </a:p>
        </p:txBody>
      </p:sp>
      <p:sp>
        <p:nvSpPr>
          <p:cNvPr id="13" name="Shape 11"/>
          <p:cNvSpPr/>
          <p:nvPr/>
        </p:nvSpPr>
        <p:spPr>
          <a:xfrm>
            <a:off x="457200" y="3174321"/>
            <a:ext cx="8229600" cy="16459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457200" y="3174321"/>
            <a:ext cx="54864" cy="1645920"/>
          </a:xfrm>
          <a:prstGeom prst="rect">
            <a:avLst/>
          </a:prstGeom>
          <a:solidFill>
            <a:srgbClr val="1A6B4A"/>
          </a:solidFill>
          <a:ln/>
        </p:spPr>
        <p:txBody>
          <a:bodyPr/>
          <a:lstStyle/>
          <a:p>
            <a:endParaRPr lang="ko-KR" altLang="en-US"/>
          </a:p>
        </p:txBody>
      </p:sp>
      <p:sp>
        <p:nvSpPr>
          <p:cNvPr id="15" name="Text 13"/>
          <p:cNvSpPr/>
          <p:nvPr/>
        </p:nvSpPr>
        <p:spPr>
          <a:xfrm>
            <a:off x="640080" y="3220041"/>
            <a:ext cx="7863840" cy="256032"/>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솔루션 제안 핵심 요약 (To-Be)</a:t>
            </a:r>
            <a:endParaRPr lang="en-US" sz="1200" dirty="0"/>
          </a:p>
        </p:txBody>
      </p:sp>
      <p:sp>
        <p:nvSpPr>
          <p:cNvPr id="16" name="Text 14"/>
          <p:cNvSpPr/>
          <p:nvPr/>
        </p:nvSpPr>
        <p:spPr>
          <a:xfrm>
            <a:off x="640080" y="3466929"/>
            <a:ext cx="786384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'2-Stage CEO 레거시 플랜'</a:t>
            </a:r>
            <a:endParaRPr lang="en-US" sz="1100" dirty="0"/>
          </a:p>
        </p:txBody>
      </p:sp>
      <p:sp>
        <p:nvSpPr>
          <p:cNvPr id="17" name="Text 15"/>
          <p:cNvSpPr/>
          <p:nvPr/>
        </p:nvSpPr>
        <p:spPr>
          <a:xfrm>
            <a:off x="640080" y="3695529"/>
            <a:ext cx="7863840" cy="1051560"/>
          </a:xfrm>
          <a:prstGeom prst="rect">
            <a:avLst/>
          </a:prstGeom>
          <a:noFill/>
          <a:ln/>
        </p:spPr>
        <p:txBody>
          <a:bodyPr wrap="square" rtlCol="0" anchor="t"/>
          <a:lstStyle/>
          <a:p>
            <a:pPr marL="0" indent="0">
              <a:lnSpc>
                <a:spcPct val="120000"/>
              </a:lnSpc>
              <a:buNone/>
            </a:pPr>
            <a:r>
              <a:rPr lang="en-US" sz="950" b="1" dirty="0">
                <a:solidFill>
                  <a:srgbClr val="1B2A4A"/>
                </a:solidFill>
                <a:latin typeface="맑은 고딕" pitchFamily="34" charset="0"/>
                <a:ea typeface="맑은 고딕" pitchFamily="34" charset="-122"/>
                <a:cs typeface="맑은 고딕" pitchFamily="34" charset="-120"/>
              </a:rPr>
              <a:t>Stage 1 (은퇴 준비 / ~5년)</a:t>
            </a:r>
            <a:endParaRPr lang="en-US" sz="950" dirty="0"/>
          </a:p>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정관 정비를 통해 퇴직금 재원을 합법화하고, 향후 5년간 법인 자금으로 약 25억 원 규모의 CEO 퇴직금 재원을 준비하여 대표님의 '경제적 독립' 기반을 마련합니다. 이를 바탕으로 '다층형 은퇴소득 구조' (퇴직연금+배당소득+합법적 자문소득)를 설계합니다.</a:t>
            </a:r>
            <a:endParaRPr lang="en-US" sz="950" dirty="0"/>
          </a:p>
          <a:p>
            <a:pPr marL="0" indent="0">
              <a:lnSpc>
                <a:spcPct val="120000"/>
              </a:lnSpc>
              <a:buNone/>
            </a:pPr>
            <a:r>
              <a:rPr lang="en-US" sz="950" b="1" dirty="0">
                <a:solidFill>
                  <a:srgbClr val="1B2A4A"/>
                </a:solidFill>
                <a:latin typeface="맑은 고딕" pitchFamily="34" charset="0"/>
                <a:ea typeface="맑은 고딕" pitchFamily="34" charset="-122"/>
                <a:cs typeface="맑은 고딕" pitchFamily="34" charset="-120"/>
              </a:rPr>
              <a:t>Stage 2 (자산 이전 / ~15년)</a:t>
            </a:r>
            <a:endParaRPr lang="en-US" sz="950" dirty="0"/>
          </a:p>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확보된 개인 자산을 바탕으로, 조기 증여 플랜을 실행하여 자녀들의 증여세 부담을 최소화하고, 사망보험금을 통해 최종 상속세 납부 재원까지 완벽하게 준비합니다. 모든 과정은 실질과세 원칙을 철저히 준수하여 진행합니다.</a:t>
            </a:r>
            <a:endParaRPr lang="en-US" sz="950" dirty="0"/>
          </a:p>
        </p:txBody>
      </p:sp>
      <p:sp>
        <p:nvSpPr>
          <p:cNvPr id="18" name="Text 16"/>
          <p:cNvSpPr/>
          <p:nvPr/>
        </p:nvSpPr>
        <p:spPr>
          <a:xfrm>
            <a:off x="457200" y="4939791"/>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9" name="Text 17"/>
          <p:cNvSpPr/>
          <p:nvPr/>
        </p:nvSpPr>
        <p:spPr>
          <a:xfrm>
            <a:off x="7772400" y="4939791"/>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7 / 28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08</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III. Executive Summary (경영자를 위한 핵심 요약)</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기대효과 핵심 요약 (ROI)</a:t>
            </a:r>
            <a:endParaRPr lang="en-US" sz="1400" dirty="0"/>
          </a:p>
        </p:txBody>
      </p:sp>
      <p:sp>
        <p:nvSpPr>
          <p:cNvPr id="6" name="Shape 4"/>
          <p:cNvSpPr/>
          <p:nvPr/>
        </p:nvSpPr>
        <p:spPr>
          <a:xfrm>
            <a:off x="320040" y="1143000"/>
            <a:ext cx="2011680" cy="146304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7" name="Text 5"/>
          <p:cNvSpPr/>
          <p:nvPr/>
        </p:nvSpPr>
        <p:spPr>
          <a:xfrm>
            <a:off x="320040" y="1234440"/>
            <a:ext cx="2011680" cy="274320"/>
          </a:xfrm>
          <a:prstGeom prst="rect">
            <a:avLst/>
          </a:prstGeom>
          <a:noFill/>
          <a:ln/>
        </p:spPr>
        <p:txBody>
          <a:bodyPr wrap="square" rtlCol="0" anchor="ctr"/>
          <a:lstStyle/>
          <a:p>
            <a:pPr marL="0" indent="0" algn="ctr">
              <a:buNone/>
            </a:pPr>
            <a:r>
              <a:rPr lang="en-US" sz="900" dirty="0">
                <a:solidFill>
                  <a:srgbClr val="C8962E"/>
                </a:solidFill>
                <a:latin typeface="맑은 고딕" pitchFamily="34" charset="0"/>
                <a:ea typeface="맑은 고딕" pitchFamily="34" charset="-122"/>
                <a:cs typeface="맑은 고딕" pitchFamily="34" charset="-120"/>
              </a:rPr>
              <a:t>월 은퇴 소득</a:t>
            </a:r>
            <a:endParaRPr lang="en-US" sz="900" dirty="0"/>
          </a:p>
        </p:txBody>
      </p:sp>
      <p:sp>
        <p:nvSpPr>
          <p:cNvPr id="8" name="Text 6"/>
          <p:cNvSpPr/>
          <p:nvPr/>
        </p:nvSpPr>
        <p:spPr>
          <a:xfrm>
            <a:off x="320040" y="1554480"/>
            <a:ext cx="2011680" cy="54864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1,500만+</a:t>
            </a:r>
            <a:endParaRPr lang="en-US" sz="2800" dirty="0"/>
          </a:p>
        </p:txBody>
      </p:sp>
      <p:sp>
        <p:nvSpPr>
          <p:cNvPr id="9" name="Text 7"/>
          <p:cNvSpPr/>
          <p:nvPr/>
        </p:nvSpPr>
        <p:spPr>
          <a:xfrm>
            <a:off x="320040" y="2148840"/>
            <a:ext cx="2011680" cy="320040"/>
          </a:xfrm>
          <a:prstGeom prst="rect">
            <a:avLst/>
          </a:prstGeom>
          <a:noFill/>
          <a:ln/>
        </p:spPr>
        <p:txBody>
          <a:bodyPr wrap="square" rtlCol="0" anchor="ctr"/>
          <a:lstStyle/>
          <a:p>
            <a:pPr marL="0" indent="0" algn="ctr">
              <a:buNone/>
            </a:pPr>
            <a:r>
              <a:rPr lang="en-US" sz="850" dirty="0">
                <a:solidFill>
                  <a:srgbClr val="CBD5E1"/>
                </a:solidFill>
                <a:latin typeface="맑은 고딕" pitchFamily="34" charset="0"/>
                <a:ea typeface="맑은 고딕" pitchFamily="34" charset="-122"/>
                <a:cs typeface="맑은 고딕" pitchFamily="34" charset="-120"/>
              </a:rPr>
              <a:t>다층적 현금흐름 확보</a:t>
            </a:r>
            <a:endParaRPr lang="en-US" sz="850" dirty="0"/>
          </a:p>
        </p:txBody>
      </p:sp>
      <p:sp>
        <p:nvSpPr>
          <p:cNvPr id="10" name="Shape 8"/>
          <p:cNvSpPr/>
          <p:nvPr/>
        </p:nvSpPr>
        <p:spPr>
          <a:xfrm>
            <a:off x="2468880" y="1143000"/>
            <a:ext cx="2011680" cy="146304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1" name="Text 9"/>
          <p:cNvSpPr/>
          <p:nvPr/>
        </p:nvSpPr>
        <p:spPr>
          <a:xfrm>
            <a:off x="2468880" y="1234440"/>
            <a:ext cx="2011680" cy="274320"/>
          </a:xfrm>
          <a:prstGeom prst="rect">
            <a:avLst/>
          </a:prstGeom>
          <a:noFill/>
          <a:ln/>
        </p:spPr>
        <p:txBody>
          <a:bodyPr wrap="square" rtlCol="0" anchor="ctr"/>
          <a:lstStyle/>
          <a:p>
            <a:pPr marL="0" indent="0" algn="ctr">
              <a:buNone/>
            </a:pPr>
            <a:r>
              <a:rPr lang="en-US" sz="900" dirty="0">
                <a:solidFill>
                  <a:srgbClr val="C8962E"/>
                </a:solidFill>
                <a:latin typeface="맑은 고딕" pitchFamily="34" charset="0"/>
                <a:ea typeface="맑은 고딕" pitchFamily="34" charset="-122"/>
                <a:cs typeface="맑은 고딕" pitchFamily="34" charset="-120"/>
              </a:rPr>
              <a:t>예상 절세 효과</a:t>
            </a:r>
            <a:endParaRPr lang="en-US" sz="900" dirty="0"/>
          </a:p>
        </p:txBody>
      </p:sp>
      <p:sp>
        <p:nvSpPr>
          <p:cNvPr id="12" name="Text 10"/>
          <p:cNvSpPr/>
          <p:nvPr/>
        </p:nvSpPr>
        <p:spPr>
          <a:xfrm>
            <a:off x="2468880" y="1554480"/>
            <a:ext cx="2011680" cy="54864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50억+</a:t>
            </a:r>
            <a:endParaRPr lang="en-US" sz="2800" dirty="0"/>
          </a:p>
        </p:txBody>
      </p:sp>
      <p:sp>
        <p:nvSpPr>
          <p:cNvPr id="13" name="Text 11"/>
          <p:cNvSpPr/>
          <p:nvPr/>
        </p:nvSpPr>
        <p:spPr>
          <a:xfrm>
            <a:off x="2468880" y="2148840"/>
            <a:ext cx="2011680" cy="320040"/>
          </a:xfrm>
          <a:prstGeom prst="rect">
            <a:avLst/>
          </a:prstGeom>
          <a:noFill/>
          <a:ln/>
        </p:spPr>
        <p:txBody>
          <a:bodyPr wrap="square" rtlCol="0" anchor="ctr"/>
          <a:lstStyle/>
          <a:p>
            <a:pPr marL="0" indent="0" algn="ctr">
              <a:buNone/>
            </a:pPr>
            <a:r>
              <a:rPr lang="en-US" sz="850" dirty="0">
                <a:solidFill>
                  <a:srgbClr val="CBD5E1"/>
                </a:solidFill>
                <a:latin typeface="맑은 고딕" pitchFamily="34" charset="0"/>
                <a:ea typeface="맑은 고딕" pitchFamily="34" charset="-122"/>
                <a:cs typeface="맑은 고딕" pitchFamily="34" charset="-120"/>
              </a:rPr>
              <a:t>증여/상속세/법인세 절감</a:t>
            </a:r>
            <a:endParaRPr lang="en-US" sz="850" dirty="0"/>
          </a:p>
        </p:txBody>
      </p:sp>
      <p:sp>
        <p:nvSpPr>
          <p:cNvPr id="14" name="Shape 12"/>
          <p:cNvSpPr/>
          <p:nvPr/>
        </p:nvSpPr>
        <p:spPr>
          <a:xfrm>
            <a:off x="4617720" y="1143000"/>
            <a:ext cx="2011680" cy="146304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5" name="Text 13"/>
          <p:cNvSpPr/>
          <p:nvPr/>
        </p:nvSpPr>
        <p:spPr>
          <a:xfrm>
            <a:off x="4617720" y="1234440"/>
            <a:ext cx="2011680" cy="274320"/>
          </a:xfrm>
          <a:prstGeom prst="rect">
            <a:avLst/>
          </a:prstGeom>
          <a:noFill/>
          <a:ln/>
        </p:spPr>
        <p:txBody>
          <a:bodyPr wrap="square" rtlCol="0" anchor="ctr"/>
          <a:lstStyle/>
          <a:p>
            <a:pPr marL="0" indent="0" algn="ctr">
              <a:buNone/>
            </a:pPr>
            <a:r>
              <a:rPr lang="en-US" sz="900" dirty="0">
                <a:solidFill>
                  <a:srgbClr val="C8962E"/>
                </a:solidFill>
                <a:latin typeface="맑은 고딕" pitchFamily="34" charset="0"/>
                <a:ea typeface="맑은 고딕" pitchFamily="34" charset="-122"/>
                <a:cs typeface="맑은 고딕" pitchFamily="34" charset="-120"/>
              </a:rPr>
              <a:t>CEO 퇴직금 재원</a:t>
            </a:r>
            <a:endParaRPr lang="en-US" sz="900" dirty="0"/>
          </a:p>
        </p:txBody>
      </p:sp>
      <p:sp>
        <p:nvSpPr>
          <p:cNvPr id="16" name="Text 14"/>
          <p:cNvSpPr/>
          <p:nvPr/>
        </p:nvSpPr>
        <p:spPr>
          <a:xfrm>
            <a:off x="4617720" y="1554480"/>
            <a:ext cx="2011680" cy="54864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25억</a:t>
            </a:r>
            <a:endParaRPr lang="en-US" sz="2800" dirty="0"/>
          </a:p>
        </p:txBody>
      </p:sp>
      <p:sp>
        <p:nvSpPr>
          <p:cNvPr id="17" name="Text 15"/>
          <p:cNvSpPr/>
          <p:nvPr/>
        </p:nvSpPr>
        <p:spPr>
          <a:xfrm>
            <a:off x="4617720" y="2148840"/>
            <a:ext cx="2011680" cy="320040"/>
          </a:xfrm>
          <a:prstGeom prst="rect">
            <a:avLst/>
          </a:prstGeom>
          <a:noFill/>
          <a:ln/>
        </p:spPr>
        <p:txBody>
          <a:bodyPr wrap="square" rtlCol="0" anchor="ctr"/>
          <a:lstStyle/>
          <a:p>
            <a:pPr marL="0" indent="0" algn="ctr">
              <a:buNone/>
            </a:pPr>
            <a:r>
              <a:rPr lang="en-US" sz="850" dirty="0">
                <a:solidFill>
                  <a:srgbClr val="CBD5E1"/>
                </a:solidFill>
                <a:latin typeface="맑은 고딕" pitchFamily="34" charset="0"/>
                <a:ea typeface="맑은 고딕" pitchFamily="34" charset="-122"/>
                <a:cs typeface="맑은 고딕" pitchFamily="34" charset="-120"/>
              </a:rPr>
              <a:t>법인 자금 5년 플랜</a:t>
            </a:r>
            <a:endParaRPr lang="en-US" sz="850" dirty="0"/>
          </a:p>
        </p:txBody>
      </p:sp>
      <p:sp>
        <p:nvSpPr>
          <p:cNvPr id="18" name="Shape 16"/>
          <p:cNvSpPr/>
          <p:nvPr/>
        </p:nvSpPr>
        <p:spPr>
          <a:xfrm>
            <a:off x="6766560" y="1143000"/>
            <a:ext cx="2011680" cy="1463040"/>
          </a:xfrm>
          <a:prstGeom prst="rect">
            <a:avLst/>
          </a:prstGeom>
          <a:solidFill>
            <a:srgbClr val="1B2A4A"/>
          </a:solidFill>
          <a:ln/>
          <a:effectLst>
            <a:outerShdw blurRad="50800" dist="25400" dir="8100000" algn="bl" rotWithShape="0">
              <a:srgbClr val="000000">
                <a:alpha val="10000"/>
              </a:srgbClr>
            </a:outerShdw>
          </a:effectLst>
        </p:spPr>
        <p:txBody>
          <a:bodyPr/>
          <a:lstStyle/>
          <a:p>
            <a:endParaRPr lang="ko-KR" altLang="en-US"/>
          </a:p>
        </p:txBody>
      </p:sp>
      <p:sp>
        <p:nvSpPr>
          <p:cNvPr id="19" name="Text 17"/>
          <p:cNvSpPr/>
          <p:nvPr/>
        </p:nvSpPr>
        <p:spPr>
          <a:xfrm>
            <a:off x="6766560" y="1234440"/>
            <a:ext cx="2011680" cy="274320"/>
          </a:xfrm>
          <a:prstGeom prst="rect">
            <a:avLst/>
          </a:prstGeom>
          <a:noFill/>
          <a:ln/>
        </p:spPr>
        <p:txBody>
          <a:bodyPr wrap="square" rtlCol="0" anchor="ctr"/>
          <a:lstStyle/>
          <a:p>
            <a:pPr marL="0" indent="0" algn="ctr">
              <a:buNone/>
            </a:pPr>
            <a:r>
              <a:rPr lang="en-US" sz="900" dirty="0">
                <a:solidFill>
                  <a:srgbClr val="C8962E"/>
                </a:solidFill>
                <a:latin typeface="맑은 고딕" pitchFamily="34" charset="0"/>
                <a:ea typeface="맑은 고딕" pitchFamily="34" charset="-122"/>
                <a:cs typeface="맑은 고딕" pitchFamily="34" charset="-120"/>
              </a:rPr>
              <a:t>경영권 승계</a:t>
            </a:r>
            <a:endParaRPr lang="en-US" sz="900" dirty="0"/>
          </a:p>
        </p:txBody>
      </p:sp>
      <p:sp>
        <p:nvSpPr>
          <p:cNvPr id="20" name="Text 18"/>
          <p:cNvSpPr/>
          <p:nvPr/>
        </p:nvSpPr>
        <p:spPr>
          <a:xfrm>
            <a:off x="6766560" y="1554480"/>
            <a:ext cx="2011680" cy="548640"/>
          </a:xfrm>
          <a:prstGeom prst="rect">
            <a:avLst/>
          </a:prstGeom>
          <a:noFill/>
          <a:ln/>
        </p:spPr>
        <p:txBody>
          <a:bodyPr wrap="square"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Stable</a:t>
            </a:r>
            <a:endParaRPr lang="en-US" sz="2800" dirty="0"/>
          </a:p>
        </p:txBody>
      </p:sp>
      <p:sp>
        <p:nvSpPr>
          <p:cNvPr id="21" name="Text 19"/>
          <p:cNvSpPr/>
          <p:nvPr/>
        </p:nvSpPr>
        <p:spPr>
          <a:xfrm>
            <a:off x="6766560" y="2148840"/>
            <a:ext cx="2011680" cy="320040"/>
          </a:xfrm>
          <a:prstGeom prst="rect">
            <a:avLst/>
          </a:prstGeom>
          <a:noFill/>
          <a:ln/>
        </p:spPr>
        <p:txBody>
          <a:bodyPr wrap="square" rtlCol="0" anchor="ctr"/>
          <a:lstStyle/>
          <a:p>
            <a:pPr marL="0" indent="0" algn="ctr">
              <a:buNone/>
            </a:pPr>
            <a:r>
              <a:rPr lang="en-US" sz="850" dirty="0">
                <a:solidFill>
                  <a:srgbClr val="CBD5E1"/>
                </a:solidFill>
                <a:latin typeface="맑은 고딕" pitchFamily="34" charset="0"/>
                <a:ea typeface="맑은 고딕" pitchFamily="34" charset="-122"/>
                <a:cs typeface="맑은 고딕" pitchFamily="34" charset="-120"/>
              </a:rPr>
              <a:t>상속 리스크 완전 해결</a:t>
            </a:r>
            <a:endParaRPr lang="en-US" sz="850" dirty="0"/>
          </a:p>
        </p:txBody>
      </p:sp>
      <p:sp>
        <p:nvSpPr>
          <p:cNvPr id="22" name="Shape 20"/>
          <p:cNvSpPr/>
          <p:nvPr/>
        </p:nvSpPr>
        <p:spPr>
          <a:xfrm>
            <a:off x="457200" y="2788920"/>
            <a:ext cx="8229600" cy="15087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3" name="Shape 21"/>
          <p:cNvSpPr/>
          <p:nvPr/>
        </p:nvSpPr>
        <p:spPr>
          <a:xfrm>
            <a:off x="457200" y="2788920"/>
            <a:ext cx="54864" cy="1508760"/>
          </a:xfrm>
          <a:prstGeom prst="rect">
            <a:avLst/>
          </a:prstGeom>
          <a:solidFill>
            <a:srgbClr val="C8962E"/>
          </a:solidFill>
          <a:ln/>
        </p:spPr>
        <p:txBody>
          <a:bodyPr/>
          <a:lstStyle/>
          <a:p>
            <a:endParaRPr lang="ko-KR" altLang="en-US"/>
          </a:p>
        </p:txBody>
      </p:sp>
      <p:sp>
        <p:nvSpPr>
          <p:cNvPr id="24" name="Text 22"/>
          <p:cNvSpPr/>
          <p:nvPr/>
        </p:nvSpPr>
        <p:spPr>
          <a:xfrm>
            <a:off x="640080" y="2880360"/>
            <a:ext cx="7863840" cy="1325880"/>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 CEO: 은퇴 후 퇴직연금, 배당, 자문료 등을 통해 매월 1,500만 원 이상의 다층적이고 안정적인 현금흐름을 확보하고, 자산 이전에 대한 불확실성을 제거하여 현재 경영에 전념할 수 있습니다.</a:t>
            </a:r>
            <a:endParaRPr lang="en-US" sz="1000" dirty="0"/>
          </a:p>
          <a:p>
            <a:pPr marL="0" indent="0">
              <a:lnSpc>
                <a:spcPct val="130000"/>
              </a:lnSpc>
              <a:buNone/>
            </a:pP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 기업/후계자: 예측 가능한 시스템 속에서 안정적으로 경영권을 승계받고, 상속세 리스크를 해결하여 기업의 100년 미래를 준비할 수 있습니다. 전체 플랜을 통해 약 50억 원 이상의 실효 절세 효과가 기대됩니다.</a:t>
            </a:r>
            <a:endParaRPr lang="en-US" sz="1000" dirty="0"/>
          </a:p>
        </p:txBody>
      </p:sp>
      <p:sp>
        <p:nvSpPr>
          <p:cNvPr id="25" name="Text 23"/>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26" name="Text 24"/>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8 / 28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09</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핵심 이슈 및 전략 과제 도출</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CEO 관련 리스크 진단</a:t>
            </a:r>
            <a:endParaRPr lang="en-US" sz="1400" dirty="0"/>
          </a:p>
        </p:txBody>
      </p:sp>
      <p:sp>
        <p:nvSpPr>
          <p:cNvPr id="6" name="Shape 4"/>
          <p:cNvSpPr/>
          <p:nvPr/>
        </p:nvSpPr>
        <p:spPr>
          <a:xfrm>
            <a:off x="457200" y="1097280"/>
            <a:ext cx="8229600" cy="3291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97280"/>
            <a:ext cx="54864" cy="3291840"/>
          </a:xfrm>
          <a:prstGeom prst="rect">
            <a:avLst/>
          </a:prstGeom>
          <a:solidFill>
            <a:srgbClr val="D4382C"/>
          </a:solidFill>
          <a:ln/>
        </p:spPr>
        <p:txBody>
          <a:bodyPr/>
          <a:lstStyle/>
          <a:p>
            <a:endParaRPr lang="ko-KR" altLang="en-US"/>
          </a:p>
        </p:txBody>
      </p:sp>
      <p:sp>
        <p:nvSpPr>
          <p:cNvPr id="8" name="Text 6"/>
          <p:cNvSpPr/>
          <p:nvPr/>
        </p:nvSpPr>
        <p:spPr>
          <a:xfrm>
            <a:off x="640080" y="1143000"/>
            <a:ext cx="7863840" cy="274320"/>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CEO '황금 수갑' 및 승계 리스크</a:t>
            </a:r>
            <a:endParaRPr lang="en-US" sz="1200" dirty="0"/>
          </a:p>
        </p:txBody>
      </p:sp>
      <p:sp>
        <p:nvSpPr>
          <p:cNvPr id="9" name="Text 7"/>
          <p:cNvSpPr/>
          <p:nvPr/>
        </p:nvSpPr>
        <p:spPr>
          <a:xfrm>
            <a:off x="640080" y="1444752"/>
            <a:ext cx="7863840" cy="2834640"/>
          </a:xfrm>
          <a:prstGeom prst="rect">
            <a:avLst/>
          </a:prstGeom>
          <a:noFill/>
          <a:ln/>
        </p:spPr>
        <p:txBody>
          <a:bodyPr wrap="square" rtlCol="0" anchor="t"/>
          <a:lstStyle/>
          <a:p>
            <a:pPr marL="0" indent="0">
              <a:lnSpc>
                <a:spcPct val="125000"/>
              </a:lnSpc>
              <a:buNone/>
            </a:pPr>
            <a:r>
              <a:rPr lang="en-US" sz="1000" dirty="0">
                <a:solidFill>
                  <a:srgbClr val="2B2B2B"/>
                </a:solidFill>
                <a:latin typeface="맑은 고딕" pitchFamily="34" charset="0"/>
                <a:ea typeface="맑은 고딕" pitchFamily="34" charset="-122"/>
                <a:cs typeface="맑은 고딕" pitchFamily="34" charset="-120"/>
              </a:rPr>
              <a:t>✔ '황금 수갑' 리스크: 대표님의 노후가 회사에 종속되어 있어, 회사가 어려워지면 노후도 함께 흔들리는 구조입니다. 이는 성공적인 은퇴를 가로막는 가장 큰 족쇄입니다.</a:t>
            </a:r>
            <a:endParaRPr lang="en-US" sz="1000" dirty="0"/>
          </a:p>
          <a:p>
            <a:pPr marL="0" indent="0">
              <a:lnSpc>
                <a:spcPct val="125000"/>
              </a:lnSpc>
              <a:buNone/>
            </a:pPr>
            <a:endParaRPr lang="en-US" sz="1000" dirty="0"/>
          </a:p>
          <a:p>
            <a:pPr marL="0" indent="0">
              <a:lnSpc>
                <a:spcPct val="125000"/>
              </a:lnSpc>
              <a:buNone/>
            </a:pPr>
            <a:r>
              <a:rPr lang="en-US" sz="1000" dirty="0">
                <a:solidFill>
                  <a:srgbClr val="2B2B2B"/>
                </a:solidFill>
                <a:latin typeface="맑은 고딕" pitchFamily="34" charset="0"/>
                <a:ea typeface="맑은 고딕" pitchFamily="34" charset="-122"/>
                <a:cs typeface="맑은 고딕" pitchFamily="34" charset="-120"/>
              </a:rPr>
              <a:t>✔ 준비 안 된 출구(Exit): 합법적인 퇴직금 재원이 마련되어 있지 않아, 은퇴 시 거액의 자금을 인출할 명분과 방법이 없습니다.</a:t>
            </a:r>
            <a:endParaRPr lang="en-US" sz="1000" dirty="0"/>
          </a:p>
          <a:p>
            <a:pPr marL="0" indent="0">
              <a:lnSpc>
                <a:spcPct val="125000"/>
              </a:lnSpc>
              <a:buNone/>
            </a:pPr>
            <a:endParaRPr lang="en-US" sz="1000" dirty="0"/>
          </a:p>
          <a:p>
            <a:pPr marL="0" indent="0">
              <a:lnSpc>
                <a:spcPct val="125000"/>
              </a:lnSpc>
              <a:buNone/>
            </a:pPr>
            <a:r>
              <a:rPr lang="en-US" sz="1000" dirty="0">
                <a:solidFill>
                  <a:srgbClr val="2B2B2B"/>
                </a:solidFill>
                <a:latin typeface="맑은 고딕" pitchFamily="34" charset="0"/>
                <a:ea typeface="맑은 고딕" pitchFamily="34" charset="-122"/>
                <a:cs typeface="맑은 고딕" pitchFamily="34" charset="-120"/>
              </a:rPr>
              <a:t>✔ 실질적 퇴직 부인 리스크: 퇴직 후에도 실질적인 경영에 계속 관여할 경우, 세무당국이 이를 '형식상의 퇴직'으로 판단하여 퇴직소득세 혜택을 부인하고 근로소득으로 과세할 수 있는 위험이 존재합니다.</a:t>
            </a:r>
            <a:endParaRPr lang="en-US" sz="1000" dirty="0"/>
          </a:p>
          <a:p>
            <a:pPr marL="0" indent="0">
              <a:lnSpc>
                <a:spcPct val="125000"/>
              </a:lnSpc>
              <a:buNone/>
            </a:pPr>
            <a:endParaRPr lang="en-US" sz="1000" dirty="0"/>
          </a:p>
          <a:p>
            <a:pPr marL="0" indent="0">
              <a:lnSpc>
                <a:spcPct val="125000"/>
              </a:lnSpc>
              <a:buNone/>
            </a:pPr>
            <a:r>
              <a:rPr lang="en-US" sz="1000" dirty="0">
                <a:solidFill>
                  <a:srgbClr val="2B2B2B"/>
                </a:solidFill>
                <a:latin typeface="맑은 고딕" pitchFamily="34" charset="0"/>
                <a:ea typeface="맑은 고딕" pitchFamily="34" charset="-122"/>
                <a:cs typeface="맑은 고딕" pitchFamily="34" charset="-120"/>
              </a:rPr>
              <a:t>✔ 자산 이전 계획 부재: 회사 경영에 참여하지 않는 딸에게 어떤 형태의 자산을 물려줄 것인지, 아들이 납부해야 할 막대한 상속세 재원은 어떻게 마련할 것인지에 대한 계획이 전무합니다.</a:t>
            </a:r>
            <a:endParaRPr lang="en-US" sz="1000" dirty="0"/>
          </a:p>
        </p:txBody>
      </p:sp>
      <p:sp>
        <p:nvSpPr>
          <p:cNvPr id="10" name="Text 8"/>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1" name="Text 9"/>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9 / 28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10</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IV. 핵심 이슈 및 전략 과제 도출</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재무구조 리스크 진단</a:t>
            </a:r>
            <a:endParaRPr lang="en-US" sz="1400" dirty="0"/>
          </a:p>
        </p:txBody>
      </p:sp>
      <p:sp>
        <p:nvSpPr>
          <p:cNvPr id="6" name="Shape 4"/>
          <p:cNvSpPr/>
          <p:nvPr/>
        </p:nvSpPr>
        <p:spPr>
          <a:xfrm>
            <a:off x="457200" y="1097280"/>
            <a:ext cx="8229600" cy="9144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97280"/>
            <a:ext cx="54864" cy="914400"/>
          </a:xfrm>
          <a:prstGeom prst="rect">
            <a:avLst/>
          </a:prstGeom>
          <a:solidFill>
            <a:srgbClr val="D4382C"/>
          </a:solidFill>
          <a:ln/>
        </p:spPr>
        <p:txBody>
          <a:bodyPr/>
          <a:lstStyle/>
          <a:p>
            <a:endParaRPr lang="ko-KR" altLang="en-US"/>
          </a:p>
        </p:txBody>
      </p:sp>
      <p:sp>
        <p:nvSpPr>
          <p:cNvPr id="8" name="Text 6"/>
          <p:cNvSpPr/>
          <p:nvPr/>
        </p:nvSpPr>
        <p:spPr>
          <a:xfrm>
            <a:off x="640080" y="1143000"/>
            <a:ext cx="7863840" cy="256032"/>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과도한 이익잉여금 문제</a:t>
            </a:r>
            <a:endParaRPr lang="en-US" sz="1200" dirty="0"/>
          </a:p>
        </p:txBody>
      </p:sp>
      <p:sp>
        <p:nvSpPr>
          <p:cNvPr id="9" name="Text 7"/>
          <p:cNvSpPr/>
          <p:nvPr/>
        </p:nvSpPr>
        <p:spPr>
          <a:xfrm>
            <a:off x="640080" y="1399032"/>
            <a:ext cx="7863840" cy="548640"/>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현재 200억 원에 육박하는 이익잉여금은 '언젠가 터질 세금 폭탄'과 같습니다.</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이를 합법적으로 CEO 개인 자산 및 후계자 승계 재원으로 이전시키는 출구 전략이 시급합니다.</a:t>
            </a:r>
            <a:endParaRPr lang="en-US" sz="1000" dirty="0"/>
          </a:p>
        </p:txBody>
      </p:sp>
      <p:sp>
        <p:nvSpPr>
          <p:cNvPr id="10" name="Text 8"/>
          <p:cNvSpPr/>
          <p:nvPr/>
        </p:nvSpPr>
        <p:spPr>
          <a:xfrm>
            <a:off x="457200" y="214884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우선 과제 선정 (Key Strategy)</a:t>
            </a:r>
            <a:endParaRPr lang="en-US" sz="1400" dirty="0"/>
          </a:p>
        </p:txBody>
      </p:sp>
      <p:sp>
        <p:nvSpPr>
          <p:cNvPr id="11" name="Shape 9"/>
          <p:cNvSpPr/>
          <p:nvPr/>
        </p:nvSpPr>
        <p:spPr>
          <a:xfrm>
            <a:off x="457200" y="2560320"/>
            <a:ext cx="8229600" cy="2148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2560320"/>
            <a:ext cx="54864" cy="2148840"/>
          </a:xfrm>
          <a:prstGeom prst="rect">
            <a:avLst/>
          </a:prstGeom>
          <a:solidFill>
            <a:srgbClr val="1A6B4A"/>
          </a:solidFill>
          <a:ln/>
        </p:spPr>
        <p:txBody>
          <a:bodyPr/>
          <a:lstStyle/>
          <a:p>
            <a:endParaRPr lang="ko-KR" altLang="en-US"/>
          </a:p>
        </p:txBody>
      </p:sp>
      <p:sp>
        <p:nvSpPr>
          <p:cNvPr id="13" name="Text 11"/>
          <p:cNvSpPr/>
          <p:nvPr/>
        </p:nvSpPr>
        <p:spPr>
          <a:xfrm>
            <a:off x="640080" y="2606040"/>
            <a:ext cx="7863840" cy="256032"/>
          </a:xfrm>
          <a:prstGeom prst="rect">
            <a:avLst/>
          </a:prstGeom>
          <a:noFill/>
          <a:ln/>
        </p:spPr>
        <p:txBody>
          <a:bodyPr wrap="square" rtlCol="0" anchor="ctr"/>
          <a:lstStyle/>
          <a:p>
            <a:pPr marL="0" indent="0">
              <a:buNone/>
            </a:pPr>
            <a:r>
              <a:rPr lang="en-US" sz="1200" b="1" dirty="0">
                <a:solidFill>
                  <a:srgbClr val="1A6B4A"/>
                </a:solidFill>
                <a:latin typeface="맑은 고딕" pitchFamily="34" charset="0"/>
                <a:ea typeface="맑은 고딕" pitchFamily="34" charset="-122"/>
                <a:cs typeface="맑은 고딕" pitchFamily="34" charset="-120"/>
              </a:rPr>
              <a:t>🎯 최우선 전략 과제</a:t>
            </a:r>
            <a:endParaRPr lang="en-US" sz="1200" dirty="0"/>
          </a:p>
        </p:txBody>
      </p:sp>
      <p:sp>
        <p:nvSpPr>
          <p:cNvPr id="14" name="Text 12"/>
          <p:cNvSpPr/>
          <p:nvPr/>
        </p:nvSpPr>
        <p:spPr>
          <a:xfrm>
            <a:off x="640080" y="2880360"/>
            <a:ext cx="7863840" cy="502920"/>
          </a:xfrm>
          <a:prstGeom prst="rect">
            <a:avLst/>
          </a:prstGeom>
          <a:noFill/>
          <a:ln/>
        </p:spPr>
        <p:txBody>
          <a:bodyPr wrap="square" rtlCol="0" anchor="t"/>
          <a:lstStyle/>
          <a:p>
            <a:pPr marL="0" indent="0">
              <a:lnSpc>
                <a:spcPct val="130000"/>
              </a:lnSpc>
              <a:buNone/>
            </a:pPr>
            <a:r>
              <a:rPr lang="en-US" sz="1300" b="1" dirty="0">
                <a:solidFill>
                  <a:srgbClr val="1B2A4A"/>
                </a:solidFill>
                <a:latin typeface="맑은 고딕" pitchFamily="34" charset="0"/>
                <a:ea typeface="맑은 고딕" pitchFamily="34" charset="-122"/>
                <a:cs typeface="맑은 고딕" pitchFamily="34" charset="-120"/>
              </a:rPr>
              <a:t>"CEO 퇴직금 플랜과 자산 승계 플랜을 연계한</a:t>
            </a:r>
            <a:endParaRPr lang="en-US" sz="1300" dirty="0"/>
          </a:p>
          <a:p>
            <a:pPr marL="0" indent="0">
              <a:lnSpc>
                <a:spcPct val="130000"/>
              </a:lnSpc>
              <a:buNone/>
            </a:pPr>
            <a:r>
              <a:rPr lang="en-US" sz="1300" b="1" dirty="0">
                <a:solidFill>
                  <a:srgbClr val="1B2A4A"/>
                </a:solidFill>
                <a:latin typeface="맑은 고딕" pitchFamily="34" charset="0"/>
                <a:ea typeface="맑은 고딕" pitchFamily="34" charset="-122"/>
                <a:cs typeface="맑은 고딕" pitchFamily="34" charset="-120"/>
              </a:rPr>
              <a:t>2-Stage 레거시 마스터플랜 수립"</a:t>
            </a:r>
            <a:endParaRPr lang="en-US" sz="1300" dirty="0"/>
          </a:p>
        </p:txBody>
      </p:sp>
      <p:sp>
        <p:nvSpPr>
          <p:cNvPr id="15" name="Shape 13"/>
          <p:cNvSpPr/>
          <p:nvPr/>
        </p:nvSpPr>
        <p:spPr>
          <a:xfrm>
            <a:off x="640080" y="3429000"/>
            <a:ext cx="7863840" cy="9144"/>
          </a:xfrm>
          <a:prstGeom prst="rect">
            <a:avLst/>
          </a:prstGeom>
          <a:solidFill>
            <a:srgbClr val="1A6B4A"/>
          </a:solidFill>
          <a:ln/>
        </p:spPr>
        <p:txBody>
          <a:bodyPr/>
          <a:lstStyle/>
          <a:p>
            <a:endParaRPr lang="ko-KR" altLang="en-US"/>
          </a:p>
        </p:txBody>
      </p:sp>
      <p:sp>
        <p:nvSpPr>
          <p:cNvPr id="16" name="Text 14"/>
          <p:cNvSpPr/>
          <p:nvPr/>
        </p:nvSpPr>
        <p:spPr>
          <a:xfrm>
            <a:off x="640080" y="3493008"/>
            <a:ext cx="786384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선정 근거</a:t>
            </a:r>
            <a:endParaRPr lang="en-US" sz="1100" dirty="0"/>
          </a:p>
        </p:txBody>
      </p:sp>
      <p:sp>
        <p:nvSpPr>
          <p:cNvPr id="17" name="Text 15"/>
          <p:cNvSpPr/>
          <p:nvPr/>
        </p:nvSpPr>
        <p:spPr>
          <a:xfrm>
            <a:off x="640080" y="3730752"/>
            <a:ext cx="7863840" cy="457200"/>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대표님의 '현재(은퇴)' 문제와 자녀들의 '미래(상속)' 문제를 하나의 통합된 관점에서 바라보고, 시간의 흐름에 따라 단계적으로 해결하는 것이 가장 현실적이고 효과적인 접근 방식이기 때문입니다.</a:t>
            </a:r>
            <a:endParaRPr lang="en-US" sz="1000" dirty="0"/>
          </a:p>
        </p:txBody>
      </p:sp>
      <p:sp>
        <p:nvSpPr>
          <p:cNvPr id="18" name="Text 16"/>
          <p:cNvSpPr/>
          <p:nvPr/>
        </p:nvSpPr>
        <p:spPr>
          <a:xfrm>
            <a:off x="640080" y="4224528"/>
            <a:ext cx="7863840" cy="320040"/>
          </a:xfrm>
          <a:prstGeom prst="rect">
            <a:avLst/>
          </a:prstGeom>
          <a:noFill/>
          <a:ln/>
        </p:spPr>
        <p:txBody>
          <a:bodyPr wrap="square" rtlCol="0" anchor="t"/>
          <a:lstStyle/>
          <a:p>
            <a:pPr marL="0" indent="0">
              <a:buNone/>
            </a:pPr>
            <a:r>
              <a:rPr lang="en-US" sz="900" dirty="0">
                <a:solidFill>
                  <a:srgbClr val="4A5568"/>
                </a:solidFill>
                <a:latin typeface="맑은 고딕" pitchFamily="34" charset="0"/>
                <a:ea typeface="맑은 고딕" pitchFamily="34" charset="-122"/>
                <a:cs typeface="맑은 고딕" pitchFamily="34" charset="-120"/>
              </a:rPr>
              <a:t>※ 모든 계획은 국세기본법 제14조(실질과세 원칙)를 기반으로 설계되어야 합니다.</a:t>
            </a:r>
            <a:endParaRPr lang="en-US" sz="900" dirty="0"/>
          </a:p>
        </p:txBody>
      </p:sp>
      <p:sp>
        <p:nvSpPr>
          <p:cNvPr id="19" name="Text 1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10 / 28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11</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 맞춤형 솔루션 및 실행 전략 제안</a:t>
            </a:r>
            <a:endParaRPr lang="en-US" sz="1600" dirty="0"/>
          </a:p>
        </p:txBody>
      </p:sp>
      <p:sp>
        <p:nvSpPr>
          <p:cNvPr id="5" name="Shape 3"/>
          <p:cNvSpPr/>
          <p:nvPr/>
        </p:nvSpPr>
        <p:spPr>
          <a:xfrm>
            <a:off x="457200" y="685800"/>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685800"/>
            <a:ext cx="54864" cy="1188720"/>
          </a:xfrm>
          <a:prstGeom prst="rect">
            <a:avLst/>
          </a:prstGeom>
          <a:solidFill>
            <a:srgbClr val="C8962E"/>
          </a:solidFill>
          <a:ln/>
        </p:spPr>
        <p:txBody>
          <a:bodyPr/>
          <a:lstStyle/>
          <a:p>
            <a:endParaRPr lang="ko-KR" altLang="en-US"/>
          </a:p>
        </p:txBody>
      </p:sp>
      <p:sp>
        <p:nvSpPr>
          <p:cNvPr id="7" name="Text 5"/>
          <p:cNvSpPr/>
          <p:nvPr/>
        </p:nvSpPr>
        <p:spPr>
          <a:xfrm>
            <a:off x="640080" y="731520"/>
            <a:ext cx="7863840" cy="256032"/>
          </a:xfrm>
          <a:prstGeom prst="rect">
            <a:avLst/>
          </a:prstGeom>
          <a:noFill/>
          <a:ln/>
        </p:spPr>
        <p:txBody>
          <a:bodyPr wrap="square" rtlCol="0" anchor="ctr"/>
          <a:lstStyle/>
          <a:p>
            <a:pPr marL="0" indent="0">
              <a:buNone/>
            </a:pPr>
            <a:r>
              <a:rPr lang="en-US" sz="1200" b="1" dirty="0">
                <a:solidFill>
                  <a:srgbClr val="1B2A4A"/>
                </a:solidFill>
                <a:latin typeface="맑은 고딕" pitchFamily="34" charset="0"/>
                <a:ea typeface="맑은 고딕" pitchFamily="34" charset="-122"/>
                <a:cs typeface="맑은 고딕" pitchFamily="34" charset="-120"/>
              </a:rPr>
              <a:t>🚀 솔루션 기본 방향 및 목표</a:t>
            </a:r>
            <a:endParaRPr lang="en-US" sz="1200" dirty="0"/>
          </a:p>
        </p:txBody>
      </p:sp>
      <p:sp>
        <p:nvSpPr>
          <p:cNvPr id="8" name="Text 6"/>
          <p:cNvSpPr/>
          <p:nvPr/>
        </p:nvSpPr>
        <p:spPr>
          <a:xfrm>
            <a:off x="640080" y="987552"/>
            <a:ext cx="7863840" cy="347472"/>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법인의 '이익잉여금'을 활용하여, ① CEO의 퇴직소득을 만들고, ② 자녀의 증여 재원 및 ③ 상속세 납부 재원까지 순차적으로 해결하는 장기적 자금 흐름을 설계합니다.</a:t>
            </a:r>
            <a:endParaRPr lang="en-US" sz="1000" dirty="0"/>
          </a:p>
        </p:txBody>
      </p:sp>
      <p:sp>
        <p:nvSpPr>
          <p:cNvPr id="9" name="Text 7"/>
          <p:cNvSpPr/>
          <p:nvPr/>
        </p:nvSpPr>
        <p:spPr>
          <a:xfrm>
            <a:off x="640080" y="1344168"/>
            <a:ext cx="7863840" cy="365760"/>
          </a:xfrm>
          <a:prstGeom prst="rect">
            <a:avLst/>
          </a:prstGeom>
          <a:noFill/>
          <a:ln/>
        </p:spPr>
        <p:txBody>
          <a:bodyPr wrap="square" rtlCol="0" anchor="t"/>
          <a:lstStyle/>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(Stage 1) 5년 내: CEO 퇴직금 재원 25억 원 마련 및 '다층형 은퇴소득 구조' 구축</a:t>
            </a:r>
            <a:endParaRPr lang="en-US" sz="1000" dirty="0"/>
          </a:p>
          <a:p>
            <a:pPr marL="0" indent="0">
              <a:lnSpc>
                <a:spcPct val="130000"/>
              </a:lnSpc>
              <a:buNone/>
            </a:pPr>
            <a:r>
              <a:rPr lang="en-US" sz="1000" b="1" dirty="0">
                <a:solidFill>
                  <a:srgbClr val="2B2B2B"/>
                </a:solidFill>
                <a:latin typeface="맑은 고딕" pitchFamily="34" charset="0"/>
                <a:ea typeface="맑은 고딕" pitchFamily="34" charset="-122"/>
                <a:cs typeface="맑은 고딕" pitchFamily="34" charset="-120"/>
              </a:rPr>
              <a:t>✔ (Stage 2) 15년 내: 자녀에게 총 20억 원 사전 증여 완료 및 최종 상속세 납부 재원 확보</a:t>
            </a:r>
            <a:endParaRPr lang="en-US" sz="1000" dirty="0"/>
          </a:p>
        </p:txBody>
      </p:sp>
      <p:sp>
        <p:nvSpPr>
          <p:cNvPr id="10" name="Text 8"/>
          <p:cNvSpPr/>
          <p:nvPr/>
        </p:nvSpPr>
        <p:spPr>
          <a:xfrm>
            <a:off x="457200" y="2011680"/>
            <a:ext cx="8229600" cy="36576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Stage 1: CEO 퇴직금 플랜 및 은퇴소득 구조 설계 (Exit 준비 / ~5년)</a:t>
            </a:r>
            <a:endParaRPr lang="en-US" sz="1300" dirty="0"/>
          </a:p>
        </p:txBody>
      </p:sp>
      <p:sp>
        <p:nvSpPr>
          <p:cNvPr id="11" name="Shape 9"/>
          <p:cNvSpPr/>
          <p:nvPr/>
        </p:nvSpPr>
        <p:spPr>
          <a:xfrm>
            <a:off x="457200" y="2468880"/>
            <a:ext cx="8229600" cy="13258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2468880"/>
            <a:ext cx="54864" cy="1325880"/>
          </a:xfrm>
          <a:prstGeom prst="rect">
            <a:avLst/>
          </a:prstGeom>
          <a:solidFill>
            <a:srgbClr val="C8962E"/>
          </a:solidFill>
          <a:ln/>
        </p:spPr>
        <p:txBody>
          <a:bodyPr/>
          <a:lstStyle/>
          <a:p>
            <a:endParaRPr lang="ko-KR" altLang="en-US"/>
          </a:p>
        </p:txBody>
      </p:sp>
      <p:sp>
        <p:nvSpPr>
          <p:cNvPr id="13" name="Text 11"/>
          <p:cNvSpPr/>
          <p:nvPr/>
        </p:nvSpPr>
        <p:spPr>
          <a:xfrm>
            <a:off x="640080" y="2514600"/>
            <a:ext cx="7863840" cy="256032"/>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원칙</a:t>
            </a:r>
            <a:endParaRPr lang="en-US" sz="1100" dirty="0"/>
          </a:p>
        </p:txBody>
      </p:sp>
      <p:sp>
        <p:nvSpPr>
          <p:cNvPr id="14" name="Text 12"/>
          <p:cNvSpPr/>
          <p:nvPr/>
        </p:nvSpPr>
        <p:spPr>
          <a:xfrm>
            <a:off x="640080" y="2770632"/>
            <a:ext cx="7863840" cy="640080"/>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정관에 명시된 규정에 따라 지급하는 임원 퇴직금은 법인의 비용(손금)으로 인정되며, CEO 개인에게는 낮은 세율의 '퇴직소득세'가 적용됩니다. 이는 급여나 배당 대비 압도적으로 유리한 자금 이전 방식입니다. 단, 이는 실질적인 퇴직을 전제로 합니다.</a:t>
            </a:r>
            <a:endParaRPr lang="en-US" sz="1000" dirty="0"/>
          </a:p>
        </p:txBody>
      </p:sp>
      <p:sp>
        <p:nvSpPr>
          <p:cNvPr id="15" name="Text 13"/>
          <p:cNvSpPr/>
          <p:nvPr/>
        </p:nvSpPr>
        <p:spPr>
          <a:xfrm>
            <a:off x="640080" y="3429000"/>
            <a:ext cx="7863840" cy="274320"/>
          </a:xfrm>
          <a:prstGeom prst="rect">
            <a:avLst/>
          </a:prstGeom>
          <a:noFill/>
          <a:ln/>
        </p:spPr>
        <p:txBody>
          <a:bodyPr wrap="square" rtlCol="0" anchor="t"/>
          <a:lstStyle/>
          <a:p>
            <a:pPr marL="0" indent="0">
              <a:buNone/>
            </a:pPr>
            <a:r>
              <a:rPr lang="en-US" sz="800" dirty="0">
                <a:solidFill>
                  <a:srgbClr val="4A5568"/>
                </a:solidFill>
                <a:latin typeface="맑은 고딕" pitchFamily="34" charset="0"/>
                <a:ea typeface="맑은 고딕" pitchFamily="34" charset="-122"/>
                <a:cs typeface="맑은 고딕" pitchFamily="34" charset="-120"/>
              </a:rPr>
              <a:t>※ 출처: 법제처, 법인세법 시행령 제44조 (퇴직급여의 손금불산입) 및 소득세법 제22조 (퇴직소득) (2025.11 기준)</a:t>
            </a:r>
            <a:endParaRPr lang="en-US" sz="80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11 / 28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12</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 맞춤형 솔루션 및 실행 전략 제안</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 실행 방안 (퇴직금 재원 마련)</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2232060220"/>
              </p:ext>
            </p:extLst>
          </p:nvPr>
        </p:nvGraphicFramePr>
        <p:xfrm>
          <a:off x="457200" y="1097280"/>
          <a:ext cx="8229600" cy="2926080"/>
        </p:xfrm>
        <a:graphic>
          <a:graphicData uri="http://schemas.openxmlformats.org/drawingml/2006/table">
            <a:tbl>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73152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상세 내용</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731520">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 정관 정비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주주총회를 통해 '임원 퇴직금 지급 규정'을 신설하고, 대표이사 퇴직금 지급 배수를 합리적인 수준(예: 근속연수 × 3년 평균 급여 × 2.5배)으로 명시합니다.</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 주의: 임원 퇴직금 한도 초과분은 법인 손금 불산입되거나 개인 근로소득으로 과세될 수 있습니다. 반드시 세무전문가와 사전 시뮬레이션을 통해 확인해야 합니다.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 재원 마련</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향후 5년간 매년 4억 원씩, 총 20억 원을 법인 명의의 연금보험 또는 저축성 보험에 납입합니다. 이는 법인의 자산으로 안전하게 운용되며, 5년 후에는 복리 효과로 약 22억 원 이상으로 증식됩니다.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731520">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3. 퇴직금 지급</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5년 후 대표님 퇴임 시, 회사는 보험을 해지하여 얻은 현금(22억)과 내부 유보자금(3억)을 합쳐 총 25억 원을 퇴직금으로 지급합니다.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8" name="Text 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12 / 28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13</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 맞춤형 솔루션 및 실행 전략 제안</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300" b="1" dirty="0">
                <a:solidFill>
                  <a:srgbClr val="1A6B4A"/>
                </a:solidFill>
                <a:latin typeface="맑은 고딕" pitchFamily="34" charset="0"/>
                <a:ea typeface="맑은 고딕" pitchFamily="34" charset="-122"/>
                <a:cs typeface="맑은 고딕" pitchFamily="34" charset="-120"/>
              </a:rPr>
              <a:t>💰 기대 효과 및 '다층형 은퇴소득 구조' 구축</a:t>
            </a:r>
            <a:endParaRPr lang="en-US" sz="1300" dirty="0"/>
          </a:p>
        </p:txBody>
      </p:sp>
      <p:sp>
        <p:nvSpPr>
          <p:cNvPr id="6" name="Shape 4"/>
          <p:cNvSpPr/>
          <p:nvPr/>
        </p:nvSpPr>
        <p:spPr>
          <a:xfrm>
            <a:off x="457200" y="1097280"/>
            <a:ext cx="8229600" cy="97840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97280"/>
            <a:ext cx="54864" cy="978408"/>
          </a:xfrm>
          <a:prstGeom prst="rect">
            <a:avLst/>
          </a:prstGeom>
          <a:solidFill>
            <a:srgbClr val="C8962E"/>
          </a:solidFill>
          <a:ln/>
        </p:spPr>
        <p:txBody>
          <a:bodyPr/>
          <a:lstStyle/>
          <a:p>
            <a:endParaRPr lang="ko-KR" altLang="en-US"/>
          </a:p>
        </p:txBody>
      </p:sp>
      <p:sp>
        <p:nvSpPr>
          <p:cNvPr id="8" name="Text 6"/>
          <p:cNvSpPr/>
          <p:nvPr/>
        </p:nvSpPr>
        <p:spPr>
          <a:xfrm>
            <a:off x="640080" y="1143000"/>
            <a:ext cx="548640" cy="201168"/>
          </a:xfrm>
          <a:prstGeom prst="rect">
            <a:avLst/>
          </a:prstGeom>
          <a:solidFill>
            <a:srgbClr val="1B2A4A"/>
          </a:solidFill>
          <a:ln/>
        </p:spPr>
        <p:txBody>
          <a:bodyPr wrap="square"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[법인]</a:t>
            </a:r>
            <a:endParaRPr lang="en-US" sz="900" dirty="0"/>
          </a:p>
        </p:txBody>
      </p:sp>
      <p:sp>
        <p:nvSpPr>
          <p:cNvPr id="9" name="Text 7"/>
          <p:cNvSpPr/>
          <p:nvPr/>
        </p:nvSpPr>
        <p:spPr>
          <a:xfrm>
            <a:off x="640080" y="1371600"/>
            <a:ext cx="7863840" cy="777240"/>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퇴직금 지급 시 손금 처리되어, 퇴직금과 보험 해지환급금의 차액에 대한 법인세 절감 효과 발생.</a:t>
            </a:r>
            <a:endParaRPr lang="en-US" sz="950" dirty="0"/>
          </a:p>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(예: 퇴직금 25억 지급, 보험 해지환급금 22억 익금 시 → 순 손금 3억 × 법인세율 22% = 약 6,600만 원 절감)</a:t>
            </a:r>
            <a:endParaRPr lang="en-US" sz="950" dirty="0"/>
          </a:p>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 법인세 효과는 퇴직금 금액, 보험 수익률, 법인세율 등에 따라 달라지므로 세무사와 정확한 시뮬레이션이 필요합니다.</a:t>
            </a:r>
            <a:endParaRPr lang="en-US" sz="950" dirty="0"/>
          </a:p>
        </p:txBody>
      </p:sp>
      <p:sp>
        <p:nvSpPr>
          <p:cNvPr id="10" name="Shape 8"/>
          <p:cNvSpPr/>
          <p:nvPr/>
        </p:nvSpPr>
        <p:spPr>
          <a:xfrm>
            <a:off x="457200" y="2167127"/>
            <a:ext cx="8229600" cy="97840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167127"/>
            <a:ext cx="54864" cy="978408"/>
          </a:xfrm>
          <a:prstGeom prst="rect">
            <a:avLst/>
          </a:prstGeom>
          <a:solidFill>
            <a:srgbClr val="C8962E"/>
          </a:solidFill>
          <a:ln/>
        </p:spPr>
        <p:txBody>
          <a:bodyPr/>
          <a:lstStyle/>
          <a:p>
            <a:endParaRPr lang="ko-KR" altLang="en-US"/>
          </a:p>
        </p:txBody>
      </p:sp>
      <p:sp>
        <p:nvSpPr>
          <p:cNvPr id="12" name="Text 10"/>
          <p:cNvSpPr/>
          <p:nvPr/>
        </p:nvSpPr>
        <p:spPr>
          <a:xfrm>
            <a:off x="640080" y="2212848"/>
            <a:ext cx="548640" cy="201168"/>
          </a:xfrm>
          <a:prstGeom prst="rect">
            <a:avLst/>
          </a:prstGeom>
          <a:solidFill>
            <a:srgbClr val="4A5568"/>
          </a:solidFill>
          <a:ln/>
        </p:spPr>
        <p:txBody>
          <a:bodyPr wrap="square"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[CEO]</a:t>
            </a:r>
            <a:endParaRPr lang="en-US" sz="900" dirty="0"/>
          </a:p>
        </p:txBody>
      </p:sp>
      <p:sp>
        <p:nvSpPr>
          <p:cNvPr id="13" name="Text 11"/>
          <p:cNvSpPr/>
          <p:nvPr/>
        </p:nvSpPr>
        <p:spPr>
          <a:xfrm>
            <a:off x="640080" y="2441448"/>
            <a:ext cx="7863840" cy="502920"/>
          </a:xfrm>
          <a:prstGeom prst="rect">
            <a:avLst/>
          </a:prstGeom>
          <a:noFill/>
          <a:ln/>
        </p:spPr>
        <p:txBody>
          <a:bodyPr wrap="square" rtlCol="0" anchor="t"/>
          <a:lstStyle/>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약 25억 원의 퇴직금에 대해 퇴직소득세(실효세율 약 25%~35%)를 납부하고, 약 16~18억 원의 현금 자산을 확보합니다. 이 자산을 기반으로 다층적 소득 포트폴리오를 구성합니다.</a:t>
            </a:r>
            <a:endParaRPr lang="en-US" sz="950" dirty="0"/>
          </a:p>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 퇴직소득세는 근속연수, 퇴직금액, 3년 평균급여 등에 따라 크게 달라지므로, 정확한 세액은 세무사와 사전 시뮬레이션이 필수입니다.</a:t>
            </a:r>
            <a:endParaRPr lang="en-US" sz="950" dirty="0"/>
          </a:p>
        </p:txBody>
      </p:sp>
      <p:sp>
        <p:nvSpPr>
          <p:cNvPr id="14" name="Shape 12"/>
          <p:cNvSpPr/>
          <p:nvPr/>
        </p:nvSpPr>
        <p:spPr>
          <a:xfrm>
            <a:off x="457200" y="3246119"/>
            <a:ext cx="8229600" cy="1617133"/>
          </a:xfrm>
          <a:prstGeom prst="rect">
            <a:avLst/>
          </a:prstGeom>
          <a:solidFill>
            <a:srgbClr val="EEF2F7"/>
          </a:solidFill>
          <a:ln/>
        </p:spPr>
        <p:txBody>
          <a:bodyPr/>
          <a:lstStyle/>
          <a:p>
            <a:endParaRPr lang="ko-KR" altLang="en-US"/>
          </a:p>
        </p:txBody>
      </p:sp>
      <p:sp>
        <p:nvSpPr>
          <p:cNvPr id="15" name="Text 13"/>
          <p:cNvSpPr/>
          <p:nvPr/>
        </p:nvSpPr>
        <p:spPr>
          <a:xfrm>
            <a:off x="594360" y="3319272"/>
            <a:ext cx="7955280" cy="1280160"/>
          </a:xfrm>
          <a:prstGeom prst="rect">
            <a:avLst/>
          </a:prstGeom>
          <a:noFill/>
          <a:ln/>
        </p:spPr>
        <p:txBody>
          <a:bodyPr wrap="square" rtlCol="0" anchor="t"/>
          <a:lstStyle/>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 기초생활자금 (연금소득): 확보한 퇴직금 중 15억 원을 즉시연금에 가입하여, 월 450~550만 원 수준의 평생 고정 현금흐름을 만듭니다. 이는 물가, 세금을 고려한 안정적인 기초 생활의 반석이 됩니다.</a:t>
            </a:r>
            <a:endParaRPr lang="en-US" sz="950" dirty="0"/>
          </a:p>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 추가 생활자금 (배당소득): 은퇴 후에도 보유한 지분(80%)에 대한 배당 정책을 수립하여, 연 1~2억 원의 배당소득을 확보합니다. (후계자와의 협의 필요)</a:t>
            </a:r>
            <a:endParaRPr lang="en-US" sz="950" dirty="0"/>
          </a:p>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 전문성 활용 (자문소득): 대표이사직에서 완전히 물러나 경영에는 관여하지 않는 조건으로, 회사와 고문(자문) 계약을 체결합니다. 해외 네트워크 관리, 핵심 거래처와의 관계 유지 등 명확한 역할에 대한 자문료(사업소득)를 수령합니다.</a:t>
            </a:r>
            <a:endParaRPr lang="en-US" sz="950" dirty="0"/>
          </a:p>
          <a:p>
            <a:pPr marL="0" indent="0">
              <a:lnSpc>
                <a:spcPct val="120000"/>
              </a:lnSpc>
              <a:buNone/>
            </a:pPr>
            <a:r>
              <a:rPr lang="en-US" sz="850" dirty="0">
                <a:solidFill>
                  <a:srgbClr val="1A6B4A"/>
                </a:solidFill>
                <a:latin typeface="맑은 고딕" pitchFamily="34" charset="0"/>
                <a:ea typeface="맑은 고딕" pitchFamily="34" charset="-122"/>
                <a:cs typeface="맑은 고딕" pitchFamily="34" charset="-120"/>
              </a:rPr>
              <a:t>(※ 주의사항: 자문 계약의 실질을 입증하기 위해 별도의 근로계약서, 명확한 업무 범위 기술, 정기적인 업무일지 및 성과보고서 작성이 필수적이며, 이는 세무조사 시 가공비용 처리 위험을 방지하는 핵심 근거가 됩니다.)</a:t>
            </a:r>
            <a:endParaRPr lang="en-US" sz="9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13 / 28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14</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 맞춤형 솔루션 및 실행 전략 제안</a:t>
            </a:r>
            <a:endParaRPr lang="en-US" sz="1600" dirty="0"/>
          </a:p>
        </p:txBody>
      </p:sp>
      <p:sp>
        <p:nvSpPr>
          <p:cNvPr id="5" name="Text 3"/>
          <p:cNvSpPr/>
          <p:nvPr/>
        </p:nvSpPr>
        <p:spPr>
          <a:xfrm>
            <a:off x="457200" y="685800"/>
            <a:ext cx="8229600" cy="36576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Stage 2: 자산 이전 플랜 (Succession 준비 / ~15년)</a:t>
            </a:r>
            <a:endParaRPr lang="en-US" sz="1300" dirty="0"/>
          </a:p>
        </p:txBody>
      </p:sp>
      <p:sp>
        <p:nvSpPr>
          <p:cNvPr id="6" name="Shape 4"/>
          <p:cNvSpPr/>
          <p:nvPr/>
        </p:nvSpPr>
        <p:spPr>
          <a:xfrm>
            <a:off x="457200" y="1143000"/>
            <a:ext cx="8229600" cy="8229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822960"/>
          </a:xfrm>
          <a:prstGeom prst="rect">
            <a:avLst/>
          </a:prstGeom>
          <a:solidFill>
            <a:srgbClr val="C8962E"/>
          </a:solidFill>
          <a:ln/>
        </p:spPr>
        <p:txBody>
          <a:bodyPr/>
          <a:lstStyle/>
          <a:p>
            <a:endParaRPr lang="ko-KR" altLang="en-US"/>
          </a:p>
        </p:txBody>
      </p:sp>
      <p:sp>
        <p:nvSpPr>
          <p:cNvPr id="8" name="Text 6"/>
          <p:cNvSpPr/>
          <p:nvPr/>
        </p:nvSpPr>
        <p:spPr>
          <a:xfrm>
            <a:off x="640080" y="1188720"/>
            <a:ext cx="786384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원칙</a:t>
            </a:r>
            <a:endParaRPr lang="en-US" sz="1100" dirty="0"/>
          </a:p>
        </p:txBody>
      </p:sp>
      <p:sp>
        <p:nvSpPr>
          <p:cNvPr id="9" name="Text 7"/>
          <p:cNvSpPr/>
          <p:nvPr/>
        </p:nvSpPr>
        <p:spPr>
          <a:xfrm>
            <a:off x="640080" y="1417320"/>
            <a:ext cx="7863840" cy="502920"/>
          </a:xfrm>
          <a:prstGeom prst="rect">
            <a:avLst/>
          </a:prstGeom>
          <a:noFill/>
          <a:ln/>
        </p:spPr>
        <p:txBody>
          <a:bodyPr wrap="square" rtlCol="0" anchor="t"/>
          <a:lstStyle/>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10년 이상의 장기간에 걸쳐 자산을 분산하여 증여하면, 증여세 누진세율 구조를 활용하여 총 세 부담을 크게 줄일 수 있습니다.</a:t>
            </a:r>
            <a:endParaRPr lang="en-US" sz="1000" dirty="0"/>
          </a:p>
          <a:p>
            <a:pPr marL="0" indent="0">
              <a:lnSpc>
                <a:spcPct val="130000"/>
              </a:lnSpc>
              <a:buNone/>
            </a:pPr>
            <a:r>
              <a:rPr lang="en-US" sz="1000" dirty="0">
                <a:solidFill>
                  <a:srgbClr val="2B2B2B"/>
                </a:solidFill>
                <a:latin typeface="맑은 고딕" pitchFamily="34" charset="0"/>
                <a:ea typeface="맑은 고딕" pitchFamily="34" charset="-122"/>
                <a:cs typeface="맑은 고딕" pitchFamily="34" charset="-120"/>
              </a:rPr>
              <a:t>※ 출처: 법제처, 상속세 및 증여세법 제47조 (증여세 과세표준) 및 제53조 (증여재산 공제) (2025.11 기준)</a:t>
            </a:r>
            <a:endParaRPr lang="en-US" sz="1000" dirty="0"/>
          </a:p>
        </p:txBody>
      </p:sp>
      <p:sp>
        <p:nvSpPr>
          <p:cNvPr id="10" name="Text 8"/>
          <p:cNvSpPr/>
          <p:nvPr/>
        </p:nvSpPr>
        <p:spPr>
          <a:xfrm>
            <a:off x="457200" y="2103120"/>
            <a:ext cx="8229600" cy="27432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실행 방안</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2707205837"/>
              </p:ext>
            </p:extLst>
          </p:nvPr>
        </p:nvGraphicFramePr>
        <p:xfrm>
          <a:off x="457200" y="2423160"/>
          <a:ext cx="8229600" cy="2484120"/>
        </p:xfrm>
        <a:graphic>
          <a:graphicData uri="http://schemas.openxmlformats.org/drawingml/2006/table">
            <a:tbl>
              <a:tblPr/>
              <a:tblGrid>
                <a:gridCol w="201168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59436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상세 내용</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94360">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1. 사전 증여 실행</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대표님은 Stage 1에서 구축한 다층형 소득 포트폴리오를 바탕으로 안정적인 생활을 유지하며, 은퇴 후 10년간 장남과 장녀에게 각각 10억 원씩(총 20억 원)을 분할 증여합니다.</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(예: 2년에 한 번씩 2억 원 증여 후 즉시 신고)</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2. 상속세 재원 마련</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자녀들은 증여받아 증여세 신고를 완료한 본인들의 고유 자금 일부를 활용하여, 대표님을 피보험자로 하는 종신보험(사망보험금 50억 원)에 가입합니다.</a:t>
                      </a:r>
                      <a:endParaRPr lang="en-US" sz="1000" dirty="0">
                        <a:latin typeface="맑은 고딕" charset="0"/>
                        <a:ea typeface="맑은 고딕" charset="0"/>
                        <a:cs typeface="맑은 고딕" charset="0"/>
                      </a:endParaRPr>
                    </a:p>
                    <a:p>
                      <a:pPr marL="0" indent="0" algn="l">
                        <a:buNone/>
                      </a:pPr>
                      <a:r>
                        <a:rPr lang="en-US" sz="1000" dirty="0">
                          <a:solidFill>
                            <a:srgbClr val="2B2B2B"/>
                          </a:solidFill>
                          <a:latin typeface="맑은 고딕" pitchFamily="34" charset="0"/>
                          <a:ea typeface="맑은 고딕" pitchFamily="34" charset="-122"/>
                          <a:cs typeface="맑은 고딕" pitchFamily="34" charset="-120"/>
                        </a:rPr>
                        <a:t>※ 핵심: 계약자와 수익자를 자녀로 설정하면, 이 사망보험금은 상속재산에 포함되지 않는 자녀의 고유재산이 됩니다. (실질과세 원칙 준수)</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594360">
                <a:tc>
                  <a:txBody>
                    <a:bodyPr/>
                    <a:lstStyle/>
                    <a:p>
                      <a:pPr marL="0" indent="0" algn="ctr">
                        <a:buNone/>
                      </a:pPr>
                      <a:r>
                        <a:rPr lang="en-US" sz="1000" dirty="0">
                          <a:solidFill>
                            <a:srgbClr val="2B2B2B"/>
                          </a:solidFill>
                          <a:latin typeface="맑은 고딕" pitchFamily="34" charset="0"/>
                          <a:ea typeface="맑은 고딕" pitchFamily="34" charset="-122"/>
                          <a:cs typeface="맑은 고딕" pitchFamily="34" charset="-120"/>
                        </a:rPr>
                        <a:t>3. 최종 상속</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B2B2B"/>
                          </a:solidFill>
                          <a:latin typeface="맑은 고딕" pitchFamily="34" charset="0"/>
                          <a:ea typeface="맑은 고딕" pitchFamily="34" charset="-122"/>
                          <a:cs typeface="맑은 고딕" pitchFamily="34" charset="-120"/>
                        </a:rPr>
                        <a:t>대표님 유고 시, 자녀들은 이 사망보험금 50억 원을 활용하여 대표님의 남은 재산(주식 등)에 대한 상속세를 납부합니다.</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9"/>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3" name="Text 10"/>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14 / 28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15</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 맞춤형 솔루션 및 실행 전략 제안</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300" b="1" dirty="0">
                <a:solidFill>
                  <a:srgbClr val="1A6B4A"/>
                </a:solidFill>
                <a:latin typeface="맑은 고딕" pitchFamily="34" charset="0"/>
                <a:ea typeface="맑은 고딕" pitchFamily="34" charset="-122"/>
                <a:cs typeface="맑은 고딕" pitchFamily="34" charset="-120"/>
              </a:rPr>
              <a:t>📊 Stage 2 기대 효과</a:t>
            </a:r>
            <a:endParaRPr lang="en-US" sz="1300" dirty="0"/>
          </a:p>
        </p:txBody>
      </p:sp>
      <p:sp>
        <p:nvSpPr>
          <p:cNvPr id="6" name="Shape 4"/>
          <p:cNvSpPr/>
          <p:nvPr/>
        </p:nvSpPr>
        <p:spPr>
          <a:xfrm>
            <a:off x="457200" y="1143000"/>
            <a:ext cx="8229600" cy="1051560"/>
          </a:xfrm>
          <a:prstGeom prst="rect">
            <a:avLst/>
          </a:prstGeom>
          <a:solidFill>
            <a:srgbClr val="EEF2F7"/>
          </a:solidFill>
          <a:ln/>
        </p:spPr>
        <p:txBody>
          <a:bodyPr/>
          <a:lstStyle/>
          <a:p>
            <a:endParaRPr lang="ko-KR" altLang="en-US"/>
          </a:p>
        </p:txBody>
      </p:sp>
      <p:sp>
        <p:nvSpPr>
          <p:cNvPr id="7" name="Text 5"/>
          <p:cNvSpPr/>
          <p:nvPr/>
        </p:nvSpPr>
        <p:spPr>
          <a:xfrm>
            <a:off x="594360" y="1234440"/>
            <a:ext cx="7955280" cy="868680"/>
          </a:xfrm>
          <a:prstGeom prst="rect">
            <a:avLst/>
          </a:prstGeom>
          <a:noFill/>
          <a:ln/>
        </p:spPr>
        <p:txBody>
          <a:bodyPr wrap="square" rtlCol="0" anchor="t"/>
          <a:lstStyle/>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 증여세 절감: 20억 원을 한 번에 상속할 때보다, 10년간 분할 증여 시 수억 원의 증여세 절감 효과.</a:t>
            </a:r>
            <a:endParaRPr lang="en-US" sz="1050" dirty="0"/>
          </a:p>
          <a:p>
            <a:pPr marL="0" indent="0">
              <a:lnSpc>
                <a:spcPct val="130000"/>
              </a:lnSpc>
              <a:buNone/>
            </a:pPr>
            <a:endParaRPr lang="en-US" sz="1050" dirty="0"/>
          </a:p>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 상속세 문제 해결: 상속세 납부를 위해 회사 주식을 매각하거나, 후계자가 빚을 내는 최악의 상황을 원천적으로 방지합니다.</a:t>
            </a:r>
            <a:endParaRPr lang="en-US" sz="1050" dirty="0"/>
          </a:p>
        </p:txBody>
      </p:sp>
      <p:sp>
        <p:nvSpPr>
          <p:cNvPr id="8" name="Text 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9" name="Text 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15 / 28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16</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 기대효과 및 재무적 영향 분석</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정량적 기대효과: 플랜 실행 전후 비교</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756797178"/>
              </p:ext>
            </p:extLst>
          </p:nvPr>
        </p:nvGraphicFramePr>
        <p:xfrm>
          <a:off x="457200" y="1097280"/>
          <a:ext cx="8229600" cy="2743200"/>
        </p:xfrm>
        <a:graphic>
          <a:graphicData uri="http://schemas.openxmlformats.org/drawingml/2006/table">
            <a:tbl>
              <a:tblPr/>
              <a:tblGrid>
                <a:gridCol w="1645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57200">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구분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Before (솔루션 실행 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4382C"/>
                    </a:solidFill>
                  </a:tcPr>
                </a:tc>
                <a:tc>
                  <a:txBody>
                    <a:bodyP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After (솔루션 실행 후)</a:t>
                      </a:r>
                      <a:endParaRPr lang="en-US" sz="100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6B4A"/>
                    </a:solidFill>
                  </a:tcPr>
                </a:tc>
                <a:extLst>
                  <a:ext uri="{0D108BD9-81ED-4DB2-BD59-A6C34878D82A}">
                    <a16:rowId xmlns:a16="http://schemas.microsoft.com/office/drawing/2014/main" val="10000"/>
                  </a:ext>
                </a:extLst>
              </a:tr>
              <a:tr h="457200">
                <a:tc>
                  <a:txBody>
                    <a:bodyPr/>
                    <a:lstStyle/>
                    <a:p>
                      <a:pPr marL="0" indent="0" algn="ctr">
                        <a:buNone/>
                      </a:pPr>
                      <a:r>
                        <a:rPr lang="en-US" sz="950" b="1" dirty="0">
                          <a:solidFill>
                            <a:srgbClr val="2B2B2B"/>
                          </a:solidFill>
                          <a:latin typeface="맑은 고딕" pitchFamily="34" charset="0"/>
                          <a:ea typeface="맑은 고딕" pitchFamily="34" charset="-122"/>
                          <a:cs typeface="맑은 고딕" pitchFamily="34" charset="-120"/>
                        </a:rPr>
                        <a:t>CEO 은퇴 자금</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4382C"/>
                          </a:solidFill>
                          <a:latin typeface="맑은 고딕" pitchFamily="34" charset="0"/>
                          <a:ea typeface="맑은 고딕" pitchFamily="34" charset="-122"/>
                          <a:cs typeface="맑은 고딕" pitchFamily="34" charset="-120"/>
                        </a:rPr>
                        <a:t>없음 (불안정한 미래)</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6B4A"/>
                          </a:solidFill>
                          <a:latin typeface="맑은 고딕" pitchFamily="34" charset="0"/>
                          <a:ea typeface="맑은 고딕" pitchFamily="34" charset="-122"/>
                          <a:cs typeface="맑은 고딕" pitchFamily="34" charset="-120"/>
                        </a:rPr>
                        <a:t>25억 원 퇴직금 + 다층형 소득구조</a:t>
                      </a:r>
                      <a:endParaRPr lang="en-US" sz="950" dirty="0">
                        <a:latin typeface="맑은 고딕" charset="0"/>
                        <a:ea typeface="맑은 고딕" charset="0"/>
                        <a:cs typeface="맑은 고딕" charset="0"/>
                      </a:endParaRPr>
                    </a:p>
                    <a:p>
                      <a:pPr marL="0" indent="0" algn="ctr">
                        <a:buNone/>
                      </a:pPr>
                      <a:r>
                        <a:rPr lang="en-US" sz="950" dirty="0">
                          <a:solidFill>
                            <a:srgbClr val="1A6B4A"/>
                          </a:solidFill>
                          <a:latin typeface="맑은 고딕" pitchFamily="34" charset="0"/>
                          <a:ea typeface="맑은 고딕" pitchFamily="34" charset="-122"/>
                          <a:cs typeface="맑은 고딕" pitchFamily="34" charset="-120"/>
                        </a:rPr>
                        <a:t>(월 1,500만 원 이상)</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950" b="1" dirty="0">
                          <a:solidFill>
                            <a:srgbClr val="2B2B2B"/>
                          </a:solidFill>
                          <a:latin typeface="맑은 고딕" pitchFamily="34" charset="0"/>
                          <a:ea typeface="맑은 고딕" pitchFamily="34" charset="-122"/>
                          <a:cs typeface="맑은 고딕" pitchFamily="34" charset="-120"/>
                        </a:rPr>
                        <a:t>자녀 증여</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50" dirty="0">
                          <a:solidFill>
                            <a:srgbClr val="D4382C"/>
                          </a:solidFill>
                          <a:latin typeface="맑은 고딕" pitchFamily="34" charset="0"/>
                          <a:ea typeface="맑은 고딕" pitchFamily="34" charset="-122"/>
                          <a:cs typeface="맑은 고딕" pitchFamily="34" charset="-120"/>
                        </a:rPr>
                        <a:t>계획 없음</a:t>
                      </a:r>
                      <a:endParaRPr lang="en-US" sz="950" dirty="0">
                        <a:latin typeface="맑은 고딕" charset="0"/>
                        <a:ea typeface="맑은 고딕" charset="0"/>
                        <a:cs typeface="맑은 고딕" charset="0"/>
                      </a:endParaRPr>
                    </a:p>
                    <a:p>
                      <a:pPr marL="0" indent="0" algn="ctr">
                        <a:buNone/>
                      </a:pPr>
                      <a:r>
                        <a:rPr lang="en-US" sz="950" dirty="0">
                          <a:solidFill>
                            <a:srgbClr val="D4382C"/>
                          </a:solidFill>
                          <a:latin typeface="맑은 고딕" pitchFamily="34" charset="0"/>
                          <a:ea typeface="맑은 고딕" pitchFamily="34" charset="-122"/>
                          <a:cs typeface="맑은 고딕" pitchFamily="34" charset="-120"/>
                        </a:rPr>
                        <a:t>(높은 세금 리스크)</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50" dirty="0">
                          <a:solidFill>
                            <a:srgbClr val="1A6B4A"/>
                          </a:solidFill>
                          <a:latin typeface="맑은 고딕" pitchFamily="34" charset="0"/>
                          <a:ea typeface="맑은 고딕" pitchFamily="34" charset="-122"/>
                          <a:cs typeface="맑은 고딕" pitchFamily="34" charset="-120"/>
                        </a:rPr>
                        <a:t>10년간 20억 원 분산 증여</a:t>
                      </a:r>
                      <a:endParaRPr lang="en-US" sz="950" dirty="0">
                        <a:latin typeface="맑은 고딕" charset="0"/>
                        <a:ea typeface="맑은 고딕" charset="0"/>
                        <a:cs typeface="맑은 고딕" charset="0"/>
                      </a:endParaRPr>
                    </a:p>
                    <a:p>
                      <a:pPr marL="0" indent="0" algn="ctr">
                        <a:buNone/>
                      </a:pPr>
                      <a:r>
                        <a:rPr lang="en-US" sz="950" dirty="0">
                          <a:solidFill>
                            <a:srgbClr val="1A6B4A"/>
                          </a:solidFill>
                          <a:latin typeface="맑은 고딕" pitchFamily="34" charset="0"/>
                          <a:ea typeface="맑은 고딕" pitchFamily="34" charset="-122"/>
                          <a:cs typeface="맑은 고딕" pitchFamily="34" charset="-120"/>
                        </a:rPr>
                        <a:t>(세금 최소화)</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57200">
                <a:tc>
                  <a:txBody>
                    <a:bodyPr/>
                    <a:lstStyle/>
                    <a:p>
                      <a:pPr marL="0" indent="0" algn="ctr">
                        <a:buNone/>
                      </a:pPr>
                      <a:r>
                        <a:rPr lang="en-US" sz="950" b="1" dirty="0">
                          <a:solidFill>
                            <a:srgbClr val="2B2B2B"/>
                          </a:solidFill>
                          <a:latin typeface="맑은 고딕" pitchFamily="34" charset="0"/>
                          <a:ea typeface="맑은 고딕" pitchFamily="34" charset="-122"/>
                          <a:cs typeface="맑은 고딕" pitchFamily="34" charset="-120"/>
                        </a:rPr>
                        <a:t>상속세 재원</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4382C"/>
                          </a:solidFill>
                          <a:latin typeface="맑은 고딕" pitchFamily="34" charset="0"/>
                          <a:ea typeface="맑은 고딕" pitchFamily="34" charset="-122"/>
                          <a:cs typeface="맑은 고딕" pitchFamily="34" charset="-120"/>
                        </a:rPr>
                        <a:t>없음 (주식 매각 위기)</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6B4A"/>
                          </a:solidFill>
                          <a:latin typeface="맑은 고딕" pitchFamily="34" charset="0"/>
                          <a:ea typeface="맑은 고딕" pitchFamily="34" charset="-122"/>
                          <a:cs typeface="맑은 고딕" pitchFamily="34" charset="-120"/>
                        </a:rPr>
                        <a:t>50억 원 사망보험금으로 완벽 대비</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950" b="1" dirty="0">
                          <a:solidFill>
                            <a:srgbClr val="2B2B2B"/>
                          </a:solidFill>
                          <a:latin typeface="맑은 고딕" pitchFamily="34" charset="0"/>
                          <a:ea typeface="맑은 고딕" pitchFamily="34" charset="-122"/>
                          <a:cs typeface="맑은 고딕" pitchFamily="34" charset="-120"/>
                        </a:rPr>
                        <a:t>후계자 경영권</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50" dirty="0">
                          <a:solidFill>
                            <a:srgbClr val="D4382C"/>
                          </a:solidFill>
                          <a:latin typeface="맑은 고딕" pitchFamily="34" charset="0"/>
                          <a:ea typeface="맑은 고딕" pitchFamily="34" charset="-122"/>
                          <a:cs typeface="맑은 고딕" pitchFamily="34" charset="-120"/>
                        </a:rPr>
                        <a:t>안정적이나, 상속세 문제로</a:t>
                      </a:r>
                      <a:endParaRPr lang="en-US" sz="950" dirty="0">
                        <a:latin typeface="맑은 고딕" charset="0"/>
                        <a:ea typeface="맑은 고딕" charset="0"/>
                        <a:cs typeface="맑은 고딕" charset="0"/>
                      </a:endParaRPr>
                    </a:p>
                    <a:p>
                      <a:pPr marL="0" indent="0" algn="ctr">
                        <a:buNone/>
                      </a:pPr>
                      <a:r>
                        <a:rPr lang="en-US" sz="950" dirty="0">
                          <a:solidFill>
                            <a:srgbClr val="D4382C"/>
                          </a:solidFill>
                          <a:latin typeface="맑은 고딕" pitchFamily="34" charset="0"/>
                          <a:ea typeface="맑은 고딕" pitchFamily="34" charset="-122"/>
                          <a:cs typeface="맑은 고딕" pitchFamily="34" charset="-120"/>
                        </a:rPr>
                        <a:t>흔들릴 수 있음</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tc>
                  <a:txBody>
                    <a:bodyPr/>
                    <a:lstStyle/>
                    <a:p>
                      <a:pPr marL="0" indent="0" algn="ctr">
                        <a:buNone/>
                      </a:pPr>
                      <a:r>
                        <a:rPr lang="en-US" sz="950" dirty="0">
                          <a:solidFill>
                            <a:srgbClr val="1A6B4A"/>
                          </a:solidFill>
                          <a:latin typeface="맑은 고딕" pitchFamily="34" charset="0"/>
                          <a:ea typeface="맑은 고딕" pitchFamily="34" charset="-122"/>
                          <a:cs typeface="맑은 고딕" pitchFamily="34" charset="-120"/>
                        </a:rPr>
                        <a:t>상속세 리스크 제거로 절대 안정</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457200">
                <a:tc>
                  <a:txBody>
                    <a:bodyPr/>
                    <a:lstStyle/>
                    <a:p>
                      <a:pPr marL="0" indent="0" algn="ctr">
                        <a:buNone/>
                      </a:pPr>
                      <a:r>
                        <a:rPr lang="en-US" sz="950" b="1" dirty="0">
                          <a:solidFill>
                            <a:srgbClr val="2B2B2B"/>
                          </a:solidFill>
                          <a:latin typeface="맑은 고딕" pitchFamily="34" charset="0"/>
                          <a:ea typeface="맑은 고딕" pitchFamily="34" charset="-122"/>
                          <a:cs typeface="맑은 고딕" pitchFamily="34" charset="-120"/>
                        </a:rPr>
                        <a:t>총 예상 절세액</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B2B"/>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6B4A"/>
                          </a:solidFill>
                          <a:latin typeface="맑은 고딕" pitchFamily="34" charset="0"/>
                          <a:ea typeface="맑은 고딕" pitchFamily="34" charset="-122"/>
                          <a:cs typeface="맑은 고딕" pitchFamily="34" charset="-120"/>
                        </a:rPr>
                        <a:t>법인세, 소득세, 증여세, 상속세를 종합적으로 고려한 상당한 절세 효과가 기대됩니다.</a:t>
                      </a:r>
                      <a:endParaRPr lang="en-US" sz="950" dirty="0">
                        <a:latin typeface="맑은 고딕" charset="0"/>
                        <a:ea typeface="맑은 고딕" charset="0"/>
                        <a:cs typeface="맑은 고딕"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457200" y="4206240"/>
            <a:ext cx="8229600" cy="274320"/>
          </a:xfrm>
          <a:prstGeom prst="rect">
            <a:avLst/>
          </a:prstGeom>
          <a:noFill/>
          <a:ln/>
        </p:spPr>
        <p:txBody>
          <a:bodyPr wrap="square" rtlCol="0" anchor="t"/>
          <a:lstStyle/>
          <a:p>
            <a:pPr marL="0" indent="0">
              <a:buNone/>
            </a:pPr>
            <a:r>
              <a:rPr lang="en-US" sz="800" dirty="0">
                <a:solidFill>
                  <a:srgbClr val="4A5568"/>
                </a:solidFill>
                <a:latin typeface="맑은 고딕" pitchFamily="34" charset="0"/>
                <a:ea typeface="맑은 고딕" pitchFamily="34" charset="-122"/>
                <a:cs typeface="맑은 고딕" pitchFamily="34" charset="-120"/>
              </a:rPr>
              <a:t>※ 정확한 절세 금액은 퇴직금 규모, 증여 시기, 상속 시점, 세법 변동 등에 따라 달라지므로, 세무 전문가와 구체적인 시뮬레이션이 필요합니다.</a:t>
            </a:r>
            <a:endParaRPr lang="en-US" sz="800" dirty="0"/>
          </a:p>
        </p:txBody>
      </p:sp>
      <p:sp>
        <p:nvSpPr>
          <p:cNvPr id="8" name="Text 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9" name="Text 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16 / 28</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17</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 기대효과 및 재무적 영향 분석</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 절세 효과 추정 (참고용)</a:t>
            </a:r>
            <a:endParaRPr lang="en-US" sz="1300" dirty="0"/>
          </a:p>
        </p:txBody>
      </p:sp>
      <p:sp>
        <p:nvSpPr>
          <p:cNvPr id="6" name="Shape 4"/>
          <p:cNvSpPr/>
          <p:nvPr/>
        </p:nvSpPr>
        <p:spPr>
          <a:xfrm>
            <a:off x="365760" y="1143000"/>
            <a:ext cx="2651760" cy="1280160"/>
          </a:xfrm>
          <a:prstGeom prst="rect">
            <a:avLst/>
          </a:prstGeom>
          <a:solidFill>
            <a:srgbClr val="FFFFFF"/>
          </a:solidFill>
          <a:ln w="635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365760" y="1143000"/>
            <a:ext cx="2651760" cy="54864"/>
          </a:xfrm>
          <a:prstGeom prst="rect">
            <a:avLst/>
          </a:prstGeom>
          <a:solidFill>
            <a:srgbClr val="1B2A4A"/>
          </a:solidFill>
          <a:ln/>
        </p:spPr>
        <p:txBody>
          <a:bodyPr/>
          <a:lstStyle/>
          <a:p>
            <a:endParaRPr lang="ko-KR" altLang="en-US"/>
          </a:p>
        </p:txBody>
      </p:sp>
      <p:sp>
        <p:nvSpPr>
          <p:cNvPr id="8" name="Text 6"/>
          <p:cNvSpPr/>
          <p:nvPr/>
        </p:nvSpPr>
        <p:spPr>
          <a:xfrm>
            <a:off x="365760" y="1280160"/>
            <a:ext cx="2651760" cy="228600"/>
          </a:xfrm>
          <a:prstGeom prst="rect">
            <a:avLst/>
          </a:prstGeom>
          <a:noFill/>
          <a:ln/>
        </p:spPr>
        <p:txBody>
          <a:bodyPr wrap="square" rtlCol="0" anchor="ctr"/>
          <a:lstStyle/>
          <a:p>
            <a:pPr marL="0" indent="0" algn="ctr">
              <a:buNone/>
            </a:pPr>
            <a:r>
              <a:rPr lang="en-US" sz="950" dirty="0">
                <a:solidFill>
                  <a:srgbClr val="4A5568"/>
                </a:solidFill>
                <a:latin typeface="맑은 고딕" pitchFamily="34" charset="0"/>
                <a:ea typeface="맑은 고딕" pitchFamily="34" charset="-122"/>
                <a:cs typeface="맑은 고딕" pitchFamily="34" charset="-120"/>
              </a:rPr>
              <a:t>소득세 절감</a:t>
            </a:r>
            <a:endParaRPr lang="en-US" sz="950" dirty="0"/>
          </a:p>
        </p:txBody>
      </p:sp>
      <p:sp>
        <p:nvSpPr>
          <p:cNvPr id="9" name="Text 7"/>
          <p:cNvSpPr/>
          <p:nvPr/>
        </p:nvSpPr>
        <p:spPr>
          <a:xfrm>
            <a:off x="365760" y="1554480"/>
            <a:ext cx="2651760" cy="365760"/>
          </a:xfrm>
          <a:prstGeom prst="rect">
            <a:avLst/>
          </a:prstGeom>
          <a:noFill/>
          <a:ln/>
        </p:spPr>
        <p:txBody>
          <a:bodyPr wrap="square" rtlCol="0" anchor="ctr"/>
          <a:lstStyle/>
          <a:p>
            <a:pPr marL="0" indent="0" algn="ctr">
              <a:buNone/>
            </a:pPr>
            <a:r>
              <a:rPr lang="en-US" sz="1600" b="1" dirty="0">
                <a:solidFill>
                  <a:srgbClr val="1A6B4A"/>
                </a:solidFill>
                <a:latin typeface="Georgia" pitchFamily="34" charset="0"/>
                <a:ea typeface="Georgia" pitchFamily="34" charset="-122"/>
                <a:cs typeface="Georgia" pitchFamily="34" charset="-120"/>
              </a:rPr>
              <a:t>약 5억~7억</a:t>
            </a:r>
            <a:endParaRPr lang="en-US" sz="1600" dirty="0"/>
          </a:p>
        </p:txBody>
      </p:sp>
      <p:sp>
        <p:nvSpPr>
          <p:cNvPr id="10" name="Text 8"/>
          <p:cNvSpPr/>
          <p:nvPr/>
        </p:nvSpPr>
        <p:spPr>
          <a:xfrm>
            <a:off x="365760" y="1965960"/>
            <a:ext cx="2651760" cy="320040"/>
          </a:xfrm>
          <a:prstGeom prst="rect">
            <a:avLst/>
          </a:prstGeom>
          <a:noFill/>
          <a:ln/>
        </p:spPr>
        <p:txBody>
          <a:bodyPr wrap="square" rtlCol="0" anchor="ctr"/>
          <a:lstStyle/>
          <a:p>
            <a:pPr marL="0" indent="0" algn="ctr">
              <a:buNone/>
            </a:pPr>
            <a:r>
              <a:rPr lang="en-US" sz="850" dirty="0">
                <a:solidFill>
                  <a:srgbClr val="4A5568"/>
                </a:solidFill>
                <a:latin typeface="맑은 고딕" pitchFamily="34" charset="0"/>
                <a:ea typeface="맑은 고딕" pitchFamily="34" charset="-122"/>
                <a:cs typeface="맑은 고딕" pitchFamily="34" charset="-120"/>
              </a:rPr>
              <a:t>퇴직소득 vs 급여 과세 차이</a:t>
            </a:r>
            <a:endParaRPr lang="en-US" sz="850" dirty="0"/>
          </a:p>
        </p:txBody>
      </p:sp>
      <p:sp>
        <p:nvSpPr>
          <p:cNvPr id="11" name="Shape 9"/>
          <p:cNvSpPr/>
          <p:nvPr/>
        </p:nvSpPr>
        <p:spPr>
          <a:xfrm>
            <a:off x="3200400" y="1143000"/>
            <a:ext cx="2651760" cy="1280160"/>
          </a:xfrm>
          <a:prstGeom prst="rect">
            <a:avLst/>
          </a:prstGeom>
          <a:solidFill>
            <a:srgbClr val="FFFFFF"/>
          </a:solidFill>
          <a:ln w="635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3200400" y="1143000"/>
            <a:ext cx="2651760" cy="54864"/>
          </a:xfrm>
          <a:prstGeom prst="rect">
            <a:avLst/>
          </a:prstGeom>
          <a:solidFill>
            <a:srgbClr val="1B2A4A"/>
          </a:solidFill>
          <a:ln/>
        </p:spPr>
        <p:txBody>
          <a:bodyPr/>
          <a:lstStyle/>
          <a:p>
            <a:endParaRPr lang="ko-KR" altLang="en-US"/>
          </a:p>
        </p:txBody>
      </p:sp>
      <p:sp>
        <p:nvSpPr>
          <p:cNvPr id="13" name="Text 11"/>
          <p:cNvSpPr/>
          <p:nvPr/>
        </p:nvSpPr>
        <p:spPr>
          <a:xfrm>
            <a:off x="3200400" y="1280160"/>
            <a:ext cx="2651760" cy="228600"/>
          </a:xfrm>
          <a:prstGeom prst="rect">
            <a:avLst/>
          </a:prstGeom>
          <a:noFill/>
          <a:ln/>
        </p:spPr>
        <p:txBody>
          <a:bodyPr wrap="square" rtlCol="0" anchor="ctr"/>
          <a:lstStyle/>
          <a:p>
            <a:pPr marL="0" indent="0" algn="ctr">
              <a:buNone/>
            </a:pPr>
            <a:r>
              <a:rPr lang="en-US" sz="950" dirty="0">
                <a:solidFill>
                  <a:srgbClr val="4A5568"/>
                </a:solidFill>
                <a:latin typeface="맑은 고딕" pitchFamily="34" charset="0"/>
                <a:ea typeface="맑은 고딕" pitchFamily="34" charset="-122"/>
                <a:cs typeface="맑은 고딕" pitchFamily="34" charset="-120"/>
              </a:rPr>
              <a:t>증여세 절감</a:t>
            </a:r>
            <a:endParaRPr lang="en-US" sz="950" dirty="0"/>
          </a:p>
        </p:txBody>
      </p:sp>
      <p:sp>
        <p:nvSpPr>
          <p:cNvPr id="14" name="Text 12"/>
          <p:cNvSpPr/>
          <p:nvPr/>
        </p:nvSpPr>
        <p:spPr>
          <a:xfrm>
            <a:off x="3200400" y="1554480"/>
            <a:ext cx="2651760" cy="365760"/>
          </a:xfrm>
          <a:prstGeom prst="rect">
            <a:avLst/>
          </a:prstGeom>
          <a:noFill/>
          <a:ln/>
        </p:spPr>
        <p:txBody>
          <a:bodyPr wrap="square" rtlCol="0" anchor="ctr"/>
          <a:lstStyle/>
          <a:p>
            <a:pPr marL="0" indent="0" algn="ctr">
              <a:buNone/>
            </a:pPr>
            <a:r>
              <a:rPr lang="en-US" sz="1600" b="1" dirty="0">
                <a:solidFill>
                  <a:srgbClr val="1A6B4A"/>
                </a:solidFill>
                <a:latin typeface="Georgia" pitchFamily="34" charset="0"/>
                <a:ea typeface="Georgia" pitchFamily="34" charset="-122"/>
                <a:cs typeface="Georgia" pitchFamily="34" charset="-120"/>
              </a:rPr>
              <a:t>약 3억~5억</a:t>
            </a:r>
            <a:endParaRPr lang="en-US" sz="1600" dirty="0"/>
          </a:p>
        </p:txBody>
      </p:sp>
      <p:sp>
        <p:nvSpPr>
          <p:cNvPr id="15" name="Text 13"/>
          <p:cNvSpPr/>
          <p:nvPr/>
        </p:nvSpPr>
        <p:spPr>
          <a:xfrm>
            <a:off x="3200400" y="1965960"/>
            <a:ext cx="2651760" cy="320040"/>
          </a:xfrm>
          <a:prstGeom prst="rect">
            <a:avLst/>
          </a:prstGeom>
          <a:noFill/>
          <a:ln/>
        </p:spPr>
        <p:txBody>
          <a:bodyPr wrap="square" rtlCol="0" anchor="ctr"/>
          <a:lstStyle/>
          <a:p>
            <a:pPr marL="0" indent="0" algn="ctr">
              <a:buNone/>
            </a:pPr>
            <a:r>
              <a:rPr lang="en-US" sz="850" dirty="0">
                <a:solidFill>
                  <a:srgbClr val="4A5568"/>
                </a:solidFill>
                <a:latin typeface="맑은 고딕" pitchFamily="34" charset="0"/>
                <a:ea typeface="맑은 고딕" pitchFamily="34" charset="-122"/>
                <a:cs typeface="맑은 고딕" pitchFamily="34" charset="-120"/>
              </a:rPr>
              <a:t>분할 증여 vs 일시 상속 차이</a:t>
            </a:r>
            <a:endParaRPr lang="en-US" sz="850" dirty="0"/>
          </a:p>
        </p:txBody>
      </p:sp>
      <p:sp>
        <p:nvSpPr>
          <p:cNvPr id="16" name="Shape 14"/>
          <p:cNvSpPr/>
          <p:nvPr/>
        </p:nvSpPr>
        <p:spPr>
          <a:xfrm>
            <a:off x="6035040" y="1143000"/>
            <a:ext cx="2651760" cy="1280160"/>
          </a:xfrm>
          <a:prstGeom prst="rect">
            <a:avLst/>
          </a:prstGeom>
          <a:solidFill>
            <a:srgbClr val="FFFFFF"/>
          </a:solidFill>
          <a:ln w="6350">
            <a:solidFill>
              <a:srgbClr val="E2E8F0"/>
            </a:solidFill>
            <a:prstDash val="solid"/>
          </a:ln>
          <a:effectLst>
            <a:outerShdw blurRad="50800" dist="25400" dir="8100000" algn="bl" rotWithShape="0">
              <a:srgbClr val="000000">
                <a:alpha val="10000"/>
              </a:srgbClr>
            </a:outerShdw>
          </a:effectLst>
        </p:spPr>
        <p:txBody>
          <a:bodyPr/>
          <a:lstStyle/>
          <a:p>
            <a:endParaRPr lang="ko-KR" altLang="en-US"/>
          </a:p>
        </p:txBody>
      </p:sp>
      <p:sp>
        <p:nvSpPr>
          <p:cNvPr id="17" name="Shape 15"/>
          <p:cNvSpPr/>
          <p:nvPr/>
        </p:nvSpPr>
        <p:spPr>
          <a:xfrm>
            <a:off x="6035040" y="1143000"/>
            <a:ext cx="2651760" cy="54864"/>
          </a:xfrm>
          <a:prstGeom prst="rect">
            <a:avLst/>
          </a:prstGeom>
          <a:solidFill>
            <a:srgbClr val="1B2A4A"/>
          </a:solidFill>
          <a:ln/>
        </p:spPr>
        <p:txBody>
          <a:bodyPr/>
          <a:lstStyle/>
          <a:p>
            <a:endParaRPr lang="ko-KR" altLang="en-US"/>
          </a:p>
        </p:txBody>
      </p:sp>
      <p:sp>
        <p:nvSpPr>
          <p:cNvPr id="18" name="Text 16"/>
          <p:cNvSpPr/>
          <p:nvPr/>
        </p:nvSpPr>
        <p:spPr>
          <a:xfrm>
            <a:off x="6035040" y="1280160"/>
            <a:ext cx="2651760" cy="228600"/>
          </a:xfrm>
          <a:prstGeom prst="rect">
            <a:avLst/>
          </a:prstGeom>
          <a:noFill/>
          <a:ln/>
        </p:spPr>
        <p:txBody>
          <a:bodyPr wrap="square" rtlCol="0" anchor="ctr"/>
          <a:lstStyle/>
          <a:p>
            <a:pPr marL="0" indent="0" algn="ctr">
              <a:buNone/>
            </a:pPr>
            <a:r>
              <a:rPr lang="en-US" sz="950" dirty="0">
                <a:solidFill>
                  <a:srgbClr val="4A5568"/>
                </a:solidFill>
                <a:latin typeface="맑은 고딕" pitchFamily="34" charset="0"/>
                <a:ea typeface="맑은 고딕" pitchFamily="34" charset="-122"/>
                <a:cs typeface="맑은 고딕" pitchFamily="34" charset="-120"/>
              </a:rPr>
              <a:t>상속세 재원</a:t>
            </a:r>
            <a:endParaRPr lang="en-US" sz="950" dirty="0"/>
          </a:p>
        </p:txBody>
      </p:sp>
      <p:sp>
        <p:nvSpPr>
          <p:cNvPr id="19" name="Text 17"/>
          <p:cNvSpPr/>
          <p:nvPr/>
        </p:nvSpPr>
        <p:spPr>
          <a:xfrm>
            <a:off x="6035040" y="1554480"/>
            <a:ext cx="2651760" cy="365760"/>
          </a:xfrm>
          <a:prstGeom prst="rect">
            <a:avLst/>
          </a:prstGeom>
          <a:noFill/>
          <a:ln/>
        </p:spPr>
        <p:txBody>
          <a:bodyPr wrap="square" rtlCol="0" anchor="ctr"/>
          <a:lstStyle/>
          <a:p>
            <a:pPr marL="0" indent="0" algn="ctr">
              <a:buNone/>
            </a:pPr>
            <a:r>
              <a:rPr lang="en-US" sz="1600" b="1" dirty="0">
                <a:solidFill>
                  <a:srgbClr val="1A6B4A"/>
                </a:solidFill>
                <a:latin typeface="Georgia" pitchFamily="34" charset="0"/>
                <a:ea typeface="Georgia" pitchFamily="34" charset="-122"/>
                <a:cs typeface="Georgia" pitchFamily="34" charset="-120"/>
              </a:rPr>
              <a:t>자산 보존 효과</a:t>
            </a:r>
            <a:endParaRPr lang="en-US" sz="1600" dirty="0"/>
          </a:p>
        </p:txBody>
      </p:sp>
      <p:sp>
        <p:nvSpPr>
          <p:cNvPr id="20" name="Text 18"/>
          <p:cNvSpPr/>
          <p:nvPr/>
        </p:nvSpPr>
        <p:spPr>
          <a:xfrm>
            <a:off x="6035040" y="1965960"/>
            <a:ext cx="2651760" cy="320040"/>
          </a:xfrm>
          <a:prstGeom prst="rect">
            <a:avLst/>
          </a:prstGeom>
          <a:noFill/>
          <a:ln/>
        </p:spPr>
        <p:txBody>
          <a:bodyPr wrap="square" rtlCol="0" anchor="ctr"/>
          <a:lstStyle/>
          <a:p>
            <a:pPr marL="0" indent="0" algn="ctr">
              <a:buNone/>
            </a:pPr>
            <a:r>
              <a:rPr lang="en-US" sz="850" dirty="0">
                <a:solidFill>
                  <a:srgbClr val="4A5568"/>
                </a:solidFill>
                <a:latin typeface="맑은 고딕" pitchFamily="34" charset="0"/>
                <a:ea typeface="맑은 고딕" pitchFamily="34" charset="-122"/>
                <a:cs typeface="맑은 고딕" pitchFamily="34" charset="-120"/>
              </a:rPr>
              <a:t>보험금으로 납부 시 수십억 효과</a:t>
            </a:r>
            <a:endParaRPr lang="en-US" sz="850" dirty="0"/>
          </a:p>
        </p:txBody>
      </p:sp>
      <p:sp>
        <p:nvSpPr>
          <p:cNvPr id="21" name="Text 19"/>
          <p:cNvSpPr/>
          <p:nvPr/>
        </p:nvSpPr>
        <p:spPr>
          <a:xfrm>
            <a:off x="457200" y="2560320"/>
            <a:ext cx="8229600" cy="228600"/>
          </a:xfrm>
          <a:prstGeom prst="rect">
            <a:avLst/>
          </a:prstGeom>
          <a:noFill/>
          <a:ln/>
        </p:spPr>
        <p:txBody>
          <a:bodyPr wrap="square" rtlCol="0" anchor="ctr"/>
          <a:lstStyle/>
          <a:p>
            <a:pPr marL="0" indent="0">
              <a:buNone/>
            </a:pPr>
            <a:r>
              <a:rPr lang="en-US" sz="800" dirty="0">
                <a:solidFill>
                  <a:srgbClr val="4A5568"/>
                </a:solidFill>
                <a:latin typeface="맑은 고딕" pitchFamily="34" charset="0"/>
                <a:ea typeface="맑은 고딕" pitchFamily="34" charset="-122"/>
                <a:cs typeface="맑은 고딕" pitchFamily="34" charset="-120"/>
              </a:rPr>
              <a:t>※ 위 수치는 예시이며, 실제 효과는 개별 상황에 따라 크게 달라질 수 있습니다.</a:t>
            </a:r>
            <a:endParaRPr lang="en-US" sz="800" dirty="0"/>
          </a:p>
        </p:txBody>
      </p:sp>
      <p:sp>
        <p:nvSpPr>
          <p:cNvPr id="22" name="Text 20"/>
          <p:cNvSpPr/>
          <p:nvPr/>
        </p:nvSpPr>
        <p:spPr>
          <a:xfrm>
            <a:off x="457200" y="292608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정성적 기대효과</a:t>
            </a:r>
            <a:endParaRPr lang="en-US" sz="1400" dirty="0"/>
          </a:p>
        </p:txBody>
      </p:sp>
      <p:sp>
        <p:nvSpPr>
          <p:cNvPr id="23" name="Shape 21"/>
          <p:cNvSpPr/>
          <p:nvPr/>
        </p:nvSpPr>
        <p:spPr>
          <a:xfrm>
            <a:off x="457200" y="3337559"/>
            <a:ext cx="8229600" cy="128862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4" name="Shape 22"/>
          <p:cNvSpPr/>
          <p:nvPr/>
        </p:nvSpPr>
        <p:spPr>
          <a:xfrm>
            <a:off x="457200" y="3337559"/>
            <a:ext cx="54864" cy="1288627"/>
          </a:xfrm>
          <a:prstGeom prst="rect">
            <a:avLst/>
          </a:prstGeom>
          <a:solidFill>
            <a:srgbClr val="1A6B4A"/>
          </a:solidFill>
          <a:ln/>
        </p:spPr>
        <p:txBody>
          <a:bodyPr/>
          <a:lstStyle/>
          <a:p>
            <a:endParaRPr lang="ko-KR" altLang="en-US"/>
          </a:p>
        </p:txBody>
      </p:sp>
      <p:sp>
        <p:nvSpPr>
          <p:cNvPr id="25" name="Text 23"/>
          <p:cNvSpPr/>
          <p:nvPr/>
        </p:nvSpPr>
        <p:spPr>
          <a:xfrm>
            <a:off x="640080" y="3429000"/>
            <a:ext cx="7863840" cy="1005840"/>
          </a:xfrm>
          <a:prstGeom prst="rect">
            <a:avLst/>
          </a:prstGeom>
          <a:noFill/>
          <a:ln/>
        </p:spPr>
        <p:txBody>
          <a:bodyPr wrap="square" rtlCol="0" anchor="t"/>
          <a:lstStyle/>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 CEO: 돈 걱정 없는 '진정한 은퇴' 실현. 자녀 문제까지 해결했다는 심리적 평안 속에서 현재의 경영에 더욱 집중하고, 성공적인 마무리를 준비할 수 있습니다.</a:t>
            </a:r>
            <a:endParaRPr lang="en-US" sz="1050" dirty="0"/>
          </a:p>
          <a:p>
            <a:pPr marL="0" indent="0">
              <a:lnSpc>
                <a:spcPct val="130000"/>
              </a:lnSpc>
              <a:buNone/>
            </a:pPr>
            <a:endParaRPr lang="en-US" sz="1050" dirty="0"/>
          </a:p>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 기업/가족: 예측 불가능했던 미래가, 잘 짜인 시스템 속에서 예측 가능하게 관리됩니다. 이는 기업의 지속가능성을 높이고, 가족 구성원 모두의 만족과 화합을 이끌어내는 최상의 결과입니다.</a:t>
            </a:r>
            <a:endParaRPr lang="en-US" sz="1050" dirty="0"/>
          </a:p>
        </p:txBody>
      </p:sp>
      <p:sp>
        <p:nvSpPr>
          <p:cNvPr id="26" name="Text 2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27" name="Text 2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17 / 28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18</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 실행 로드맵 및 추진 일정</a:t>
            </a:r>
            <a:endParaRPr lang="en-US" sz="1600" dirty="0"/>
          </a:p>
        </p:txBody>
      </p:sp>
      <p:sp>
        <p:nvSpPr>
          <p:cNvPr id="5" name="Shape 3"/>
          <p:cNvSpPr/>
          <p:nvPr/>
        </p:nvSpPr>
        <p:spPr>
          <a:xfrm>
            <a:off x="640080" y="685800"/>
            <a:ext cx="320040" cy="320040"/>
          </a:xfrm>
          <a:prstGeom prst="rect">
            <a:avLst/>
          </a:prstGeom>
          <a:solidFill>
            <a:srgbClr val="1B2A4A"/>
          </a:solidFill>
          <a:ln/>
        </p:spPr>
        <p:txBody>
          <a:bodyPr/>
          <a:lstStyle/>
          <a:p>
            <a:endParaRPr lang="ko-KR" altLang="en-US"/>
          </a:p>
        </p:txBody>
      </p:sp>
      <p:sp>
        <p:nvSpPr>
          <p:cNvPr id="6" name="Text 4"/>
          <p:cNvSpPr/>
          <p:nvPr/>
        </p:nvSpPr>
        <p:spPr>
          <a:xfrm>
            <a:off x="640080" y="685800"/>
            <a:ext cx="320040" cy="3200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7" name="Text 5"/>
          <p:cNvSpPr/>
          <p:nvPr/>
        </p:nvSpPr>
        <p:spPr>
          <a:xfrm>
            <a:off x="1097280" y="685800"/>
            <a:ext cx="3657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Stage 1: 은퇴 준비</a:t>
            </a:r>
            <a:endParaRPr lang="en-US" sz="1300" dirty="0"/>
          </a:p>
        </p:txBody>
      </p:sp>
      <p:sp>
        <p:nvSpPr>
          <p:cNvPr id="8" name="Shape 6"/>
          <p:cNvSpPr/>
          <p:nvPr/>
        </p:nvSpPr>
        <p:spPr>
          <a:xfrm>
            <a:off x="7315200" y="713232"/>
            <a:ext cx="822960" cy="256032"/>
          </a:xfrm>
          <a:prstGeom prst="rect">
            <a:avLst/>
          </a:prstGeom>
          <a:solidFill>
            <a:srgbClr val="1B2A4A"/>
          </a:solidFill>
          <a:ln/>
        </p:spPr>
        <p:txBody>
          <a:bodyPr/>
          <a:lstStyle/>
          <a:p>
            <a:endParaRPr lang="ko-KR" altLang="en-US"/>
          </a:p>
        </p:txBody>
      </p:sp>
      <p:sp>
        <p:nvSpPr>
          <p:cNvPr id="9" name="Text 7"/>
          <p:cNvSpPr/>
          <p:nvPr/>
        </p:nvSpPr>
        <p:spPr>
          <a:xfrm>
            <a:off x="7315200" y="713232"/>
            <a:ext cx="822960" cy="256032"/>
          </a:xfrm>
          <a:prstGeom prst="rect">
            <a:avLst/>
          </a:prstGeom>
          <a:noFill/>
          <a:ln/>
        </p:spPr>
        <p:txBody>
          <a:bodyPr wrap="square"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 5년</a:t>
            </a:r>
            <a:endParaRPr lang="en-US" sz="900" dirty="0"/>
          </a:p>
        </p:txBody>
      </p:sp>
      <p:sp>
        <p:nvSpPr>
          <p:cNvPr id="10" name="Shape 8"/>
          <p:cNvSpPr/>
          <p:nvPr/>
        </p:nvSpPr>
        <p:spPr>
          <a:xfrm>
            <a:off x="457200" y="1143000"/>
            <a:ext cx="822960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1143000"/>
            <a:ext cx="54864" cy="1097280"/>
          </a:xfrm>
          <a:prstGeom prst="rect">
            <a:avLst/>
          </a:prstGeom>
          <a:solidFill>
            <a:srgbClr val="C8962E"/>
          </a:solidFill>
          <a:ln/>
        </p:spPr>
        <p:txBody>
          <a:bodyPr/>
          <a:lstStyle/>
          <a:p>
            <a:endParaRPr lang="ko-KR" altLang="en-US"/>
          </a:p>
        </p:txBody>
      </p:sp>
      <p:sp>
        <p:nvSpPr>
          <p:cNvPr id="12" name="Text 10"/>
          <p:cNvSpPr/>
          <p:nvPr/>
        </p:nvSpPr>
        <p:spPr>
          <a:xfrm>
            <a:off x="640080" y="1216152"/>
            <a:ext cx="7680960" cy="777240"/>
          </a:xfrm>
          <a:prstGeom prst="rect">
            <a:avLst/>
          </a:prstGeom>
          <a:noFill/>
          <a:ln/>
        </p:spPr>
        <p:txBody>
          <a:bodyPr wrap="square" rtlCol="0" anchor="t"/>
          <a:lstStyle/>
          <a:p>
            <a:pPr marL="342900" indent="-342900">
              <a:lnSpc>
                <a:spcPct val="140000"/>
              </a:lnSpc>
              <a:buSzPct val="100000"/>
              <a:buChar char="•"/>
            </a:pPr>
            <a:r>
              <a:rPr lang="en-US" sz="1050" dirty="0">
                <a:solidFill>
                  <a:srgbClr val="2B2B2B"/>
                </a:solidFill>
                <a:latin typeface="맑은 고딕" pitchFamily="34" charset="0"/>
                <a:ea typeface="맑은 고딕" pitchFamily="34" charset="-122"/>
                <a:cs typeface="맑은 고딕" pitchFamily="34" charset="-120"/>
              </a:rPr>
              <a:t>1. 정관 및 임원퇴직금 규정 정비</a:t>
            </a:r>
            <a:endParaRPr lang="en-US" sz="1050" dirty="0"/>
          </a:p>
          <a:p>
            <a:pPr marL="342900" indent="-342900">
              <a:lnSpc>
                <a:spcPct val="140000"/>
              </a:lnSpc>
              <a:buSzPct val="100000"/>
              <a:buChar char="•"/>
            </a:pPr>
            <a:r>
              <a:rPr lang="en-US" sz="1050" dirty="0">
                <a:solidFill>
                  <a:srgbClr val="2B2B2B"/>
                </a:solidFill>
                <a:latin typeface="맑은 고딕" pitchFamily="34" charset="0"/>
                <a:ea typeface="맑은 고딕" pitchFamily="34" charset="-122"/>
                <a:cs typeface="맑은 고딕" pitchFamily="34" charset="-120"/>
              </a:rPr>
              <a:t>2. 법인 연금/저축보험 가입 및 불입</a:t>
            </a:r>
            <a:endParaRPr lang="en-US" sz="1050" dirty="0"/>
          </a:p>
          <a:p>
            <a:pPr marL="342900" indent="-342900">
              <a:lnSpc>
                <a:spcPct val="140000"/>
              </a:lnSpc>
              <a:buSzPct val="100000"/>
              <a:buChar char="•"/>
            </a:pPr>
            <a:r>
              <a:rPr lang="en-US" sz="1050" dirty="0">
                <a:solidFill>
                  <a:srgbClr val="2B2B2B"/>
                </a:solidFill>
                <a:latin typeface="맑은 고딕" pitchFamily="34" charset="0"/>
                <a:ea typeface="맑은 고딕" pitchFamily="34" charset="-122"/>
                <a:cs typeface="맑은 고딕" pitchFamily="34" charset="-120"/>
              </a:rPr>
              <a:t>3. 매년 법인세 절감 효과 확인</a:t>
            </a:r>
            <a:endParaRPr lang="en-US" sz="1050" dirty="0"/>
          </a:p>
          <a:p>
            <a:pPr marL="342900" indent="-342900">
              <a:lnSpc>
                <a:spcPct val="140000"/>
              </a:lnSpc>
              <a:buSzPct val="100000"/>
              <a:buChar char="•"/>
            </a:pPr>
            <a:r>
              <a:rPr lang="en-US" sz="1050" dirty="0">
                <a:solidFill>
                  <a:srgbClr val="2B2B2B"/>
                </a:solidFill>
                <a:latin typeface="맑은 고딕" pitchFamily="34" charset="0"/>
                <a:ea typeface="맑은 고딕" pitchFamily="34" charset="-122"/>
                <a:cs typeface="맑은 고딕" pitchFamily="34" charset="-120"/>
              </a:rPr>
              <a:t>4. 퇴직 후 고문 계약서 등 법률 문서 사전 검토</a:t>
            </a:r>
            <a:endParaRPr lang="en-US" sz="1050" dirty="0"/>
          </a:p>
        </p:txBody>
      </p:sp>
      <p:sp>
        <p:nvSpPr>
          <p:cNvPr id="13" name="Text 11"/>
          <p:cNvSpPr/>
          <p:nvPr/>
        </p:nvSpPr>
        <p:spPr>
          <a:xfrm>
            <a:off x="2621280" y="758105"/>
            <a:ext cx="7680960" cy="22860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담당: CEO, 컨설턴트, 세무/법무법인</a:t>
            </a:r>
            <a:endParaRPr lang="en-US" sz="900" dirty="0"/>
          </a:p>
        </p:txBody>
      </p:sp>
      <p:sp>
        <p:nvSpPr>
          <p:cNvPr id="14" name="Shape 12"/>
          <p:cNvSpPr/>
          <p:nvPr/>
        </p:nvSpPr>
        <p:spPr>
          <a:xfrm>
            <a:off x="640080" y="2423160"/>
            <a:ext cx="320040" cy="320040"/>
          </a:xfrm>
          <a:prstGeom prst="rect">
            <a:avLst/>
          </a:prstGeom>
          <a:solidFill>
            <a:srgbClr val="1B2A4A"/>
          </a:solidFill>
          <a:ln/>
        </p:spPr>
        <p:txBody>
          <a:bodyPr/>
          <a:lstStyle/>
          <a:p>
            <a:endParaRPr lang="ko-KR" altLang="en-US"/>
          </a:p>
        </p:txBody>
      </p:sp>
      <p:sp>
        <p:nvSpPr>
          <p:cNvPr id="15" name="Text 13"/>
          <p:cNvSpPr/>
          <p:nvPr/>
        </p:nvSpPr>
        <p:spPr>
          <a:xfrm>
            <a:off x="640080" y="2423160"/>
            <a:ext cx="320040" cy="3200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Text 14"/>
          <p:cNvSpPr/>
          <p:nvPr/>
        </p:nvSpPr>
        <p:spPr>
          <a:xfrm>
            <a:off x="1097280" y="2423160"/>
            <a:ext cx="3657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Stage 2: 자산 이전</a:t>
            </a:r>
            <a:endParaRPr lang="en-US" sz="1300" dirty="0"/>
          </a:p>
        </p:txBody>
      </p:sp>
      <p:sp>
        <p:nvSpPr>
          <p:cNvPr id="17" name="Shape 15"/>
          <p:cNvSpPr/>
          <p:nvPr/>
        </p:nvSpPr>
        <p:spPr>
          <a:xfrm>
            <a:off x="7315200" y="2450592"/>
            <a:ext cx="822960" cy="256032"/>
          </a:xfrm>
          <a:prstGeom prst="rect">
            <a:avLst/>
          </a:prstGeom>
          <a:solidFill>
            <a:srgbClr val="1B2A4A"/>
          </a:solidFill>
          <a:ln/>
        </p:spPr>
        <p:txBody>
          <a:bodyPr/>
          <a:lstStyle/>
          <a:p>
            <a:endParaRPr lang="ko-KR" altLang="en-US"/>
          </a:p>
        </p:txBody>
      </p:sp>
      <p:sp>
        <p:nvSpPr>
          <p:cNvPr id="18" name="Text 16"/>
          <p:cNvSpPr/>
          <p:nvPr/>
        </p:nvSpPr>
        <p:spPr>
          <a:xfrm>
            <a:off x="7315200" y="2450592"/>
            <a:ext cx="822960" cy="256032"/>
          </a:xfrm>
          <a:prstGeom prst="rect">
            <a:avLst/>
          </a:prstGeom>
          <a:noFill/>
          <a:ln/>
        </p:spPr>
        <p:txBody>
          <a:bodyPr wrap="square" rtlCol="0" anchor="ctr"/>
          <a:lstStyle/>
          <a:p>
            <a:pPr marL="0" indent="0" algn="ctr">
              <a:buNone/>
            </a:pPr>
            <a:r>
              <a:rPr lang="en-US" sz="900" b="1" dirty="0">
                <a:solidFill>
                  <a:srgbClr val="FFFFFF"/>
                </a:solidFill>
                <a:latin typeface="맑은 고딕" pitchFamily="34" charset="0"/>
                <a:ea typeface="맑은 고딕" pitchFamily="34" charset="-122"/>
                <a:cs typeface="맑은 고딕" pitchFamily="34" charset="-120"/>
              </a:rPr>
              <a:t>~ 15년</a:t>
            </a:r>
            <a:endParaRPr lang="en-US" sz="900" dirty="0"/>
          </a:p>
        </p:txBody>
      </p:sp>
      <p:sp>
        <p:nvSpPr>
          <p:cNvPr id="19" name="Shape 17"/>
          <p:cNvSpPr/>
          <p:nvPr/>
        </p:nvSpPr>
        <p:spPr>
          <a:xfrm>
            <a:off x="457200" y="2880360"/>
            <a:ext cx="822960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0" name="Shape 18"/>
          <p:cNvSpPr/>
          <p:nvPr/>
        </p:nvSpPr>
        <p:spPr>
          <a:xfrm>
            <a:off x="457200" y="2880360"/>
            <a:ext cx="54864" cy="1097280"/>
          </a:xfrm>
          <a:prstGeom prst="rect">
            <a:avLst/>
          </a:prstGeom>
          <a:solidFill>
            <a:srgbClr val="C8962E"/>
          </a:solidFill>
          <a:ln/>
        </p:spPr>
        <p:txBody>
          <a:bodyPr/>
          <a:lstStyle/>
          <a:p>
            <a:endParaRPr lang="ko-KR" altLang="en-US"/>
          </a:p>
        </p:txBody>
      </p:sp>
      <p:sp>
        <p:nvSpPr>
          <p:cNvPr id="21" name="Text 19"/>
          <p:cNvSpPr/>
          <p:nvPr/>
        </p:nvSpPr>
        <p:spPr>
          <a:xfrm>
            <a:off x="640080" y="2953512"/>
            <a:ext cx="7680960" cy="777240"/>
          </a:xfrm>
          <a:prstGeom prst="rect">
            <a:avLst/>
          </a:prstGeom>
          <a:noFill/>
          <a:ln/>
        </p:spPr>
        <p:txBody>
          <a:bodyPr wrap="square" rtlCol="0" anchor="t"/>
          <a:lstStyle/>
          <a:p>
            <a:pPr marL="342900" indent="-342900">
              <a:lnSpc>
                <a:spcPct val="140000"/>
              </a:lnSpc>
              <a:buSzPct val="100000"/>
              <a:buChar char="•"/>
            </a:pPr>
            <a:r>
              <a:rPr lang="en-US" sz="1050" dirty="0">
                <a:solidFill>
                  <a:srgbClr val="2B2B2B"/>
                </a:solidFill>
                <a:latin typeface="맑은 고딕" pitchFamily="34" charset="0"/>
                <a:ea typeface="맑은 고딕" pitchFamily="34" charset="-122"/>
                <a:cs typeface="맑은 고딕" pitchFamily="34" charset="-120"/>
              </a:rPr>
              <a:t>1. CEO 실질적 퇴직 및 퇴직금 수령</a:t>
            </a:r>
            <a:endParaRPr lang="en-US" sz="1050" dirty="0"/>
          </a:p>
          <a:p>
            <a:pPr marL="342900" indent="-342900">
              <a:lnSpc>
                <a:spcPct val="140000"/>
              </a:lnSpc>
              <a:buSzPct val="100000"/>
              <a:buChar char="•"/>
            </a:pPr>
            <a:r>
              <a:rPr lang="en-US" sz="1050" dirty="0">
                <a:solidFill>
                  <a:srgbClr val="2B2B2B"/>
                </a:solidFill>
                <a:latin typeface="맑은 고딕" pitchFamily="34" charset="0"/>
                <a:ea typeface="맑은 고딕" pitchFamily="34" charset="-122"/>
                <a:cs typeface="맑은 고딕" pitchFamily="34" charset="-120"/>
              </a:rPr>
              <a:t>2. 다층형 소득 포트폴리오(연금, 배당, 자문) 실행</a:t>
            </a:r>
            <a:endParaRPr lang="en-US" sz="1050" dirty="0"/>
          </a:p>
          <a:p>
            <a:pPr marL="342900" indent="-342900">
              <a:lnSpc>
                <a:spcPct val="140000"/>
              </a:lnSpc>
              <a:buSzPct val="100000"/>
              <a:buChar char="•"/>
            </a:pPr>
            <a:r>
              <a:rPr lang="en-US" sz="1050" dirty="0">
                <a:solidFill>
                  <a:srgbClr val="2B2B2B"/>
                </a:solidFill>
                <a:latin typeface="맑은 고딕" pitchFamily="34" charset="0"/>
                <a:ea typeface="맑은 고딕" pitchFamily="34" charset="-122"/>
                <a:cs typeface="맑은 고딕" pitchFamily="34" charset="-120"/>
              </a:rPr>
              <a:t>3. 10년 분할 증여 계획 실행 및 증여세 신고</a:t>
            </a:r>
            <a:endParaRPr lang="en-US" sz="1050" dirty="0"/>
          </a:p>
          <a:p>
            <a:pPr marL="342900" indent="-342900">
              <a:lnSpc>
                <a:spcPct val="140000"/>
              </a:lnSpc>
              <a:buSzPct val="100000"/>
              <a:buChar char="•"/>
            </a:pPr>
            <a:r>
              <a:rPr lang="en-US" sz="1050" dirty="0">
                <a:solidFill>
                  <a:srgbClr val="2B2B2B"/>
                </a:solidFill>
                <a:latin typeface="맑은 고딕" pitchFamily="34" charset="0"/>
                <a:ea typeface="맑은 고딕" pitchFamily="34" charset="-122"/>
                <a:cs typeface="맑은 고딕" pitchFamily="34" charset="-120"/>
              </a:rPr>
              <a:t>4. 자녀 명의 종신보험 가입 및 유지</a:t>
            </a:r>
            <a:endParaRPr lang="en-US" sz="1050" dirty="0"/>
          </a:p>
        </p:txBody>
      </p:sp>
      <p:sp>
        <p:nvSpPr>
          <p:cNvPr id="22" name="Text 20"/>
          <p:cNvSpPr/>
          <p:nvPr/>
        </p:nvSpPr>
        <p:spPr>
          <a:xfrm>
            <a:off x="2651760" y="2503763"/>
            <a:ext cx="7680960" cy="22860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담당: CEO, 자녀, 컨설턴트</a:t>
            </a:r>
            <a:endParaRPr lang="en-US" sz="900" dirty="0"/>
          </a:p>
        </p:txBody>
      </p:sp>
      <p:sp>
        <p:nvSpPr>
          <p:cNvPr id="23" name="Shape 21"/>
          <p:cNvSpPr/>
          <p:nvPr/>
        </p:nvSpPr>
        <p:spPr>
          <a:xfrm>
            <a:off x="640080" y="4160520"/>
            <a:ext cx="320040" cy="320040"/>
          </a:xfrm>
          <a:prstGeom prst="rect">
            <a:avLst/>
          </a:prstGeom>
          <a:solidFill>
            <a:srgbClr val="4A5568"/>
          </a:solidFill>
          <a:ln/>
        </p:spPr>
        <p:txBody>
          <a:bodyPr/>
          <a:lstStyle/>
          <a:p>
            <a:endParaRPr lang="ko-KR" altLang="en-US"/>
          </a:p>
        </p:txBody>
      </p:sp>
      <p:sp>
        <p:nvSpPr>
          <p:cNvPr id="24" name="Text 22"/>
          <p:cNvSpPr/>
          <p:nvPr/>
        </p:nvSpPr>
        <p:spPr>
          <a:xfrm>
            <a:off x="640080" y="4160520"/>
            <a:ext cx="320040" cy="3200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5" name="Text 23"/>
          <p:cNvSpPr/>
          <p:nvPr/>
        </p:nvSpPr>
        <p:spPr>
          <a:xfrm>
            <a:off x="1097280" y="4160520"/>
            <a:ext cx="3657600" cy="320040"/>
          </a:xfrm>
          <a:prstGeom prst="rect">
            <a:avLst/>
          </a:prstGeom>
          <a:noFill/>
          <a:ln/>
        </p:spPr>
        <p:txBody>
          <a:bodyPr wrap="square" rtlCol="0" anchor="ctr"/>
          <a:lstStyle/>
          <a:p>
            <a:pPr marL="0" indent="0">
              <a:buNone/>
            </a:pPr>
            <a:r>
              <a:rPr lang="en-US" sz="1300" b="1" dirty="0">
                <a:solidFill>
                  <a:srgbClr val="1B2A4A"/>
                </a:solidFill>
                <a:latin typeface="맑은 고딕" pitchFamily="34" charset="0"/>
                <a:ea typeface="맑은 고딕" pitchFamily="34" charset="-122"/>
                <a:cs typeface="맑은 고딕" pitchFamily="34" charset="-120"/>
              </a:rPr>
              <a:t>지속 관리</a:t>
            </a:r>
            <a:endParaRPr lang="en-US" sz="1300" dirty="0"/>
          </a:p>
        </p:txBody>
      </p:sp>
      <p:sp>
        <p:nvSpPr>
          <p:cNvPr id="26" name="Shape 24"/>
          <p:cNvSpPr/>
          <p:nvPr/>
        </p:nvSpPr>
        <p:spPr>
          <a:xfrm>
            <a:off x="7315200" y="4187952"/>
            <a:ext cx="822960" cy="256032"/>
          </a:xfrm>
          <a:prstGeom prst="rect">
            <a:avLst/>
          </a:prstGeom>
          <a:solidFill>
            <a:srgbClr val="4A5568"/>
          </a:solidFill>
          <a:ln/>
        </p:spPr>
        <p:txBody>
          <a:bodyPr/>
          <a:lstStyle/>
          <a:p>
            <a:endParaRPr lang="ko-KR" altLang="en-US"/>
          </a:p>
        </p:txBody>
      </p:sp>
      <p:sp>
        <p:nvSpPr>
          <p:cNvPr id="27" name="Text 25"/>
          <p:cNvSpPr/>
          <p:nvPr/>
        </p:nvSpPr>
        <p:spPr>
          <a:xfrm>
            <a:off x="7315200" y="4187952"/>
            <a:ext cx="822960" cy="256032"/>
          </a:xfrm>
          <a:prstGeom prst="rect">
            <a:avLst/>
          </a:prstGeom>
          <a:noFill/>
          <a:ln/>
        </p:spPr>
        <p:txBody>
          <a:bodyPr wrap="square"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Ongoing</a:t>
            </a:r>
            <a:endParaRPr lang="en-US" sz="900" dirty="0"/>
          </a:p>
        </p:txBody>
      </p:sp>
      <p:sp>
        <p:nvSpPr>
          <p:cNvPr id="28" name="Shape 26"/>
          <p:cNvSpPr/>
          <p:nvPr/>
        </p:nvSpPr>
        <p:spPr>
          <a:xfrm>
            <a:off x="457200" y="4617720"/>
            <a:ext cx="8229600" cy="361188"/>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29" name="Shape 27"/>
          <p:cNvSpPr/>
          <p:nvPr/>
        </p:nvSpPr>
        <p:spPr>
          <a:xfrm>
            <a:off x="457200" y="4617720"/>
            <a:ext cx="54864" cy="361188"/>
          </a:xfrm>
          <a:prstGeom prst="rect">
            <a:avLst/>
          </a:prstGeom>
          <a:solidFill>
            <a:srgbClr val="4A5568"/>
          </a:solidFill>
          <a:ln/>
        </p:spPr>
        <p:txBody>
          <a:bodyPr/>
          <a:lstStyle/>
          <a:p>
            <a:endParaRPr lang="ko-KR" altLang="en-US"/>
          </a:p>
        </p:txBody>
      </p:sp>
      <p:sp>
        <p:nvSpPr>
          <p:cNvPr id="30" name="Text 28"/>
          <p:cNvSpPr/>
          <p:nvPr/>
        </p:nvSpPr>
        <p:spPr>
          <a:xfrm>
            <a:off x="640080" y="4690872"/>
            <a:ext cx="7680960" cy="256032"/>
          </a:xfrm>
          <a:prstGeom prst="rect">
            <a:avLst/>
          </a:prstGeom>
          <a:noFill/>
          <a:ln/>
        </p:spPr>
        <p:txBody>
          <a:bodyPr wrap="square" rtlCol="0" anchor="t"/>
          <a:lstStyle/>
          <a:p>
            <a:pPr marL="0" indent="0">
              <a:buNone/>
            </a:pPr>
            <a:r>
              <a:rPr lang="en-US" sz="1050" dirty="0">
                <a:solidFill>
                  <a:srgbClr val="2B2B2B"/>
                </a:solidFill>
                <a:latin typeface="맑은 고딕" pitchFamily="34" charset="0"/>
                <a:ea typeface="맑은 고딕" pitchFamily="34" charset="-122"/>
                <a:cs typeface="맑은 고딕" pitchFamily="34" charset="-120"/>
              </a:rPr>
              <a:t>• 연 1회 플랜 리뷰 및 세법 개정사항 반영</a:t>
            </a:r>
            <a:endParaRPr lang="en-US" sz="1050" dirty="0"/>
          </a:p>
        </p:txBody>
      </p:sp>
      <p:sp>
        <p:nvSpPr>
          <p:cNvPr id="31" name="Text 29"/>
          <p:cNvSpPr/>
          <p:nvPr/>
        </p:nvSpPr>
        <p:spPr>
          <a:xfrm>
            <a:off x="1981200" y="4238244"/>
            <a:ext cx="7680960" cy="182880"/>
          </a:xfrm>
          <a:prstGeom prst="rect">
            <a:avLst/>
          </a:prstGeom>
          <a:noFill/>
          <a:ln/>
        </p:spPr>
        <p:txBody>
          <a:bodyPr wrap="square" rtlCol="0" anchor="ctr"/>
          <a:lstStyle/>
          <a:p>
            <a:pPr marL="0" indent="0">
              <a:buNone/>
            </a:pPr>
            <a:r>
              <a:rPr lang="en-US" sz="900" dirty="0">
                <a:solidFill>
                  <a:srgbClr val="4A5568"/>
                </a:solidFill>
                <a:latin typeface="맑은 고딕" pitchFamily="34" charset="0"/>
                <a:ea typeface="맑은 고딕" pitchFamily="34" charset="-122"/>
                <a:cs typeface="맑은 고딕" pitchFamily="34" charset="-120"/>
              </a:rPr>
              <a:t>담당: 컨설턴트</a:t>
            </a:r>
            <a:endParaRPr lang="en-US" sz="900" dirty="0"/>
          </a:p>
        </p:txBody>
      </p:sp>
      <p:sp>
        <p:nvSpPr>
          <p:cNvPr id="33" name="Text 3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18 / 28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19</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VIII. 종합 결론 및 전략적 제언</a:t>
            </a:r>
            <a:endParaRPr lang="en-US" sz="1600" dirty="0"/>
          </a:p>
        </p:txBody>
      </p:sp>
      <p:sp>
        <p:nvSpPr>
          <p:cNvPr id="5" name="Shape 3"/>
          <p:cNvSpPr/>
          <p:nvPr/>
        </p:nvSpPr>
        <p:spPr>
          <a:xfrm>
            <a:off x="457200" y="685800"/>
            <a:ext cx="8229600" cy="365760"/>
          </a:xfrm>
          <a:prstGeom prst="rect">
            <a:avLst/>
          </a:prstGeom>
          <a:solidFill>
            <a:srgbClr val="1B2A4A"/>
          </a:solidFill>
          <a:ln/>
        </p:spPr>
        <p:txBody>
          <a:bodyPr/>
          <a:lstStyle/>
          <a:p>
            <a:endParaRPr lang="ko-KR" altLang="en-US"/>
          </a:p>
        </p:txBody>
      </p:sp>
      <p:sp>
        <p:nvSpPr>
          <p:cNvPr id="6" name="Text 4"/>
          <p:cNvSpPr/>
          <p:nvPr/>
        </p:nvSpPr>
        <p:spPr>
          <a:xfrm>
            <a:off x="548640" y="685800"/>
            <a:ext cx="8046720" cy="365760"/>
          </a:xfrm>
          <a:prstGeom prst="rect">
            <a:avLst/>
          </a:prstGeom>
          <a:noFill/>
          <a:ln/>
        </p:spPr>
        <p:txBody>
          <a:bodyPr wrap="square" rtlCol="0" anchor="ctr"/>
          <a:lstStyle/>
          <a:p>
            <a:pPr marL="0" indent="0" algn="l">
              <a:buNone/>
            </a:pPr>
            <a:r>
              <a:rPr lang="en-US" sz="1300" b="1" dirty="0">
                <a:solidFill>
                  <a:srgbClr val="FFFFFF"/>
                </a:solidFill>
                <a:latin typeface="맑은 고딕" pitchFamily="34" charset="0"/>
                <a:ea typeface="맑은 고딕" pitchFamily="34" charset="-122"/>
                <a:cs typeface="맑은 고딕" pitchFamily="34" charset="-120"/>
              </a:rPr>
              <a:t>🏆 컨설팅 핵심 요약</a:t>
            </a:r>
            <a:endParaRPr lang="en-US" sz="1300" dirty="0"/>
          </a:p>
        </p:txBody>
      </p:sp>
      <p:sp>
        <p:nvSpPr>
          <p:cNvPr id="7" name="Shape 5"/>
          <p:cNvSpPr/>
          <p:nvPr/>
        </p:nvSpPr>
        <p:spPr>
          <a:xfrm>
            <a:off x="457200" y="1051560"/>
            <a:ext cx="8229600" cy="1645920"/>
          </a:xfrm>
          <a:prstGeom prst="rect">
            <a:avLst/>
          </a:prstGeom>
          <a:solidFill>
            <a:srgbClr val="FFFFFF"/>
          </a:solidFill>
          <a:ln w="12700">
            <a:solidFill>
              <a:srgbClr val="1B2A4A"/>
            </a:solidFill>
            <a:prstDash val="solid"/>
          </a:ln>
        </p:spPr>
        <p:txBody>
          <a:bodyPr/>
          <a:lstStyle/>
          <a:p>
            <a:endParaRPr lang="ko-KR" altLang="en-US"/>
          </a:p>
        </p:txBody>
      </p:sp>
      <p:sp>
        <p:nvSpPr>
          <p:cNvPr id="8" name="Text 6"/>
          <p:cNvSpPr/>
          <p:nvPr/>
        </p:nvSpPr>
        <p:spPr>
          <a:xfrm>
            <a:off x="640080" y="1143000"/>
            <a:ext cx="7863840" cy="1234440"/>
          </a:xfrm>
          <a:prstGeom prst="rect">
            <a:avLst/>
          </a:prstGeom>
          <a:noFill/>
          <a:ln/>
        </p:spPr>
        <p:txBody>
          <a:bodyPr wrap="square" rtlCol="0" anchor="t"/>
          <a:lstStyle/>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CEO의 은퇴와 승계는 '언젠가'가 아닌 '지금부터' 준비해야 하는 가장 중요한 경영 과제입니다.</a:t>
            </a:r>
            <a:endParaRPr lang="en-US" sz="1050" dirty="0"/>
          </a:p>
          <a:p>
            <a:pPr marL="0" indent="0">
              <a:lnSpc>
                <a:spcPct val="130000"/>
              </a:lnSpc>
              <a:buNone/>
            </a:pPr>
            <a:endParaRPr lang="en-US" sz="1050" dirty="0"/>
          </a:p>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본 '2-Stage 레거시 플랜'은, 법인의 이익잉여금을 활용하여 대표님의 성공적인 은퇴(1단계)와 자녀들의 안정적인 미래(2단계)를 순차적으로 해결하는 가장 현실적이고 강력한 로드맵입니다.</a:t>
            </a:r>
            <a:endParaRPr lang="en-US" sz="1050" dirty="0"/>
          </a:p>
          <a:p>
            <a:pPr marL="0" indent="0">
              <a:lnSpc>
                <a:spcPct val="130000"/>
              </a:lnSpc>
              <a:buNone/>
            </a:pPr>
            <a:endParaRPr lang="en-US" sz="1050" dirty="0"/>
          </a:p>
          <a:p>
            <a:pPr marL="0" indent="0">
              <a:lnSpc>
                <a:spcPct val="130000"/>
              </a:lnSpc>
              <a:buNone/>
            </a:pPr>
            <a:r>
              <a:rPr lang="en-US" sz="1050" dirty="0">
                <a:solidFill>
                  <a:srgbClr val="2B2B2B"/>
                </a:solidFill>
                <a:latin typeface="맑은 고딕" pitchFamily="34" charset="0"/>
                <a:ea typeface="맑은 고딕" pitchFamily="34" charset="-122"/>
                <a:cs typeface="맑은 고딕" pitchFamily="34" charset="-120"/>
              </a:rPr>
              <a:t>이는 단순히 세금을 줄이는 기술을 넘어, 세법의 대원칙인 '실질과세 원칙'을 존중하며 한 기업의 과거와 현재, 그리고 미래를 잇는 지혜로운 설계입니다.</a:t>
            </a:r>
            <a:endParaRPr lang="en-US" sz="1050" dirty="0"/>
          </a:p>
        </p:txBody>
      </p:sp>
      <p:sp>
        <p:nvSpPr>
          <p:cNvPr id="9" name="Text 7"/>
          <p:cNvSpPr/>
          <p:nvPr/>
        </p:nvSpPr>
        <p:spPr>
          <a:xfrm>
            <a:off x="457200" y="2902713"/>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장기적 관점에서의 추가 제언</a:t>
            </a:r>
            <a:endParaRPr lang="en-US" sz="1400" dirty="0"/>
          </a:p>
        </p:txBody>
      </p:sp>
      <p:sp>
        <p:nvSpPr>
          <p:cNvPr id="10" name="Shape 8"/>
          <p:cNvSpPr/>
          <p:nvPr/>
        </p:nvSpPr>
        <p:spPr>
          <a:xfrm>
            <a:off x="457200" y="3314192"/>
            <a:ext cx="8229600" cy="1134533"/>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3314192"/>
            <a:ext cx="54864" cy="1134533"/>
          </a:xfrm>
          <a:prstGeom prst="rect">
            <a:avLst/>
          </a:prstGeom>
          <a:solidFill>
            <a:srgbClr val="C8962E"/>
          </a:solidFill>
          <a:ln/>
        </p:spPr>
        <p:txBody>
          <a:bodyPr/>
          <a:lstStyle/>
          <a:p>
            <a:endParaRPr lang="ko-KR" altLang="en-US"/>
          </a:p>
        </p:txBody>
      </p:sp>
      <p:sp>
        <p:nvSpPr>
          <p:cNvPr id="12" name="Text 10"/>
          <p:cNvSpPr/>
          <p:nvPr/>
        </p:nvSpPr>
        <p:spPr>
          <a:xfrm>
            <a:off x="640080" y="3359913"/>
            <a:ext cx="7863840" cy="256032"/>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가업상속공제 제도 검토</a:t>
            </a:r>
            <a:endParaRPr lang="en-US" sz="1100" dirty="0"/>
          </a:p>
        </p:txBody>
      </p:sp>
      <p:sp>
        <p:nvSpPr>
          <p:cNvPr id="13" name="Text 11"/>
          <p:cNvSpPr/>
          <p:nvPr/>
        </p:nvSpPr>
        <p:spPr>
          <a:xfrm>
            <a:off x="640080" y="3615945"/>
            <a:ext cx="7863840" cy="274320"/>
          </a:xfrm>
          <a:prstGeom prst="rect">
            <a:avLst/>
          </a:prstGeom>
          <a:noFill/>
          <a:ln/>
        </p:spPr>
        <p:txBody>
          <a:bodyPr wrap="square" rtlCol="0" anchor="t"/>
          <a:lstStyle/>
          <a:p>
            <a:pPr marL="0" indent="0">
              <a:buNone/>
            </a:pPr>
            <a:r>
              <a:rPr lang="en-US" sz="1000" dirty="0">
                <a:solidFill>
                  <a:srgbClr val="4A5568"/>
                </a:solidFill>
                <a:latin typeface="맑은 고딕" pitchFamily="34" charset="0"/>
                <a:ea typeface="맑은 고딕" pitchFamily="34" charset="-122"/>
                <a:cs typeface="맑은 고딕" pitchFamily="34" charset="-120"/>
              </a:rPr>
              <a:t>현재는 요건이 까다롭지만, 향후 제도 변화에 따라 본 플랜을 보완하는 강력한 추가 절세 전략이 될 수 있습니다.</a:t>
            </a:r>
            <a:endParaRPr lang="en-US" sz="1000" dirty="0"/>
          </a:p>
        </p:txBody>
      </p:sp>
      <p:sp>
        <p:nvSpPr>
          <p:cNvPr id="14" name="Text 12"/>
          <p:cNvSpPr/>
          <p:nvPr/>
        </p:nvSpPr>
        <p:spPr>
          <a:xfrm>
            <a:off x="640080" y="3862833"/>
            <a:ext cx="7863840" cy="201168"/>
          </a:xfrm>
          <a:prstGeom prst="rect">
            <a:avLst/>
          </a:prstGeom>
          <a:noFill/>
          <a:ln/>
        </p:spPr>
        <p:txBody>
          <a:bodyPr wrap="square" rtlCol="0" anchor="ctr"/>
          <a:lstStyle/>
          <a:p>
            <a:pPr marL="0" indent="0">
              <a:buNone/>
            </a:pPr>
            <a:r>
              <a:rPr lang="en-US" sz="950" b="1" dirty="0">
                <a:solidFill>
                  <a:srgbClr val="1B2A4A"/>
                </a:solidFill>
                <a:latin typeface="맑은 고딕" pitchFamily="34" charset="0"/>
                <a:ea typeface="맑은 고딕" pitchFamily="34" charset="-122"/>
                <a:cs typeface="맑은 고딕" pitchFamily="34" charset="-120"/>
              </a:rPr>
              <a:t>📋 가업상속공제 주요 요건 (2025년 기준)</a:t>
            </a:r>
            <a:endParaRPr lang="en-US" sz="950" dirty="0"/>
          </a:p>
        </p:txBody>
      </p:sp>
      <p:sp>
        <p:nvSpPr>
          <p:cNvPr id="15" name="Text 13"/>
          <p:cNvSpPr/>
          <p:nvPr/>
        </p:nvSpPr>
        <p:spPr>
          <a:xfrm>
            <a:off x="640080" y="4027425"/>
            <a:ext cx="7863840" cy="228600"/>
          </a:xfrm>
          <a:prstGeom prst="rect">
            <a:avLst/>
          </a:prstGeom>
          <a:noFill/>
          <a:ln/>
        </p:spPr>
        <p:txBody>
          <a:bodyPr wrap="square" rtlCol="0" anchor="t"/>
          <a:lstStyle/>
          <a:p>
            <a:pPr marL="0" indent="0">
              <a:buNone/>
            </a:pPr>
            <a:r>
              <a:rPr lang="en-US" sz="850" dirty="0">
                <a:solidFill>
                  <a:srgbClr val="2B2B2B"/>
                </a:solidFill>
                <a:latin typeface="맑은 고딕" pitchFamily="34" charset="0"/>
                <a:ea typeface="맑은 고딕" pitchFamily="34" charset="-122"/>
                <a:cs typeface="맑은 고딕" pitchFamily="34" charset="-120"/>
              </a:rPr>
              <a:t>  피상속인: 10년 이상 가업 영위, 10년 이상 대표이사 재직 | 상속인: 상속개시일 전 2년 이상 종사, 신고기한 내 임원 취임 및 2년 내 대표 취임 | 사후관리(7년): 가업 유지, 고용 유지(80% 이상), 자산 처분 제한 등 까다로운 요건 준수 필요</a:t>
            </a:r>
            <a:endParaRPr lang="en-US" sz="8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19 / 28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20</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VIII. 종합 결론 및 전략적 제언</a:t>
            </a:r>
            <a:endParaRPr lang="en-US" sz="1600" dirty="0"/>
          </a:p>
        </p:txBody>
      </p:sp>
      <p:sp>
        <p:nvSpPr>
          <p:cNvPr id="5" name="Text 3"/>
          <p:cNvSpPr/>
          <p:nvPr/>
        </p:nvSpPr>
        <p:spPr>
          <a:xfrm>
            <a:off x="457200" y="685800"/>
            <a:ext cx="8229600" cy="274320"/>
          </a:xfrm>
          <a:prstGeom prst="rect">
            <a:avLst/>
          </a:prstGeom>
          <a:noFill/>
          <a:ln/>
        </p:spPr>
        <p:txBody>
          <a:bodyPr wrap="square" rtlCol="0" anchor="ctr"/>
          <a:lstStyle/>
          <a:p>
            <a:pPr marL="0" indent="0">
              <a:buNone/>
            </a:pPr>
            <a:r>
              <a:rPr lang="en-US" sz="950" b="1" dirty="0">
                <a:solidFill>
                  <a:srgbClr val="D4382C"/>
                </a:solidFill>
                <a:latin typeface="맑은 고딕" pitchFamily="34" charset="0"/>
                <a:ea typeface="맑은 고딕" pitchFamily="34" charset="-122"/>
                <a:cs typeface="맑은 고딕" pitchFamily="34" charset="-120"/>
              </a:rPr>
              <a:t>⚠️ 요건 미충족 시 공제받은 세액 전액 + 이자까지 추징</a:t>
            </a:r>
            <a:endParaRPr lang="en-US" sz="950" dirty="0"/>
          </a:p>
        </p:txBody>
      </p:sp>
      <p:sp>
        <p:nvSpPr>
          <p:cNvPr id="6" name="Shape 4"/>
          <p:cNvSpPr/>
          <p:nvPr/>
        </p:nvSpPr>
        <p:spPr>
          <a:xfrm>
            <a:off x="457200" y="1051560"/>
            <a:ext cx="8229600" cy="73660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051560"/>
            <a:ext cx="54864" cy="736600"/>
          </a:xfrm>
          <a:prstGeom prst="rect">
            <a:avLst/>
          </a:prstGeom>
          <a:solidFill>
            <a:srgbClr val="C8962E"/>
          </a:solidFill>
          <a:ln/>
        </p:spPr>
        <p:txBody>
          <a:bodyPr/>
          <a:lstStyle/>
          <a:p>
            <a:endParaRPr lang="ko-KR" altLang="en-US"/>
          </a:p>
        </p:txBody>
      </p:sp>
      <p:sp>
        <p:nvSpPr>
          <p:cNvPr id="8" name="Text 6"/>
          <p:cNvSpPr/>
          <p:nvPr/>
        </p:nvSpPr>
        <p:spPr>
          <a:xfrm>
            <a:off x="640080" y="1097280"/>
            <a:ext cx="7863840" cy="256032"/>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 가업승계 신탁 활용</a:t>
            </a:r>
            <a:endParaRPr lang="en-US" sz="1100" dirty="0"/>
          </a:p>
        </p:txBody>
      </p:sp>
      <p:sp>
        <p:nvSpPr>
          <p:cNvPr id="9" name="Text 7"/>
          <p:cNvSpPr/>
          <p:nvPr/>
        </p:nvSpPr>
        <p:spPr>
          <a:xfrm>
            <a:off x="640080" y="1353312"/>
            <a:ext cx="7863840" cy="256032"/>
          </a:xfrm>
          <a:prstGeom prst="rect">
            <a:avLst/>
          </a:prstGeom>
          <a:noFill/>
          <a:ln/>
        </p:spPr>
        <p:txBody>
          <a:bodyPr wrap="square" rtlCol="0" anchor="t"/>
          <a:lstStyle/>
          <a:p>
            <a:pPr marL="0" indent="0">
              <a:buNone/>
            </a:pPr>
            <a:r>
              <a:rPr lang="en-US" sz="1000" dirty="0">
                <a:solidFill>
                  <a:srgbClr val="4A5568"/>
                </a:solidFill>
                <a:latin typeface="맑은 고딕" pitchFamily="34" charset="0"/>
                <a:ea typeface="맑은 고딕" pitchFamily="34" charset="-122"/>
                <a:cs typeface="맑은 고딕" pitchFamily="34" charset="-120"/>
              </a:rPr>
              <a:t>주식 자산의 안정적인 관리를 위해 '가업승계 신탁' 제도를 활용하여 의결권을 통일하고 경영권 분쟁을 예방하는 방안도 병행 검토할 수 있습니다.</a:t>
            </a:r>
            <a:endParaRPr lang="en-US" sz="1000" dirty="0"/>
          </a:p>
        </p:txBody>
      </p:sp>
      <p:sp>
        <p:nvSpPr>
          <p:cNvPr id="10" name="Shape 8"/>
          <p:cNvSpPr/>
          <p:nvPr/>
        </p:nvSpPr>
        <p:spPr>
          <a:xfrm>
            <a:off x="457200" y="1929384"/>
            <a:ext cx="8229600" cy="365760"/>
          </a:xfrm>
          <a:prstGeom prst="rect">
            <a:avLst/>
          </a:prstGeom>
          <a:solidFill>
            <a:srgbClr val="1B2A4A"/>
          </a:solidFill>
          <a:ln/>
        </p:spPr>
        <p:txBody>
          <a:bodyPr/>
          <a:lstStyle/>
          <a:p>
            <a:endParaRPr lang="ko-KR" altLang="en-US"/>
          </a:p>
        </p:txBody>
      </p:sp>
      <p:sp>
        <p:nvSpPr>
          <p:cNvPr id="11" name="Text 9"/>
          <p:cNvSpPr/>
          <p:nvPr/>
        </p:nvSpPr>
        <p:spPr>
          <a:xfrm>
            <a:off x="548640" y="1929384"/>
            <a:ext cx="8046720" cy="36576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One-Page Summary</a:t>
            </a:r>
            <a:endParaRPr lang="en-US" sz="1200" dirty="0"/>
          </a:p>
        </p:txBody>
      </p:sp>
      <p:sp>
        <p:nvSpPr>
          <p:cNvPr id="12" name="Shape 10"/>
          <p:cNvSpPr/>
          <p:nvPr/>
        </p:nvSpPr>
        <p:spPr>
          <a:xfrm>
            <a:off x="457200" y="2340864"/>
            <a:ext cx="4069080" cy="1097280"/>
          </a:xfrm>
          <a:prstGeom prst="rect">
            <a:avLst/>
          </a:prstGeom>
          <a:solidFill>
            <a:srgbClr val="FFFFFF"/>
          </a:solidFill>
          <a:ln w="6350">
            <a:solidFill>
              <a:srgbClr val="E2E8F0"/>
            </a:solidFill>
            <a:prstDash val="solid"/>
          </a:ln>
        </p:spPr>
        <p:txBody>
          <a:bodyPr/>
          <a:lstStyle/>
          <a:p>
            <a:endParaRPr lang="ko-KR" altLang="en-US"/>
          </a:p>
        </p:txBody>
      </p:sp>
      <p:sp>
        <p:nvSpPr>
          <p:cNvPr id="13" name="Shape 11"/>
          <p:cNvSpPr/>
          <p:nvPr/>
        </p:nvSpPr>
        <p:spPr>
          <a:xfrm>
            <a:off x="548640" y="2432304"/>
            <a:ext cx="1371600" cy="201168"/>
          </a:xfrm>
          <a:prstGeom prst="rect">
            <a:avLst/>
          </a:prstGeom>
          <a:solidFill>
            <a:srgbClr val="D4382C"/>
          </a:solidFill>
          <a:ln/>
        </p:spPr>
        <p:txBody>
          <a:bodyPr/>
          <a:lstStyle/>
          <a:p>
            <a:endParaRPr lang="ko-KR" altLang="en-US"/>
          </a:p>
        </p:txBody>
      </p:sp>
      <p:sp>
        <p:nvSpPr>
          <p:cNvPr id="14" name="Text 12"/>
          <p:cNvSpPr/>
          <p:nvPr/>
        </p:nvSpPr>
        <p:spPr>
          <a:xfrm>
            <a:off x="548640" y="2432304"/>
            <a:ext cx="1371600" cy="201168"/>
          </a:xfrm>
          <a:prstGeom prst="rect">
            <a:avLst/>
          </a:prstGeom>
          <a:noFill/>
          <a:ln/>
        </p:spPr>
        <p:txBody>
          <a:bodyPr wrap="square" rtlCol="0" anchor="ctr"/>
          <a:lstStyle/>
          <a:p>
            <a:pPr marL="0" indent="0" algn="ctr">
              <a:buNone/>
            </a:pPr>
            <a:r>
              <a:rPr lang="en-US" sz="850" b="1" dirty="0">
                <a:solidFill>
                  <a:srgbClr val="FFFFFF"/>
                </a:solidFill>
                <a:latin typeface="맑은 고딕" pitchFamily="34" charset="0"/>
                <a:ea typeface="맑은 고딕" pitchFamily="34" charset="-122"/>
                <a:cs typeface="맑은 고딕" pitchFamily="34" charset="-120"/>
              </a:rPr>
              <a:t>핵심 과제</a:t>
            </a:r>
            <a:endParaRPr lang="en-US" sz="850" dirty="0"/>
          </a:p>
        </p:txBody>
      </p:sp>
      <p:sp>
        <p:nvSpPr>
          <p:cNvPr id="15" name="Text 13"/>
          <p:cNvSpPr/>
          <p:nvPr/>
        </p:nvSpPr>
        <p:spPr>
          <a:xfrm>
            <a:off x="548640" y="2706624"/>
            <a:ext cx="3840480" cy="731520"/>
          </a:xfrm>
          <a:prstGeom prst="rect">
            <a:avLst/>
          </a:prstGeom>
          <a:noFill/>
          <a:ln/>
        </p:spPr>
        <p:txBody>
          <a:bodyPr wrap="square" rtlCol="0" anchor="t"/>
          <a:lstStyle/>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은퇴 자금 부족으로 인한 유동성 위기</a:t>
            </a:r>
            <a:endParaRPr lang="en-US" sz="9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상속세 재원 부재로 인한 세금 폭탄(주식 매각 위험)</a:t>
            </a:r>
            <a:endParaRPr lang="en-US" sz="900" dirty="0"/>
          </a:p>
        </p:txBody>
      </p:sp>
      <p:sp>
        <p:nvSpPr>
          <p:cNvPr id="16" name="Shape 14"/>
          <p:cNvSpPr/>
          <p:nvPr/>
        </p:nvSpPr>
        <p:spPr>
          <a:xfrm>
            <a:off x="4617720" y="2340864"/>
            <a:ext cx="4069080" cy="1097280"/>
          </a:xfrm>
          <a:prstGeom prst="rect">
            <a:avLst/>
          </a:prstGeom>
          <a:solidFill>
            <a:srgbClr val="FFFFFF"/>
          </a:solidFill>
          <a:ln w="6350">
            <a:solidFill>
              <a:srgbClr val="E2E8F0"/>
            </a:solidFill>
            <a:prstDash val="solid"/>
          </a:ln>
        </p:spPr>
        <p:txBody>
          <a:bodyPr/>
          <a:lstStyle/>
          <a:p>
            <a:endParaRPr lang="ko-KR" altLang="en-US"/>
          </a:p>
        </p:txBody>
      </p:sp>
      <p:sp>
        <p:nvSpPr>
          <p:cNvPr id="17" name="Shape 15"/>
          <p:cNvSpPr/>
          <p:nvPr/>
        </p:nvSpPr>
        <p:spPr>
          <a:xfrm>
            <a:off x="4709160" y="2432304"/>
            <a:ext cx="1005840" cy="201168"/>
          </a:xfrm>
          <a:prstGeom prst="rect">
            <a:avLst/>
          </a:prstGeom>
          <a:solidFill>
            <a:srgbClr val="1B2A4A"/>
          </a:solidFill>
          <a:ln/>
        </p:spPr>
        <p:txBody>
          <a:bodyPr/>
          <a:lstStyle/>
          <a:p>
            <a:endParaRPr lang="ko-KR" altLang="en-US"/>
          </a:p>
        </p:txBody>
      </p:sp>
      <p:sp>
        <p:nvSpPr>
          <p:cNvPr id="18" name="Text 16"/>
          <p:cNvSpPr/>
          <p:nvPr/>
        </p:nvSpPr>
        <p:spPr>
          <a:xfrm>
            <a:off x="4709160" y="2432304"/>
            <a:ext cx="1005840" cy="201168"/>
          </a:xfrm>
          <a:prstGeom prst="rect">
            <a:avLst/>
          </a:prstGeom>
          <a:noFill/>
          <a:ln/>
        </p:spPr>
        <p:txBody>
          <a:bodyPr wrap="square" rtlCol="0" anchor="ctr"/>
          <a:lstStyle/>
          <a:p>
            <a:pPr marL="0" indent="0" algn="ctr">
              <a:buNone/>
            </a:pPr>
            <a:r>
              <a:rPr lang="en-US" sz="850" b="1" dirty="0">
                <a:solidFill>
                  <a:srgbClr val="FFFFFF"/>
                </a:solidFill>
                <a:latin typeface="맑은 고딕" pitchFamily="34" charset="0"/>
                <a:ea typeface="맑은 고딕" pitchFamily="34" charset="-122"/>
                <a:cs typeface="맑은 고딕" pitchFamily="34" charset="-120"/>
              </a:rPr>
              <a:t>솔루션</a:t>
            </a:r>
            <a:endParaRPr lang="en-US" sz="850" dirty="0"/>
          </a:p>
        </p:txBody>
      </p:sp>
      <p:sp>
        <p:nvSpPr>
          <p:cNvPr id="19" name="Text 17"/>
          <p:cNvSpPr/>
          <p:nvPr/>
        </p:nvSpPr>
        <p:spPr>
          <a:xfrm>
            <a:off x="4709160" y="2706624"/>
            <a:ext cx="3840480" cy="731520"/>
          </a:xfrm>
          <a:prstGeom prst="rect">
            <a:avLst/>
          </a:prstGeom>
          <a:noFill/>
          <a:ln/>
        </p:spPr>
        <p:txBody>
          <a:bodyPr wrap="square" rtlCol="0" anchor="t"/>
          <a:lstStyle/>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2-Stage 레거시 플랜</a:t>
            </a:r>
            <a:endParaRPr lang="en-US" sz="9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① 퇴직금/배당으로 은퇴 소득 확보</a:t>
            </a:r>
            <a:endParaRPr lang="en-US" sz="9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② 사전 증여 &amp; 종신보험으로 상속 대비</a:t>
            </a:r>
            <a:endParaRPr lang="en-US" sz="900" dirty="0"/>
          </a:p>
        </p:txBody>
      </p:sp>
      <p:sp>
        <p:nvSpPr>
          <p:cNvPr id="20" name="Shape 18"/>
          <p:cNvSpPr/>
          <p:nvPr/>
        </p:nvSpPr>
        <p:spPr>
          <a:xfrm>
            <a:off x="457200" y="3529584"/>
            <a:ext cx="4069080" cy="1097280"/>
          </a:xfrm>
          <a:prstGeom prst="rect">
            <a:avLst/>
          </a:prstGeom>
          <a:solidFill>
            <a:srgbClr val="FFFFFF"/>
          </a:solidFill>
          <a:ln w="6350">
            <a:solidFill>
              <a:srgbClr val="E2E8F0"/>
            </a:solidFill>
            <a:prstDash val="solid"/>
          </a:ln>
        </p:spPr>
        <p:txBody>
          <a:bodyPr/>
          <a:lstStyle/>
          <a:p>
            <a:endParaRPr lang="ko-KR" altLang="en-US"/>
          </a:p>
        </p:txBody>
      </p:sp>
      <p:sp>
        <p:nvSpPr>
          <p:cNvPr id="21" name="Shape 19"/>
          <p:cNvSpPr/>
          <p:nvPr/>
        </p:nvSpPr>
        <p:spPr>
          <a:xfrm>
            <a:off x="548640" y="3621024"/>
            <a:ext cx="1188720" cy="201168"/>
          </a:xfrm>
          <a:prstGeom prst="rect">
            <a:avLst/>
          </a:prstGeom>
          <a:solidFill>
            <a:srgbClr val="1A6B4A"/>
          </a:solidFill>
          <a:ln/>
        </p:spPr>
        <p:txBody>
          <a:bodyPr/>
          <a:lstStyle/>
          <a:p>
            <a:endParaRPr lang="ko-KR" altLang="en-US"/>
          </a:p>
        </p:txBody>
      </p:sp>
      <p:sp>
        <p:nvSpPr>
          <p:cNvPr id="22" name="Text 20"/>
          <p:cNvSpPr/>
          <p:nvPr/>
        </p:nvSpPr>
        <p:spPr>
          <a:xfrm>
            <a:off x="548640" y="3621024"/>
            <a:ext cx="1188720" cy="201168"/>
          </a:xfrm>
          <a:prstGeom prst="rect">
            <a:avLst/>
          </a:prstGeom>
          <a:noFill/>
          <a:ln/>
        </p:spPr>
        <p:txBody>
          <a:bodyPr wrap="square" rtlCol="0" anchor="ctr"/>
          <a:lstStyle/>
          <a:p>
            <a:pPr marL="0" indent="0" algn="ctr">
              <a:buNone/>
            </a:pPr>
            <a:r>
              <a:rPr lang="en-US" sz="850" b="1" dirty="0">
                <a:solidFill>
                  <a:srgbClr val="FFFFFF"/>
                </a:solidFill>
                <a:latin typeface="맑은 고딕" pitchFamily="34" charset="0"/>
                <a:ea typeface="맑은 고딕" pitchFamily="34" charset="-122"/>
                <a:cs typeface="맑은 고딕" pitchFamily="34" charset="-120"/>
              </a:rPr>
              <a:t>기대 효과</a:t>
            </a:r>
            <a:endParaRPr lang="en-US" sz="850" dirty="0"/>
          </a:p>
        </p:txBody>
      </p:sp>
      <p:sp>
        <p:nvSpPr>
          <p:cNvPr id="23" name="Text 21"/>
          <p:cNvSpPr/>
          <p:nvPr/>
        </p:nvSpPr>
        <p:spPr>
          <a:xfrm>
            <a:off x="548640" y="3895344"/>
            <a:ext cx="3840480" cy="731520"/>
          </a:xfrm>
          <a:prstGeom prst="rect">
            <a:avLst/>
          </a:prstGeom>
          <a:noFill/>
          <a:ln/>
        </p:spPr>
        <p:txBody>
          <a:bodyPr wrap="square" rtlCol="0" anchor="t"/>
          <a:lstStyle/>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월 1,500만 원 평생 소득 확보</a:t>
            </a:r>
            <a:endParaRPr lang="en-US" sz="9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약 50억 원 절세 효과 기대</a:t>
            </a:r>
            <a:endParaRPr lang="en-US" sz="9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100년 기업의 초석 마련</a:t>
            </a:r>
            <a:endParaRPr lang="en-US" sz="900" dirty="0"/>
          </a:p>
        </p:txBody>
      </p:sp>
      <p:sp>
        <p:nvSpPr>
          <p:cNvPr id="24" name="Shape 22"/>
          <p:cNvSpPr/>
          <p:nvPr/>
        </p:nvSpPr>
        <p:spPr>
          <a:xfrm>
            <a:off x="4617720" y="3529584"/>
            <a:ext cx="4069080" cy="1097280"/>
          </a:xfrm>
          <a:prstGeom prst="rect">
            <a:avLst/>
          </a:prstGeom>
          <a:solidFill>
            <a:srgbClr val="FFFFFF"/>
          </a:solidFill>
          <a:ln w="6350">
            <a:solidFill>
              <a:srgbClr val="E2E8F0"/>
            </a:solidFill>
            <a:prstDash val="solid"/>
          </a:ln>
        </p:spPr>
        <p:txBody>
          <a:bodyPr/>
          <a:lstStyle/>
          <a:p>
            <a:endParaRPr lang="ko-KR" altLang="en-US"/>
          </a:p>
        </p:txBody>
      </p:sp>
      <p:sp>
        <p:nvSpPr>
          <p:cNvPr id="25" name="Shape 23"/>
          <p:cNvSpPr/>
          <p:nvPr/>
        </p:nvSpPr>
        <p:spPr>
          <a:xfrm>
            <a:off x="4709160" y="3621024"/>
            <a:ext cx="1371600" cy="201168"/>
          </a:xfrm>
          <a:prstGeom prst="rect">
            <a:avLst/>
          </a:prstGeom>
          <a:solidFill>
            <a:srgbClr val="C8962E"/>
          </a:solidFill>
          <a:ln/>
        </p:spPr>
        <p:txBody>
          <a:bodyPr/>
          <a:lstStyle/>
          <a:p>
            <a:endParaRPr lang="ko-KR" altLang="en-US"/>
          </a:p>
        </p:txBody>
      </p:sp>
      <p:sp>
        <p:nvSpPr>
          <p:cNvPr id="26" name="Text 24"/>
          <p:cNvSpPr/>
          <p:nvPr/>
        </p:nvSpPr>
        <p:spPr>
          <a:xfrm>
            <a:off x="4709160" y="3621024"/>
            <a:ext cx="1371600" cy="201168"/>
          </a:xfrm>
          <a:prstGeom prst="rect">
            <a:avLst/>
          </a:prstGeom>
          <a:noFill/>
          <a:ln/>
        </p:spPr>
        <p:txBody>
          <a:bodyPr wrap="square" rtlCol="0" anchor="ctr"/>
          <a:lstStyle/>
          <a:p>
            <a:pPr marL="0" indent="0" algn="ctr">
              <a:buNone/>
            </a:pPr>
            <a:r>
              <a:rPr lang="en-US" sz="850" b="1" dirty="0">
                <a:solidFill>
                  <a:srgbClr val="FFFFFF"/>
                </a:solidFill>
                <a:latin typeface="맑은 고딕" pitchFamily="34" charset="0"/>
                <a:ea typeface="맑은 고딕" pitchFamily="34" charset="-122"/>
                <a:cs typeface="맑은 고딕" pitchFamily="34" charset="-120"/>
              </a:rPr>
              <a:t>실행 포인트</a:t>
            </a:r>
            <a:endParaRPr lang="en-US" sz="850" dirty="0"/>
          </a:p>
        </p:txBody>
      </p:sp>
      <p:sp>
        <p:nvSpPr>
          <p:cNvPr id="27" name="Text 25"/>
          <p:cNvSpPr/>
          <p:nvPr/>
        </p:nvSpPr>
        <p:spPr>
          <a:xfrm>
            <a:off x="4709160" y="3895344"/>
            <a:ext cx="3840480" cy="731520"/>
          </a:xfrm>
          <a:prstGeom prst="rect">
            <a:avLst/>
          </a:prstGeom>
          <a:noFill/>
          <a:ln/>
        </p:spPr>
        <p:txBody>
          <a:bodyPr wrap="square" rtlCol="0" anchor="t"/>
          <a:lstStyle/>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정관 정비 및 급여 규정 신설</a:t>
            </a:r>
            <a:endParaRPr lang="en-US" sz="900" dirty="0"/>
          </a:p>
          <a:p>
            <a:pPr marL="0" indent="0">
              <a:lnSpc>
                <a:spcPct val="130000"/>
              </a:lnSpc>
              <a:buNone/>
            </a:pPr>
            <a:r>
              <a:rPr lang="en-US" sz="900" dirty="0">
                <a:solidFill>
                  <a:srgbClr val="2B2B2B"/>
                </a:solidFill>
                <a:latin typeface="맑은 고딕" pitchFamily="34" charset="0"/>
                <a:ea typeface="맑은 고딕" pitchFamily="34" charset="-122"/>
                <a:cs typeface="맑은 고딕" pitchFamily="34" charset="-120"/>
              </a:rPr>
              <a:t>• 법인 보험 가입 &amp; 10년 장기 증여 실행</a:t>
            </a:r>
            <a:endParaRPr lang="en-US" sz="900" dirty="0"/>
          </a:p>
        </p:txBody>
      </p:sp>
      <p:sp>
        <p:nvSpPr>
          <p:cNvPr id="28" name="Text 26"/>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29" name="Text 27"/>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20 / 28</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IX. 컨설팅 시나리오 (Consulting Scenarios)</a:t>
            </a:r>
            <a:endParaRPr lang="en-US" sz="1400" dirty="0"/>
          </a:p>
        </p:txBody>
      </p:sp>
      <p:sp>
        <p:nvSpPr>
          <p:cNvPr id="5" name="Text 3"/>
          <p:cNvSpPr/>
          <p:nvPr/>
        </p:nvSpPr>
        <p:spPr>
          <a:xfrm>
            <a:off x="457200" y="868680"/>
            <a:ext cx="8229600" cy="320040"/>
          </a:xfrm>
          <a:prstGeom prst="rect">
            <a:avLst/>
          </a:prstGeom>
          <a:noFill/>
          <a:ln/>
        </p:spPr>
        <p:txBody>
          <a:bodyPr wrap="square" rtlCol="0" anchor="ctr"/>
          <a:lstStyle/>
          <a:p>
            <a:pPr marL="0" indent="0" algn="ctr">
              <a:buNone/>
            </a:pPr>
            <a:r>
              <a:rPr lang="en-US" sz="1000" b="1" dirty="0">
                <a:solidFill>
                  <a:srgbClr val="1B2A4A"/>
                </a:solidFill>
                <a:latin typeface="맑은 고딕" pitchFamily="34" charset="0"/>
                <a:ea typeface="맑은 고딕" pitchFamily="34" charset="-122"/>
                <a:cs typeface="맑은 고딕" pitchFamily="34" charset="-120"/>
              </a:rPr>
              <a:t>📢 상담주제: "대표님의 '아름다운 퇴장'과 '성공적인 승계'를 위한 15년 마스터플랜"</a:t>
            </a:r>
            <a:endParaRPr lang="en-US" sz="1000" dirty="0"/>
          </a:p>
        </p:txBody>
      </p:sp>
      <p:sp>
        <p:nvSpPr>
          <p:cNvPr id="6" name="Shape 4"/>
          <p:cNvSpPr/>
          <p:nvPr/>
        </p:nvSpPr>
        <p:spPr>
          <a:xfrm>
            <a:off x="457200" y="1325880"/>
            <a:ext cx="8229600" cy="201168"/>
          </a:xfrm>
          <a:prstGeom prst="rect">
            <a:avLst/>
          </a:prstGeom>
          <a:solidFill>
            <a:srgbClr val="E2E8F0"/>
          </a:solidFill>
          <a:ln/>
        </p:spPr>
        <p:txBody>
          <a:bodyPr/>
          <a:lstStyle/>
          <a:p>
            <a:endParaRPr lang="ko-KR" altLang="en-US"/>
          </a:p>
        </p:txBody>
      </p:sp>
      <p:sp>
        <p:nvSpPr>
          <p:cNvPr id="7" name="Text 5"/>
          <p:cNvSpPr/>
          <p:nvPr/>
        </p:nvSpPr>
        <p:spPr>
          <a:xfrm>
            <a:off x="457200" y="1325880"/>
            <a:ext cx="8229600" cy="201168"/>
          </a:xfrm>
          <a:prstGeom prst="rect">
            <a:avLst/>
          </a:prstGeom>
          <a:noFill/>
          <a:ln/>
        </p:spPr>
        <p:txBody>
          <a:bodyPr wrap="square" rtlCol="0" anchor="ctr"/>
          <a:lstStyle/>
          <a:p>
            <a:pPr marL="0" indent="0" algn="ctr">
              <a:buNone/>
            </a:pPr>
            <a:r>
              <a:rPr lang="en-US" sz="850" b="1" dirty="0">
                <a:solidFill>
                  <a:srgbClr val="4A5568"/>
                </a:solidFill>
                <a:latin typeface="맑은 고딕" pitchFamily="34" charset="0"/>
                <a:ea typeface="맑은 고딕" pitchFamily="34" charset="-122"/>
                <a:cs typeface="맑은 고딕" pitchFamily="34" charset="-120"/>
              </a:rPr>
              <a:t>1단계: 시작 (공감과 비전)</a:t>
            </a:r>
            <a:endParaRPr lang="en-US" sz="850" dirty="0"/>
          </a:p>
        </p:txBody>
      </p:sp>
      <p:sp>
        <p:nvSpPr>
          <p:cNvPr id="8" name="Shape 6"/>
          <p:cNvSpPr/>
          <p:nvPr/>
        </p:nvSpPr>
        <p:spPr>
          <a:xfrm>
            <a:off x="457200" y="1645920"/>
            <a:ext cx="6858000" cy="1143000"/>
          </a:xfrm>
          <a:prstGeom prst="rect">
            <a:avLst/>
          </a:prstGeom>
          <a:solidFill>
            <a:srgbClr val="FFFFFF"/>
          </a:solidFill>
          <a:ln w="6350">
            <a:solidFill>
              <a:srgbClr val="E2E8F0"/>
            </a:solidFill>
            <a:prstDash val="solid"/>
          </a:ln>
        </p:spPr>
        <p:txBody>
          <a:bodyPr/>
          <a:lstStyle/>
          <a:p>
            <a:endParaRPr lang="ko-KR" altLang="en-US"/>
          </a:p>
        </p:txBody>
      </p:sp>
      <p:sp>
        <p:nvSpPr>
          <p:cNvPr id="9" name="Text 7"/>
          <p:cNvSpPr/>
          <p:nvPr/>
        </p:nvSpPr>
        <p:spPr>
          <a:xfrm>
            <a:off x="548640" y="1691640"/>
            <a:ext cx="1828800" cy="182880"/>
          </a:xfrm>
          <a:prstGeom prst="rect">
            <a:avLst/>
          </a:prstGeom>
          <a:noFill/>
          <a:ln/>
        </p:spPr>
        <p:txBody>
          <a:bodyPr wrap="square" rtlCol="0" anchor="ctr"/>
          <a:lstStyle/>
          <a:p>
            <a:pPr marL="0" indent="0">
              <a:buNone/>
            </a:pPr>
            <a:r>
              <a:rPr lang="en-US" sz="750" dirty="0">
                <a:solidFill>
                  <a:srgbClr val="4A5568"/>
                </a:solidFill>
                <a:latin typeface="맑은 고딕" pitchFamily="34" charset="0"/>
                <a:ea typeface="맑은 고딕" pitchFamily="34" charset="-122"/>
                <a:cs typeface="맑은 고딕" pitchFamily="34" charset="-120"/>
              </a:rPr>
              <a:t>💼 컨설턴트</a:t>
            </a:r>
            <a:endParaRPr lang="en-US" sz="750" dirty="0"/>
          </a:p>
        </p:txBody>
      </p:sp>
      <p:sp>
        <p:nvSpPr>
          <p:cNvPr id="10" name="Text 8"/>
          <p:cNvSpPr/>
          <p:nvPr/>
        </p:nvSpPr>
        <p:spPr>
          <a:xfrm>
            <a:off x="594360" y="1874520"/>
            <a:ext cx="6583680" cy="868680"/>
          </a:xfrm>
          <a:prstGeom prst="rect">
            <a:avLst/>
          </a:prstGeom>
          <a:noFill/>
          <a:ln/>
        </p:spPr>
        <p:txBody>
          <a:bodyPr wrap="square" rtlCol="0" anchor="t"/>
          <a:lstStyle/>
          <a:p>
            <a:pPr marL="0" indent="0">
              <a:lnSpc>
                <a:spcPct val="125000"/>
              </a:lnSpc>
              <a:buNone/>
            </a:pPr>
            <a:r>
              <a:rPr lang="en-US" sz="900" dirty="0">
                <a:solidFill>
                  <a:srgbClr val="2B2B2B"/>
                </a:solidFill>
                <a:latin typeface="맑은 고딕" pitchFamily="34" charset="0"/>
                <a:ea typeface="맑은 고딕" pitchFamily="34" charset="-122"/>
                <a:cs typeface="맑은 고딕" pitchFamily="34" charset="-120"/>
              </a:rPr>
              <a:t>"대표님, 30년간 이 회사를 이끌어오신 그 열정에 깊은 존경을 표합니다. 이제는 슬슬 평생의 노고에 대한 보상을 </a:t>
            </a:r>
            <a:r>
              <a:rPr lang="en-US" sz="900" dirty="0" err="1">
                <a:solidFill>
                  <a:srgbClr val="2B2B2B"/>
                </a:solidFill>
                <a:latin typeface="맑은 고딕" pitchFamily="34" charset="0"/>
                <a:ea typeface="맑은 고딕" pitchFamily="34" charset="-122"/>
                <a:cs typeface="맑은 고딕" pitchFamily="34" charset="-120"/>
              </a:rPr>
              <a:t>생각하시고</a:t>
            </a:r>
            <a:r>
              <a:rPr lang="en-US" sz="900" dirty="0">
                <a:solidFill>
                  <a:srgbClr val="2B2B2B"/>
                </a:solidFill>
                <a:latin typeface="맑은 고딕" pitchFamily="34" charset="0"/>
                <a:ea typeface="맑은 고딕" pitchFamily="34" charset="-122"/>
                <a:cs typeface="맑은 고딕" pitchFamily="34" charset="-120"/>
              </a:rPr>
              <a:t>, 이 위대한 유산을 아드님께 어떻게 물려주실지 큰 그림을 그리실 때인 것 같습니다.</a:t>
            </a:r>
            <a:endParaRPr lang="en-US" sz="900" dirty="0"/>
          </a:p>
          <a:p>
            <a:pPr marL="0" indent="0">
              <a:lnSpc>
                <a:spcPct val="125000"/>
              </a:lnSpc>
              <a:buNone/>
            </a:pPr>
            <a:r>
              <a:rPr lang="en-US" sz="900" dirty="0">
                <a:solidFill>
                  <a:srgbClr val="2B2B2B"/>
                </a:solidFill>
                <a:latin typeface="맑은 고딕" pitchFamily="34" charset="0"/>
                <a:ea typeface="맑은 고딕" pitchFamily="34" charset="-122"/>
                <a:cs typeface="맑은 고딕" pitchFamily="34" charset="-120"/>
              </a:rPr>
              <a:t>대표님의 '마지막 경영 프로젝트', 즉 성공적인 은퇴와 승계에 대한 마스터플랜을 함께 그려보고자 합니다."</a:t>
            </a:r>
            <a:endParaRPr lang="en-US" sz="900" dirty="0"/>
          </a:p>
        </p:txBody>
      </p:sp>
      <p:sp>
        <p:nvSpPr>
          <p:cNvPr id="11" name="Shape 9"/>
          <p:cNvSpPr/>
          <p:nvPr/>
        </p:nvSpPr>
        <p:spPr>
          <a:xfrm>
            <a:off x="457200" y="2926080"/>
            <a:ext cx="8229600" cy="201168"/>
          </a:xfrm>
          <a:prstGeom prst="rect">
            <a:avLst/>
          </a:prstGeom>
          <a:solidFill>
            <a:srgbClr val="E2E8F0"/>
          </a:solidFill>
          <a:ln/>
        </p:spPr>
        <p:txBody>
          <a:bodyPr/>
          <a:lstStyle/>
          <a:p>
            <a:endParaRPr lang="ko-KR" altLang="en-US"/>
          </a:p>
        </p:txBody>
      </p:sp>
      <p:sp>
        <p:nvSpPr>
          <p:cNvPr id="12" name="Text 10"/>
          <p:cNvSpPr/>
          <p:nvPr/>
        </p:nvSpPr>
        <p:spPr>
          <a:xfrm>
            <a:off x="457200" y="2926080"/>
            <a:ext cx="8229600" cy="201168"/>
          </a:xfrm>
          <a:prstGeom prst="rect">
            <a:avLst/>
          </a:prstGeom>
          <a:noFill/>
          <a:ln/>
        </p:spPr>
        <p:txBody>
          <a:bodyPr wrap="square" rtlCol="0" anchor="ctr"/>
          <a:lstStyle/>
          <a:p>
            <a:pPr marL="0" indent="0" algn="ctr">
              <a:buNone/>
            </a:pPr>
            <a:r>
              <a:rPr lang="en-US" sz="850" b="1" dirty="0">
                <a:solidFill>
                  <a:srgbClr val="4A5568"/>
                </a:solidFill>
                <a:latin typeface="맑은 고딕" pitchFamily="34" charset="0"/>
                <a:ea typeface="맑은 고딕" pitchFamily="34" charset="-122"/>
                <a:cs typeface="맑은 고딕" pitchFamily="34" charset="-120"/>
              </a:rPr>
              <a:t>2단계: 문제 인식 (두 가지 폭탄)</a:t>
            </a:r>
            <a:endParaRPr lang="en-US" sz="850" dirty="0"/>
          </a:p>
        </p:txBody>
      </p:sp>
      <p:sp>
        <p:nvSpPr>
          <p:cNvPr id="13" name="Shape 11"/>
          <p:cNvSpPr/>
          <p:nvPr/>
        </p:nvSpPr>
        <p:spPr>
          <a:xfrm>
            <a:off x="457200" y="3246120"/>
            <a:ext cx="6858000" cy="1234440"/>
          </a:xfrm>
          <a:prstGeom prst="rect">
            <a:avLst/>
          </a:prstGeom>
          <a:solidFill>
            <a:srgbClr val="FFFFFF"/>
          </a:solidFill>
          <a:ln w="6350">
            <a:solidFill>
              <a:srgbClr val="E2E8F0"/>
            </a:solidFill>
            <a:prstDash val="solid"/>
          </a:ln>
        </p:spPr>
        <p:txBody>
          <a:bodyPr/>
          <a:lstStyle/>
          <a:p>
            <a:endParaRPr lang="ko-KR" altLang="en-US"/>
          </a:p>
        </p:txBody>
      </p:sp>
      <p:sp>
        <p:nvSpPr>
          <p:cNvPr id="14" name="Text 12"/>
          <p:cNvSpPr/>
          <p:nvPr/>
        </p:nvSpPr>
        <p:spPr>
          <a:xfrm>
            <a:off x="548640" y="3291840"/>
            <a:ext cx="1828800" cy="182880"/>
          </a:xfrm>
          <a:prstGeom prst="rect">
            <a:avLst/>
          </a:prstGeom>
          <a:noFill/>
          <a:ln/>
        </p:spPr>
        <p:txBody>
          <a:bodyPr wrap="square" rtlCol="0" anchor="ctr"/>
          <a:lstStyle/>
          <a:p>
            <a:pPr marL="0" indent="0">
              <a:buNone/>
            </a:pPr>
            <a:r>
              <a:rPr lang="en-US" sz="750" dirty="0">
                <a:solidFill>
                  <a:srgbClr val="4A5568"/>
                </a:solidFill>
                <a:latin typeface="맑은 고딕" pitchFamily="34" charset="0"/>
                <a:ea typeface="맑은 고딕" pitchFamily="34" charset="-122"/>
                <a:cs typeface="맑은 고딕" pitchFamily="34" charset="-120"/>
              </a:rPr>
              <a:t>💼 컨설턴트</a:t>
            </a:r>
            <a:endParaRPr lang="en-US" sz="750" dirty="0"/>
          </a:p>
        </p:txBody>
      </p:sp>
      <p:sp>
        <p:nvSpPr>
          <p:cNvPr id="15" name="Text 13"/>
          <p:cNvSpPr/>
          <p:nvPr/>
        </p:nvSpPr>
        <p:spPr>
          <a:xfrm>
            <a:off x="594360" y="3474720"/>
            <a:ext cx="6583680" cy="960120"/>
          </a:xfrm>
          <a:prstGeom prst="rect">
            <a:avLst/>
          </a:prstGeom>
          <a:noFill/>
          <a:ln/>
        </p:spPr>
        <p:txBody>
          <a:bodyPr wrap="square" rtlCol="0" anchor="t"/>
          <a:lstStyle/>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"현재 우리 앞에는 두 개의 큰 시한폭탄이 있습니다.</a:t>
            </a:r>
            <a:endParaRPr lang="en-US" sz="900" dirty="0"/>
          </a:p>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첫째, 대표님 개인 자산이 부족해 은퇴 후 생활비 인출 시 세금 폭탄을 맞을 수 있다는 점.</a:t>
            </a:r>
            <a:endParaRPr lang="en-US" sz="900" dirty="0"/>
          </a:p>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둘째, 사후에 아드님이 물려받을 주식에 대해 수십억 원의 상속세 폭탄이 터진다는 점입니다.</a:t>
            </a:r>
            <a:endParaRPr lang="en-US" sz="900" dirty="0"/>
          </a:p>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여기에 '가짜 은퇴'라는 지뢰까지 있습니다. 서류상으로만 퇴직하고 계속 경영에 관여하시면, 국세청이 이 모든 </a:t>
            </a:r>
            <a:r>
              <a:rPr lang="en-US" sz="900" dirty="0" err="1">
                <a:solidFill>
                  <a:srgbClr val="2B2B2B"/>
                </a:solidFill>
                <a:latin typeface="맑은 고딕" pitchFamily="34" charset="0"/>
                <a:ea typeface="맑은 고딕" pitchFamily="34" charset="-122"/>
                <a:cs typeface="맑은 고딕" pitchFamily="34" charset="-120"/>
              </a:rPr>
              <a:t>계획을</a:t>
            </a:r>
            <a:r>
              <a:rPr lang="en-US" sz="900" dirty="0">
                <a:solidFill>
                  <a:srgbClr val="2B2B2B"/>
                </a:solidFill>
                <a:latin typeface="맑은 고딕" pitchFamily="34" charset="0"/>
                <a:ea typeface="맑은 고딕" pitchFamily="34" charset="-122"/>
                <a:cs typeface="맑은 고딕" pitchFamily="34" charset="-120"/>
              </a:rPr>
              <a:t> </a:t>
            </a:r>
            <a:r>
              <a:rPr lang="en-US" sz="900" dirty="0" err="1">
                <a:solidFill>
                  <a:srgbClr val="2B2B2B"/>
                </a:solidFill>
                <a:latin typeface="맑은 고딕" pitchFamily="34" charset="0"/>
                <a:ea typeface="맑은 고딕" pitchFamily="34" charset="-122"/>
                <a:cs typeface="맑은 고딕" pitchFamily="34" charset="-120"/>
              </a:rPr>
              <a:t>부인하고</a:t>
            </a:r>
            <a:r>
              <a:rPr lang="en-US" sz="900" dirty="0">
                <a:solidFill>
                  <a:srgbClr val="2B2B2B"/>
                </a:solidFill>
                <a:latin typeface="맑은 고딕" pitchFamily="34" charset="0"/>
                <a:ea typeface="맑은 고딕" pitchFamily="34" charset="-122"/>
                <a:cs typeface="맑은 고딕" pitchFamily="34" charset="-120"/>
              </a:rPr>
              <a:t> 더 큰 세금을 물릴 수 있습니다."</a:t>
            </a:r>
            <a:endParaRPr lang="en-US" sz="90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21 / 28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Shape 2"/>
          <p:cNvSpPr/>
          <p:nvPr/>
        </p:nvSpPr>
        <p:spPr>
          <a:xfrm>
            <a:off x="457200" y="502920"/>
            <a:ext cx="8229600" cy="201168"/>
          </a:xfrm>
          <a:prstGeom prst="rect">
            <a:avLst/>
          </a:prstGeom>
          <a:solidFill>
            <a:srgbClr val="E2E8F0"/>
          </a:solidFill>
          <a:ln/>
        </p:spPr>
        <p:txBody>
          <a:bodyPr/>
          <a:lstStyle/>
          <a:p>
            <a:endParaRPr lang="ko-KR" altLang="en-US"/>
          </a:p>
        </p:txBody>
      </p:sp>
      <p:sp>
        <p:nvSpPr>
          <p:cNvPr id="5" name="Text 3"/>
          <p:cNvSpPr/>
          <p:nvPr/>
        </p:nvSpPr>
        <p:spPr>
          <a:xfrm>
            <a:off x="457200" y="502920"/>
            <a:ext cx="8229600" cy="201168"/>
          </a:xfrm>
          <a:prstGeom prst="rect">
            <a:avLst/>
          </a:prstGeom>
          <a:noFill/>
          <a:ln/>
        </p:spPr>
        <p:txBody>
          <a:bodyPr wrap="square" rtlCol="0" anchor="ctr"/>
          <a:lstStyle/>
          <a:p>
            <a:pPr marL="0" indent="0" algn="ctr">
              <a:buNone/>
            </a:pPr>
            <a:r>
              <a:rPr lang="en-US" sz="850" b="1" dirty="0">
                <a:solidFill>
                  <a:srgbClr val="4A5568"/>
                </a:solidFill>
                <a:latin typeface="맑은 고딕" pitchFamily="34" charset="0"/>
                <a:ea typeface="맑은 고딕" pitchFamily="34" charset="-122"/>
                <a:cs typeface="맑은 고딕" pitchFamily="34" charset="-120"/>
              </a:rPr>
              <a:t>3단계: 솔루션 제안 (2단계 로드맵)</a:t>
            </a:r>
            <a:endParaRPr lang="en-US" sz="850" dirty="0"/>
          </a:p>
        </p:txBody>
      </p:sp>
      <p:sp>
        <p:nvSpPr>
          <p:cNvPr id="6" name="Shape 4"/>
          <p:cNvSpPr/>
          <p:nvPr/>
        </p:nvSpPr>
        <p:spPr>
          <a:xfrm>
            <a:off x="457200" y="822960"/>
            <a:ext cx="6858000" cy="960120"/>
          </a:xfrm>
          <a:prstGeom prst="rect">
            <a:avLst/>
          </a:prstGeom>
          <a:solidFill>
            <a:srgbClr val="FFFFFF"/>
          </a:solidFill>
          <a:ln w="6350">
            <a:solidFill>
              <a:srgbClr val="E2E8F0"/>
            </a:solidFill>
            <a:prstDash val="solid"/>
          </a:ln>
        </p:spPr>
        <p:txBody>
          <a:bodyPr/>
          <a:lstStyle/>
          <a:p>
            <a:endParaRPr lang="ko-KR" altLang="en-US"/>
          </a:p>
        </p:txBody>
      </p:sp>
      <p:sp>
        <p:nvSpPr>
          <p:cNvPr id="7" name="Text 5"/>
          <p:cNvSpPr/>
          <p:nvPr/>
        </p:nvSpPr>
        <p:spPr>
          <a:xfrm>
            <a:off x="548640" y="868680"/>
            <a:ext cx="1828800" cy="182880"/>
          </a:xfrm>
          <a:prstGeom prst="rect">
            <a:avLst/>
          </a:prstGeom>
          <a:noFill/>
          <a:ln/>
        </p:spPr>
        <p:txBody>
          <a:bodyPr wrap="square" rtlCol="0" anchor="ctr"/>
          <a:lstStyle/>
          <a:p>
            <a:pPr marL="0" indent="0">
              <a:buNone/>
            </a:pPr>
            <a:r>
              <a:rPr lang="en-US" sz="750" dirty="0">
                <a:solidFill>
                  <a:srgbClr val="4A5568"/>
                </a:solidFill>
                <a:latin typeface="맑은 고딕" pitchFamily="34" charset="0"/>
                <a:ea typeface="맑은 고딕" pitchFamily="34" charset="-122"/>
                <a:cs typeface="맑은 고딕" pitchFamily="34" charset="-120"/>
              </a:rPr>
              <a:t>💼 컨설턴트</a:t>
            </a:r>
            <a:endParaRPr lang="en-US" sz="750" dirty="0"/>
          </a:p>
        </p:txBody>
      </p:sp>
      <p:sp>
        <p:nvSpPr>
          <p:cNvPr id="8" name="Text 6"/>
          <p:cNvSpPr/>
          <p:nvPr/>
        </p:nvSpPr>
        <p:spPr>
          <a:xfrm>
            <a:off x="594360" y="1051560"/>
            <a:ext cx="6583680" cy="685800"/>
          </a:xfrm>
          <a:prstGeom prst="rect">
            <a:avLst/>
          </a:prstGeom>
          <a:noFill/>
          <a:ln/>
        </p:spPr>
        <p:txBody>
          <a:bodyPr wrap="square" rtlCol="0" anchor="t"/>
          <a:lstStyle/>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"이 폭탄과 지뢰를 가장 안전하게 제거할 2단계 작전 계획을 가져왔습니다.</a:t>
            </a:r>
            <a:endParaRPr lang="en-US" sz="900" dirty="0"/>
          </a:p>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1단계, 'CEO 경제적 독립' 작전입니다. 앞으로 5년간, 회사가 대표님을 위해 25억 원의 퇴직금을 합법적으로 준비합니다. 이를 통해 평생 연금과 배당, 자문료가 나오는 '다층 소득 구조'를 완성하는 겁니다."</a:t>
            </a:r>
            <a:endParaRPr lang="en-US" sz="900" dirty="0"/>
          </a:p>
        </p:txBody>
      </p:sp>
      <p:sp>
        <p:nvSpPr>
          <p:cNvPr id="9" name="Shape 7"/>
          <p:cNvSpPr/>
          <p:nvPr/>
        </p:nvSpPr>
        <p:spPr>
          <a:xfrm>
            <a:off x="2286000" y="1920240"/>
            <a:ext cx="6400800" cy="365760"/>
          </a:xfrm>
          <a:prstGeom prst="rect">
            <a:avLst/>
          </a:prstGeom>
          <a:solidFill>
            <a:srgbClr val="EEF2F7"/>
          </a:solidFill>
          <a:ln w="6350">
            <a:solidFill>
              <a:srgbClr val="E2E8F0"/>
            </a:solidFill>
            <a:prstDash val="solid"/>
          </a:ln>
        </p:spPr>
        <p:txBody>
          <a:bodyPr/>
          <a:lstStyle/>
          <a:p>
            <a:endParaRPr lang="ko-KR" altLang="en-US"/>
          </a:p>
        </p:txBody>
      </p:sp>
      <p:sp>
        <p:nvSpPr>
          <p:cNvPr id="10" name="Text 8"/>
          <p:cNvSpPr/>
          <p:nvPr/>
        </p:nvSpPr>
        <p:spPr>
          <a:xfrm>
            <a:off x="2377440" y="1920240"/>
            <a:ext cx="6217920" cy="365760"/>
          </a:xfrm>
          <a:prstGeom prst="rect">
            <a:avLst/>
          </a:prstGeom>
          <a:noFill/>
          <a:ln/>
        </p:spPr>
        <p:txBody>
          <a:bodyPr wrap="square" rtlCol="0" anchor="ctr"/>
          <a:lstStyle/>
          <a:p>
            <a:pPr marL="0" indent="0">
              <a:buNone/>
            </a:pPr>
            <a:r>
              <a:rPr lang="en-US" sz="900" dirty="0">
                <a:solidFill>
                  <a:srgbClr val="1B2A4A"/>
                </a:solidFill>
                <a:latin typeface="맑은 고딕" pitchFamily="34" charset="0"/>
                <a:ea typeface="맑은 고딕" pitchFamily="34" charset="-122"/>
                <a:cs typeface="맑은 고딕" pitchFamily="34" charset="-120"/>
              </a:rPr>
              <a:t>👤 CEO: "그것만으로도 좋은데, 2단계는 뭔가?"</a:t>
            </a:r>
            <a:endParaRPr lang="en-US" sz="900" dirty="0"/>
          </a:p>
        </p:txBody>
      </p:sp>
      <p:sp>
        <p:nvSpPr>
          <p:cNvPr id="11" name="Shape 9"/>
          <p:cNvSpPr/>
          <p:nvPr/>
        </p:nvSpPr>
        <p:spPr>
          <a:xfrm>
            <a:off x="457200" y="2423160"/>
            <a:ext cx="6858000" cy="960120"/>
          </a:xfrm>
          <a:prstGeom prst="rect">
            <a:avLst/>
          </a:prstGeom>
          <a:solidFill>
            <a:srgbClr val="FFFFFF"/>
          </a:solidFill>
          <a:ln w="6350">
            <a:solidFill>
              <a:srgbClr val="E2E8F0"/>
            </a:solidFill>
            <a:prstDash val="solid"/>
          </a:ln>
        </p:spPr>
        <p:txBody>
          <a:bodyPr/>
          <a:lstStyle/>
          <a:p>
            <a:endParaRPr lang="ko-KR" altLang="en-US"/>
          </a:p>
        </p:txBody>
      </p:sp>
      <p:sp>
        <p:nvSpPr>
          <p:cNvPr id="12" name="Text 10"/>
          <p:cNvSpPr/>
          <p:nvPr/>
        </p:nvSpPr>
        <p:spPr>
          <a:xfrm>
            <a:off x="548640" y="2468880"/>
            <a:ext cx="1828800" cy="182880"/>
          </a:xfrm>
          <a:prstGeom prst="rect">
            <a:avLst/>
          </a:prstGeom>
          <a:noFill/>
          <a:ln/>
        </p:spPr>
        <p:txBody>
          <a:bodyPr wrap="square" rtlCol="0" anchor="ctr"/>
          <a:lstStyle/>
          <a:p>
            <a:pPr marL="0" indent="0">
              <a:buNone/>
            </a:pPr>
            <a:r>
              <a:rPr lang="en-US" sz="750" dirty="0">
                <a:solidFill>
                  <a:srgbClr val="4A5568"/>
                </a:solidFill>
                <a:latin typeface="맑은 고딕" pitchFamily="34" charset="0"/>
                <a:ea typeface="맑은 고딕" pitchFamily="34" charset="-122"/>
                <a:cs typeface="맑은 고딕" pitchFamily="34" charset="-120"/>
              </a:rPr>
              <a:t>💼 컨설턴트</a:t>
            </a:r>
            <a:endParaRPr lang="en-US" sz="750" dirty="0"/>
          </a:p>
        </p:txBody>
      </p:sp>
      <p:sp>
        <p:nvSpPr>
          <p:cNvPr id="13" name="Text 11"/>
          <p:cNvSpPr/>
          <p:nvPr/>
        </p:nvSpPr>
        <p:spPr>
          <a:xfrm>
            <a:off x="594360" y="2651760"/>
            <a:ext cx="6583680" cy="685800"/>
          </a:xfrm>
          <a:prstGeom prst="rect">
            <a:avLst/>
          </a:prstGeom>
          <a:noFill/>
          <a:ln/>
        </p:spPr>
        <p:txBody>
          <a:bodyPr wrap="square" rtlCol="0" anchor="t"/>
          <a:lstStyle/>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"2단계는 '세금 폭탄 해체' 작전입니다. 대표님께서 확보한 소득으로 10년에 걸쳐 자녀들에게 미리 재산을 나누어 줍니다.</a:t>
            </a:r>
            <a:endParaRPr lang="en-US" sz="900" dirty="0"/>
          </a:p>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동시에 자녀들은 그 돈으로 보험에 가입해, 최종 상속세 폭탄이 터질 때 쓸 수십억 원의 '소화기(현금)'를 미리 준비해두는 겁니다. 모든 것이 법의 테두리 안에서 순리대로 진행됩니다."</a:t>
            </a:r>
            <a:endParaRPr lang="en-US" sz="900" dirty="0"/>
          </a:p>
        </p:txBody>
      </p:sp>
      <p:sp>
        <p:nvSpPr>
          <p:cNvPr id="14" name="Shape 12"/>
          <p:cNvSpPr/>
          <p:nvPr/>
        </p:nvSpPr>
        <p:spPr>
          <a:xfrm>
            <a:off x="457200" y="3520440"/>
            <a:ext cx="8229600" cy="201168"/>
          </a:xfrm>
          <a:prstGeom prst="rect">
            <a:avLst/>
          </a:prstGeom>
          <a:solidFill>
            <a:srgbClr val="E2E8F0"/>
          </a:solidFill>
          <a:ln/>
        </p:spPr>
        <p:txBody>
          <a:bodyPr/>
          <a:lstStyle/>
          <a:p>
            <a:endParaRPr lang="ko-KR" altLang="en-US"/>
          </a:p>
        </p:txBody>
      </p:sp>
      <p:sp>
        <p:nvSpPr>
          <p:cNvPr id="15" name="Text 13"/>
          <p:cNvSpPr/>
          <p:nvPr/>
        </p:nvSpPr>
        <p:spPr>
          <a:xfrm>
            <a:off x="457200" y="3520440"/>
            <a:ext cx="8229600" cy="201168"/>
          </a:xfrm>
          <a:prstGeom prst="rect">
            <a:avLst/>
          </a:prstGeom>
          <a:noFill/>
          <a:ln/>
        </p:spPr>
        <p:txBody>
          <a:bodyPr wrap="square" rtlCol="0" anchor="ctr"/>
          <a:lstStyle/>
          <a:p>
            <a:pPr marL="0" indent="0" algn="ctr">
              <a:buNone/>
            </a:pPr>
            <a:r>
              <a:rPr lang="en-US" sz="850" b="1" dirty="0">
                <a:solidFill>
                  <a:srgbClr val="4A5568"/>
                </a:solidFill>
                <a:latin typeface="맑은 고딕" pitchFamily="34" charset="0"/>
                <a:ea typeface="맑은 고딕" pitchFamily="34" charset="-122"/>
                <a:cs typeface="맑은 고딕" pitchFamily="34" charset="-120"/>
              </a:rPr>
              <a:t>4단계: 동의 유도 (리더십과 결단)</a:t>
            </a:r>
            <a:endParaRPr lang="en-US" sz="850" dirty="0"/>
          </a:p>
        </p:txBody>
      </p:sp>
      <p:sp>
        <p:nvSpPr>
          <p:cNvPr id="16" name="Shape 14"/>
          <p:cNvSpPr/>
          <p:nvPr/>
        </p:nvSpPr>
        <p:spPr>
          <a:xfrm>
            <a:off x="457200" y="3840480"/>
            <a:ext cx="6858000" cy="868680"/>
          </a:xfrm>
          <a:prstGeom prst="rect">
            <a:avLst/>
          </a:prstGeom>
          <a:solidFill>
            <a:srgbClr val="FFFFFF"/>
          </a:solidFill>
          <a:ln w="6350">
            <a:solidFill>
              <a:srgbClr val="E2E8F0"/>
            </a:solidFill>
            <a:prstDash val="solid"/>
          </a:ln>
        </p:spPr>
        <p:txBody>
          <a:bodyPr/>
          <a:lstStyle/>
          <a:p>
            <a:endParaRPr lang="ko-KR" altLang="en-US"/>
          </a:p>
        </p:txBody>
      </p:sp>
      <p:sp>
        <p:nvSpPr>
          <p:cNvPr id="17" name="Text 15"/>
          <p:cNvSpPr/>
          <p:nvPr/>
        </p:nvSpPr>
        <p:spPr>
          <a:xfrm>
            <a:off x="548640" y="3886200"/>
            <a:ext cx="1828800" cy="182880"/>
          </a:xfrm>
          <a:prstGeom prst="rect">
            <a:avLst/>
          </a:prstGeom>
          <a:noFill/>
          <a:ln/>
        </p:spPr>
        <p:txBody>
          <a:bodyPr wrap="square" rtlCol="0" anchor="ctr"/>
          <a:lstStyle/>
          <a:p>
            <a:pPr marL="0" indent="0">
              <a:buNone/>
            </a:pPr>
            <a:r>
              <a:rPr lang="en-US" sz="750" dirty="0">
                <a:solidFill>
                  <a:srgbClr val="4A5568"/>
                </a:solidFill>
                <a:latin typeface="맑은 고딕" pitchFamily="34" charset="0"/>
                <a:ea typeface="맑은 고딕" pitchFamily="34" charset="-122"/>
                <a:cs typeface="맑은 고딕" pitchFamily="34" charset="-120"/>
              </a:rPr>
              <a:t>💼 컨설턴트</a:t>
            </a:r>
            <a:endParaRPr lang="en-US" sz="750" dirty="0"/>
          </a:p>
        </p:txBody>
      </p:sp>
      <p:sp>
        <p:nvSpPr>
          <p:cNvPr id="18" name="Text 16"/>
          <p:cNvSpPr/>
          <p:nvPr/>
        </p:nvSpPr>
        <p:spPr>
          <a:xfrm>
            <a:off x="594360" y="4069080"/>
            <a:ext cx="6583680" cy="594360"/>
          </a:xfrm>
          <a:prstGeom prst="rect">
            <a:avLst/>
          </a:prstGeom>
          <a:noFill/>
          <a:ln/>
        </p:spPr>
        <p:txBody>
          <a:bodyPr wrap="square" rtlCol="0" anchor="t"/>
          <a:lstStyle/>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"대표님, 이 마스터플랜은 대표님의 은퇴 준비인 동시에, 아드님에게 물려줄 가장 위대한 유산입니다.</a:t>
            </a:r>
            <a:endParaRPr lang="en-US" sz="900" dirty="0"/>
          </a:p>
          <a:p>
            <a:pPr marL="0" indent="0">
              <a:lnSpc>
                <a:spcPct val="120000"/>
              </a:lnSpc>
              <a:buNone/>
            </a:pPr>
            <a:r>
              <a:rPr lang="en-US" sz="900" dirty="0">
                <a:solidFill>
                  <a:srgbClr val="2B2B2B"/>
                </a:solidFill>
                <a:latin typeface="맑은 고딕" pitchFamily="34" charset="0"/>
                <a:ea typeface="맑은 고딕" pitchFamily="34" charset="-122"/>
                <a:cs typeface="맑은 고딕" pitchFamily="34" charset="-120"/>
              </a:rPr>
              <a:t>창업보다 어려운 것이 수성(守城)과 승계(承繼)라고 했습니다. 대표님의 마지막 리더십과 결단으로, 이 위대한 프로젝트를 시작하겠습니다."</a:t>
            </a:r>
            <a:endParaRPr lang="en-US" sz="900" dirty="0"/>
          </a:p>
        </p:txBody>
      </p:sp>
      <p:sp>
        <p:nvSpPr>
          <p:cNvPr id="19" name="Text 17"/>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20" name="Text 18"/>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22 / 28</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0F0"/>
        </a:solidFill>
        <a:effectLst/>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334155"/>
          </a:solidFill>
          <a:ln w="12700">
            <a:solidFill>
              <a:srgbClr val="334155"/>
            </a:solidFill>
            <a:prstDash val="solid"/>
          </a:ln>
        </p:spPr>
        <p:txBody>
          <a:bodyPr/>
          <a:lstStyle/>
          <a:p>
            <a:endParaRPr lang="ko-KR" altLang="en-US"/>
          </a:p>
        </p:txBody>
      </p:sp>
      <p:sp>
        <p:nvSpPr>
          <p:cNvPr id="3" name="Text 1"/>
          <p:cNvSpPr/>
          <p:nvPr/>
        </p:nvSpPr>
        <p:spPr>
          <a:xfrm>
            <a:off x="0" y="0"/>
            <a:ext cx="91440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 컨설턴트 참고용 — 고객 비공개 ]</a:t>
            </a:r>
            <a:endParaRPr lang="en-US" sz="1200" dirty="0"/>
          </a:p>
        </p:txBody>
      </p:sp>
      <p:sp>
        <p:nvSpPr>
          <p:cNvPr id="4" name="Text 2"/>
          <p:cNvSpPr/>
          <p:nvPr/>
        </p:nvSpPr>
        <p:spPr>
          <a:xfrm>
            <a:off x="457200" y="50292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 심화 응대 스킬 (Advanced Q&amp;A)</a:t>
            </a:r>
            <a:endParaRPr lang="en-US" sz="1400" dirty="0"/>
          </a:p>
        </p:txBody>
      </p:sp>
      <p:sp>
        <p:nvSpPr>
          <p:cNvPr id="5" name="Shape 3"/>
          <p:cNvSpPr/>
          <p:nvPr/>
        </p:nvSpPr>
        <p:spPr>
          <a:xfrm>
            <a:off x="457200" y="960120"/>
            <a:ext cx="8229600" cy="10972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6" name="Shape 4"/>
          <p:cNvSpPr/>
          <p:nvPr/>
        </p:nvSpPr>
        <p:spPr>
          <a:xfrm>
            <a:off x="457200" y="960120"/>
            <a:ext cx="54864" cy="1097280"/>
          </a:xfrm>
          <a:prstGeom prst="rect">
            <a:avLst/>
          </a:prstGeom>
          <a:solidFill>
            <a:srgbClr val="C8962E"/>
          </a:solidFill>
          <a:ln/>
        </p:spPr>
        <p:txBody>
          <a:bodyPr/>
          <a:lstStyle/>
          <a:p>
            <a:endParaRPr lang="ko-KR" altLang="en-US"/>
          </a:p>
        </p:txBody>
      </p:sp>
      <p:sp>
        <p:nvSpPr>
          <p:cNvPr id="7" name="Text 5"/>
          <p:cNvSpPr/>
          <p:nvPr/>
        </p:nvSpPr>
        <p:spPr>
          <a:xfrm>
            <a:off x="640080" y="1005840"/>
            <a:ext cx="7863840" cy="228600"/>
          </a:xfrm>
          <a:prstGeom prst="rect">
            <a:avLst/>
          </a:prstGeom>
          <a:noFill/>
          <a:ln/>
        </p:spPr>
        <p:txBody>
          <a:bodyPr wrap="square" rtlCol="0" anchor="ctr"/>
          <a:lstStyle/>
          <a:p>
            <a:pPr marL="0" indent="0">
              <a:buNone/>
            </a:pPr>
            <a:r>
              <a:rPr lang="en-US" sz="1000" b="1" dirty="0">
                <a:solidFill>
                  <a:srgbClr val="C8962E"/>
                </a:solidFill>
                <a:latin typeface="맑은 고딕" pitchFamily="34" charset="0"/>
                <a:ea typeface="맑은 고딕" pitchFamily="34" charset="-122"/>
                <a:cs typeface="맑은 고딕" pitchFamily="34" charset="-120"/>
              </a:rPr>
              <a:t>Q. "보험료 낼 돈으로 차라리 회사를 키우는 게 낫지 않나?"</a:t>
            </a:r>
            <a:endParaRPr lang="en-US" sz="1000" dirty="0"/>
          </a:p>
        </p:txBody>
      </p:sp>
      <p:sp>
        <p:nvSpPr>
          <p:cNvPr id="8" name="Text 6"/>
          <p:cNvSpPr/>
          <p:nvPr/>
        </p:nvSpPr>
        <p:spPr>
          <a:xfrm>
            <a:off x="640080" y="1234440"/>
            <a:ext cx="7863840" cy="777240"/>
          </a:xfrm>
          <a:prstGeom prst="rect">
            <a:avLst/>
          </a:prstGeom>
          <a:noFill/>
          <a:ln/>
        </p:spPr>
        <p:txBody>
          <a:bodyPr wrap="square" rtlCol="0" anchor="t"/>
          <a:lstStyle/>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A. "대표님, 맞습니다. 하지만 회사를 키울수록 세금이라는 '부채'도 함께 커집니다. 지금 보험료를 내는 것은 비용을 쓰는 게 아니라, 나중에 반드시 내야 할 거액의 세금을 '할부'로 미리 적립해두는 것입니다. 회사가 커졌을 때 세금 때문에 회사를 팔아야 한다면, 그 성장이 무슨 의미가 있겠습니까? 회사를 지키기 위한 '안전장치 비용'은 필수입니다."</a:t>
            </a:r>
            <a:endParaRPr lang="en-US" sz="950" dirty="0"/>
          </a:p>
        </p:txBody>
      </p:sp>
      <p:sp>
        <p:nvSpPr>
          <p:cNvPr id="9" name="Shape 7"/>
          <p:cNvSpPr/>
          <p:nvPr/>
        </p:nvSpPr>
        <p:spPr>
          <a:xfrm>
            <a:off x="457200" y="2194560"/>
            <a:ext cx="8229600" cy="1005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0" name="Shape 8"/>
          <p:cNvSpPr/>
          <p:nvPr/>
        </p:nvSpPr>
        <p:spPr>
          <a:xfrm>
            <a:off x="457200" y="2194560"/>
            <a:ext cx="54864" cy="1005840"/>
          </a:xfrm>
          <a:prstGeom prst="rect">
            <a:avLst/>
          </a:prstGeom>
          <a:solidFill>
            <a:srgbClr val="C8962E"/>
          </a:solidFill>
          <a:ln/>
        </p:spPr>
        <p:txBody>
          <a:bodyPr/>
          <a:lstStyle/>
          <a:p>
            <a:endParaRPr lang="ko-KR" altLang="en-US"/>
          </a:p>
        </p:txBody>
      </p:sp>
      <p:sp>
        <p:nvSpPr>
          <p:cNvPr id="11" name="Text 9"/>
          <p:cNvSpPr/>
          <p:nvPr/>
        </p:nvSpPr>
        <p:spPr>
          <a:xfrm>
            <a:off x="640080" y="2240280"/>
            <a:ext cx="7863840" cy="228600"/>
          </a:xfrm>
          <a:prstGeom prst="rect">
            <a:avLst/>
          </a:prstGeom>
          <a:noFill/>
          <a:ln/>
        </p:spPr>
        <p:txBody>
          <a:bodyPr wrap="square" rtlCol="0" anchor="ctr"/>
          <a:lstStyle/>
          <a:p>
            <a:pPr marL="0" indent="0">
              <a:buNone/>
            </a:pPr>
            <a:r>
              <a:rPr lang="en-US" sz="1000" b="1" dirty="0">
                <a:solidFill>
                  <a:srgbClr val="C8962E"/>
                </a:solidFill>
                <a:latin typeface="맑은 고딕" pitchFamily="34" charset="0"/>
                <a:ea typeface="맑은 고딕" pitchFamily="34" charset="-122"/>
                <a:cs typeface="맑은 고딕" pitchFamily="34" charset="-120"/>
              </a:rPr>
              <a:t>Q. "나중에 자녀들이 재산 가지고 싸우면 어떡하나?"</a:t>
            </a:r>
            <a:endParaRPr lang="en-US" sz="1000" dirty="0"/>
          </a:p>
        </p:txBody>
      </p:sp>
      <p:sp>
        <p:nvSpPr>
          <p:cNvPr id="12" name="Text 10"/>
          <p:cNvSpPr/>
          <p:nvPr/>
        </p:nvSpPr>
        <p:spPr>
          <a:xfrm>
            <a:off x="640080" y="2468880"/>
            <a:ext cx="7863840" cy="685800"/>
          </a:xfrm>
          <a:prstGeom prst="rect">
            <a:avLst/>
          </a:prstGeom>
          <a:noFill/>
          <a:ln/>
        </p:spPr>
        <p:txBody>
          <a:bodyPr wrap="square" rtlCol="0" anchor="t"/>
          <a:lstStyle/>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A. "그래서 이 플랜이 중요합니다. 돈이 없어서가 아니라, '누가 낼지' 정해지지 않아서 싸움이 납니다. 이 플랜은 각자의 몫(증여)과 공통의 의무(상속세 재원)를 명확히 구분해 줍니다. 자녀들에게 '돈'만 주는 게 아니라, '싸우지 않을 시스템'을 물려주시는 겁니다."</a:t>
            </a:r>
            <a:endParaRPr lang="en-US" sz="950" dirty="0"/>
          </a:p>
        </p:txBody>
      </p:sp>
      <p:sp>
        <p:nvSpPr>
          <p:cNvPr id="13" name="Shape 11"/>
          <p:cNvSpPr/>
          <p:nvPr/>
        </p:nvSpPr>
        <p:spPr>
          <a:xfrm>
            <a:off x="457200" y="3337560"/>
            <a:ext cx="8229600" cy="10515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4" name="Shape 12"/>
          <p:cNvSpPr/>
          <p:nvPr/>
        </p:nvSpPr>
        <p:spPr>
          <a:xfrm>
            <a:off x="457200" y="3337560"/>
            <a:ext cx="54864" cy="1051560"/>
          </a:xfrm>
          <a:prstGeom prst="rect">
            <a:avLst/>
          </a:prstGeom>
          <a:solidFill>
            <a:srgbClr val="C8962E"/>
          </a:solidFill>
          <a:ln/>
        </p:spPr>
        <p:txBody>
          <a:bodyPr/>
          <a:lstStyle/>
          <a:p>
            <a:endParaRPr lang="ko-KR" altLang="en-US"/>
          </a:p>
        </p:txBody>
      </p:sp>
      <p:sp>
        <p:nvSpPr>
          <p:cNvPr id="15" name="Text 13"/>
          <p:cNvSpPr/>
          <p:nvPr/>
        </p:nvSpPr>
        <p:spPr>
          <a:xfrm>
            <a:off x="640080" y="3383280"/>
            <a:ext cx="7863840" cy="228600"/>
          </a:xfrm>
          <a:prstGeom prst="rect">
            <a:avLst/>
          </a:prstGeom>
          <a:noFill/>
          <a:ln/>
        </p:spPr>
        <p:txBody>
          <a:bodyPr wrap="square" rtlCol="0" anchor="ctr"/>
          <a:lstStyle/>
          <a:p>
            <a:pPr marL="0" indent="0">
              <a:buNone/>
            </a:pPr>
            <a:r>
              <a:rPr lang="en-US" sz="1000" b="1" dirty="0">
                <a:solidFill>
                  <a:srgbClr val="C8962E"/>
                </a:solidFill>
                <a:latin typeface="맑은 고딕" pitchFamily="34" charset="0"/>
                <a:ea typeface="맑은 고딕" pitchFamily="34" charset="-122"/>
                <a:cs typeface="맑은 고딕" pitchFamily="34" charset="-120"/>
              </a:rPr>
              <a:t>Q. "은퇴하고 고문료 받으면 세무조사 나온다던데?"</a:t>
            </a:r>
            <a:endParaRPr lang="en-US" sz="1000" dirty="0"/>
          </a:p>
        </p:txBody>
      </p:sp>
      <p:sp>
        <p:nvSpPr>
          <p:cNvPr id="16" name="Text 14"/>
          <p:cNvSpPr/>
          <p:nvPr/>
        </p:nvSpPr>
        <p:spPr>
          <a:xfrm>
            <a:off x="640080" y="3611880"/>
            <a:ext cx="7863840" cy="731520"/>
          </a:xfrm>
          <a:prstGeom prst="rect">
            <a:avLst/>
          </a:prstGeom>
          <a:noFill/>
          <a:ln/>
        </p:spPr>
        <p:txBody>
          <a:bodyPr wrap="square" rtlCol="0" anchor="t"/>
          <a:lstStyle/>
          <a:p>
            <a:pPr marL="0" indent="0">
              <a:lnSpc>
                <a:spcPct val="120000"/>
              </a:lnSpc>
              <a:buNone/>
            </a:pPr>
            <a:r>
              <a:rPr lang="en-US" sz="950" dirty="0">
                <a:solidFill>
                  <a:srgbClr val="2B2B2B"/>
                </a:solidFill>
                <a:latin typeface="맑은 고딕" pitchFamily="34" charset="0"/>
                <a:ea typeface="맑은 고딕" pitchFamily="34" charset="-122"/>
                <a:cs typeface="맑은 고딕" pitchFamily="34" charset="-120"/>
              </a:rPr>
              <a:t>A. "네, '이름만' 고문이면 100% 문제가 됩니다. 그래서 저희는 '실질'을 만듭니다. 구체적인 자문 계약서, 정기적인 업무 리포트, 해외 네트워크 관리 등 대표님만이 하실 수 있는 역할을 명문화하여, 국세청도 인정할 수밖에 없는 '진짜 자문 프로세스'를 구축해 드립니다. 걱정 마십시오."</a:t>
            </a:r>
            <a:endParaRPr lang="en-US" sz="95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23 / 28</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24</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X. 부록 (Appendix)</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1. 전문용어 설명</a:t>
            </a:r>
            <a:endParaRPr lang="en-US" sz="1400" dirty="0"/>
          </a:p>
        </p:txBody>
      </p:sp>
      <p:sp>
        <p:nvSpPr>
          <p:cNvPr id="6" name="Shape 4"/>
          <p:cNvSpPr/>
          <p:nvPr/>
        </p:nvSpPr>
        <p:spPr>
          <a:xfrm>
            <a:off x="457200" y="1143000"/>
            <a:ext cx="8229600" cy="5943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594360"/>
          </a:xfrm>
          <a:prstGeom prst="rect">
            <a:avLst/>
          </a:prstGeom>
          <a:solidFill>
            <a:srgbClr val="C8962E"/>
          </a:solidFill>
          <a:ln/>
        </p:spPr>
        <p:txBody>
          <a:bodyPr/>
          <a:lstStyle/>
          <a:p>
            <a:endParaRPr lang="ko-KR" altLang="en-US"/>
          </a:p>
        </p:txBody>
      </p:sp>
      <p:sp>
        <p:nvSpPr>
          <p:cNvPr id="8" name="Text 6"/>
          <p:cNvSpPr/>
          <p:nvPr/>
        </p:nvSpPr>
        <p:spPr>
          <a:xfrm>
            <a:off x="640080" y="1188720"/>
            <a:ext cx="7863840" cy="201168"/>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임원 퇴직금</a:t>
            </a:r>
            <a:endParaRPr lang="en-US" sz="1100" dirty="0"/>
          </a:p>
        </p:txBody>
      </p:sp>
      <p:sp>
        <p:nvSpPr>
          <p:cNvPr id="9" name="Text 7"/>
          <p:cNvSpPr/>
          <p:nvPr/>
        </p:nvSpPr>
        <p:spPr>
          <a:xfrm>
            <a:off x="640080" y="1389888"/>
            <a:ext cx="7863840" cy="301752"/>
          </a:xfrm>
          <a:prstGeom prst="rect">
            <a:avLst/>
          </a:prstGeom>
          <a:noFill/>
          <a:ln/>
        </p:spPr>
        <p:txBody>
          <a:bodyPr wrap="square" rtlCol="0" anchor="t"/>
          <a:lstStyle/>
          <a:p>
            <a:pPr marL="0" indent="0">
              <a:lnSpc>
                <a:spcPct val="125000"/>
              </a:lnSpc>
              <a:buNone/>
            </a:pPr>
            <a:r>
              <a:rPr lang="en-US" sz="950" dirty="0">
                <a:solidFill>
                  <a:srgbClr val="4A5568"/>
                </a:solidFill>
                <a:latin typeface="맑은 고딕" pitchFamily="34" charset="0"/>
                <a:ea typeface="맑은 고딕" pitchFamily="34" charset="-122"/>
                <a:cs typeface="맑은 고딕" pitchFamily="34" charset="-120"/>
              </a:rPr>
              <a:t>근로자와 별도로, 정관이나 임원퇴직금지급규정에 따라 임원의 퇴직 시 지급되는 보수. 합리적인 범위 내에서 법인의 비용으로 인정된다.</a:t>
            </a:r>
            <a:endParaRPr lang="en-US" sz="950" dirty="0"/>
          </a:p>
        </p:txBody>
      </p:sp>
      <p:sp>
        <p:nvSpPr>
          <p:cNvPr id="10" name="Shape 8"/>
          <p:cNvSpPr/>
          <p:nvPr/>
        </p:nvSpPr>
        <p:spPr>
          <a:xfrm>
            <a:off x="457200" y="1847088"/>
            <a:ext cx="8229600" cy="59436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1847088"/>
            <a:ext cx="54864" cy="594360"/>
          </a:xfrm>
          <a:prstGeom prst="rect">
            <a:avLst/>
          </a:prstGeom>
          <a:solidFill>
            <a:srgbClr val="C8962E"/>
          </a:solidFill>
          <a:ln/>
        </p:spPr>
        <p:txBody>
          <a:bodyPr/>
          <a:lstStyle/>
          <a:p>
            <a:endParaRPr lang="ko-KR" altLang="en-US"/>
          </a:p>
        </p:txBody>
      </p:sp>
      <p:sp>
        <p:nvSpPr>
          <p:cNvPr id="12" name="Text 10"/>
          <p:cNvSpPr/>
          <p:nvPr/>
        </p:nvSpPr>
        <p:spPr>
          <a:xfrm>
            <a:off x="640080" y="1892808"/>
            <a:ext cx="7863840" cy="201168"/>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퇴직소득세</a:t>
            </a:r>
            <a:endParaRPr lang="en-US" sz="1100" dirty="0"/>
          </a:p>
        </p:txBody>
      </p:sp>
      <p:sp>
        <p:nvSpPr>
          <p:cNvPr id="13" name="Text 11"/>
          <p:cNvSpPr/>
          <p:nvPr/>
        </p:nvSpPr>
        <p:spPr>
          <a:xfrm>
            <a:off x="640080" y="2093976"/>
            <a:ext cx="7863840" cy="301752"/>
          </a:xfrm>
          <a:prstGeom prst="rect">
            <a:avLst/>
          </a:prstGeom>
          <a:noFill/>
          <a:ln/>
        </p:spPr>
        <p:txBody>
          <a:bodyPr wrap="square" rtlCol="0" anchor="t"/>
          <a:lstStyle/>
          <a:p>
            <a:pPr marL="0" indent="0">
              <a:lnSpc>
                <a:spcPct val="125000"/>
              </a:lnSpc>
              <a:buNone/>
            </a:pPr>
            <a:r>
              <a:rPr lang="en-US" sz="950" dirty="0">
                <a:solidFill>
                  <a:srgbClr val="4A5568"/>
                </a:solidFill>
                <a:latin typeface="맑은 고딕" pitchFamily="34" charset="0"/>
                <a:ea typeface="맑은 고딕" pitchFamily="34" charset="-122"/>
                <a:cs typeface="맑은 고딕" pitchFamily="34" charset="-120"/>
              </a:rPr>
              <a:t>퇴직금을 수령할 때 납부하는 세금. 근속연수가 길수록 공제 혜택이 커져, 급여나 배당에 적용되는 종합소득세보다 세율이 현저히 낮다.</a:t>
            </a:r>
            <a:endParaRPr lang="en-US" sz="950" dirty="0"/>
          </a:p>
        </p:txBody>
      </p:sp>
      <p:sp>
        <p:nvSpPr>
          <p:cNvPr id="14" name="Shape 12"/>
          <p:cNvSpPr/>
          <p:nvPr/>
        </p:nvSpPr>
        <p:spPr>
          <a:xfrm>
            <a:off x="457200" y="2551175"/>
            <a:ext cx="8229600" cy="1113197"/>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5" name="Shape 13"/>
          <p:cNvSpPr/>
          <p:nvPr/>
        </p:nvSpPr>
        <p:spPr>
          <a:xfrm>
            <a:off x="457200" y="2551175"/>
            <a:ext cx="54864" cy="1113197"/>
          </a:xfrm>
          <a:prstGeom prst="rect">
            <a:avLst/>
          </a:prstGeom>
          <a:solidFill>
            <a:srgbClr val="C8962E"/>
          </a:solidFill>
          <a:ln/>
        </p:spPr>
        <p:txBody>
          <a:bodyPr/>
          <a:lstStyle/>
          <a:p>
            <a:endParaRPr lang="ko-KR" altLang="en-US"/>
          </a:p>
        </p:txBody>
      </p:sp>
      <p:sp>
        <p:nvSpPr>
          <p:cNvPr id="16" name="Text 14"/>
          <p:cNvSpPr/>
          <p:nvPr/>
        </p:nvSpPr>
        <p:spPr>
          <a:xfrm>
            <a:off x="640080" y="2596896"/>
            <a:ext cx="7863840" cy="201168"/>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증여재산공제</a:t>
            </a:r>
            <a:endParaRPr lang="en-US" sz="1100" dirty="0"/>
          </a:p>
        </p:txBody>
      </p:sp>
      <p:sp>
        <p:nvSpPr>
          <p:cNvPr id="17" name="Text 15"/>
          <p:cNvSpPr/>
          <p:nvPr/>
        </p:nvSpPr>
        <p:spPr>
          <a:xfrm>
            <a:off x="640080" y="2798064"/>
            <a:ext cx="7863840" cy="484632"/>
          </a:xfrm>
          <a:prstGeom prst="rect">
            <a:avLst/>
          </a:prstGeom>
          <a:noFill/>
          <a:ln/>
        </p:spPr>
        <p:txBody>
          <a:bodyPr wrap="square" rtlCol="0" anchor="t"/>
          <a:lstStyle/>
          <a:p>
            <a:pPr marL="0" indent="0">
              <a:lnSpc>
                <a:spcPct val="125000"/>
              </a:lnSpc>
              <a:buNone/>
            </a:pPr>
            <a:r>
              <a:rPr lang="en-US" sz="950" dirty="0">
                <a:solidFill>
                  <a:srgbClr val="4A5568"/>
                </a:solidFill>
                <a:latin typeface="맑은 고딕" pitchFamily="34" charset="0"/>
                <a:ea typeface="맑은 고딕" pitchFamily="34" charset="-122"/>
                <a:cs typeface="맑은 고딕" pitchFamily="34" charset="-120"/>
              </a:rPr>
              <a:t>증여 시 일정 금액을 과세 대상에서 공제해주는 제도.</a:t>
            </a:r>
            <a:endParaRPr lang="en-US" sz="950" dirty="0"/>
          </a:p>
          <a:p>
            <a:pPr marL="0" indent="0">
              <a:lnSpc>
                <a:spcPct val="125000"/>
              </a:lnSpc>
              <a:buNone/>
            </a:pPr>
            <a:r>
              <a:rPr lang="en-US" sz="950" dirty="0">
                <a:solidFill>
                  <a:srgbClr val="4A5568"/>
                </a:solidFill>
                <a:latin typeface="맑은 고딕" pitchFamily="34" charset="0"/>
                <a:ea typeface="맑은 고딕" pitchFamily="34" charset="-122"/>
                <a:cs typeface="맑은 고딕" pitchFamily="34" charset="-120"/>
              </a:rPr>
              <a:t>- 배우자로부터: 10년간 6억 원</a:t>
            </a:r>
            <a:endParaRPr lang="en-US" sz="950" dirty="0"/>
          </a:p>
          <a:p>
            <a:pPr marL="0" indent="0">
              <a:lnSpc>
                <a:spcPct val="125000"/>
              </a:lnSpc>
              <a:buNone/>
            </a:pPr>
            <a:r>
              <a:rPr lang="en-US" sz="950" dirty="0">
                <a:solidFill>
                  <a:srgbClr val="4A5568"/>
                </a:solidFill>
                <a:latin typeface="맑은 고딕" pitchFamily="34" charset="0"/>
                <a:ea typeface="맑은 고딕" pitchFamily="34" charset="-122"/>
                <a:cs typeface="맑은 고딕" pitchFamily="34" charset="-120"/>
              </a:rPr>
              <a:t>- 직계비속(성인 자녀)에게: 10년간 5,000만 원</a:t>
            </a:r>
            <a:endParaRPr lang="en-US" sz="950" dirty="0"/>
          </a:p>
          <a:p>
            <a:pPr marL="0" indent="0">
              <a:lnSpc>
                <a:spcPct val="125000"/>
              </a:lnSpc>
              <a:buNone/>
            </a:pPr>
            <a:r>
              <a:rPr lang="en-US" sz="950" dirty="0">
                <a:solidFill>
                  <a:srgbClr val="4A5568"/>
                </a:solidFill>
                <a:latin typeface="맑은 고딕" pitchFamily="34" charset="0"/>
                <a:ea typeface="맑은 고딕" pitchFamily="34" charset="-122"/>
                <a:cs typeface="맑은 고딕" pitchFamily="34" charset="-120"/>
              </a:rPr>
              <a:t>- 직계비속(미성년 자녀)에게: 10년간 2,000만 원</a:t>
            </a:r>
            <a:endParaRPr lang="en-US" sz="950" dirty="0"/>
          </a:p>
        </p:txBody>
      </p:sp>
      <p:sp>
        <p:nvSpPr>
          <p:cNvPr id="18" name="Shape 16"/>
          <p:cNvSpPr/>
          <p:nvPr/>
        </p:nvSpPr>
        <p:spPr>
          <a:xfrm>
            <a:off x="457200" y="3785616"/>
            <a:ext cx="8229600" cy="75218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9" name="Shape 17"/>
          <p:cNvSpPr/>
          <p:nvPr/>
        </p:nvSpPr>
        <p:spPr>
          <a:xfrm>
            <a:off x="457200" y="3785616"/>
            <a:ext cx="54864" cy="752180"/>
          </a:xfrm>
          <a:prstGeom prst="rect">
            <a:avLst/>
          </a:prstGeom>
          <a:solidFill>
            <a:srgbClr val="C8962E"/>
          </a:solidFill>
          <a:ln/>
        </p:spPr>
        <p:txBody>
          <a:bodyPr/>
          <a:lstStyle/>
          <a:p>
            <a:endParaRPr lang="ko-KR" altLang="en-US"/>
          </a:p>
        </p:txBody>
      </p:sp>
      <p:sp>
        <p:nvSpPr>
          <p:cNvPr id="20" name="Text 18"/>
          <p:cNvSpPr/>
          <p:nvPr/>
        </p:nvSpPr>
        <p:spPr>
          <a:xfrm>
            <a:off x="640080" y="3831336"/>
            <a:ext cx="7863840" cy="201168"/>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가업상속공제</a:t>
            </a:r>
            <a:endParaRPr lang="en-US" sz="1100" dirty="0"/>
          </a:p>
        </p:txBody>
      </p:sp>
      <p:sp>
        <p:nvSpPr>
          <p:cNvPr id="21" name="Text 19"/>
          <p:cNvSpPr/>
          <p:nvPr/>
        </p:nvSpPr>
        <p:spPr>
          <a:xfrm>
            <a:off x="640080" y="4032504"/>
            <a:ext cx="7863840" cy="301752"/>
          </a:xfrm>
          <a:prstGeom prst="rect">
            <a:avLst/>
          </a:prstGeom>
          <a:noFill/>
          <a:ln/>
        </p:spPr>
        <p:txBody>
          <a:bodyPr wrap="square" rtlCol="0" anchor="t"/>
          <a:lstStyle/>
          <a:p>
            <a:pPr marL="0" indent="0">
              <a:lnSpc>
                <a:spcPct val="125000"/>
              </a:lnSpc>
              <a:buNone/>
            </a:pPr>
            <a:r>
              <a:rPr lang="en-US" sz="950" dirty="0">
                <a:solidFill>
                  <a:srgbClr val="4A5568"/>
                </a:solidFill>
                <a:latin typeface="맑은 고딕" pitchFamily="34" charset="0"/>
                <a:ea typeface="맑은 고딕" pitchFamily="34" charset="-122"/>
                <a:cs typeface="맑은 고딕" pitchFamily="34" charset="-120"/>
              </a:rPr>
              <a:t>일정 요건을 충족하는 중소·중견기업을 상속받을 때, 최대 600억 원까지 상속재산가액에서 공제해주는 제도. 피상속인/상속인 요건, 사후관리 요건 등이 매우 까다로워 실제 적용이 쉽지 않다.</a:t>
            </a:r>
            <a:endParaRPr lang="en-US" sz="950" dirty="0"/>
          </a:p>
        </p:txBody>
      </p:sp>
      <p:sp>
        <p:nvSpPr>
          <p:cNvPr id="22" name="Text 20"/>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23" name="Text 21"/>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24 / 28</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25</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X. 부록 (Appendix)</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FAQ (자주 묻는 질문) (1/2)</a:t>
            </a:r>
            <a:endParaRPr lang="en-US" sz="1400" dirty="0"/>
          </a:p>
        </p:txBody>
      </p:sp>
      <p:sp>
        <p:nvSpPr>
          <p:cNvPr id="6" name="Shape 4"/>
          <p:cNvSpPr/>
          <p:nvPr/>
        </p:nvSpPr>
        <p:spPr>
          <a:xfrm>
            <a:off x="457200" y="1143000"/>
            <a:ext cx="8229600" cy="14173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417320"/>
          </a:xfrm>
          <a:prstGeom prst="rect">
            <a:avLst/>
          </a:prstGeom>
          <a:solidFill>
            <a:srgbClr val="C8962E"/>
          </a:solidFill>
          <a:ln/>
        </p:spPr>
        <p:txBody>
          <a:bodyPr/>
          <a:lstStyle/>
          <a:p>
            <a:endParaRPr lang="ko-KR" altLang="en-US"/>
          </a:p>
        </p:txBody>
      </p:sp>
      <p:sp>
        <p:nvSpPr>
          <p:cNvPr id="8" name="Text 6"/>
          <p:cNvSpPr/>
          <p:nvPr/>
        </p:nvSpPr>
        <p:spPr>
          <a:xfrm>
            <a:off x="640080" y="1188720"/>
            <a:ext cx="7863840" cy="228600"/>
          </a:xfrm>
          <a:prstGeom prst="rect">
            <a:avLst/>
          </a:prstGeom>
          <a:noFill/>
          <a:ln/>
        </p:spPr>
        <p:txBody>
          <a:bodyPr wrap="square"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Q1. '가업상속공제'를 받으면 상속세가 거의 없다는데, 왜 복잡하게 이런 플랜을 짜나요?</a:t>
            </a:r>
            <a:endParaRPr lang="en-US" sz="1000" dirty="0"/>
          </a:p>
        </p:txBody>
      </p:sp>
      <p:sp>
        <p:nvSpPr>
          <p:cNvPr id="9" name="Text 7"/>
          <p:cNvSpPr/>
          <p:nvPr/>
        </p:nvSpPr>
        <p:spPr>
          <a:xfrm>
            <a:off x="640080" y="1444752"/>
            <a:ext cx="7863840" cy="1051560"/>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가업상속공제는 매우 강력한 절세 혜택이지만, '7년 이상 계속 경영', '업종 변경 제한', '고용 유지' 등 지키기 어려운 사후관리 요건이 많습니다. 만약 이 요건을 하나라도 어기면 공제받았던 세금과 이자까지 추징당하는 더 큰 리스크가 있습니다. 본 플랜은 가업상속공제와 상관없이 확실하게 리스크를 통제하고 싶어 하시는 CEO를 위한 가장 현실적인 대안이며, 향후 가업상속공제를 받게 되더라도 상속인들의 생활자금 및 기타 재산에 대한 상속세 재원으로 활용할 수 있어 상호 보완적입니다.</a:t>
            </a:r>
            <a:endParaRPr lang="en-US" sz="950" dirty="0"/>
          </a:p>
        </p:txBody>
      </p:sp>
      <p:sp>
        <p:nvSpPr>
          <p:cNvPr id="10" name="Shape 8"/>
          <p:cNvSpPr/>
          <p:nvPr/>
        </p:nvSpPr>
        <p:spPr>
          <a:xfrm>
            <a:off x="457200" y="2697480"/>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697480"/>
            <a:ext cx="54864" cy="1188720"/>
          </a:xfrm>
          <a:prstGeom prst="rect">
            <a:avLst/>
          </a:prstGeom>
          <a:solidFill>
            <a:srgbClr val="C8962E"/>
          </a:solidFill>
          <a:ln/>
        </p:spPr>
        <p:txBody>
          <a:bodyPr/>
          <a:lstStyle/>
          <a:p>
            <a:endParaRPr lang="ko-KR" altLang="en-US"/>
          </a:p>
        </p:txBody>
      </p:sp>
      <p:sp>
        <p:nvSpPr>
          <p:cNvPr id="12" name="Text 10"/>
          <p:cNvSpPr/>
          <p:nvPr/>
        </p:nvSpPr>
        <p:spPr>
          <a:xfrm>
            <a:off x="640080" y="2743200"/>
            <a:ext cx="7863840" cy="228600"/>
          </a:xfrm>
          <a:prstGeom prst="rect">
            <a:avLst/>
          </a:prstGeom>
          <a:noFill/>
          <a:ln/>
        </p:spPr>
        <p:txBody>
          <a:bodyPr wrap="square"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Q2. 법인 돈으로 보험료를 내는 것이 배임 등 법적인 문제는 없나요?</a:t>
            </a:r>
            <a:endParaRPr lang="en-US" sz="1000" dirty="0"/>
          </a:p>
        </p:txBody>
      </p:sp>
      <p:sp>
        <p:nvSpPr>
          <p:cNvPr id="13" name="Text 11"/>
          <p:cNvSpPr/>
          <p:nvPr/>
        </p:nvSpPr>
        <p:spPr>
          <a:xfrm>
            <a:off x="640080" y="2999232"/>
            <a:ext cx="7863840" cy="822960"/>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전혀 없습니다. 임원의 퇴직금 재원을 마련하는 것은 회사의 정상적인 경영 활동의 일환입니다. 핵심은 ① 정관 및 관련 규정에 근거하고, ② 주주총회 및 이사회 결의 등 적법한 절차를 거치며, ③ 특정인(CEO)에게만 부당한 이익을 주는 것이 아니라 회사의 재무 안정성과 장기적인 승계 계획의 일환임을 명확히 하는 것입니다.</a:t>
            </a:r>
            <a:endParaRPr lang="en-US" sz="95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25 / 28</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26</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X. 부록 (Appendix)</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2. FAQ (자주 묻는 질문) (2/2)</a:t>
            </a:r>
            <a:endParaRPr lang="en-US" sz="1400" dirty="0"/>
          </a:p>
        </p:txBody>
      </p:sp>
      <p:sp>
        <p:nvSpPr>
          <p:cNvPr id="6" name="Shape 4"/>
          <p:cNvSpPr/>
          <p:nvPr/>
        </p:nvSpPr>
        <p:spPr>
          <a:xfrm>
            <a:off x="457200" y="1143000"/>
            <a:ext cx="8229600" cy="1005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005840"/>
          </a:xfrm>
          <a:prstGeom prst="rect">
            <a:avLst/>
          </a:prstGeom>
          <a:solidFill>
            <a:srgbClr val="C8962E"/>
          </a:solidFill>
          <a:ln/>
        </p:spPr>
        <p:txBody>
          <a:bodyPr/>
          <a:lstStyle/>
          <a:p>
            <a:endParaRPr lang="ko-KR" altLang="en-US"/>
          </a:p>
        </p:txBody>
      </p:sp>
      <p:sp>
        <p:nvSpPr>
          <p:cNvPr id="8" name="Text 6"/>
          <p:cNvSpPr/>
          <p:nvPr/>
        </p:nvSpPr>
        <p:spPr>
          <a:xfrm>
            <a:off x="640080" y="1188720"/>
            <a:ext cx="7863840" cy="228600"/>
          </a:xfrm>
          <a:prstGeom prst="rect">
            <a:avLst/>
          </a:prstGeom>
          <a:noFill/>
          <a:ln/>
        </p:spPr>
        <p:txBody>
          <a:bodyPr wrap="square"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Q3. 5년 안에 회사가 어려워져 보험료를 못 내면 어떻게 되나요?</a:t>
            </a:r>
            <a:endParaRPr lang="en-US" sz="1000" dirty="0"/>
          </a:p>
        </p:txBody>
      </p:sp>
      <p:sp>
        <p:nvSpPr>
          <p:cNvPr id="9" name="Text 7"/>
          <p:cNvSpPr/>
          <p:nvPr/>
        </p:nvSpPr>
        <p:spPr>
          <a:xfrm>
            <a:off x="640080" y="1444752"/>
            <a:ext cx="7863840" cy="640080"/>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법인 보험 상품에는 '납입 일시중지', '감액' 등 유연한 기능들이 있습니다. 일시적으로 회사가 어려울 경우, 납입을 잠시 멈추거나 납입액을 줄여서 계약을 유지할 수 있습니다. 최악의 경우 계약을 해지하더라도, 그 시점까지 쌓인 해지환급금은 법인의 자산으로 환입되어 긴급 운영자금으로 활용할 수 있습니다.</a:t>
            </a:r>
            <a:endParaRPr lang="en-US" sz="950" dirty="0"/>
          </a:p>
        </p:txBody>
      </p:sp>
      <p:sp>
        <p:nvSpPr>
          <p:cNvPr id="10" name="Shape 8"/>
          <p:cNvSpPr/>
          <p:nvPr/>
        </p:nvSpPr>
        <p:spPr>
          <a:xfrm>
            <a:off x="457200" y="2286000"/>
            <a:ext cx="8229600" cy="14173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1" name="Shape 9"/>
          <p:cNvSpPr/>
          <p:nvPr/>
        </p:nvSpPr>
        <p:spPr>
          <a:xfrm>
            <a:off x="457200" y="2286000"/>
            <a:ext cx="54864" cy="1417320"/>
          </a:xfrm>
          <a:prstGeom prst="rect">
            <a:avLst/>
          </a:prstGeom>
          <a:solidFill>
            <a:srgbClr val="C8962E"/>
          </a:solidFill>
          <a:ln/>
        </p:spPr>
        <p:txBody>
          <a:bodyPr/>
          <a:lstStyle/>
          <a:p>
            <a:endParaRPr lang="ko-KR" altLang="en-US"/>
          </a:p>
        </p:txBody>
      </p:sp>
      <p:sp>
        <p:nvSpPr>
          <p:cNvPr id="12" name="Text 10"/>
          <p:cNvSpPr/>
          <p:nvPr/>
        </p:nvSpPr>
        <p:spPr>
          <a:xfrm>
            <a:off x="640080" y="2331720"/>
            <a:ext cx="7863840" cy="228600"/>
          </a:xfrm>
          <a:prstGeom prst="rect">
            <a:avLst/>
          </a:prstGeom>
          <a:noFill/>
          <a:ln/>
        </p:spPr>
        <p:txBody>
          <a:bodyPr wrap="square" rtlCol="0" anchor="ctr"/>
          <a:lstStyle/>
          <a:p>
            <a:pPr marL="0" indent="0">
              <a:buNone/>
            </a:pPr>
            <a:r>
              <a:rPr lang="en-US" sz="1000" b="1" dirty="0">
                <a:solidFill>
                  <a:srgbClr val="1B2A4A"/>
                </a:solidFill>
                <a:latin typeface="맑은 고딕" pitchFamily="34" charset="0"/>
                <a:ea typeface="맑은 고딕" pitchFamily="34" charset="-122"/>
                <a:cs typeface="맑은 고딕" pitchFamily="34" charset="-120"/>
              </a:rPr>
              <a:t>Q4. 퇴직 후 자문역을 맡아도 세무적으로 문제가 없나요?</a:t>
            </a:r>
            <a:endParaRPr lang="en-US" sz="1000" dirty="0"/>
          </a:p>
        </p:txBody>
      </p:sp>
      <p:sp>
        <p:nvSpPr>
          <p:cNvPr id="13" name="Text 11"/>
          <p:cNvSpPr/>
          <p:nvPr/>
        </p:nvSpPr>
        <p:spPr>
          <a:xfrm>
            <a:off x="640080" y="2587752"/>
            <a:ext cx="7863840" cy="1051560"/>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'실질'이 가장 중요합니다. 만약 자문역이라는 직함만 있고 실제로는 과거처럼 경영 전반에 관여한다면, 국세청은 퇴직 자체를 부인하고 퇴직금을 급여로 보아 세금을 추징할 수 있습니다. </a:t>
            </a:r>
            <a:r>
              <a:rPr lang="en-US" sz="950" dirty="0" err="1">
                <a:solidFill>
                  <a:srgbClr val="2B2B2B"/>
                </a:solidFill>
                <a:latin typeface="맑은 고딕" pitchFamily="34" charset="0"/>
                <a:ea typeface="맑은 고딕" pitchFamily="34" charset="-122"/>
                <a:cs typeface="맑은 고딕" pitchFamily="34" charset="-120"/>
              </a:rPr>
              <a:t>따라서</a:t>
            </a:r>
            <a:r>
              <a:rPr lang="en-US" sz="950" dirty="0">
                <a:solidFill>
                  <a:srgbClr val="2B2B2B"/>
                </a:solidFill>
                <a:latin typeface="맑은 고딕" pitchFamily="34" charset="0"/>
                <a:ea typeface="맑은 고딕" pitchFamily="34" charset="-122"/>
                <a:cs typeface="맑은 고딕" pitchFamily="34" charset="-120"/>
              </a:rPr>
              <a:t>,</a:t>
            </a:r>
          </a:p>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① 일상적인 경영에서는 완전히 손을 </a:t>
            </a:r>
            <a:r>
              <a:rPr lang="en-US" sz="950" dirty="0" err="1">
                <a:solidFill>
                  <a:srgbClr val="2B2B2B"/>
                </a:solidFill>
                <a:latin typeface="맑은 고딕" pitchFamily="34" charset="0"/>
                <a:ea typeface="맑은 고딕" pitchFamily="34" charset="-122"/>
                <a:cs typeface="맑은 고딕" pitchFamily="34" charset="-120"/>
              </a:rPr>
              <a:t>떼고</a:t>
            </a:r>
            <a:r>
              <a:rPr lang="en-US" sz="950" dirty="0">
                <a:solidFill>
                  <a:srgbClr val="2B2B2B"/>
                </a:solidFill>
                <a:latin typeface="맑은 고딕" pitchFamily="34" charset="0"/>
                <a:ea typeface="맑은 고딕" pitchFamily="34" charset="-122"/>
                <a:cs typeface="맑은 고딕" pitchFamily="34" charset="-120"/>
              </a:rPr>
              <a:t>,</a:t>
            </a:r>
          </a:p>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② 해외 네트워크 관리 등 명확하고 구체적인 자문 역할만 </a:t>
            </a:r>
            <a:r>
              <a:rPr lang="en-US" sz="950" dirty="0" err="1">
                <a:solidFill>
                  <a:srgbClr val="2B2B2B"/>
                </a:solidFill>
                <a:latin typeface="맑은 고딕" pitchFamily="34" charset="0"/>
                <a:ea typeface="맑은 고딕" pitchFamily="34" charset="-122"/>
                <a:cs typeface="맑은 고딕" pitchFamily="34" charset="-120"/>
              </a:rPr>
              <a:t>수행하며</a:t>
            </a:r>
            <a:r>
              <a:rPr lang="en-US" sz="950" dirty="0">
                <a:solidFill>
                  <a:srgbClr val="2B2B2B"/>
                </a:solidFill>
                <a:latin typeface="맑은 고딕" pitchFamily="34" charset="0"/>
                <a:ea typeface="맑은 고딕" pitchFamily="34" charset="-122"/>
                <a:cs typeface="맑은 고딕" pitchFamily="34" charset="-120"/>
              </a:rPr>
              <a:t>,</a:t>
            </a:r>
          </a:p>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③ 자문계약서, 업무일지, 성과보고서 등 객관적인 증빙자료를 반드시 갖춰야 법적, 세무적 리스크를 피할 수 있습니다.</a:t>
            </a:r>
            <a:endParaRPr lang="en-US" sz="950" dirty="0"/>
          </a:p>
        </p:txBody>
      </p:sp>
      <p:sp>
        <p:nvSpPr>
          <p:cNvPr id="14" name="Text 12"/>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5" name="Text 13"/>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26 / 28</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27</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X. 부록 (Appendix)</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관련 법규·출처 (1/2)</a:t>
            </a:r>
            <a:endParaRPr lang="en-US" sz="1400" dirty="0"/>
          </a:p>
        </p:txBody>
      </p:sp>
      <p:sp>
        <p:nvSpPr>
          <p:cNvPr id="6" name="Shape 4"/>
          <p:cNvSpPr/>
          <p:nvPr/>
        </p:nvSpPr>
        <p:spPr>
          <a:xfrm>
            <a:off x="457200" y="1143000"/>
            <a:ext cx="8229600" cy="1005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005840"/>
          </a:xfrm>
          <a:prstGeom prst="rect">
            <a:avLst/>
          </a:prstGeom>
          <a:solidFill>
            <a:srgbClr val="4A5568"/>
          </a:solidFill>
          <a:ln/>
        </p:spPr>
        <p:txBody>
          <a:bodyPr/>
          <a:lstStyle/>
          <a:p>
            <a:endParaRPr lang="ko-KR" altLang="en-US"/>
          </a:p>
        </p:txBody>
      </p:sp>
      <p:sp>
        <p:nvSpPr>
          <p:cNvPr id="8" name="Text 6"/>
          <p:cNvSpPr/>
          <p:nvPr/>
        </p:nvSpPr>
        <p:spPr>
          <a:xfrm>
            <a:off x="640080" y="1188720"/>
            <a:ext cx="786384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임원 퇴직금의 손금 산입</a:t>
            </a:r>
            <a:endParaRPr lang="en-US" sz="1100" dirty="0"/>
          </a:p>
        </p:txBody>
      </p:sp>
      <p:sp>
        <p:nvSpPr>
          <p:cNvPr id="9" name="Text 7"/>
          <p:cNvSpPr/>
          <p:nvPr/>
        </p:nvSpPr>
        <p:spPr>
          <a:xfrm>
            <a:off x="640080" y="1417320"/>
            <a:ext cx="7863840" cy="182880"/>
          </a:xfrm>
          <a:prstGeom prst="rect">
            <a:avLst/>
          </a:prstGeom>
          <a:noFill/>
          <a:ln/>
        </p:spPr>
        <p:txBody>
          <a:bodyPr wrap="square"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근거: 법인세법 시행령 제44조 (퇴직급여의 손금불산입)</a:t>
            </a:r>
            <a:endParaRPr lang="en-US" sz="900" dirty="0"/>
          </a:p>
        </p:txBody>
      </p:sp>
      <p:sp>
        <p:nvSpPr>
          <p:cNvPr id="10" name="Text 8"/>
          <p:cNvSpPr/>
          <p:nvPr/>
        </p:nvSpPr>
        <p:spPr>
          <a:xfrm>
            <a:off x="640080" y="1618488"/>
            <a:ext cx="7863840" cy="457200"/>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정관에 퇴직급여로 지급할 금액이 정하여진 경우, 해당 규정에 의한 금액을 법인의 비용(손금)으로 인정한다고 규정. 본 플랜의 Stage 1(퇴직금 마련)의 핵심 법적 근거입니다.</a:t>
            </a:r>
            <a:endParaRPr lang="en-US" sz="950" dirty="0"/>
          </a:p>
        </p:txBody>
      </p:sp>
      <p:sp>
        <p:nvSpPr>
          <p:cNvPr id="11" name="Shape 9"/>
          <p:cNvSpPr/>
          <p:nvPr/>
        </p:nvSpPr>
        <p:spPr>
          <a:xfrm>
            <a:off x="457200" y="2286000"/>
            <a:ext cx="8229600" cy="100584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2286000"/>
            <a:ext cx="54864" cy="1005840"/>
          </a:xfrm>
          <a:prstGeom prst="rect">
            <a:avLst/>
          </a:prstGeom>
          <a:solidFill>
            <a:srgbClr val="4A5568"/>
          </a:solidFill>
          <a:ln/>
        </p:spPr>
        <p:txBody>
          <a:bodyPr/>
          <a:lstStyle/>
          <a:p>
            <a:endParaRPr lang="ko-KR" altLang="en-US"/>
          </a:p>
        </p:txBody>
      </p:sp>
      <p:sp>
        <p:nvSpPr>
          <p:cNvPr id="13" name="Text 11"/>
          <p:cNvSpPr/>
          <p:nvPr/>
        </p:nvSpPr>
        <p:spPr>
          <a:xfrm>
            <a:off x="640080" y="2331720"/>
            <a:ext cx="786384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퇴직소득의 과세</a:t>
            </a:r>
            <a:endParaRPr lang="en-US" sz="1100" dirty="0"/>
          </a:p>
        </p:txBody>
      </p:sp>
      <p:sp>
        <p:nvSpPr>
          <p:cNvPr id="14" name="Text 12"/>
          <p:cNvSpPr/>
          <p:nvPr/>
        </p:nvSpPr>
        <p:spPr>
          <a:xfrm>
            <a:off x="640080" y="2560320"/>
            <a:ext cx="7863840" cy="182880"/>
          </a:xfrm>
          <a:prstGeom prst="rect">
            <a:avLst/>
          </a:prstGeom>
          <a:noFill/>
          <a:ln/>
        </p:spPr>
        <p:txBody>
          <a:bodyPr wrap="square"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근거: 소득세법 제146조 (퇴직소득에 대한 원천징수시기와 방법)</a:t>
            </a:r>
            <a:endParaRPr lang="en-US" sz="900" dirty="0"/>
          </a:p>
        </p:txBody>
      </p:sp>
      <p:sp>
        <p:nvSpPr>
          <p:cNvPr id="15" name="Text 13"/>
          <p:cNvSpPr/>
          <p:nvPr/>
        </p:nvSpPr>
        <p:spPr>
          <a:xfrm>
            <a:off x="640080" y="2761488"/>
            <a:ext cx="7863840" cy="457200"/>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퇴직소득은 다른 소득과 합산하지 않고 분류과세하며, 장기 근속 시 실효세율이 현저히 낮아집니다.</a:t>
            </a:r>
            <a:endParaRPr lang="en-US" sz="950" dirty="0"/>
          </a:p>
        </p:txBody>
      </p:sp>
      <p:sp>
        <p:nvSpPr>
          <p:cNvPr id="16" name="Text 14"/>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7" name="Text 15"/>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27 / 28</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A4A"/>
          </a:solidFill>
          <a:ln w="12700">
            <a:solidFill>
              <a:srgbClr val="1B2A4A"/>
            </a:solidFill>
            <a:prstDash val="solid"/>
          </a:ln>
        </p:spPr>
        <p:txBody>
          <a:bodyPr/>
          <a:lstStyle/>
          <a:p>
            <a:endParaRPr lang="ko-KR" altLang="en-US"/>
          </a:p>
        </p:txBody>
      </p:sp>
      <p:sp>
        <p:nvSpPr>
          <p:cNvPr id="3" name="Text 1"/>
          <p:cNvSpPr/>
          <p:nvPr/>
        </p:nvSpPr>
        <p:spPr>
          <a:xfrm>
            <a:off x="137160" y="45720"/>
            <a:ext cx="411480" cy="411480"/>
          </a:xfrm>
          <a:prstGeom prst="rect">
            <a:avLst/>
          </a:prstGeom>
          <a:noFill/>
          <a:ln/>
        </p:spPr>
        <p:txBody>
          <a:bodyPr wrap="square" lIns="0" tIns="0" rIns="0" bIns="0" rtlCol="0" anchor="ctr"/>
          <a:lstStyle/>
          <a:p>
            <a:pPr marL="0" indent="0" algn="ctr">
              <a:buNone/>
            </a:pPr>
            <a:r>
              <a:rPr lang="en-US" sz="900" b="1" dirty="0">
                <a:solidFill>
                  <a:srgbClr val="C8962E"/>
                </a:solidFill>
                <a:latin typeface="Georgia" pitchFamily="34" charset="0"/>
                <a:ea typeface="Georgia" pitchFamily="34" charset="-122"/>
                <a:cs typeface="Georgia" pitchFamily="34" charset="-120"/>
              </a:rPr>
              <a:t>28</a:t>
            </a:r>
            <a:endParaRPr lang="en-US" sz="900" dirty="0"/>
          </a:p>
        </p:txBody>
      </p:sp>
      <p:sp>
        <p:nvSpPr>
          <p:cNvPr id="4" name="Text 2"/>
          <p:cNvSpPr/>
          <p:nvPr/>
        </p:nvSpPr>
        <p:spPr>
          <a:xfrm>
            <a:off x="594360" y="45720"/>
            <a:ext cx="836676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맑은 고딕" pitchFamily="34" charset="0"/>
                <a:ea typeface="맑은 고딕" pitchFamily="34" charset="-122"/>
                <a:cs typeface="맑은 고딕" pitchFamily="34" charset="-120"/>
              </a:rPr>
              <a:t>X. 부록 (Appendix)</a:t>
            </a:r>
            <a:endParaRPr lang="en-US" sz="1600" dirty="0"/>
          </a:p>
        </p:txBody>
      </p:sp>
      <p:sp>
        <p:nvSpPr>
          <p:cNvPr id="5" name="Text 3"/>
          <p:cNvSpPr/>
          <p:nvPr/>
        </p:nvSpPr>
        <p:spPr>
          <a:xfrm>
            <a:off x="457200" y="685800"/>
            <a:ext cx="8229600" cy="320040"/>
          </a:xfrm>
          <a:prstGeom prst="rect">
            <a:avLst/>
          </a:prstGeom>
          <a:noFill/>
          <a:ln/>
        </p:spPr>
        <p:txBody>
          <a:bodyPr wrap="square" rtlCol="0" anchor="ctr"/>
          <a:lstStyle/>
          <a:p>
            <a:pPr marL="0" indent="0">
              <a:buNone/>
            </a:pPr>
            <a:r>
              <a:rPr lang="en-US" sz="1400" b="1" dirty="0">
                <a:solidFill>
                  <a:srgbClr val="1B2A4A"/>
                </a:solidFill>
                <a:latin typeface="맑은 고딕" pitchFamily="34" charset="0"/>
                <a:ea typeface="맑은 고딕" pitchFamily="34" charset="-122"/>
                <a:cs typeface="맑은 고딕" pitchFamily="34" charset="-120"/>
              </a:rPr>
              <a:t>3. 관련 법규·출처 (2/2)</a:t>
            </a:r>
            <a:endParaRPr lang="en-US" sz="1400" dirty="0"/>
          </a:p>
        </p:txBody>
      </p:sp>
      <p:sp>
        <p:nvSpPr>
          <p:cNvPr id="6" name="Shape 4"/>
          <p:cNvSpPr/>
          <p:nvPr/>
        </p:nvSpPr>
        <p:spPr>
          <a:xfrm>
            <a:off x="457200" y="1143000"/>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7" name="Shape 5"/>
          <p:cNvSpPr/>
          <p:nvPr/>
        </p:nvSpPr>
        <p:spPr>
          <a:xfrm>
            <a:off x="457200" y="1143000"/>
            <a:ext cx="54864" cy="1188720"/>
          </a:xfrm>
          <a:prstGeom prst="rect">
            <a:avLst/>
          </a:prstGeom>
          <a:solidFill>
            <a:srgbClr val="4A5568"/>
          </a:solidFill>
          <a:ln/>
        </p:spPr>
        <p:txBody>
          <a:bodyPr/>
          <a:lstStyle/>
          <a:p>
            <a:endParaRPr lang="ko-KR" altLang="en-US"/>
          </a:p>
        </p:txBody>
      </p:sp>
      <p:sp>
        <p:nvSpPr>
          <p:cNvPr id="8" name="Text 6"/>
          <p:cNvSpPr/>
          <p:nvPr/>
        </p:nvSpPr>
        <p:spPr>
          <a:xfrm>
            <a:off x="640080" y="1188720"/>
            <a:ext cx="786384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상속재산으로 보는 보험금</a:t>
            </a:r>
            <a:endParaRPr lang="en-US" sz="1100" dirty="0"/>
          </a:p>
        </p:txBody>
      </p:sp>
      <p:sp>
        <p:nvSpPr>
          <p:cNvPr id="9" name="Text 7"/>
          <p:cNvSpPr/>
          <p:nvPr/>
        </p:nvSpPr>
        <p:spPr>
          <a:xfrm>
            <a:off x="640080" y="1417320"/>
            <a:ext cx="7863840" cy="182880"/>
          </a:xfrm>
          <a:prstGeom prst="rect">
            <a:avLst/>
          </a:prstGeom>
          <a:noFill/>
          <a:ln/>
        </p:spPr>
        <p:txBody>
          <a:bodyPr wrap="square"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근거: 상속세 및 증여세법 제8조 (상속재산으로 보는 보험금)</a:t>
            </a:r>
            <a:endParaRPr lang="en-US" sz="900" dirty="0"/>
          </a:p>
        </p:txBody>
      </p:sp>
      <p:sp>
        <p:nvSpPr>
          <p:cNvPr id="10" name="Text 8"/>
          <p:cNvSpPr/>
          <p:nvPr/>
        </p:nvSpPr>
        <p:spPr>
          <a:xfrm>
            <a:off x="640080" y="1618488"/>
            <a:ext cx="7863840" cy="667512"/>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실질적으로 피상속인이 보험료를 납부한 보험금은 상속재산으로 봅니다. 반대로, 상속인(자녀)이 본인의 재산(증여받아 세금을 낸 돈)으로 보험료를 납부했다는 것이 입증되면, 해당 사망보험금은 상속인의 고유재산으로 인정받아 상속세 과세 대상에서 제외됩니다.</a:t>
            </a:r>
            <a:endParaRPr lang="en-US" sz="950" dirty="0"/>
          </a:p>
        </p:txBody>
      </p:sp>
      <p:sp>
        <p:nvSpPr>
          <p:cNvPr id="11" name="Shape 9"/>
          <p:cNvSpPr/>
          <p:nvPr/>
        </p:nvSpPr>
        <p:spPr>
          <a:xfrm>
            <a:off x="457200" y="2468880"/>
            <a:ext cx="8229600" cy="1188720"/>
          </a:xfrm>
          <a:prstGeom prst="rect">
            <a:avLst/>
          </a:prstGeom>
          <a:solidFill>
            <a:srgbClr val="F7F8FA"/>
          </a:solidFill>
          <a:ln/>
          <a:effectLst>
            <a:outerShdw blurRad="50800" dist="25400" dir="8100000" algn="bl" rotWithShape="0">
              <a:srgbClr val="000000">
                <a:alpha val="10000"/>
              </a:srgbClr>
            </a:outerShdw>
          </a:effectLst>
        </p:spPr>
        <p:txBody>
          <a:bodyPr/>
          <a:lstStyle/>
          <a:p>
            <a:endParaRPr lang="ko-KR" altLang="en-US"/>
          </a:p>
        </p:txBody>
      </p:sp>
      <p:sp>
        <p:nvSpPr>
          <p:cNvPr id="12" name="Shape 10"/>
          <p:cNvSpPr/>
          <p:nvPr/>
        </p:nvSpPr>
        <p:spPr>
          <a:xfrm>
            <a:off x="457200" y="2468880"/>
            <a:ext cx="54864" cy="1188720"/>
          </a:xfrm>
          <a:prstGeom prst="rect">
            <a:avLst/>
          </a:prstGeom>
          <a:solidFill>
            <a:srgbClr val="4A5568"/>
          </a:solidFill>
          <a:ln/>
        </p:spPr>
        <p:txBody>
          <a:bodyPr/>
          <a:lstStyle/>
          <a:p>
            <a:endParaRPr lang="ko-KR" altLang="en-US"/>
          </a:p>
        </p:txBody>
      </p:sp>
      <p:sp>
        <p:nvSpPr>
          <p:cNvPr id="13" name="Text 11"/>
          <p:cNvSpPr/>
          <p:nvPr/>
        </p:nvSpPr>
        <p:spPr>
          <a:xfrm>
            <a:off x="640080" y="2514600"/>
            <a:ext cx="7863840" cy="228600"/>
          </a:xfrm>
          <a:prstGeom prst="rect">
            <a:avLst/>
          </a:prstGeom>
          <a:noFill/>
          <a:ln/>
        </p:spPr>
        <p:txBody>
          <a:bodyPr wrap="square" rtlCol="0" anchor="ctr"/>
          <a:lstStyle/>
          <a:p>
            <a:pPr marL="0" indent="0">
              <a:buNone/>
            </a:pPr>
            <a:r>
              <a:rPr lang="en-US" sz="1100" b="1" dirty="0">
                <a:solidFill>
                  <a:srgbClr val="1B2A4A"/>
                </a:solidFill>
                <a:latin typeface="맑은 고딕" pitchFamily="34" charset="0"/>
                <a:ea typeface="맑은 고딕" pitchFamily="34" charset="-122"/>
                <a:cs typeface="맑은 고딕" pitchFamily="34" charset="-120"/>
              </a:rPr>
              <a:t>실질과세의 원칙</a:t>
            </a:r>
            <a:endParaRPr lang="en-US" sz="1100" dirty="0"/>
          </a:p>
        </p:txBody>
      </p:sp>
      <p:sp>
        <p:nvSpPr>
          <p:cNvPr id="14" name="Text 12"/>
          <p:cNvSpPr/>
          <p:nvPr/>
        </p:nvSpPr>
        <p:spPr>
          <a:xfrm>
            <a:off x="640080" y="2743200"/>
            <a:ext cx="7863840" cy="182880"/>
          </a:xfrm>
          <a:prstGeom prst="rect">
            <a:avLst/>
          </a:prstGeom>
          <a:noFill/>
          <a:ln/>
        </p:spPr>
        <p:txBody>
          <a:bodyPr wrap="square" rtlCol="0" anchor="ctr"/>
          <a:lstStyle/>
          <a:p>
            <a:pPr marL="0" indent="0">
              <a:buNone/>
            </a:pPr>
            <a:r>
              <a:rPr lang="en-US" sz="900" b="1" dirty="0">
                <a:solidFill>
                  <a:srgbClr val="1B2A4A"/>
                </a:solidFill>
                <a:latin typeface="맑은 고딕" pitchFamily="34" charset="0"/>
                <a:ea typeface="맑은 고딕" pitchFamily="34" charset="-122"/>
                <a:cs typeface="맑은 고딕" pitchFamily="34" charset="-120"/>
              </a:rPr>
              <a:t>근거: 국세기본법 제14조 (실질과세)</a:t>
            </a:r>
            <a:endParaRPr lang="en-US" sz="900" dirty="0"/>
          </a:p>
        </p:txBody>
      </p:sp>
      <p:sp>
        <p:nvSpPr>
          <p:cNvPr id="15" name="Text 13"/>
          <p:cNvSpPr/>
          <p:nvPr/>
        </p:nvSpPr>
        <p:spPr>
          <a:xfrm>
            <a:off x="640080" y="2944368"/>
            <a:ext cx="7863840" cy="667512"/>
          </a:xfrm>
          <a:prstGeom prst="rect">
            <a:avLst/>
          </a:prstGeom>
          <a:noFill/>
          <a:ln/>
        </p:spPr>
        <p:txBody>
          <a:bodyPr wrap="square" rtlCol="0" anchor="t"/>
          <a:lstStyle/>
          <a:p>
            <a:pPr marL="0" indent="0">
              <a:lnSpc>
                <a:spcPct val="125000"/>
              </a:lnSpc>
              <a:buNone/>
            </a:pPr>
            <a:r>
              <a:rPr lang="en-US" sz="950" dirty="0">
                <a:solidFill>
                  <a:srgbClr val="2B2B2B"/>
                </a:solidFill>
                <a:latin typeface="맑은 고딕" pitchFamily="34" charset="0"/>
                <a:ea typeface="맑은 고딕" pitchFamily="34" charset="-122"/>
                <a:cs typeface="맑은 고딕" pitchFamily="34" charset="-120"/>
              </a:rPr>
              <a:t>과세의 대상이 되는 소득, 수익, 재산, 행위 또는 거래의 명칭이나 형식에 관계없이 그 실질 내용에 따라 과세한다는 대원칙입니다. 본 보고서의 모든 플랜은 이 원칙을 준수하는 것을 전제로 합니다.</a:t>
            </a:r>
            <a:endParaRPr lang="en-US" sz="950" dirty="0"/>
          </a:p>
        </p:txBody>
      </p:sp>
      <p:sp>
        <p:nvSpPr>
          <p:cNvPr id="16" name="Text 14"/>
          <p:cNvSpPr/>
          <p:nvPr/>
        </p:nvSpPr>
        <p:spPr>
          <a:xfrm>
            <a:off x="457200" y="3931920"/>
            <a:ext cx="8229600" cy="320040"/>
          </a:xfrm>
          <a:prstGeom prst="rect">
            <a:avLst/>
          </a:prstGeom>
          <a:noFill/>
          <a:ln/>
        </p:spPr>
        <p:txBody>
          <a:bodyPr wrap="square" rtlCol="0" anchor="t"/>
          <a:lstStyle/>
          <a:p>
            <a:pPr marL="0" indent="0">
              <a:buNone/>
            </a:pPr>
            <a:r>
              <a:rPr lang="en-US" sz="900" i="1" dirty="0">
                <a:solidFill>
                  <a:srgbClr val="4A5568"/>
                </a:solidFill>
                <a:latin typeface="맑은 고딕" pitchFamily="34" charset="0"/>
                <a:ea typeface="맑은 고딕" pitchFamily="34" charset="-122"/>
                <a:cs typeface="맑은 고딕" pitchFamily="34" charset="-120"/>
              </a:rPr>
              <a:t>※ '4. CEO 레거시 플랜 Quick 설계기' 및 '5. CEO 자금 인출 경로 비교기'는 원본 HTML 인터랙티브 계산기를 활용해 주세요.</a:t>
            </a:r>
            <a:endParaRPr lang="en-US" sz="900" dirty="0"/>
          </a:p>
        </p:txBody>
      </p:sp>
      <p:sp>
        <p:nvSpPr>
          <p:cNvPr id="17" name="Text 15"/>
          <p:cNvSpPr/>
          <p:nvPr/>
        </p:nvSpPr>
        <p:spPr>
          <a:xfrm>
            <a:off x="457200" y="4919472"/>
            <a:ext cx="6400800" cy="182880"/>
          </a:xfrm>
          <a:prstGeom prst="rect">
            <a:avLst/>
          </a:prstGeom>
          <a:noFill/>
          <a:ln/>
        </p:spPr>
        <p:txBody>
          <a:bodyPr wrap="square" lIns="0" tIns="0" rIns="0" bIns="0" rtlCol="0" anchor="ctr"/>
          <a:lstStyle/>
          <a:p>
            <a:pPr marL="0" indent="0" algn="l">
              <a:buNone/>
            </a:pPr>
            <a:r>
              <a:rPr lang="en-US" sz="800" dirty="0">
                <a:solidFill>
                  <a:srgbClr val="4A5568"/>
                </a:solidFill>
                <a:latin typeface="맑은 고딕" pitchFamily="34" charset="0"/>
                <a:ea typeface="맑은 고딕" pitchFamily="34" charset="-122"/>
                <a:cs typeface="맑은 고딕" pitchFamily="34" charset="-120"/>
              </a:rPr>
              <a:t>CEO 은퇴 준비와 자산이전 전략</a:t>
            </a:r>
            <a:endParaRPr lang="en-US" sz="800" dirty="0"/>
          </a:p>
        </p:txBody>
      </p:sp>
      <p:sp>
        <p:nvSpPr>
          <p:cNvPr id="18" name="Text 16"/>
          <p:cNvSpPr/>
          <p:nvPr/>
        </p:nvSpPr>
        <p:spPr>
          <a:xfrm>
            <a:off x="7772400" y="4919472"/>
            <a:ext cx="914400" cy="182880"/>
          </a:xfrm>
          <a:prstGeom prst="rect">
            <a:avLst/>
          </a:prstGeom>
          <a:noFill/>
          <a:ln/>
        </p:spPr>
        <p:txBody>
          <a:bodyPr wrap="square" lIns="0" tIns="0" rIns="0" bIns="0" rtlCol="0" anchor="ctr"/>
          <a:lstStyle/>
          <a:p>
            <a:pPr marL="0" indent="0" algn="r">
              <a:buNone/>
            </a:pPr>
            <a:r>
              <a:rPr lang="en-US" sz="800" dirty="0">
                <a:solidFill>
                  <a:srgbClr val="4A5568"/>
                </a:solidFill>
                <a:latin typeface="Georgia" pitchFamily="34" charset="0"/>
                <a:ea typeface="Georgia" pitchFamily="34" charset="-122"/>
                <a:cs typeface="Georgia" pitchFamily="34" charset="-120"/>
              </a:rPr>
              <a:t>28 / 28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4392</Words>
  <Application>Microsoft Office PowerPoint</Application>
  <PresentationFormat>화면 슬라이드 쇼(16:9)</PresentationFormat>
  <Paragraphs>464</Paragraphs>
  <Slides>28</Slides>
  <Notes>28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28</vt:i4>
      </vt:variant>
    </vt:vector>
  </HeadingPairs>
  <TitlesOfParts>
    <vt:vector size="32" baseType="lpstr">
      <vt:lpstr>맑은 고딕</vt: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에프피센터 한국</cp:lastModifiedBy>
  <cp:revision>4</cp:revision>
  <dcterms:created xsi:type="dcterms:W3CDTF">2026-02-27T01:36:57Z</dcterms:created>
  <dcterms:modified xsi:type="dcterms:W3CDTF">2026-02-27T04:31:22Z</dcterms:modified>
</cp:coreProperties>
</file>