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105937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457200"/>
          </a:xfrm>
          <a:prstGeom prst="rect">
            <a:avLst/>
          </a:prstGeom>
          <a:noFill/>
          <a:ln/>
        </p:spPr>
        <p:txBody>
          <a:bodyPr wrap="square" rtlCol="0" anchor="ctr"/>
          <a:lstStyle/>
          <a:p>
            <a:pPr marL="0" indent="0" algn="ctr">
              <a:buNone/>
            </a:pPr>
            <a:r>
              <a:rPr lang="en-US" sz="1600" dirty="0">
                <a:solidFill>
                  <a:srgbClr val="CBD5E1"/>
                </a:solidFill>
                <a:latin typeface="맑은 고딕" pitchFamily="34" charset="0"/>
                <a:ea typeface="맑은 고딕" pitchFamily="34" charset="-122"/>
                <a:cs typeface="맑은 고딕" pitchFamily="34" charset="-120"/>
              </a:rPr>
              <a:t>기업의 지속가능 성장 및 CEO 자산가치 극대화를 위한</a:t>
            </a:r>
            <a:endParaRPr lang="en-US" sz="1600" dirty="0"/>
          </a:p>
        </p:txBody>
      </p:sp>
      <p:sp>
        <p:nvSpPr>
          <p:cNvPr id="3" name="Text 1"/>
          <p:cNvSpPr/>
          <p:nvPr/>
        </p:nvSpPr>
        <p:spPr>
          <a:xfrm>
            <a:off x="731520" y="1463040"/>
            <a:ext cx="7680960" cy="914400"/>
          </a:xfrm>
          <a:prstGeom prst="rect">
            <a:avLst/>
          </a:prstGeom>
          <a:noFill/>
          <a:ln/>
        </p:spPr>
        <p:txBody>
          <a:bodyPr wrap="square" rtlCol="0" anchor="ctr"/>
          <a:lstStyle/>
          <a:p>
            <a:pPr marL="0" indent="0" algn="ctr">
              <a:buNone/>
            </a:pPr>
            <a:r>
              <a:rPr lang="en-US" sz="3600" b="1" dirty="0">
                <a:solidFill>
                  <a:srgbClr val="C8962E"/>
                </a:solidFill>
                <a:latin typeface="맑은 고딕" pitchFamily="34" charset="0"/>
                <a:ea typeface="맑은 고딕" pitchFamily="34" charset="-122"/>
                <a:cs typeface="맑은 고딕" pitchFamily="34" charset="-120"/>
              </a:rPr>
              <a:t>『컨설팅 특급보고서』</a:t>
            </a:r>
            <a:endParaRPr lang="en-US" sz="3600" dirty="0"/>
          </a:p>
        </p:txBody>
      </p:sp>
      <p:sp>
        <p:nvSpPr>
          <p:cNvPr id="4" name="Shape 2"/>
          <p:cNvSpPr/>
          <p:nvPr/>
        </p:nvSpPr>
        <p:spPr>
          <a:xfrm>
            <a:off x="3200400" y="2468880"/>
            <a:ext cx="2743200" cy="27432"/>
          </a:xfrm>
          <a:prstGeom prst="rect">
            <a:avLst/>
          </a:prstGeom>
          <a:solidFill>
            <a:srgbClr val="C8962E"/>
          </a:solidFill>
          <a:ln/>
        </p:spPr>
        <p:txBody>
          <a:bodyPr/>
          <a:lstStyle/>
          <a:p>
            <a:endParaRPr lang="ko-KR" altLang="en-US"/>
          </a:p>
        </p:txBody>
      </p:sp>
      <p:sp>
        <p:nvSpPr>
          <p:cNvPr id="5" name="Text 3"/>
          <p:cNvSpPr/>
          <p:nvPr/>
        </p:nvSpPr>
        <p:spPr>
          <a:xfrm>
            <a:off x="731520" y="2743200"/>
            <a:ext cx="7680960" cy="548640"/>
          </a:xfrm>
          <a:prstGeom prst="rect">
            <a:avLst/>
          </a:prstGeom>
          <a:noFill/>
          <a:ln/>
        </p:spPr>
        <p:txBody>
          <a:bodyPr wrap="square" rtlCol="0" anchor="ctr"/>
          <a:lstStyle/>
          <a:p>
            <a:pPr marL="0" indent="0" algn="ctr">
              <a:buNone/>
            </a:pPr>
            <a:r>
              <a:rPr lang="en-US" sz="1600" dirty="0">
                <a:solidFill>
                  <a:srgbClr val="CBD5E1"/>
                </a:solidFill>
                <a:latin typeface="맑은 고딕" pitchFamily="34" charset="0"/>
                <a:ea typeface="맑은 고딕" pitchFamily="34" charset="-122"/>
                <a:cs typeface="맑은 고딕" pitchFamily="34" charset="-120"/>
              </a:rPr>
              <a:t>컨설팅 주제: CEO 사망 시 회사를 지키는 보험 설계 (Key-Man 보험)</a:t>
            </a:r>
            <a:endParaRPr lang="en-US" sz="1600" dirty="0"/>
          </a:p>
        </p:txBody>
      </p:sp>
      <p:sp>
        <p:nvSpPr>
          <p:cNvPr id="6" name="Text 4"/>
          <p:cNvSpPr/>
          <p:nvPr/>
        </p:nvSpPr>
        <p:spPr>
          <a:xfrm>
            <a:off x="731520" y="4709160"/>
            <a:ext cx="7680960" cy="274320"/>
          </a:xfrm>
          <a:prstGeom prst="rect">
            <a:avLst/>
          </a:prstGeom>
          <a:noFill/>
          <a:ln/>
        </p:spPr>
        <p:txBody>
          <a:bodyPr wrap="square" lIns="0" tIns="0" rIns="0" bIns="0" rtlCol="0" anchor="ctr"/>
          <a:lstStyle/>
          <a:p>
            <a:pPr marL="0" indent="0" algn="ctr">
              <a:buNone/>
            </a:pPr>
            <a:r>
              <a:rPr lang="en-US" sz="750" i="1" dirty="0">
                <a:solidFill>
                  <a:srgbClr val="64748B"/>
                </a:solidFill>
              </a:rPr>
              <a:t>본 자료는 AI 보조 도구를 활용하여 생성되었습니다. 실제 적용 전 전문가 확인이 필요합니다.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서론: 위대한 기업의 조건 - '영웅' 없이도 흔들리지 않는 시스템을 구축하라</a:t>
            </a:r>
            <a:endParaRPr lang="en-US" sz="1500" dirty="0"/>
          </a:p>
        </p:txBody>
      </p:sp>
      <p:sp>
        <p:nvSpPr>
          <p:cNvPr id="5" name="Text 3"/>
          <p:cNvSpPr/>
          <p:nvPr/>
        </p:nvSpPr>
        <p:spPr>
          <a:xfrm>
            <a:off x="457200" y="685800"/>
            <a:ext cx="8229600" cy="77724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대표님, 지난 15년간 불모지 같던 신재생에너지 시장에서 (주)솔라테크 코리아를 연 매출 250억 원의 강소기업으로 키워내신 그 혜안과 열정에 깊은 경의를 표합니다. 대표님의 존재 자체가 회사의 가장 강력한 엔진이자 핵심 경쟁력임은 그 누구도 부인할 수 없는 사실입니다.</a:t>
            </a:r>
            <a:endParaRPr lang="en-US" sz="1100" dirty="0"/>
          </a:p>
        </p:txBody>
      </p:sp>
      <p:sp>
        <p:nvSpPr>
          <p:cNvPr id="6" name="Text 4"/>
          <p:cNvSpPr/>
          <p:nvPr/>
        </p:nvSpPr>
        <p:spPr>
          <a:xfrm>
            <a:off x="457200" y="1554480"/>
            <a:ext cx="8229600" cy="91440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그러나 역설적이게도, 바로 그 위대함이 오늘날 회사가 마주한 가장 치명적인 리스크가 되었습니다. 대표님의 역량과 신용에 모든 것이 집중된 현재의 구조는, 예기치 못한 유고 상황 발생 시 회사의 존립 자체를 위협하는 '시한폭탄'과 같습니다. 본 보고서는 이처럼 성공한 기업일수록 외면하기 쉬운 'CEO 리스크'라는 그림자를 수면 위로 드러내고, 그 충격을 정량적으로 분석하여 구체적인 해결책을 제시하고자 탄생했습니다.</a:t>
            </a:r>
            <a:endParaRPr lang="en-US" sz="1100" dirty="0"/>
          </a:p>
        </p:txBody>
      </p:sp>
      <p:sp>
        <p:nvSpPr>
          <p:cNvPr id="7" name="Text 5"/>
          <p:cNvSpPr/>
          <p:nvPr/>
        </p:nvSpPr>
        <p:spPr>
          <a:xfrm>
            <a:off x="457200" y="2560320"/>
            <a:ext cx="8229600" cy="86868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핵심은 간단합니다. 대표님의 부재가 야기할 </a:t>
            </a:r>
            <a:r>
              <a:rPr lang="en-US" sz="1100" b="1" dirty="0">
                <a:solidFill>
                  <a:srgbClr val="2B2B2B"/>
                </a:solidFill>
                <a:latin typeface="맑은 고딕" pitchFamily="34" charset="0"/>
                <a:ea typeface="맑은 고딕" pitchFamily="34" charset="-122"/>
                <a:cs typeface="맑은 고딕" pitchFamily="34" charset="-120"/>
              </a:rPr>
              <a:t>약 150억 원 규모의 '재무 블랙홀'</a:t>
            </a:r>
            <a:r>
              <a:rPr lang="en-US" sz="1100" dirty="0">
                <a:solidFill>
                  <a:srgbClr val="2B2B2B"/>
                </a:solidFill>
                <a:latin typeface="맑은 고딕" pitchFamily="34" charset="0"/>
                <a:ea typeface="맑은 고딕" pitchFamily="34" charset="-122"/>
                <a:cs typeface="맑은 고딕" pitchFamily="34" charset="-120"/>
              </a:rPr>
              <a:t>을 어떻게 막을 것인가. 본 컨설팅은 단순히 보험 상품을 제안하는 것을 넘어, 법인을 주체로 한 'Key-Man 보험'이라는 전략적 도구를 활용하여 '통제 불가능한 CEO 리스크'를 '회사가 통제 가능한 비상 자산'으로 전환하는 재무적 방화벽 구축 플랜을 제시합니다.</a:t>
            </a:r>
            <a:endParaRPr lang="en-US" sz="1100" dirty="0"/>
          </a:p>
        </p:txBody>
      </p:sp>
      <p:sp>
        <p:nvSpPr>
          <p:cNvPr id="8" name="Text 6"/>
          <p:cNvSpPr/>
          <p:nvPr/>
        </p:nvSpPr>
        <p:spPr>
          <a:xfrm>
            <a:off x="457200" y="3520440"/>
            <a:ext cx="8229600" cy="86868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이를 통해 대표님 유고라는 최악의 시나리오 속에서도 △금융기관의 채무 상환 압박 방어 △핵심인력 유지 및 운영자금 확보 △상속으로 인한 경영권 분쟁 원천 차단이라는 3대 목표를 달성할 것입니다. 그 결과, 대표님께서는 평생 일군 회사의 영속성을 확보하고 가족에게는 안정된 자산을 물려주는, CEO로서의 가장 명예로운 마지막 책임을 완수하게 될 것입니다.</a:t>
            </a:r>
            <a:endParaRPr lang="en-US" sz="11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 / 32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기업개요</a:t>
            </a:r>
            <a:endParaRPr lang="en-US" sz="1500" dirty="0"/>
          </a:p>
        </p:txBody>
      </p:sp>
      <p:sp>
        <p:nvSpPr>
          <p:cNvPr id="5" name="Text 3"/>
          <p:cNvSpPr/>
          <p:nvPr/>
        </p:nvSpPr>
        <p:spPr>
          <a:xfrm>
            <a:off x="457200" y="685800"/>
            <a:ext cx="8229600" cy="32004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본 컨설팅의 출발점은 (주)솔라테크 코리아가 걸어온 길과 나아갈 방향에 대한 깊은 이해입니다.</a:t>
            </a:r>
            <a:endParaRPr lang="en-US" sz="1100" dirty="0"/>
          </a:p>
        </p:txBody>
      </p:sp>
      <p:sp>
        <p:nvSpPr>
          <p:cNvPr id="6" name="Text 4"/>
          <p:cNvSpPr/>
          <p:nvPr/>
        </p:nvSpPr>
        <p:spPr>
          <a:xfrm>
            <a:off x="457200" y="109728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법인 기본 정보</a:t>
            </a:r>
            <a:endParaRPr lang="en-US" sz="1400" dirty="0"/>
          </a:p>
        </p:txBody>
      </p:sp>
      <p:sp>
        <p:nvSpPr>
          <p:cNvPr id="7" name="Shape 5"/>
          <p:cNvSpPr/>
          <p:nvPr/>
        </p:nvSpPr>
        <p:spPr>
          <a:xfrm>
            <a:off x="457200" y="1554480"/>
            <a:ext cx="8229600" cy="3200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554480"/>
            <a:ext cx="54864" cy="3200400"/>
          </a:xfrm>
          <a:prstGeom prst="rect">
            <a:avLst/>
          </a:prstGeom>
          <a:solidFill>
            <a:srgbClr val="C8962E"/>
          </a:solidFill>
          <a:ln/>
        </p:spPr>
        <p:txBody>
          <a:bodyPr/>
          <a:lstStyle/>
          <a:p>
            <a:endParaRPr lang="ko-KR" altLang="en-US"/>
          </a:p>
        </p:txBody>
      </p:sp>
      <p:sp>
        <p:nvSpPr>
          <p:cNvPr id="9" name="Text 7"/>
          <p:cNvSpPr/>
          <p:nvPr/>
        </p:nvSpPr>
        <p:spPr>
          <a:xfrm>
            <a:off x="640080" y="1691640"/>
            <a:ext cx="7863840" cy="2926080"/>
          </a:xfrm>
          <a:prstGeom prst="rect">
            <a:avLst/>
          </a:prstGeom>
          <a:noFill/>
          <a:ln/>
        </p:spPr>
        <p:txBody>
          <a:bodyPr wrap="square" rtlCol="0" anchor="t"/>
          <a:lstStyle/>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 법인명: </a:t>
            </a:r>
            <a:r>
              <a:rPr lang="en-US" sz="1100" dirty="0">
                <a:solidFill>
                  <a:srgbClr val="2B2B2B"/>
                </a:solidFill>
                <a:latin typeface="맑은 고딕" pitchFamily="34" charset="0"/>
                <a:ea typeface="맑은 고딕" pitchFamily="34" charset="-122"/>
                <a:cs typeface="맑은 고딕" pitchFamily="34" charset="-120"/>
              </a:rPr>
              <a:t>(주)솔라테크 코리아 (가상 기업)</a:t>
            </a:r>
            <a:endParaRPr lang="en-US" sz="1100" dirty="0"/>
          </a:p>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 대표이사: </a:t>
            </a:r>
            <a:r>
              <a:rPr lang="en-US" sz="1100" dirty="0">
                <a:solidFill>
                  <a:srgbClr val="2B2B2B"/>
                </a:solidFill>
                <a:latin typeface="맑은 고딕" pitchFamily="34" charset="0"/>
                <a:ea typeface="맑은 고딕" pitchFamily="34" charset="-122"/>
                <a:cs typeface="맑은 고딕" pitchFamily="34" charset="-120"/>
              </a:rPr>
              <a:t>박진우 (만 58세)</a:t>
            </a:r>
            <a:endParaRPr lang="en-US" sz="1100" dirty="0"/>
          </a:p>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 업종: </a:t>
            </a:r>
            <a:r>
              <a:rPr lang="en-US" sz="1100" dirty="0">
                <a:solidFill>
                  <a:srgbClr val="2B2B2B"/>
                </a:solidFill>
                <a:latin typeface="맑은 고딕" pitchFamily="34" charset="0"/>
                <a:ea typeface="맑은 고딕" pitchFamily="34" charset="-122"/>
                <a:cs typeface="맑은 고딕" pitchFamily="34" charset="-120"/>
              </a:rPr>
              <a:t>신재생에너지 (고효율 태양광 패널 부품 제조 및 설치 시공)</a:t>
            </a:r>
            <a:endParaRPr lang="en-US" sz="1100" dirty="0"/>
          </a:p>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 설립일: </a:t>
            </a:r>
            <a:r>
              <a:rPr lang="en-US" sz="1100" dirty="0">
                <a:solidFill>
                  <a:srgbClr val="2B2B2B"/>
                </a:solidFill>
                <a:latin typeface="맑은 고딕" pitchFamily="34" charset="0"/>
                <a:ea typeface="맑은 고딕" pitchFamily="34" charset="-122"/>
                <a:cs typeface="맑은 고딕" pitchFamily="34" charset="-120"/>
              </a:rPr>
              <a:t>2010년 8월</a:t>
            </a:r>
            <a:endParaRPr lang="en-US" sz="1100" dirty="0"/>
          </a:p>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 주요 연혁: </a:t>
            </a:r>
            <a:r>
              <a:rPr lang="en-US" sz="1100" dirty="0">
                <a:solidFill>
                  <a:srgbClr val="2B2B2B"/>
                </a:solidFill>
                <a:latin typeface="맑은 고딕" pitchFamily="34" charset="0"/>
                <a:ea typeface="맑은 고딕" pitchFamily="34" charset="-122"/>
                <a:cs typeface="맑은 고딕" pitchFamily="34" charset="-120"/>
              </a:rPr>
              <a:t>2018년 기술혁신형 중소기업(Inno-Biz) 인증, 2022년 매출 200억 돌파</a:t>
            </a:r>
            <a:endParaRPr lang="en-US" sz="1100" dirty="0"/>
          </a:p>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 주주 구성:</a:t>
            </a:r>
            <a:endParaRPr lang="en-US" sz="1100" dirty="0"/>
          </a:p>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    1. 박진우 대표이사: 65%</a:t>
            </a:r>
            <a:endParaRPr lang="en-US" sz="1100" dirty="0"/>
          </a:p>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    2. 배우자 김영희: 10%</a:t>
            </a:r>
            <a:endParaRPr lang="en-US" sz="1100" dirty="0"/>
          </a:p>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    3. 장남 박성준: 5% (28세, 해외 유학 중, 경영 무관)</a:t>
            </a:r>
            <a:endParaRPr lang="en-US" sz="1100" dirty="0"/>
          </a:p>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    4. 핵심 R&amp;D 임원(김 이사): 20%</a:t>
            </a:r>
            <a:endParaRPr lang="en-US" sz="11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 / 32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기업개요</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사업 영역 및 핵심 경쟁력 분석</a:t>
            </a:r>
            <a:endParaRPr lang="en-US" sz="1400" dirty="0"/>
          </a:p>
        </p:txBody>
      </p:sp>
      <p:sp>
        <p:nvSpPr>
          <p:cNvPr id="6" name="Shape 4"/>
          <p:cNvSpPr/>
          <p:nvPr/>
        </p:nvSpPr>
        <p:spPr>
          <a:xfrm>
            <a:off x="457200" y="114300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645920"/>
          </a:xfrm>
          <a:prstGeom prst="rect">
            <a:avLst/>
          </a:prstGeom>
          <a:solidFill>
            <a:srgbClr val="C8962E"/>
          </a:solidFill>
          <a:ln/>
        </p:spPr>
        <p:txBody>
          <a:bodyPr/>
          <a:lstStyle/>
          <a:p>
            <a:endParaRPr lang="ko-KR" altLang="en-US"/>
          </a:p>
        </p:txBody>
      </p:sp>
      <p:sp>
        <p:nvSpPr>
          <p:cNvPr id="8" name="Text 6"/>
          <p:cNvSpPr/>
          <p:nvPr/>
        </p:nvSpPr>
        <p:spPr>
          <a:xfrm>
            <a:off x="640080" y="1280160"/>
            <a:ext cx="7863840" cy="640080"/>
          </a:xfrm>
          <a:prstGeom prst="rect">
            <a:avLst/>
          </a:prstGeom>
          <a:noFill/>
          <a:ln/>
        </p:spPr>
        <p:txBody>
          <a:bodyPr wrap="square" rtlCol="0" anchor="t"/>
          <a:lstStyle/>
          <a:p>
            <a:pPr marL="0" indent="0">
              <a:lnSpc>
                <a:spcPct val="115000"/>
              </a:lnSpc>
              <a:buNone/>
            </a:pPr>
            <a:r>
              <a:rPr lang="en-US" sz="1100" dirty="0">
                <a:solidFill>
                  <a:srgbClr val="2B2B2B"/>
                </a:solidFill>
                <a:latin typeface="맑은 고딕" pitchFamily="34" charset="0"/>
                <a:ea typeface="맑은 고딕" pitchFamily="34" charset="-122"/>
                <a:cs typeface="맑은 고딕" pitchFamily="34" charset="-120"/>
              </a:rPr>
              <a:t>(주)솔라테크 코리아는 차세대 태양광 전지 핵심 부품을 국산화하여 국내 대기업 및 공공기관에 납품하고 있으며, B2C 시장에서도 맞춤형 설치 시공으로 높은 명성을 쌓고 있습니다.</a:t>
            </a:r>
            <a:endParaRPr lang="en-US" sz="1100" dirty="0"/>
          </a:p>
        </p:txBody>
      </p:sp>
      <p:sp>
        <p:nvSpPr>
          <p:cNvPr id="9" name="Text 7"/>
          <p:cNvSpPr/>
          <p:nvPr/>
        </p:nvSpPr>
        <p:spPr>
          <a:xfrm>
            <a:off x="640080" y="1920240"/>
            <a:ext cx="7863840" cy="731520"/>
          </a:xfrm>
          <a:prstGeom prst="rect">
            <a:avLst/>
          </a:prstGeom>
          <a:noFill/>
          <a:ln/>
        </p:spPr>
        <p:txBody>
          <a:bodyPr wrap="square" rtlCol="0" anchor="t"/>
          <a:lstStyle/>
          <a:p>
            <a:pPr marL="0" indent="0">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핵심 경쟁력: </a:t>
            </a:r>
            <a:r>
              <a:rPr lang="en-US" sz="1100" dirty="0">
                <a:solidFill>
                  <a:srgbClr val="2B2B2B"/>
                </a:solidFill>
                <a:latin typeface="맑은 고딕" pitchFamily="34" charset="0"/>
                <a:ea typeface="맑은 고딕" pitchFamily="34" charset="-122"/>
                <a:cs typeface="맑은 고딕" pitchFamily="34" charset="-120"/>
              </a:rPr>
              <a:t>창업주인 박진우 대표이사가 보유한 독보적인 기술력과 인적 네트워크. 특히, 대표이사의 개인 신용과 보증이 대규모 프로젝트 수주 및 금융기관 자금 조달의 결정적 역할을 수행하고 있습니다.</a:t>
            </a:r>
            <a:endParaRPr lang="en-US" sz="11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4 / 32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Executive Summary (경영자를 위한 핵심 요약) (1/2)</a:t>
            </a:r>
            <a:endParaRPr lang="en-US" sz="1500" dirty="0"/>
          </a:p>
        </p:txBody>
      </p:sp>
      <p:sp>
        <p:nvSpPr>
          <p:cNvPr id="5" name="Text 3"/>
          <p:cNvSpPr/>
          <p:nvPr/>
        </p:nvSpPr>
        <p:spPr>
          <a:xfrm>
            <a:off x="457200" y="685800"/>
            <a:ext cx="8229600" cy="27432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바쁘신 대표님을 위해 본 보고서의 가치를 한 페이지에 완벽하게 압축했습니다.</a:t>
            </a:r>
            <a:endParaRPr lang="en-US" sz="1100" dirty="0"/>
          </a:p>
        </p:txBody>
      </p:sp>
      <p:sp>
        <p:nvSpPr>
          <p:cNvPr id="6" name="Shape 4"/>
          <p:cNvSpPr/>
          <p:nvPr/>
        </p:nvSpPr>
        <p:spPr>
          <a:xfrm>
            <a:off x="457200" y="105156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51560"/>
            <a:ext cx="54864" cy="1097280"/>
          </a:xfrm>
          <a:prstGeom prst="rect">
            <a:avLst/>
          </a:prstGeom>
          <a:solidFill>
            <a:srgbClr val="C8962E"/>
          </a:solidFill>
          <a:ln/>
        </p:spPr>
        <p:txBody>
          <a:bodyPr/>
          <a:lstStyle/>
          <a:p>
            <a:endParaRPr lang="ko-KR" altLang="en-US"/>
          </a:p>
        </p:txBody>
      </p:sp>
      <p:sp>
        <p:nvSpPr>
          <p:cNvPr id="8" name="Text 6"/>
          <p:cNvSpPr/>
          <p:nvPr/>
        </p:nvSpPr>
        <p:spPr>
          <a:xfrm>
            <a:off x="640080" y="1143000"/>
            <a:ext cx="7863840" cy="228600"/>
          </a:xfrm>
          <a:prstGeom prst="rect">
            <a:avLst/>
          </a:prstGeom>
          <a:noFill/>
          <a:ln/>
        </p:spPr>
        <p:txBody>
          <a:bodyPr wrap="square" rtlCol="0" anchor="ctr"/>
          <a:lstStyle/>
          <a:p>
            <a:pPr marL="0" indent="0">
              <a:buNone/>
            </a:pPr>
            <a:r>
              <a:rPr lang="en-US" sz="1200" b="1" dirty="0">
                <a:solidFill>
                  <a:srgbClr val="2B2B2B"/>
                </a:solidFill>
                <a:latin typeface="맑은 고딕" pitchFamily="34" charset="0"/>
                <a:ea typeface="맑은 고딕" pitchFamily="34" charset="-122"/>
                <a:cs typeface="맑은 고딕" pitchFamily="34" charset="-120"/>
              </a:rPr>
              <a:t>컨설팅 배경 및 목적</a:t>
            </a:r>
            <a:endParaRPr lang="en-US" sz="1200" dirty="0"/>
          </a:p>
        </p:txBody>
      </p:sp>
      <p:sp>
        <p:nvSpPr>
          <p:cNvPr id="9" name="Text 7"/>
          <p:cNvSpPr/>
          <p:nvPr/>
        </p:nvSpPr>
        <p:spPr>
          <a:xfrm>
            <a:off x="640080" y="1371600"/>
            <a:ext cx="7863840" cy="685800"/>
          </a:xfrm>
          <a:prstGeom prst="rect">
            <a:avLst/>
          </a:prstGeom>
          <a:noFill/>
          <a:ln/>
        </p:spPr>
        <p:txBody>
          <a:bodyPr wrap="square" rtlCol="0" anchor="t"/>
          <a:lstStyle/>
          <a:p>
            <a:pPr marL="0" indent="0">
              <a:lnSpc>
                <a:spcPct val="115000"/>
              </a:lnSpc>
              <a:buNone/>
            </a:pPr>
            <a:r>
              <a:rPr lang="en-US" sz="1000" dirty="0">
                <a:solidFill>
                  <a:srgbClr val="2B2B2B"/>
                </a:solidFill>
                <a:latin typeface="맑은 고딕" pitchFamily="34" charset="0"/>
                <a:ea typeface="맑은 고딕" pitchFamily="34" charset="-122"/>
                <a:cs typeface="맑은 고딕" pitchFamily="34" charset="-120"/>
              </a:rPr>
              <a:t>CEO 개인에게 집중된 리스크의 분산 및 기업 영속성 확보. 대표님의 부재가 곧바로 회사의 존폐 위기로 직결되는 현재의 재무 및 경영 구조를 개선하고, 예측 불가능한 리스크로부터 회사의 미래와 임직원, 그리고 가족을 보호하기 위한 '비상 안전장치' 구축이 시급합니다.</a:t>
            </a:r>
            <a:endParaRPr lang="en-US" sz="1000" dirty="0"/>
          </a:p>
        </p:txBody>
      </p:sp>
      <p:sp>
        <p:nvSpPr>
          <p:cNvPr id="10" name="Shape 8"/>
          <p:cNvSpPr/>
          <p:nvPr/>
        </p:nvSpPr>
        <p:spPr>
          <a:xfrm>
            <a:off x="457200" y="2286000"/>
            <a:ext cx="8229600" cy="2011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86000"/>
            <a:ext cx="54864" cy="2011680"/>
          </a:xfrm>
          <a:prstGeom prst="rect">
            <a:avLst/>
          </a:prstGeom>
          <a:solidFill>
            <a:srgbClr val="D4382C"/>
          </a:solidFill>
          <a:ln/>
        </p:spPr>
        <p:txBody>
          <a:bodyPr/>
          <a:lstStyle/>
          <a:p>
            <a:endParaRPr lang="ko-KR" altLang="en-US"/>
          </a:p>
        </p:txBody>
      </p:sp>
      <p:sp>
        <p:nvSpPr>
          <p:cNvPr id="12" name="Text 10"/>
          <p:cNvSpPr/>
          <p:nvPr/>
        </p:nvSpPr>
        <p:spPr>
          <a:xfrm>
            <a:off x="640080" y="2377440"/>
            <a:ext cx="7863840" cy="228600"/>
          </a:xfrm>
          <a:prstGeom prst="rect">
            <a:avLst/>
          </a:prstGeom>
          <a:noFill/>
          <a:ln/>
        </p:spPr>
        <p:txBody>
          <a:bodyPr wrap="square" rtlCol="0" anchor="ctr"/>
          <a:lstStyle/>
          <a:p>
            <a:pPr marL="0" indent="0">
              <a:buNone/>
            </a:pPr>
            <a:r>
              <a:rPr lang="en-US" sz="1200" b="1" dirty="0">
                <a:solidFill>
                  <a:srgbClr val="2B2B2B"/>
                </a:solidFill>
                <a:latin typeface="맑은 고딕" pitchFamily="34" charset="0"/>
                <a:ea typeface="맑은 고딕" pitchFamily="34" charset="-122"/>
                <a:cs typeface="맑은 고딕" pitchFamily="34" charset="-120"/>
              </a:rPr>
              <a:t>현황 진단 핵심 요약 (As-Is)</a:t>
            </a:r>
            <a:endParaRPr lang="en-US" sz="1200" dirty="0"/>
          </a:p>
        </p:txBody>
      </p:sp>
      <p:sp>
        <p:nvSpPr>
          <p:cNvPr id="13" name="Text 11"/>
          <p:cNvSpPr/>
          <p:nvPr/>
        </p:nvSpPr>
        <p:spPr>
          <a:xfrm>
            <a:off x="640080" y="2606040"/>
            <a:ext cx="7863840" cy="320040"/>
          </a:xfrm>
          <a:prstGeom prst="rect">
            <a:avLst/>
          </a:prstGeom>
          <a:noFill/>
          <a:ln/>
        </p:spPr>
        <p:txBody>
          <a:bodyPr wrap="square" rtlCol="0" anchor="t"/>
          <a:lstStyle/>
          <a:p>
            <a:pPr marL="0" indent="0">
              <a:buNone/>
            </a:pPr>
            <a:r>
              <a:rPr lang="en-US" sz="1000" dirty="0">
                <a:solidFill>
                  <a:srgbClr val="2B2B2B"/>
                </a:solidFill>
                <a:latin typeface="맑은 고딕" pitchFamily="34" charset="0"/>
                <a:ea typeface="맑은 고딕" pitchFamily="34" charset="-122"/>
                <a:cs typeface="맑은 고딕" pitchFamily="34" charset="-120"/>
              </a:rPr>
              <a:t>CEO 유고 시, (주)솔라테크 코리아는 약 150억 원의 즉각적인 자금 소요 및 경영 위기에 직면합니다.</a:t>
            </a:r>
            <a:endParaRPr lang="en-US" sz="1000" dirty="0"/>
          </a:p>
        </p:txBody>
      </p:sp>
      <p:sp>
        <p:nvSpPr>
          <p:cNvPr id="14" name="Text 12"/>
          <p:cNvSpPr/>
          <p:nvPr/>
        </p:nvSpPr>
        <p:spPr>
          <a:xfrm>
            <a:off x="640080" y="2926080"/>
            <a:ext cx="7863840" cy="1188720"/>
          </a:xfrm>
          <a:prstGeom prst="rect">
            <a:avLst/>
          </a:prstGeom>
          <a:noFill/>
          <a:ln/>
        </p:spPr>
        <p:txBody>
          <a:bodyPr wrap="square" rtlCol="0" anchor="t"/>
          <a:lstStyle/>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흑자 도산 리스크 (80억 원): </a:t>
            </a:r>
            <a:r>
              <a:rPr lang="en-US" sz="1000" dirty="0">
                <a:solidFill>
                  <a:srgbClr val="2B2B2B"/>
                </a:solidFill>
                <a:latin typeface="맑은 고딕" pitchFamily="34" charset="0"/>
                <a:ea typeface="맑은 고딕" pitchFamily="34" charset="-122"/>
                <a:cs typeface="맑은 고딕" pitchFamily="34" charset="-120"/>
              </a:rPr>
              <a:t>대표이사 개인 연대보증부 대출금의 즉시 상환 압박.</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운영자금 고갈 리스크 (40억 원): </a:t>
            </a:r>
            <a:r>
              <a:rPr lang="en-US" sz="1000" dirty="0">
                <a:solidFill>
                  <a:srgbClr val="2B2B2B"/>
                </a:solidFill>
                <a:latin typeface="맑은 고딕" pitchFamily="34" charset="0"/>
                <a:ea typeface="맑은 고딕" pitchFamily="34" charset="-122"/>
                <a:cs typeface="맑은 고딕" pitchFamily="34" charset="-120"/>
              </a:rPr>
              <a:t>핵심 프로젝트 중단에 따른 매출 급감(1~2년) 및 인재 이탈을 막기 위한 긴급 운영자금.</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경영권 분쟁 리스크 (30억 원): </a:t>
            </a:r>
            <a:r>
              <a:rPr lang="en-US" sz="1000" dirty="0">
                <a:solidFill>
                  <a:srgbClr val="2B2B2B"/>
                </a:solidFill>
                <a:latin typeface="맑은 고딕" pitchFamily="34" charset="0"/>
                <a:ea typeface="맑은 고딕" pitchFamily="34" charset="-122"/>
                <a:cs typeface="맑은 고딕" pitchFamily="34" charset="-120"/>
              </a:rPr>
              <a:t>상속세 재원을 마련하지 못한 상속인이 지분을 외부 매각 시 경영권 상실.</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5 / 32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Executive Summary (경영자를 위한 핵심 요약) (2/2)</a:t>
            </a:r>
            <a:endParaRPr lang="en-US" sz="1500" dirty="0"/>
          </a:p>
        </p:txBody>
      </p:sp>
      <p:sp>
        <p:nvSpPr>
          <p:cNvPr id="5" name="Shape 3"/>
          <p:cNvSpPr/>
          <p:nvPr/>
        </p:nvSpPr>
        <p:spPr>
          <a:xfrm>
            <a:off x="457200" y="685800"/>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005840"/>
          </a:xfrm>
          <a:prstGeom prst="rect">
            <a:avLst/>
          </a:prstGeom>
          <a:solidFill>
            <a:srgbClr val="1A6B4A"/>
          </a:solidFill>
          <a:ln/>
        </p:spPr>
        <p:txBody>
          <a:bodyPr/>
          <a:lstStyle/>
          <a:p>
            <a:endParaRPr lang="ko-KR" altLang="en-US"/>
          </a:p>
        </p:txBody>
      </p:sp>
      <p:sp>
        <p:nvSpPr>
          <p:cNvPr id="7" name="Text 5"/>
          <p:cNvSpPr/>
          <p:nvPr/>
        </p:nvSpPr>
        <p:spPr>
          <a:xfrm>
            <a:off x="640080" y="777240"/>
            <a:ext cx="7863840" cy="228600"/>
          </a:xfrm>
          <a:prstGeom prst="rect">
            <a:avLst/>
          </a:prstGeom>
          <a:noFill/>
          <a:ln/>
        </p:spPr>
        <p:txBody>
          <a:bodyPr wrap="square" rtlCol="0" anchor="ctr"/>
          <a:lstStyle/>
          <a:p>
            <a:pPr marL="0" indent="0">
              <a:buNone/>
            </a:pPr>
            <a:r>
              <a:rPr lang="en-US" sz="1200" b="1" dirty="0">
                <a:solidFill>
                  <a:srgbClr val="2B2B2B"/>
                </a:solidFill>
                <a:latin typeface="맑은 고딕" pitchFamily="34" charset="0"/>
                <a:ea typeface="맑은 고딕" pitchFamily="34" charset="-122"/>
                <a:cs typeface="맑은 고딕" pitchFamily="34" charset="-120"/>
              </a:rPr>
              <a:t>솔루션 제안 핵심 요약 (To-Be)</a:t>
            </a:r>
            <a:endParaRPr lang="en-US" sz="1200" dirty="0"/>
          </a:p>
        </p:txBody>
      </p:sp>
      <p:sp>
        <p:nvSpPr>
          <p:cNvPr id="8" name="Text 6"/>
          <p:cNvSpPr/>
          <p:nvPr/>
        </p:nvSpPr>
        <p:spPr>
          <a:xfrm>
            <a:off x="640080" y="1005840"/>
            <a:ext cx="7863840" cy="594360"/>
          </a:xfrm>
          <a:prstGeom prst="rect">
            <a:avLst/>
          </a:prstGeom>
          <a:noFill/>
          <a:ln/>
        </p:spPr>
        <p:txBody>
          <a:bodyPr wrap="square" rtlCol="0" anchor="t"/>
          <a:lstStyle/>
          <a:p>
            <a:pPr marL="0" indent="0">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법인을 계약자 및 수익자로 지정하는 'Key-Man 보험'을 통해 150억 원의 비상 경영자금을 선제적으로 확보합니다. 이 자금은 CEO의 상속재산이 아닌, 법인의 고유 자산으로 귀속되어 회사의 생존을 위해서만 사용됩니다.</a:t>
            </a:r>
            <a:endParaRPr lang="en-US" sz="1000" dirty="0"/>
          </a:p>
        </p:txBody>
      </p:sp>
      <p:sp>
        <p:nvSpPr>
          <p:cNvPr id="9" name="Shape 7"/>
          <p:cNvSpPr/>
          <p:nvPr/>
        </p:nvSpPr>
        <p:spPr>
          <a:xfrm>
            <a:off x="457200" y="1828800"/>
            <a:ext cx="8229600" cy="25603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1828800"/>
            <a:ext cx="54864" cy="2560320"/>
          </a:xfrm>
          <a:prstGeom prst="rect">
            <a:avLst/>
          </a:prstGeom>
          <a:solidFill>
            <a:srgbClr val="C8962E"/>
          </a:solidFill>
          <a:ln/>
        </p:spPr>
        <p:txBody>
          <a:bodyPr/>
          <a:lstStyle/>
          <a:p>
            <a:endParaRPr lang="ko-KR" altLang="en-US"/>
          </a:p>
        </p:txBody>
      </p:sp>
      <p:sp>
        <p:nvSpPr>
          <p:cNvPr id="11" name="Text 9"/>
          <p:cNvSpPr/>
          <p:nvPr/>
        </p:nvSpPr>
        <p:spPr>
          <a:xfrm>
            <a:off x="640080" y="1920240"/>
            <a:ext cx="7863840" cy="228600"/>
          </a:xfrm>
          <a:prstGeom prst="rect">
            <a:avLst/>
          </a:prstGeom>
          <a:noFill/>
          <a:ln/>
        </p:spPr>
        <p:txBody>
          <a:bodyPr wrap="square" rtlCol="0" anchor="ctr"/>
          <a:lstStyle/>
          <a:p>
            <a:pPr marL="0" indent="0">
              <a:buNone/>
            </a:pPr>
            <a:r>
              <a:rPr lang="en-US" sz="1200" b="1" dirty="0">
                <a:solidFill>
                  <a:srgbClr val="2B2B2B"/>
                </a:solidFill>
                <a:latin typeface="맑은 고딕" pitchFamily="34" charset="0"/>
                <a:ea typeface="맑은 고딕" pitchFamily="34" charset="-122"/>
                <a:cs typeface="맑은 고딕" pitchFamily="34" charset="-120"/>
              </a:rPr>
              <a:t>기대효과 핵심 요약 (ROI)</a:t>
            </a:r>
            <a:endParaRPr lang="en-US" sz="1200" dirty="0"/>
          </a:p>
        </p:txBody>
      </p:sp>
      <p:sp>
        <p:nvSpPr>
          <p:cNvPr id="12" name="Text 10"/>
          <p:cNvSpPr/>
          <p:nvPr/>
        </p:nvSpPr>
        <p:spPr>
          <a:xfrm>
            <a:off x="640080" y="2194560"/>
            <a:ext cx="7863840" cy="2103120"/>
          </a:xfrm>
          <a:prstGeom prst="rect">
            <a:avLst/>
          </a:prstGeom>
          <a:noFill/>
          <a:ln/>
        </p:spPr>
        <p:txBody>
          <a:bodyPr wrap="square" rtlCol="0" anchor="t"/>
          <a:lstStyle/>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기업 생존: </a:t>
            </a:r>
            <a:r>
              <a:rPr lang="en-US" sz="1000" dirty="0">
                <a:solidFill>
                  <a:srgbClr val="2B2B2B"/>
                </a:solidFill>
                <a:latin typeface="맑은 고딕" pitchFamily="34" charset="0"/>
                <a:ea typeface="맑은 고딕" pitchFamily="34" charset="-122"/>
                <a:cs typeface="맑은 고딕" pitchFamily="34" charset="-120"/>
              </a:rPr>
              <a:t>CEO 유고 시 발생하는 부채 리스크(80억)를 완벽히 방어하고, 후계자가 경영을 정상화할 때까지 최소 2년간의 운영자금(40억)을 확보하여 '흑자 도산'을 원천 차단합니다.</a:t>
            </a:r>
            <a:endParaRPr lang="en-US" sz="1000" dirty="0"/>
          </a:p>
          <a:p>
            <a:pPr marL="0" indent="0">
              <a:lnSpc>
                <a:spcPct val="13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경영권 안정 및 가족 보호: </a:t>
            </a:r>
            <a:r>
              <a:rPr lang="en-US" sz="1000" dirty="0">
                <a:solidFill>
                  <a:srgbClr val="2B2B2B"/>
                </a:solidFill>
                <a:latin typeface="맑은 고딕" pitchFamily="34" charset="0"/>
                <a:ea typeface="맑은 고딕" pitchFamily="34" charset="-122"/>
                <a:cs typeface="맑은 고딕" pitchFamily="34" charset="-120"/>
              </a:rPr>
              <a:t>확보된 자금으로 </a:t>
            </a:r>
            <a:r>
              <a:rPr lang="en-US" sz="1000" b="1" dirty="0">
                <a:solidFill>
                  <a:srgbClr val="2B2B2B"/>
                </a:solidFill>
                <a:latin typeface="맑은 고딕" pitchFamily="34" charset="0"/>
                <a:ea typeface="맑은 고딕" pitchFamily="34" charset="-122"/>
                <a:cs typeface="맑은 고딕" pitchFamily="34" charset="-120"/>
              </a:rPr>
              <a:t>상속인의 주식을 매입(자사주 매입)</a:t>
            </a:r>
            <a:r>
              <a:rPr lang="en-US" sz="1000" dirty="0">
                <a:solidFill>
                  <a:srgbClr val="2B2B2B"/>
                </a:solidFill>
                <a:latin typeface="맑은 고딕" pitchFamily="34" charset="0"/>
                <a:ea typeface="맑은 고딕" pitchFamily="34" charset="-122"/>
                <a:cs typeface="맑은 고딕" pitchFamily="34" charset="-120"/>
              </a:rPr>
              <a:t>하여 상속인에게는 상속세 납부 및 생활을 위한 현금을, 회사에는 안정된 지배구조를 제공합니다.</a:t>
            </a:r>
            <a:endParaRPr lang="en-US" sz="1000" dirty="0"/>
          </a:p>
          <a:p>
            <a:pPr marL="0" indent="0">
              <a:lnSpc>
                <a:spcPct val="13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세무적 효과: </a:t>
            </a:r>
            <a:r>
              <a:rPr lang="en-US" sz="1000" dirty="0">
                <a:solidFill>
                  <a:srgbClr val="2B2B2B"/>
                </a:solidFill>
                <a:latin typeface="맑은 고딕" pitchFamily="34" charset="0"/>
                <a:ea typeface="맑은 고딕" pitchFamily="34" charset="-122"/>
                <a:cs typeface="맑은 고딕" pitchFamily="34" charset="-120"/>
              </a:rPr>
              <a:t>납입 기간 동안 보험료는 조건 충족 시 </a:t>
            </a:r>
            <a:r>
              <a:rPr lang="en-US" sz="1000" b="1" dirty="0">
                <a:solidFill>
                  <a:srgbClr val="2B2B2B"/>
                </a:solidFill>
                <a:latin typeface="맑은 고딕" pitchFamily="34" charset="0"/>
                <a:ea typeface="맑은 고딕" pitchFamily="34" charset="-122"/>
                <a:cs typeface="맑은 고딕" pitchFamily="34" charset="-120"/>
              </a:rPr>
              <a:t>비용 처리(손금산입)</a:t>
            </a:r>
            <a:r>
              <a:rPr lang="en-US" sz="1000" dirty="0">
                <a:solidFill>
                  <a:srgbClr val="2B2B2B"/>
                </a:solidFill>
                <a:latin typeface="맑은 고딕" pitchFamily="34" charset="0"/>
                <a:ea typeface="맑은 고딕" pitchFamily="34" charset="-122"/>
                <a:cs typeface="맑은 고딕" pitchFamily="34" charset="-120"/>
              </a:rPr>
              <a:t>가 가능하며, 수령한 보험금은 CEO 퇴직금 등과 상계하여 법인세 부담을 전략적으로 관리할 수 있습니다.</a:t>
            </a:r>
            <a:endParaRPr lang="en-US" sz="100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6 / 32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(1/3)</a:t>
            </a:r>
            <a:endParaRPr lang="en-US" sz="1500" dirty="0"/>
          </a:p>
        </p:txBody>
      </p:sp>
      <p:sp>
        <p:nvSpPr>
          <p:cNvPr id="5" name="Text 3"/>
          <p:cNvSpPr/>
          <p:nvPr/>
        </p:nvSpPr>
        <p:spPr>
          <a:xfrm>
            <a:off x="457200" y="685800"/>
            <a:ext cx="8229600" cy="27432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'문제'의 본질을 파악하기 위해 재무제표의 숫자와 대표님의 마음속 고민을 함께 들여다봅니다.</a:t>
            </a:r>
            <a:endParaRPr lang="en-US" sz="1100" dirty="0"/>
          </a:p>
        </p:txBody>
      </p:sp>
      <p:sp>
        <p:nvSpPr>
          <p:cNvPr id="6" name="Text 4"/>
          <p:cNvSpPr/>
          <p:nvPr/>
        </p:nvSpPr>
        <p:spPr>
          <a:xfrm>
            <a:off x="457200" y="10515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재무구조 정밀 분석</a:t>
            </a:r>
            <a:endParaRPr lang="en-US" sz="1400" dirty="0"/>
          </a:p>
        </p:txBody>
      </p:sp>
      <p:sp>
        <p:nvSpPr>
          <p:cNvPr id="7" name="Text 5"/>
          <p:cNvSpPr/>
          <p:nvPr/>
        </p:nvSpPr>
        <p:spPr>
          <a:xfrm>
            <a:off x="457200" y="1508760"/>
            <a:ext cx="8229600" cy="274320"/>
          </a:xfrm>
          <a:prstGeom prst="rect">
            <a:avLst/>
          </a:prstGeom>
          <a:noFill/>
          <a:ln/>
        </p:spPr>
        <p:txBody>
          <a:bodyPr wrap="square" rtlCol="0" anchor="ctr"/>
          <a:lstStyle/>
          <a:p>
            <a:pPr marL="0" indent="0">
              <a:buNone/>
            </a:pPr>
            <a:r>
              <a:rPr lang="en-US" sz="1100" b="1" dirty="0">
                <a:solidFill>
                  <a:srgbClr val="2B2B2B"/>
                </a:solidFill>
                <a:latin typeface="맑은 고딕" pitchFamily="34" charset="0"/>
                <a:ea typeface="맑은 고딕" pitchFamily="34" charset="-122"/>
                <a:cs typeface="맑은 고딕" pitchFamily="34" charset="-120"/>
              </a:rPr>
              <a:t>최근 3개년 요약 재무상태표 (단위: 억 원)</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2924939382"/>
              </p:ext>
            </p:extLst>
          </p:nvPr>
        </p:nvGraphicFramePr>
        <p:xfrm>
          <a:off x="457200" y="1828800"/>
          <a:ext cx="8229600" cy="219456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4389120">
                  <a:extLst>
                    <a:ext uri="{9D8B030D-6E8A-4147-A177-3AD203B41FA5}">
                      <a16:colId xmlns:a16="http://schemas.microsoft.com/office/drawing/2014/main" val="20004"/>
                    </a:ext>
                  </a:extLst>
                </a:gridCol>
              </a:tblGrid>
              <a:tr h="36576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계정과목</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2022년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2023년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2024년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분석 및 시사점</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6576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매출액</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180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210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250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00" dirty="0">
                          <a:solidFill>
                            <a:srgbClr val="2B2B2B"/>
                          </a:solidFill>
                          <a:latin typeface="맑은 고딕" pitchFamily="34" charset="0"/>
                          <a:ea typeface="맑은 고딕" pitchFamily="34" charset="-122"/>
                          <a:cs typeface="맑은 고딕" pitchFamily="34" charset="-120"/>
                        </a:rPr>
                        <a:t>견조한 성장세 유지</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미처분이익잉여금</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20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30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40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900" dirty="0">
                          <a:solidFill>
                            <a:srgbClr val="2B2B2B"/>
                          </a:solidFill>
                          <a:latin typeface="맑은 고딕" pitchFamily="34" charset="0"/>
                          <a:ea typeface="맑은 고딕" pitchFamily="34" charset="-122"/>
                          <a:cs typeface="맑은 고딕" pitchFamily="34" charset="-120"/>
                        </a:rPr>
                        <a:t>주식가치 급등 및 잠재적 상속세 부담 가중</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6576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부채총계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100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110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130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00" dirty="0">
                          <a:solidFill>
                            <a:srgbClr val="2B2B2B"/>
                          </a:solidFill>
                          <a:latin typeface="맑은 고딕" pitchFamily="34" charset="0"/>
                          <a:ea typeface="맑은 고딕" pitchFamily="34" charset="-122"/>
                          <a:cs typeface="맑은 고딕" pitchFamily="34" charset="-120"/>
                        </a:rPr>
                        <a:t>설비투자로 인한 차입금 증가</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자본총계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50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60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70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900" dirty="0">
                          <a:solidFill>
                            <a:srgbClr val="2B2B2B"/>
                          </a:solidFill>
                          <a:latin typeface="맑은 고딕" pitchFamily="34" charset="0"/>
                          <a:ea typeface="맑은 고딕" pitchFamily="34" charset="-122"/>
                          <a:cs typeface="맑은 고딕" pitchFamily="34" charset="-120"/>
                        </a:rPr>
                        <a:t>외형 성장 대비 자본 축적 속도 저하</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6576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부채비율</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200%</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183%</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185%</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l">
                        <a:buNone/>
                      </a:pPr>
                      <a:r>
                        <a:rPr lang="en-US" sz="900" b="1" dirty="0">
                          <a:solidFill>
                            <a:srgbClr val="2B2B2B"/>
                          </a:solidFill>
                          <a:latin typeface="맑은 고딕" pitchFamily="34" charset="0"/>
                          <a:ea typeface="맑은 고딕" pitchFamily="34" charset="-122"/>
                          <a:cs typeface="맑은 고딕" pitchFamily="34" charset="-120"/>
                        </a:rPr>
                        <a:t>CEO 개인 보증(80억)에 의존하는 불안정한 재무구조</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5"/>
                  </a:ext>
                </a:extLst>
              </a:tr>
            </a:tbl>
          </a:graphicData>
        </a:graphic>
      </p:graphicFrame>
      <p:sp>
        <p:nvSpPr>
          <p:cNvPr id="9"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7 / 32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(2/3)</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CEO Needs 및 경영 목표 분석</a:t>
            </a:r>
            <a:endParaRPr lang="en-US" sz="1400" dirty="0"/>
          </a:p>
        </p:txBody>
      </p:sp>
      <p:sp>
        <p:nvSpPr>
          <p:cNvPr id="6" name="Text 4"/>
          <p:cNvSpPr/>
          <p:nvPr/>
        </p:nvSpPr>
        <p:spPr>
          <a:xfrm>
            <a:off x="457200" y="1143000"/>
            <a:ext cx="8229600" cy="2103120"/>
          </a:xfrm>
          <a:prstGeom prst="rect">
            <a:avLst/>
          </a:prstGeom>
          <a:noFill/>
          <a:ln/>
        </p:spPr>
        <p:txBody>
          <a:bodyPr wrap="square" rtlCol="0" anchor="t"/>
          <a:lstStyle/>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기업 경영 목표: </a:t>
            </a:r>
            <a:r>
              <a:rPr lang="en-US" sz="1100" dirty="0">
                <a:solidFill>
                  <a:srgbClr val="2B2B2B"/>
                </a:solidFill>
                <a:latin typeface="맑은 고딕" pitchFamily="34" charset="0"/>
                <a:ea typeface="맑은 고딕" pitchFamily="34" charset="-122"/>
                <a:cs typeface="맑은 고딕" pitchFamily="34" charset="-120"/>
              </a:rPr>
              <a:t>5년 내 IPO(기업공개)를 통한 제2의 도약.</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CEO 개인 재무 목표: </a:t>
            </a:r>
            <a:r>
              <a:rPr lang="en-US" sz="1100" dirty="0">
                <a:solidFill>
                  <a:srgbClr val="2B2B2B"/>
                </a:solidFill>
                <a:latin typeface="맑은 고딕" pitchFamily="34" charset="0"/>
                <a:ea typeface="맑은 고딕" pitchFamily="34" charset="-122"/>
                <a:cs typeface="맑은 고딕" pitchFamily="34" charset="-120"/>
              </a:rPr>
              <a:t>은퇴 후 안정적인 현금흐름 확보 및 사회 환원.</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승계 및 상속 계획:</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1. 승계: </a:t>
            </a:r>
            <a:r>
              <a:rPr lang="en-US" sz="1100" dirty="0">
                <a:solidFill>
                  <a:srgbClr val="2B2B2B"/>
                </a:solidFill>
                <a:latin typeface="맑은 고딕" pitchFamily="34" charset="0"/>
                <a:ea typeface="맑은 고딕" pitchFamily="34" charset="-122"/>
                <a:cs typeface="맑은 고딕" pitchFamily="34" charset="-120"/>
              </a:rPr>
              <a:t>2대 주주인 김 이사에게 경영권을 넘겨주고 싶으나, 지분 인수 자금 등 현실적인 문제로 구체적인 논의를 못하고 있음.</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2. 상속: </a:t>
            </a:r>
            <a:r>
              <a:rPr lang="en-US" sz="1100" dirty="0">
                <a:solidFill>
                  <a:srgbClr val="2B2B2B"/>
                </a:solidFill>
                <a:latin typeface="맑은 고딕" pitchFamily="34" charset="0"/>
                <a:ea typeface="맑은 고딕" pitchFamily="34" charset="-122"/>
                <a:cs typeface="맑은 고딕" pitchFamily="34" charset="-120"/>
              </a:rPr>
              <a:t>회사 경영을 모르는 아내와 아들에게 복잡한 지분과 막대한 세금 부담을 안겨주는 것을 가장 우려함.</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CEO 현재 애로사항:</a:t>
            </a:r>
            <a:endParaRPr lang="en-US" sz="1100" dirty="0"/>
          </a:p>
        </p:txBody>
      </p:sp>
      <p:sp>
        <p:nvSpPr>
          <p:cNvPr id="7" name="Shape 5"/>
          <p:cNvSpPr/>
          <p:nvPr/>
        </p:nvSpPr>
        <p:spPr>
          <a:xfrm>
            <a:off x="640080" y="3337560"/>
            <a:ext cx="7863840" cy="914400"/>
          </a:xfrm>
          <a:prstGeom prst="rect">
            <a:avLst/>
          </a:prstGeom>
          <a:solidFill>
            <a:srgbClr val="F7F8FA"/>
          </a:solidFill>
          <a:ln/>
        </p:spPr>
        <p:txBody>
          <a:bodyPr/>
          <a:lstStyle/>
          <a:p>
            <a:endParaRPr lang="ko-KR" altLang="en-US"/>
          </a:p>
        </p:txBody>
      </p:sp>
      <p:sp>
        <p:nvSpPr>
          <p:cNvPr id="8" name="Text 6"/>
          <p:cNvSpPr/>
          <p:nvPr/>
        </p:nvSpPr>
        <p:spPr>
          <a:xfrm>
            <a:off x="731520" y="3383280"/>
            <a:ext cx="7680960" cy="822960"/>
          </a:xfrm>
          <a:prstGeom prst="rect">
            <a:avLst/>
          </a:prstGeom>
          <a:noFill/>
          <a:ln/>
        </p:spPr>
        <p:txBody>
          <a:bodyPr wrap="square" rtlCol="0" anchor="ctr"/>
          <a:lstStyle/>
          <a:p>
            <a:pPr marL="0" indent="0">
              <a:lnSpc>
                <a:spcPct val="120000"/>
              </a:lnSpc>
              <a:buNone/>
            </a:pPr>
            <a:r>
              <a:rPr lang="en-US" sz="1000" i="1" dirty="0">
                <a:solidFill>
                  <a:srgbClr val="4A5568"/>
                </a:solidFill>
                <a:latin typeface="맑은 고딕" pitchFamily="34" charset="0"/>
                <a:ea typeface="맑은 고딕" pitchFamily="34" charset="-122"/>
                <a:cs typeface="맑은 고딕" pitchFamily="34" charset="-120"/>
              </a:rPr>
              <a:t>"밤낮없이 달려와 회사는 키웠는데, 정작 내 자리를 물려줄 방법도, 내가 없어진 후의 회사 모습도 그려지지 않아 밤잠을 설칠 때가 많습니다. 내가 없으면 은행이 당장 우리 집까지 앗아갈 텐데... 평생 고생한 아내와 아직 어린 아들에게 그런 짐을 줄 순 없습니다."</a:t>
            </a:r>
            <a:endParaRPr lang="en-US" sz="10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8 / 32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09</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기업 현황 및 CEO Needs 심층 진단 (3/3)</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[전문가 의견]</a:t>
            </a:r>
            <a:endParaRPr lang="en-US" sz="1400" dirty="0"/>
          </a:p>
        </p:txBody>
      </p:sp>
      <p:sp>
        <p:nvSpPr>
          <p:cNvPr id="6" name="Shape 4"/>
          <p:cNvSpPr/>
          <p:nvPr/>
        </p:nvSpPr>
        <p:spPr>
          <a:xfrm>
            <a:off x="457200" y="1143000"/>
            <a:ext cx="8229600" cy="1645920"/>
          </a:xfrm>
          <a:prstGeom prst="rect">
            <a:avLst/>
          </a:prstGeom>
          <a:solidFill>
            <a:srgbClr val="EAF2FF"/>
          </a:solidFill>
          <a:ln/>
        </p:spPr>
        <p:txBody>
          <a:bodyPr/>
          <a:lstStyle/>
          <a:p>
            <a:endParaRPr lang="ko-KR" altLang="en-US"/>
          </a:p>
        </p:txBody>
      </p:sp>
      <p:sp>
        <p:nvSpPr>
          <p:cNvPr id="7" name="Text 5"/>
          <p:cNvSpPr/>
          <p:nvPr/>
        </p:nvSpPr>
        <p:spPr>
          <a:xfrm>
            <a:off x="640080" y="1280160"/>
            <a:ext cx="7863840" cy="137160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대표님, 현재 누적된 40억 원의 미처분이익잉여금은 '성장의 훈장'인 동시에 '세금 시한폭탄'입니다. 이는 비상장주식의 가치를 비정상적으로 높여, 훗날 상속 발생 시 수십억 원의 상속세로 돌아옵니다. 더욱 심각한 것은 대표님의 개인 보증 80억 원입니다. 이는 보이지 않는 족쇄가 되어, 대표님의 부재 시 회사와 가정을 동시에 무너뜨릴 수 있는 가장 직접적인 기폭장치입니다.</a:t>
            </a:r>
            <a:endParaRPr lang="en-US" sz="11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9 / 32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10</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핵심 이슈 및 전략 과제 도출 (1/2)</a:t>
            </a:r>
            <a:endParaRPr lang="en-US" sz="1500" dirty="0"/>
          </a:p>
        </p:txBody>
      </p:sp>
      <p:sp>
        <p:nvSpPr>
          <p:cNvPr id="5" name="Text 3"/>
          <p:cNvSpPr/>
          <p:nvPr/>
        </p:nvSpPr>
        <p:spPr>
          <a:xfrm>
            <a:off x="457200" y="685800"/>
            <a:ext cx="8229600" cy="32004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진단 결과를 바탕으로, (주)솔라테크 코리아가 생존과 성장을 위해 반드시 해결해야 할 '전략 과제'를 정의합니다.</a:t>
            </a:r>
            <a:endParaRPr lang="en-US" sz="1100" dirty="0"/>
          </a:p>
        </p:txBody>
      </p:sp>
      <p:sp>
        <p:nvSpPr>
          <p:cNvPr id="6" name="Shape 4"/>
          <p:cNvSpPr/>
          <p:nvPr/>
        </p:nvSpPr>
        <p:spPr>
          <a:xfrm>
            <a:off x="457200" y="1097280"/>
            <a:ext cx="822960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97280"/>
            <a:ext cx="54864" cy="1051560"/>
          </a:xfrm>
          <a:prstGeom prst="rect">
            <a:avLst/>
          </a:prstGeom>
          <a:solidFill>
            <a:srgbClr val="D4382C"/>
          </a:solidFill>
          <a:ln/>
        </p:spPr>
        <p:txBody>
          <a:bodyPr/>
          <a:lstStyle/>
          <a:p>
            <a:endParaRPr lang="ko-KR" altLang="en-US"/>
          </a:p>
        </p:txBody>
      </p:sp>
      <p:sp>
        <p:nvSpPr>
          <p:cNvPr id="8" name="Text 6"/>
          <p:cNvSpPr/>
          <p:nvPr/>
        </p:nvSpPr>
        <p:spPr>
          <a:xfrm>
            <a:off x="640080" y="1143000"/>
            <a:ext cx="7863840" cy="274320"/>
          </a:xfrm>
          <a:prstGeom prst="rect">
            <a:avLst/>
          </a:prstGeom>
          <a:noFill/>
          <a:ln/>
        </p:spPr>
        <p:txBody>
          <a:bodyPr wrap="square" rtlCol="0" anchor="ctr"/>
          <a:lstStyle/>
          <a:p>
            <a:pPr marL="0" indent="0">
              <a:buNone/>
            </a:pPr>
            <a:r>
              <a:rPr lang="en-US" sz="1300" b="1" dirty="0">
                <a:solidFill>
                  <a:srgbClr val="D4382C"/>
                </a:solidFill>
                <a:latin typeface="맑은 고딕" pitchFamily="34" charset="0"/>
                <a:ea typeface="맑은 고딕" pitchFamily="34" charset="-122"/>
                <a:cs typeface="맑은 고딕" pitchFamily="34" charset="-120"/>
              </a:rPr>
              <a:t>재무구조 리스크</a:t>
            </a:r>
            <a:endParaRPr lang="en-US" sz="1300" dirty="0"/>
          </a:p>
        </p:txBody>
      </p:sp>
      <p:sp>
        <p:nvSpPr>
          <p:cNvPr id="9" name="Text 7"/>
          <p:cNvSpPr/>
          <p:nvPr/>
        </p:nvSpPr>
        <p:spPr>
          <a:xfrm>
            <a:off x="640080" y="1417320"/>
            <a:ext cx="7863840" cy="64008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CEO 연대보증 리스크(80억): </a:t>
            </a:r>
            <a:r>
              <a:rPr lang="en-US" sz="1000" dirty="0">
                <a:solidFill>
                  <a:srgbClr val="2B2B2B"/>
                </a:solidFill>
                <a:latin typeface="맑은 고딕" pitchFamily="34" charset="0"/>
                <a:ea typeface="맑은 고딕" pitchFamily="34" charset="-122"/>
                <a:cs typeface="맑은 고딕" pitchFamily="34" charset="-120"/>
              </a:rPr>
              <a:t>CEO 유고 시 채권 은행의 즉시 상환 요구(기한이익상실)로 인한 '흑자 도산' 가능성.</a:t>
            </a:r>
            <a:endParaRPr lang="en-US" sz="1000" dirty="0"/>
          </a:p>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과도한 미처분이익잉여금(40억): </a:t>
            </a:r>
            <a:r>
              <a:rPr lang="en-US" sz="1000" dirty="0">
                <a:solidFill>
                  <a:srgbClr val="2B2B2B"/>
                </a:solidFill>
                <a:latin typeface="맑은 고딕" pitchFamily="34" charset="0"/>
                <a:ea typeface="맑은 고딕" pitchFamily="34" charset="-122"/>
                <a:cs typeface="맑은 고딕" pitchFamily="34" charset="-120"/>
              </a:rPr>
              <a:t>비상장주식 가치 상승으로 인한 상속세 부담 기하급수적 증가.</a:t>
            </a:r>
            <a:endParaRPr lang="en-US" sz="1000" dirty="0"/>
          </a:p>
        </p:txBody>
      </p:sp>
      <p:sp>
        <p:nvSpPr>
          <p:cNvPr id="10" name="Shape 8"/>
          <p:cNvSpPr/>
          <p:nvPr/>
        </p:nvSpPr>
        <p:spPr>
          <a:xfrm>
            <a:off x="457200" y="2286000"/>
            <a:ext cx="822960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86000"/>
            <a:ext cx="54864" cy="1051560"/>
          </a:xfrm>
          <a:prstGeom prst="rect">
            <a:avLst/>
          </a:prstGeom>
          <a:solidFill>
            <a:srgbClr val="D4382C"/>
          </a:solidFill>
          <a:ln/>
        </p:spPr>
        <p:txBody>
          <a:bodyPr/>
          <a:lstStyle/>
          <a:p>
            <a:endParaRPr lang="ko-KR" altLang="en-US"/>
          </a:p>
        </p:txBody>
      </p:sp>
      <p:sp>
        <p:nvSpPr>
          <p:cNvPr id="12" name="Text 10"/>
          <p:cNvSpPr/>
          <p:nvPr/>
        </p:nvSpPr>
        <p:spPr>
          <a:xfrm>
            <a:off x="640080" y="2331720"/>
            <a:ext cx="7863840" cy="274320"/>
          </a:xfrm>
          <a:prstGeom prst="rect">
            <a:avLst/>
          </a:prstGeom>
          <a:noFill/>
          <a:ln/>
        </p:spPr>
        <p:txBody>
          <a:bodyPr wrap="square" rtlCol="0" anchor="ctr"/>
          <a:lstStyle/>
          <a:p>
            <a:pPr marL="0" indent="0">
              <a:buNone/>
            </a:pPr>
            <a:r>
              <a:rPr lang="en-US" sz="1300" b="1" dirty="0">
                <a:solidFill>
                  <a:srgbClr val="D4382C"/>
                </a:solidFill>
                <a:latin typeface="맑은 고딕" pitchFamily="34" charset="0"/>
                <a:ea typeface="맑은 고딕" pitchFamily="34" charset="-122"/>
                <a:cs typeface="맑은 고딕" pitchFamily="34" charset="-120"/>
              </a:rPr>
              <a:t>CEO 관련 리스크</a:t>
            </a:r>
            <a:endParaRPr lang="en-US" sz="1300" dirty="0"/>
          </a:p>
        </p:txBody>
      </p:sp>
      <p:sp>
        <p:nvSpPr>
          <p:cNvPr id="13" name="Text 11"/>
          <p:cNvSpPr/>
          <p:nvPr/>
        </p:nvSpPr>
        <p:spPr>
          <a:xfrm>
            <a:off x="640080" y="2606040"/>
            <a:ext cx="7863840" cy="64008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경영권 승계 플랜 부재: </a:t>
            </a:r>
            <a:r>
              <a:rPr lang="en-US" sz="1000" dirty="0">
                <a:solidFill>
                  <a:srgbClr val="2B2B2B"/>
                </a:solidFill>
                <a:latin typeface="맑은 고딕" pitchFamily="34" charset="0"/>
                <a:ea typeface="맑은 고딕" pitchFamily="34" charset="-122"/>
                <a:cs typeface="맑은 고딕" pitchFamily="34" charset="-120"/>
              </a:rPr>
              <a:t>후계자(김 이사)의 지분 인수 자금 부재로 안정적인 경영권 이전 불가.</a:t>
            </a:r>
            <a:endParaRPr lang="en-US" sz="1000" dirty="0"/>
          </a:p>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상속 리스크: </a:t>
            </a:r>
            <a:r>
              <a:rPr lang="en-US" sz="1000" dirty="0">
                <a:solidFill>
                  <a:srgbClr val="2B2B2B"/>
                </a:solidFill>
                <a:latin typeface="맑은 고딕" pitchFamily="34" charset="0"/>
                <a:ea typeface="맑은 고딕" pitchFamily="34" charset="-122"/>
                <a:cs typeface="맑은 고딕" pitchFamily="34" charset="-120"/>
              </a:rPr>
              <a:t>상속인(배우자, 아들)의 상속세 재원 부족. 재원 마련을 위한 지분 외부 매각 시 경영권 분쟁 또는 적대적 M&amp;A 위험 노출.</a:t>
            </a:r>
            <a:endParaRPr lang="en-US" sz="1000" dirty="0"/>
          </a:p>
        </p:txBody>
      </p:sp>
      <p:sp>
        <p:nvSpPr>
          <p:cNvPr id="14" name="Shape 12"/>
          <p:cNvSpPr/>
          <p:nvPr/>
        </p:nvSpPr>
        <p:spPr>
          <a:xfrm>
            <a:off x="457200" y="3474720"/>
            <a:ext cx="8229600" cy="6858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3474720"/>
            <a:ext cx="54864" cy="685800"/>
          </a:xfrm>
          <a:prstGeom prst="rect">
            <a:avLst/>
          </a:prstGeom>
          <a:solidFill>
            <a:srgbClr val="D4382C"/>
          </a:solidFill>
          <a:ln/>
        </p:spPr>
        <p:txBody>
          <a:bodyPr/>
          <a:lstStyle/>
          <a:p>
            <a:endParaRPr lang="ko-KR" altLang="en-US"/>
          </a:p>
        </p:txBody>
      </p:sp>
      <p:sp>
        <p:nvSpPr>
          <p:cNvPr id="16" name="Text 14"/>
          <p:cNvSpPr/>
          <p:nvPr/>
        </p:nvSpPr>
        <p:spPr>
          <a:xfrm>
            <a:off x="640080" y="3520440"/>
            <a:ext cx="7863840" cy="274320"/>
          </a:xfrm>
          <a:prstGeom prst="rect">
            <a:avLst/>
          </a:prstGeom>
          <a:noFill/>
          <a:ln/>
        </p:spPr>
        <p:txBody>
          <a:bodyPr wrap="square" rtlCol="0" anchor="ctr"/>
          <a:lstStyle/>
          <a:p>
            <a:pPr marL="0" indent="0">
              <a:buNone/>
            </a:pPr>
            <a:r>
              <a:rPr lang="en-US" sz="1300" b="1" dirty="0">
                <a:solidFill>
                  <a:srgbClr val="D4382C"/>
                </a:solidFill>
                <a:latin typeface="맑은 고딕" pitchFamily="34" charset="0"/>
                <a:ea typeface="맑은 고딕" pitchFamily="34" charset="-122"/>
                <a:cs typeface="맑은 고딕" pitchFamily="34" charset="-120"/>
              </a:rPr>
              <a:t>비재무적 리스크</a:t>
            </a:r>
            <a:endParaRPr lang="en-US" sz="1300" dirty="0"/>
          </a:p>
        </p:txBody>
      </p:sp>
      <p:sp>
        <p:nvSpPr>
          <p:cNvPr id="17" name="Text 15"/>
          <p:cNvSpPr/>
          <p:nvPr/>
        </p:nvSpPr>
        <p:spPr>
          <a:xfrm>
            <a:off x="640080" y="3794760"/>
            <a:ext cx="7863840" cy="32004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핵심인력 유출: </a:t>
            </a:r>
            <a:r>
              <a:rPr lang="en-US" sz="1000" dirty="0">
                <a:solidFill>
                  <a:srgbClr val="2B2B2B"/>
                </a:solidFill>
                <a:latin typeface="맑은 고딕" pitchFamily="34" charset="0"/>
                <a:ea typeface="맑은 고딕" pitchFamily="34" charset="-122"/>
                <a:cs typeface="맑은 고딕" pitchFamily="34" charset="-120"/>
              </a:rPr>
              <a:t>대표이사 유고 시, 회사의 불확실성을 느낀 2대 주주(김 이사) 및 핵심 연구인력의 이탈 가능성.</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10 / 32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11</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핵심 이슈 및 전략 과제 도출 (2/2)</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우선 과제 선정</a:t>
            </a:r>
            <a:endParaRPr lang="en-US" sz="1400" dirty="0"/>
          </a:p>
        </p:txBody>
      </p:sp>
      <p:sp>
        <p:nvSpPr>
          <p:cNvPr id="6" name="Shape 4"/>
          <p:cNvSpPr/>
          <p:nvPr/>
        </p:nvSpPr>
        <p:spPr>
          <a:xfrm>
            <a:off x="457200" y="1143000"/>
            <a:ext cx="8229600" cy="25603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Text 5"/>
          <p:cNvSpPr/>
          <p:nvPr/>
        </p:nvSpPr>
        <p:spPr>
          <a:xfrm>
            <a:off x="640080" y="1280160"/>
            <a:ext cx="7863840" cy="502920"/>
          </a:xfrm>
          <a:prstGeom prst="rect">
            <a:avLst/>
          </a:prstGeom>
          <a:noFill/>
          <a:ln/>
        </p:spPr>
        <p:txBody>
          <a:bodyPr wrap="square" rtlCol="0" anchor="t"/>
          <a:lstStyle/>
          <a:p>
            <a:pPr marL="0" indent="0">
              <a:buNone/>
            </a:pPr>
            <a:r>
              <a:rPr lang="en-US" sz="1400" b="1" dirty="0">
                <a:solidFill>
                  <a:srgbClr val="2B2B2B"/>
                </a:solidFill>
                <a:latin typeface="맑은 고딕" pitchFamily="34" charset="0"/>
                <a:ea typeface="맑은 고딕" pitchFamily="34" charset="-122"/>
                <a:cs typeface="맑은 고딕" pitchFamily="34" charset="-120"/>
              </a:rPr>
              <a:t>최우선 전략 과제: CEO 유고 리스크 방어를 위한 '비상 경영자금(Contingency Fund) 150억 원' 확보</a:t>
            </a:r>
            <a:endParaRPr lang="en-US" sz="1400" dirty="0"/>
          </a:p>
        </p:txBody>
      </p:sp>
      <p:sp>
        <p:nvSpPr>
          <p:cNvPr id="8" name="Text 6"/>
          <p:cNvSpPr/>
          <p:nvPr/>
        </p:nvSpPr>
        <p:spPr>
          <a:xfrm>
            <a:off x="640080" y="1828800"/>
            <a:ext cx="7863840" cy="1645920"/>
          </a:xfrm>
          <a:prstGeom prst="rect">
            <a:avLst/>
          </a:prstGeom>
          <a:noFill/>
          <a:ln/>
        </p:spPr>
        <p:txBody>
          <a:bodyPr wrap="square" rtlCol="0" anchor="t"/>
          <a:lstStyle/>
          <a:p>
            <a:pPr marL="0" indent="0">
              <a:lnSpc>
                <a:spcPct val="130000"/>
              </a:lnSpc>
              <a:buNone/>
            </a:pPr>
            <a:r>
              <a:rPr lang="en-US" sz="1100" b="1" dirty="0">
                <a:solidFill>
                  <a:srgbClr val="2B2B2B"/>
                </a:solidFill>
                <a:latin typeface="맑은 고딕" pitchFamily="34" charset="0"/>
                <a:ea typeface="맑은 고딕" pitchFamily="34" charset="-122"/>
                <a:cs typeface="맑은 고딕" pitchFamily="34" charset="-120"/>
              </a:rPr>
              <a:t>선정 근거: </a:t>
            </a:r>
            <a:r>
              <a:rPr lang="en-US" sz="1100" dirty="0">
                <a:solidFill>
                  <a:srgbClr val="2B2B2B"/>
                </a:solidFill>
                <a:latin typeface="맑은 고딕" pitchFamily="34" charset="0"/>
                <a:ea typeface="맑은 고딕" pitchFamily="34" charset="-122"/>
                <a:cs typeface="맑은 고딕" pitchFamily="34" charset="-120"/>
              </a:rPr>
              <a:t>부채 상환, 운영자금 확보, 상속세 재원 마련, 경영권 방어 등 현재 회사가 직면한 모든 핵심 리스크의 근본적인 해결책은 결국 </a:t>
            </a:r>
            <a:r>
              <a:rPr lang="en-US" sz="1100" b="1" dirty="0">
                <a:solidFill>
                  <a:srgbClr val="2B2B2B"/>
                </a:solidFill>
                <a:latin typeface="맑은 고딕" pitchFamily="34" charset="0"/>
                <a:ea typeface="맑은 고딕" pitchFamily="34" charset="-122"/>
                <a:cs typeface="맑은 고딕" pitchFamily="34" charset="-120"/>
              </a:rPr>
              <a:t>'즉시 동원 가능한 현금'</a:t>
            </a:r>
            <a:r>
              <a:rPr lang="en-US" sz="1100" dirty="0">
                <a:solidFill>
                  <a:srgbClr val="2B2B2B"/>
                </a:solidFill>
                <a:latin typeface="맑은 고딕" pitchFamily="34" charset="0"/>
                <a:ea typeface="맑은 고딕" pitchFamily="34" charset="-122"/>
                <a:cs typeface="맑은 고딕" pitchFamily="34" charset="-120"/>
              </a:rPr>
              <a:t>입니다. 이 자금 없이는 그 어떤 후속 전략도 무용지물입니다. 따라서 통제 불가능한 리스크를 선제적으로 방어할 자금을 마련하는 것이 무엇보다 시급합니다.</a:t>
            </a:r>
            <a:endParaRPr lang="en-US" sz="11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11 / 32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(1/4)</a:t>
            </a:r>
            <a:endParaRPr lang="en-US" sz="1500" dirty="0"/>
          </a:p>
        </p:txBody>
      </p:sp>
      <p:sp>
        <p:nvSpPr>
          <p:cNvPr id="5" name="Text 3"/>
          <p:cNvSpPr/>
          <p:nvPr/>
        </p:nvSpPr>
        <p:spPr>
          <a:xfrm>
            <a:off x="457200" y="685800"/>
            <a:ext cx="8229600" cy="27432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보고서의 심장부로서, 구체적이고 실행 가능한 해결책을 명확하게 제시합니다.</a:t>
            </a:r>
            <a:endParaRPr lang="en-US" sz="1100" dirty="0"/>
          </a:p>
        </p:txBody>
      </p:sp>
      <p:sp>
        <p:nvSpPr>
          <p:cNvPr id="6" name="Text 4"/>
          <p:cNvSpPr/>
          <p:nvPr/>
        </p:nvSpPr>
        <p:spPr>
          <a:xfrm>
            <a:off x="457200" y="10515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솔루션 기본 방향 및 목표 설정</a:t>
            </a:r>
            <a:endParaRPr lang="en-US" sz="1400" dirty="0"/>
          </a:p>
        </p:txBody>
      </p:sp>
      <p:sp>
        <p:nvSpPr>
          <p:cNvPr id="7" name="Text 5"/>
          <p:cNvSpPr/>
          <p:nvPr/>
        </p:nvSpPr>
        <p:spPr>
          <a:xfrm>
            <a:off x="457200" y="1508760"/>
            <a:ext cx="8229600" cy="1828800"/>
          </a:xfrm>
          <a:prstGeom prst="rect">
            <a:avLst/>
          </a:prstGeom>
          <a:noFill/>
          <a:ln/>
        </p:spPr>
        <p:txBody>
          <a:bodyPr wrap="square" rtlCol="0" anchor="t"/>
          <a:lstStyle/>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방향: </a:t>
            </a:r>
            <a:r>
              <a:rPr lang="en-US" sz="1100" dirty="0">
                <a:solidFill>
                  <a:srgbClr val="2B2B2B"/>
                </a:solidFill>
                <a:latin typeface="맑은 고딕" pitchFamily="34" charset="0"/>
                <a:ea typeface="맑은 고딕" pitchFamily="34" charset="-122"/>
                <a:cs typeface="맑은 고딕" pitchFamily="34" charset="-120"/>
              </a:rPr>
              <a:t>CEO 유고라는 최악의 상황을 가정하여, 이로 인해 발생하는 모든 재무적 충격을 완벽하게 흡수할 수 있는 현금성 자산을 법인 내에 구축한다.</a:t>
            </a:r>
            <a:endParaRPr lang="en-US" sz="1100" dirty="0"/>
          </a:p>
          <a:p>
            <a:pPr marL="0" indent="0">
              <a:lnSpc>
                <a:spcPct val="135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목표 금액: 150억 원</a:t>
            </a:r>
            <a:endParaRPr lang="en-US" sz="1100" dirty="0"/>
          </a:p>
          <a:p>
            <a:pPr marL="0" indent="0">
              <a:lnSpc>
                <a:spcPct val="135000"/>
              </a:lnSpc>
              <a:buNone/>
            </a:pPr>
            <a:r>
              <a:rPr lang="en-US" sz="1100" dirty="0">
                <a:solidFill>
                  <a:srgbClr val="2B2B2B"/>
                </a:solidFill>
                <a:latin typeface="맑은 고딕" pitchFamily="34" charset="0"/>
                <a:ea typeface="맑은 고딕" pitchFamily="34" charset="-122"/>
                <a:cs typeface="맑은 고딕" pitchFamily="34" charset="-120"/>
              </a:rPr>
              <a:t>    1. 부채 상환 및 대외 신용도 방어 자금: 80억 원</a:t>
            </a:r>
            <a:endParaRPr lang="en-US" sz="1100" dirty="0"/>
          </a:p>
          <a:p>
            <a:pPr marL="0" indent="0">
              <a:lnSpc>
                <a:spcPct val="135000"/>
              </a:lnSpc>
              <a:buNone/>
            </a:pPr>
            <a:r>
              <a:rPr lang="en-US" sz="1100" dirty="0">
                <a:solidFill>
                  <a:srgbClr val="2B2B2B"/>
                </a:solidFill>
                <a:latin typeface="맑은 고딕" pitchFamily="34" charset="0"/>
                <a:ea typeface="맑은 고딕" pitchFamily="34" charset="-122"/>
                <a:cs typeface="맑은 고딕" pitchFamily="34" charset="-120"/>
              </a:rPr>
              <a:t>    2. 운영 안정 및 핵심인력 유지 자금: 40억 원</a:t>
            </a:r>
            <a:endParaRPr lang="en-US" sz="1100" dirty="0"/>
          </a:p>
          <a:p>
            <a:pPr marL="0" indent="0">
              <a:lnSpc>
                <a:spcPct val="135000"/>
              </a:lnSpc>
              <a:buNone/>
            </a:pPr>
            <a:r>
              <a:rPr lang="en-US" sz="1100" dirty="0">
                <a:solidFill>
                  <a:srgbClr val="2B2B2B"/>
                </a:solidFill>
                <a:latin typeface="맑은 고딕" pitchFamily="34" charset="0"/>
                <a:ea typeface="맑은 고딕" pitchFamily="34" charset="-122"/>
                <a:cs typeface="맑은 고딕" pitchFamily="34" charset="-120"/>
              </a:rPr>
              <a:t>    3. 상속세 재원 마련 및 경영권 방어(자사주 매입) 자금: 30억 원</a:t>
            </a:r>
            <a:endParaRPr lang="en-US" sz="11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12 / 32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(2/4)</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핵심 전략 제안: Key-Man 보험 활용 다목적 자금 확보 전략</a:t>
            </a:r>
            <a:endParaRPr lang="en-US" sz="1400" dirty="0"/>
          </a:p>
        </p:txBody>
      </p:sp>
      <p:sp>
        <p:nvSpPr>
          <p:cNvPr id="6" name="Text 4"/>
          <p:cNvSpPr/>
          <p:nvPr/>
        </p:nvSpPr>
        <p:spPr>
          <a:xfrm>
            <a:off x="457200" y="1143000"/>
            <a:ext cx="8229600" cy="3474720"/>
          </a:xfrm>
          <a:prstGeom prst="rect">
            <a:avLst/>
          </a:prstGeom>
          <a:noFill/>
          <a:ln/>
        </p:spPr>
        <p:txBody>
          <a:bodyPr wrap="square" rtlCol="0" anchor="t"/>
          <a:lstStyle/>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원칙: </a:t>
            </a:r>
            <a:r>
              <a:rPr lang="en-US" sz="1000" dirty="0">
                <a:solidFill>
                  <a:srgbClr val="2B2B2B"/>
                </a:solidFill>
                <a:latin typeface="맑은 고딕" pitchFamily="34" charset="0"/>
                <a:ea typeface="맑은 고딕" pitchFamily="34" charset="-122"/>
                <a:cs typeface="맑은 고딕" pitchFamily="34" charset="-120"/>
              </a:rPr>
              <a:t>CEO를 피보험자로, 법인을 계약자 및 수익자로 하는 종신보험에 가입하여 목표 자금을 준비합니다. CEO 사망 시, 보험금 150억 원은 상속재산과 무관하게 법인의 고유 자산으로 즉시 유입되어, 사전에 계획된 목적에 따라 사용됩니다.</a:t>
            </a:r>
            <a:endParaRPr lang="en-US" sz="1000" dirty="0"/>
          </a:p>
          <a:p>
            <a:pPr marL="0" indent="0">
              <a:lnSpc>
                <a:spcPct val="125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000" dirty="0"/>
          </a:p>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예외: </a:t>
            </a:r>
            <a:r>
              <a:rPr lang="en-US" sz="1000" dirty="0">
                <a:solidFill>
                  <a:srgbClr val="2B2B2B"/>
                </a:solidFill>
                <a:latin typeface="맑은 고딕" pitchFamily="34" charset="0"/>
                <a:ea typeface="맑은 고딕" pitchFamily="34" charset="-122"/>
                <a:cs typeface="맑은 고딕" pitchFamily="34" charset="-120"/>
              </a:rPr>
              <a:t>만약 월 보험료 납입이 부담된다면, 목표 금액 150억 원 중 부채 상환분 80억 원은 비용이 저렴한 정기보험으로, 나머지 70억 원은 해지환급금을 활용할 수 있는 종신보험으로 나누어 '하이브리드 설계'를 함으로써 비용 효율성을 높일 수 있습니다.</a:t>
            </a:r>
            <a:endParaRPr lang="en-US" sz="1000" dirty="0"/>
          </a:p>
          <a:p>
            <a:pPr marL="0" indent="0">
              <a:lnSpc>
                <a:spcPct val="125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000" dirty="0"/>
          </a:p>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주의사항:</a:t>
            </a:r>
            <a:endParaRPr lang="en-US" sz="1000" dirty="0"/>
          </a:p>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1. 계약 구조의 중요성: </a:t>
            </a:r>
            <a:r>
              <a:rPr lang="en-US" sz="1000" dirty="0">
                <a:solidFill>
                  <a:srgbClr val="2B2B2B"/>
                </a:solidFill>
                <a:latin typeface="맑은 고딕" pitchFamily="34" charset="0"/>
                <a:ea typeface="맑은 고딕" pitchFamily="34" charset="-122"/>
                <a:cs typeface="맑은 고딕" pitchFamily="34" charset="-120"/>
              </a:rPr>
              <a:t>반드시 계약자=법인, 수익자=법인 구조를 준수해야 합니다. 만약 수익자를 CEO의 상속인으로 지정하면 보험금은 상속인의 재산이 되어 상속세가 과세되고 법인의 비상금으로 쓸 수 없습니다. (근거: 상속세 및 증여세법 제8조)</a:t>
            </a:r>
            <a:endParaRPr lang="en-US" sz="1000" dirty="0"/>
          </a:p>
          <a:p>
            <a:pPr marL="0" indent="0">
              <a:lnSpc>
                <a:spcPct val="125000"/>
              </a:lnSpc>
              <a:buNone/>
            </a:pPr>
            <a:r>
              <a:rPr lang="en-US" sz="1000" b="1" dirty="0">
                <a:solidFill>
                  <a:srgbClr val="2B2B2B"/>
                </a:solidFill>
                <a:latin typeface="맑은 고딕" pitchFamily="34" charset="0"/>
                <a:ea typeface="맑은 고딕" pitchFamily="34" charset="-122"/>
                <a:cs typeface="맑은 고딕" pitchFamily="34" charset="-120"/>
              </a:rPr>
              <a:t>    2. 세무 처리: </a:t>
            </a:r>
            <a:r>
              <a:rPr lang="en-US" sz="1000" dirty="0">
                <a:solidFill>
                  <a:srgbClr val="2B2B2B"/>
                </a:solidFill>
                <a:latin typeface="맑은 고딕" pitchFamily="34" charset="0"/>
                <a:ea typeface="맑은 고딕" pitchFamily="34" charset="-122"/>
                <a:cs typeface="맑은 고딕" pitchFamily="34" charset="-120"/>
              </a:rPr>
              <a:t>법인이 수령하는 사망보험금은 회계상 영업외수익(보험차익)으로 처리되어 법인세 과세 대상입니다. 따라서 보험금 수령 연도에 CEO 사망 퇴직금을 거액으로 지급하거나, 사업용 자산 취득, 결손금 보전 등의 비용 처리를 통해 법인세 부담을 전략적으로 상쇄하는 출구전략이 반드시 병행되어야 합니다.</a:t>
            </a:r>
            <a:endParaRPr lang="en-US" sz="10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13 / 32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(3/4)</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전략 실행을 위한 최적 금융 솔루션: CEO 종신보험 설계(안)</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2247763929"/>
              </p:ext>
            </p:extLst>
          </p:nvPr>
        </p:nvGraphicFramePr>
        <p:xfrm>
          <a:off x="457200" y="1143000"/>
          <a:ext cx="8229600" cy="3072384"/>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84048">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보험 종류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CEO 경영인 정기보험 (플랜A) + 종신보험 (플랜B)</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계약자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(주)솔라테크 코리아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피보험자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박진우 대표이사</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수익자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(주)솔라테크 코리아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보험가입금액</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150억 원 (정기 80억 + 종신 70억)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납입 기간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10년 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84048">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월 예상 보험료</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맑은 고딕" pitchFamily="34" charset="0"/>
                          <a:ea typeface="맑은 고딕" pitchFamily="34" charset="-122"/>
                          <a:cs typeface="맑은 고딕" pitchFamily="34" charset="-120"/>
                        </a:rPr>
                        <a:t>약 3,500만 원 (순수보장성 정기보험 활용으로 비용 최적화)</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14 / 32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맞춤형 솔루션 및 실행 전략 제안 (4/4)</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절차적 정당성 확보 방안</a:t>
            </a:r>
            <a:endParaRPr lang="en-US" sz="1400" dirty="0"/>
          </a:p>
        </p:txBody>
      </p:sp>
      <p:sp>
        <p:nvSpPr>
          <p:cNvPr id="6" name="Text 4"/>
          <p:cNvSpPr/>
          <p:nvPr/>
        </p:nvSpPr>
        <p:spPr>
          <a:xfrm>
            <a:off x="457200" y="1143000"/>
            <a:ext cx="8229600" cy="1828800"/>
          </a:xfrm>
          <a:prstGeom prst="rect">
            <a:avLst/>
          </a:prstGeom>
          <a:noFill/>
          <a:ln/>
        </p:spPr>
        <p:txBody>
          <a:bodyPr wrap="square" rtlCol="0" anchor="t"/>
          <a:lstStyle/>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이사회 결의: </a:t>
            </a:r>
            <a:r>
              <a:rPr lang="en-US" sz="1100" dirty="0">
                <a:solidFill>
                  <a:srgbClr val="2B2B2B"/>
                </a:solidFill>
                <a:latin typeface="맑은 고딕" pitchFamily="34" charset="0"/>
                <a:ea typeface="맑은 고딕" pitchFamily="34" charset="-122"/>
                <a:cs typeface="맑은 고딕" pitchFamily="34" charset="-120"/>
              </a:rPr>
              <a:t>Key-Man 보험 가입의 목적(긴급 채무 상환, 운영자금 확보, 경영권 안정)과 기대효과를 명시하여 이사회 승인을 득하고, 관련 회의록을 반드시 작성 및 보관합니다.</a:t>
            </a:r>
            <a:endParaRPr lang="en-US" sz="1100" dirty="0"/>
          </a:p>
          <a:p>
            <a:pPr marL="0" indent="0">
              <a:lnSpc>
                <a:spcPct val="135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정관 정비: </a:t>
            </a:r>
            <a:r>
              <a:rPr lang="en-US" sz="1100" dirty="0">
                <a:solidFill>
                  <a:srgbClr val="2B2B2B"/>
                </a:solidFill>
                <a:latin typeface="맑은 고딕" pitchFamily="34" charset="0"/>
                <a:ea typeface="맑은 고딕" pitchFamily="34" charset="-122"/>
                <a:cs typeface="맑은 고딕" pitchFamily="34" charset="-120"/>
              </a:rPr>
              <a:t>필요한 경우, 정관에 '임원의 사망 위로금 및 퇴직금 지급 규정'을 명확히 하여, 향후 보험금 활용의 법적 근거를 강화합니다.</a:t>
            </a:r>
            <a:endParaRPr lang="en-US" sz="11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15 / 32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기대효과 및 재무적 영향 분석 (1/3)</a:t>
            </a:r>
            <a:endParaRPr lang="en-US" sz="1500" dirty="0"/>
          </a:p>
        </p:txBody>
      </p:sp>
      <p:sp>
        <p:nvSpPr>
          <p:cNvPr id="5" name="Text 3"/>
          <p:cNvSpPr/>
          <p:nvPr/>
        </p:nvSpPr>
        <p:spPr>
          <a:xfrm>
            <a:off x="457200" y="685800"/>
            <a:ext cx="8229600" cy="27432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대표님의 결단이 가져올 (주)솔라테크 코리아의 미래를 구체적인 '숫자'로 증명합니다.</a:t>
            </a:r>
            <a:endParaRPr lang="en-US" sz="1100" dirty="0"/>
          </a:p>
        </p:txBody>
      </p:sp>
      <p:sp>
        <p:nvSpPr>
          <p:cNvPr id="6" name="Text 4"/>
          <p:cNvSpPr/>
          <p:nvPr/>
        </p:nvSpPr>
        <p:spPr>
          <a:xfrm>
            <a:off x="457200" y="105156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정성적 기대효과</a:t>
            </a:r>
            <a:endParaRPr lang="en-US" sz="1400" dirty="0"/>
          </a:p>
        </p:txBody>
      </p:sp>
      <p:sp>
        <p:nvSpPr>
          <p:cNvPr id="7" name="Shape 5"/>
          <p:cNvSpPr/>
          <p:nvPr/>
        </p:nvSpPr>
        <p:spPr>
          <a:xfrm>
            <a:off x="457200" y="1508760"/>
            <a:ext cx="393192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508760"/>
            <a:ext cx="54864" cy="1645920"/>
          </a:xfrm>
          <a:prstGeom prst="rect">
            <a:avLst/>
          </a:prstGeom>
          <a:solidFill>
            <a:srgbClr val="1A6B4A"/>
          </a:solidFill>
          <a:ln/>
        </p:spPr>
        <p:txBody>
          <a:bodyPr/>
          <a:lstStyle/>
          <a:p>
            <a:endParaRPr lang="ko-KR" altLang="en-US"/>
          </a:p>
        </p:txBody>
      </p:sp>
      <p:sp>
        <p:nvSpPr>
          <p:cNvPr id="9" name="Text 7"/>
          <p:cNvSpPr/>
          <p:nvPr/>
        </p:nvSpPr>
        <p:spPr>
          <a:xfrm>
            <a:off x="640080" y="1600200"/>
            <a:ext cx="3566160" cy="274320"/>
          </a:xfrm>
          <a:prstGeom prst="rect">
            <a:avLst/>
          </a:prstGeom>
          <a:noFill/>
          <a:ln/>
        </p:spPr>
        <p:txBody>
          <a:bodyPr wrap="square" rtlCol="0" anchor="ctr"/>
          <a:lstStyle/>
          <a:p>
            <a:pPr marL="0" indent="0">
              <a:buNone/>
            </a:pPr>
            <a:r>
              <a:rPr lang="en-US" sz="1300" b="1" dirty="0">
                <a:solidFill>
                  <a:srgbClr val="2B2B2B"/>
                </a:solidFill>
                <a:latin typeface="맑은 고딕" pitchFamily="34" charset="0"/>
                <a:ea typeface="맑은 고딕" pitchFamily="34" charset="-122"/>
                <a:cs typeface="맑은 고딕" pitchFamily="34" charset="-120"/>
              </a:rPr>
              <a:t>기업</a:t>
            </a:r>
            <a:endParaRPr lang="en-US" sz="1300" dirty="0"/>
          </a:p>
        </p:txBody>
      </p:sp>
      <p:sp>
        <p:nvSpPr>
          <p:cNvPr id="10" name="Text 8"/>
          <p:cNvSpPr/>
          <p:nvPr/>
        </p:nvSpPr>
        <p:spPr>
          <a:xfrm>
            <a:off x="640080" y="1920240"/>
            <a:ext cx="3566160" cy="1097280"/>
          </a:xfrm>
          <a:prstGeom prst="rect">
            <a:avLst/>
          </a:prstGeom>
          <a:noFill/>
          <a:ln/>
        </p:spPr>
        <p:txBody>
          <a:bodyPr wrap="square" rtlCol="0" anchor="t"/>
          <a:lstStyle/>
          <a:p>
            <a:pPr marL="0" indent="0">
              <a:lnSpc>
                <a:spcPct val="120000"/>
              </a:lnSpc>
              <a:buNone/>
            </a:pPr>
            <a:r>
              <a:rPr lang="en-US" sz="1000" dirty="0">
                <a:solidFill>
                  <a:srgbClr val="2B2B2B"/>
                </a:solidFill>
                <a:latin typeface="맑은 고딕" pitchFamily="34" charset="0"/>
                <a:ea typeface="맑은 고딕" pitchFamily="34" charset="-122"/>
                <a:cs typeface="맑은 고딕" pitchFamily="34" charset="-120"/>
              </a:rPr>
              <a:t>'CEO 리스크'가 관리되는 '시스템 경영' 기업으로 인정받아 대외 신인도(금융기관, 투자자, 고객사)가 급상승합니다.</a:t>
            </a:r>
            <a:endParaRPr lang="en-US" sz="1000" dirty="0"/>
          </a:p>
        </p:txBody>
      </p:sp>
      <p:sp>
        <p:nvSpPr>
          <p:cNvPr id="11" name="Shape 9"/>
          <p:cNvSpPr/>
          <p:nvPr/>
        </p:nvSpPr>
        <p:spPr>
          <a:xfrm>
            <a:off x="4754880" y="1508760"/>
            <a:ext cx="393192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754880" y="1508760"/>
            <a:ext cx="54864" cy="1645920"/>
          </a:xfrm>
          <a:prstGeom prst="rect">
            <a:avLst/>
          </a:prstGeom>
          <a:solidFill>
            <a:srgbClr val="C8962E"/>
          </a:solidFill>
          <a:ln/>
        </p:spPr>
        <p:txBody>
          <a:bodyPr/>
          <a:lstStyle/>
          <a:p>
            <a:endParaRPr lang="ko-KR" altLang="en-US"/>
          </a:p>
        </p:txBody>
      </p:sp>
      <p:sp>
        <p:nvSpPr>
          <p:cNvPr id="13" name="Text 11"/>
          <p:cNvSpPr/>
          <p:nvPr/>
        </p:nvSpPr>
        <p:spPr>
          <a:xfrm>
            <a:off x="4937760" y="1600200"/>
            <a:ext cx="3566160" cy="274320"/>
          </a:xfrm>
          <a:prstGeom prst="rect">
            <a:avLst/>
          </a:prstGeom>
          <a:noFill/>
          <a:ln/>
        </p:spPr>
        <p:txBody>
          <a:bodyPr wrap="square" rtlCol="0" anchor="ctr"/>
          <a:lstStyle/>
          <a:p>
            <a:pPr marL="0" indent="0">
              <a:buNone/>
            </a:pPr>
            <a:r>
              <a:rPr lang="en-US" sz="1300" b="1" dirty="0">
                <a:solidFill>
                  <a:srgbClr val="2B2B2B"/>
                </a:solidFill>
                <a:latin typeface="맑은 고딕" pitchFamily="34" charset="0"/>
                <a:ea typeface="맑은 고딕" pitchFamily="34" charset="-122"/>
                <a:cs typeface="맑은 고딕" pitchFamily="34" charset="-120"/>
              </a:rPr>
              <a:t>CEO</a:t>
            </a:r>
            <a:endParaRPr lang="en-US" sz="1300" dirty="0"/>
          </a:p>
        </p:txBody>
      </p:sp>
      <p:sp>
        <p:nvSpPr>
          <p:cNvPr id="14" name="Text 12"/>
          <p:cNvSpPr/>
          <p:nvPr/>
        </p:nvSpPr>
        <p:spPr>
          <a:xfrm>
            <a:off x="4937760" y="1920240"/>
            <a:ext cx="3566160" cy="1097280"/>
          </a:xfrm>
          <a:prstGeom prst="rect">
            <a:avLst/>
          </a:prstGeom>
          <a:noFill/>
          <a:ln/>
        </p:spPr>
        <p:txBody>
          <a:bodyPr wrap="square" rtlCol="0" anchor="t"/>
          <a:lstStyle/>
          <a:p>
            <a:pPr marL="0" indent="0">
              <a:lnSpc>
                <a:spcPct val="120000"/>
              </a:lnSpc>
              <a:buNone/>
            </a:pPr>
            <a:r>
              <a:rPr lang="en-US" sz="1000" dirty="0">
                <a:solidFill>
                  <a:srgbClr val="2B2B2B"/>
                </a:solidFill>
                <a:latin typeface="맑은 고딕" pitchFamily="34" charset="0"/>
                <a:ea typeface="맑은 고딕" pitchFamily="34" charset="-122"/>
                <a:cs typeface="맑은 고딕" pitchFamily="34" charset="-120"/>
              </a:rPr>
              <a:t>평생 일군 회사가 한순간에 무너질 수 있다는 불안감에서 완전히 해방되어 경영 활동에 더욱 전념할 수 있으며, 가족에 대한 마지막 책임을 완수했다는 자부심을 갖게 됩니다.</a:t>
            </a:r>
            <a:endParaRPr lang="en-US" sz="100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16 / 32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기대효과 및 재무적 영향 분석 (2/3)</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정량적 기대효과 (CEO 유고 상황 발생 시 Before &amp; After 시뮬레이션)</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2983481170"/>
              </p:ext>
            </p:extLst>
          </p:nvPr>
        </p:nvGraphicFramePr>
        <p:xfrm>
          <a:off x="457200" y="1143000"/>
          <a:ext cx="8229600" cy="2743200"/>
        </p:xfrm>
        <a:graphic>
          <a:graphicData uri="http://schemas.openxmlformats.org/drawingml/2006/table">
            <a:tbl>
              <a:tblPr/>
              <a:tblGrid>
                <a:gridCol w="13716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45720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솔루션 실행 전 (As-Is)</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솔루션 실행 후 (To-Be)</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자금 흐름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현금 고갈, 자산 동결. 80억 원 채무 불이행.</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563EB"/>
                          </a:solidFill>
                          <a:latin typeface="맑은 고딕" pitchFamily="34" charset="0"/>
                          <a:ea typeface="맑은 고딕" pitchFamily="34" charset="-122"/>
                          <a:cs typeface="맑은 고딕" pitchFamily="34" charset="-120"/>
                        </a:rPr>
                        <a:t>보험금 150억 원 법인 계좌로 즉시 유입.</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45720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재무 상태</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흑자 도산. 대표이사 사택 등 담보 자산 경매 처분.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563EB"/>
                          </a:solidFill>
                          <a:latin typeface="맑은 고딕" pitchFamily="34" charset="0"/>
                          <a:ea typeface="맑은 고딕" pitchFamily="34" charset="-122"/>
                          <a:cs typeface="맑은 고딕" pitchFamily="34" charset="-120"/>
                        </a:rPr>
                        <a:t>80억 부채 상환 → 부채비율 71%로 급감, 초우량 기업 변모.</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2"/>
                  </a:ext>
                </a:extLst>
              </a:tr>
              <a:tr h="45720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경영 활동</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직원 급여 체불, 핵심 프로젝트 중단. 김 이사 등 인재 이탈.</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563EB"/>
                          </a:solidFill>
                          <a:latin typeface="맑은 고딕" pitchFamily="34" charset="0"/>
                          <a:ea typeface="맑은 고딕" pitchFamily="34" charset="-122"/>
                          <a:cs typeface="맑은 고딕" pitchFamily="34" charset="-120"/>
                        </a:rPr>
                        <a:t>40억 운영자금으로 2년간 안정적 경영. 김 이사 중심의 비상경영체제 가동.</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3"/>
                  </a:ext>
                </a:extLst>
              </a:tr>
              <a:tr h="457200">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경영권/가족</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B2B2B"/>
                          </a:solidFill>
                          <a:latin typeface="맑은 고딕" pitchFamily="34" charset="0"/>
                          <a:ea typeface="맑은 고딕" pitchFamily="34" charset="-122"/>
                          <a:cs typeface="맑은 고딕" pitchFamily="34" charset="-120"/>
                        </a:rPr>
                        <a:t>상속세 마련 위해 지분 헐값 매각. 가족의 생계 위협.</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2563EB"/>
                          </a:solidFill>
                          <a:latin typeface="맑은 고딕" pitchFamily="34" charset="0"/>
                          <a:ea typeface="맑은 고딕" pitchFamily="34" charset="-122"/>
                          <a:cs typeface="맑은 고딕" pitchFamily="34" charset="-120"/>
                        </a:rPr>
                        <a:t>30억 자금으로 자사주 매입. 상속인에게 현금 제공, 김 이사에게 경영권 안정적 승계.</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4"/>
                  </a:ext>
                </a:extLst>
              </a:tr>
              <a:tr h="457200">
                <a:tc>
                  <a:txBody>
                    <a:bodyPr/>
                    <a:lstStyle/>
                    <a:p>
                      <a:pPr marL="0" indent="0" algn="ctr">
                        <a:buNone/>
                      </a:pPr>
                      <a:r>
                        <a:rPr lang="en-US" sz="900" b="1" dirty="0">
                          <a:solidFill>
                            <a:srgbClr val="2B2B2B"/>
                          </a:solidFill>
                          <a:latin typeface="맑은 고딕" pitchFamily="34" charset="0"/>
                          <a:ea typeface="맑은 고딕" pitchFamily="34" charset="-122"/>
                          <a:cs typeface="맑은 고딕" pitchFamily="34" charset="-120"/>
                        </a:rPr>
                        <a:t>최종 결과</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기업 해체, 가족의 고통.</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2563EB"/>
                          </a:solidFill>
                          <a:latin typeface="맑은 고딕" pitchFamily="34" charset="0"/>
                          <a:ea typeface="맑은 고딕" pitchFamily="34" charset="-122"/>
                          <a:cs typeface="맑은 고딕" pitchFamily="34" charset="-120"/>
                        </a:rPr>
                        <a:t>기업 영속성 확보, 성공적인 승계, 가족의 안정.</a:t>
                      </a:r>
                      <a:endParaRPr lang="en-US" sz="9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17 / 32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기대효과 및 재무적 영향 분석 (3/3)</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잠재 리스크 및 대응 방안</a:t>
            </a:r>
            <a:endParaRPr lang="en-US" sz="1400" dirty="0"/>
          </a:p>
        </p:txBody>
      </p:sp>
      <p:sp>
        <p:nvSpPr>
          <p:cNvPr id="6" name="Text 4"/>
          <p:cNvSpPr/>
          <p:nvPr/>
        </p:nvSpPr>
        <p:spPr>
          <a:xfrm>
            <a:off x="457200" y="1143000"/>
            <a:ext cx="8229600" cy="1371600"/>
          </a:xfrm>
          <a:prstGeom prst="rect">
            <a:avLst/>
          </a:prstGeom>
          <a:noFill/>
          <a:ln/>
        </p:spPr>
        <p:txBody>
          <a:bodyPr wrap="square" rtlCol="0" anchor="t"/>
          <a:lstStyle/>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리스크: </a:t>
            </a:r>
            <a:r>
              <a:rPr lang="en-US" sz="1100" dirty="0">
                <a:solidFill>
                  <a:srgbClr val="2B2B2B"/>
                </a:solidFill>
                <a:latin typeface="맑은 고딕" pitchFamily="34" charset="0"/>
                <a:ea typeface="맑은 고딕" pitchFamily="34" charset="-122"/>
                <a:cs typeface="맑은 고딕" pitchFamily="34" charset="-120"/>
              </a:rPr>
              <a:t>보험료 납입 기간 중 회사의 현금흐름이 악화될 경우.</a:t>
            </a:r>
            <a:endParaRPr lang="en-US" sz="1100" dirty="0"/>
          </a:p>
          <a:p>
            <a:pPr marL="0" indent="0">
              <a:lnSpc>
                <a:spcPct val="135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1100" dirty="0"/>
          </a:p>
          <a:p>
            <a:pPr marL="0" indent="0">
              <a:lnSpc>
                <a:spcPct val="135000"/>
              </a:lnSpc>
              <a:buNone/>
            </a:pPr>
            <a:r>
              <a:rPr lang="en-US" sz="1100" b="1" dirty="0">
                <a:solidFill>
                  <a:srgbClr val="2B2B2B"/>
                </a:solidFill>
                <a:latin typeface="맑은 고딕" pitchFamily="34" charset="0"/>
                <a:ea typeface="맑은 고딕" pitchFamily="34" charset="-122"/>
                <a:cs typeface="맑은 고딕" pitchFamily="34" charset="-120"/>
              </a:rPr>
              <a:t>• 대응 방안: </a:t>
            </a:r>
            <a:r>
              <a:rPr lang="en-US" sz="1100" dirty="0">
                <a:solidFill>
                  <a:srgbClr val="2B2B2B"/>
                </a:solidFill>
                <a:latin typeface="맑은 고딕" pitchFamily="34" charset="0"/>
                <a:ea typeface="맑은 고딕" pitchFamily="34" charset="-122"/>
                <a:cs typeface="맑은 고딕" pitchFamily="34" charset="-120"/>
              </a:rPr>
              <a:t>본 플랜에 포함된 종신보험(70억)의 해지환급금을 담보로 한 '보험계약대출'을 활용하여 긴급 운영자금을 조달할 수 있습니다. 이는 위기 시 또 하나의 비상금고 역할을 합니다.</a:t>
            </a:r>
            <a:endParaRPr lang="en-US" sz="1100" dirty="0"/>
          </a:p>
        </p:txBody>
      </p:sp>
      <p:sp>
        <p:nvSpPr>
          <p:cNvPr id="7"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18 / 32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19</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 실행 로드맵 및 추진 일정</a:t>
            </a:r>
            <a:endParaRPr lang="en-US" sz="1500" dirty="0"/>
          </a:p>
        </p:txBody>
      </p:sp>
      <p:sp>
        <p:nvSpPr>
          <p:cNvPr id="5" name="Text 3"/>
          <p:cNvSpPr/>
          <p:nvPr/>
        </p:nvSpPr>
        <p:spPr>
          <a:xfrm>
            <a:off x="457200" y="685800"/>
            <a:ext cx="8229600" cy="274320"/>
          </a:xfrm>
          <a:prstGeom prst="rect">
            <a:avLst/>
          </a:prstGeom>
          <a:noFill/>
          <a:ln/>
        </p:spPr>
        <p:txBody>
          <a:bodyPr wrap="square" rtlCol="0" anchor="t"/>
          <a:lstStyle/>
          <a:p>
            <a:pPr marL="0" indent="0">
              <a:buNone/>
            </a:pPr>
            <a:r>
              <a:rPr lang="en-US" sz="1100" dirty="0">
                <a:solidFill>
                  <a:srgbClr val="4A5568"/>
                </a:solidFill>
                <a:latin typeface="맑은 고딕" pitchFamily="34" charset="0"/>
                <a:ea typeface="맑은 고딕" pitchFamily="34" charset="-122"/>
                <a:cs typeface="맑은 고딕" pitchFamily="34" charset="-120"/>
              </a:rPr>
              <a:t>컨설팅이 보고서로 끝나지 않고 실제 행동으로 이어지도록 구체적인 실행 계획을 제시합니다.</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2317480240"/>
              </p:ext>
            </p:extLst>
          </p:nvPr>
        </p:nvGraphicFramePr>
        <p:xfrm>
          <a:off x="457200" y="1097280"/>
          <a:ext cx="822960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5720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단계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주요 활동</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기간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Phase 1: 전략 확정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본 보고서 리뷰 및 최종 플랜 확정, 이사회 결의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2주</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Phase 2: 솔루션 실행</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최적 보험상품 비교·선정, 계약 체결 및 회계 처리</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2주</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57200">
                <a:tc>
                  <a:txBody>
                    <a:bodyPr/>
                    <a:lstStyle/>
                    <a:p>
                      <a:pPr marL="0" indent="0" algn="ctr">
                        <a:buNone/>
                      </a:pPr>
                      <a:r>
                        <a:rPr lang="en-US" sz="1000" b="1" dirty="0">
                          <a:solidFill>
                            <a:srgbClr val="2B2B2B"/>
                          </a:solidFill>
                          <a:latin typeface="맑은 고딕" pitchFamily="34" charset="0"/>
                          <a:ea typeface="맑은 고딕" pitchFamily="34" charset="-122"/>
                          <a:cs typeface="맑은 고딕" pitchFamily="34" charset="-120"/>
                        </a:rPr>
                        <a:t>Phase 3: 후속 관리</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정기적 재무 리뷰 및 승계 플랜 구체화, 관련 법규 변경사항 업데이트</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지속</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19 / 32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20</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VIII. 종합 결론 및 전략적 제언 (1/2)</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컨설팅 핵심 요약 및 결론</a:t>
            </a:r>
            <a:endParaRPr lang="en-US" sz="1400" dirty="0"/>
          </a:p>
        </p:txBody>
      </p:sp>
      <p:sp>
        <p:nvSpPr>
          <p:cNvPr id="6" name="Shape 4"/>
          <p:cNvSpPr/>
          <p:nvPr/>
        </p:nvSpPr>
        <p:spPr>
          <a:xfrm>
            <a:off x="457200" y="1143000"/>
            <a:ext cx="8229600" cy="1371600"/>
          </a:xfrm>
          <a:prstGeom prst="rect">
            <a:avLst/>
          </a:prstGeom>
          <a:solidFill>
            <a:srgbClr val="EEF2F7"/>
          </a:solidFill>
          <a:ln/>
        </p:spPr>
        <p:txBody>
          <a:bodyPr/>
          <a:lstStyle/>
          <a:p>
            <a:endParaRPr lang="ko-KR" altLang="en-US"/>
          </a:p>
        </p:txBody>
      </p:sp>
      <p:sp>
        <p:nvSpPr>
          <p:cNvPr id="7" name="Text 5"/>
          <p:cNvSpPr/>
          <p:nvPr/>
        </p:nvSpPr>
        <p:spPr>
          <a:xfrm>
            <a:off x="640080" y="1234440"/>
            <a:ext cx="7863840" cy="118872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(주)솔라테크 코리아의 성장을 이끈 '영웅'은 대표님이셨습니다. 그러나 회사를 '100년 기업'으로 만들 '시스템'은 아직 부재합니다. Key-Man 보험 150억 플랜은 이 '시스템'의 심장을 만드는 일이며, 대표님의 부재라는 최악의 위기를, 회사가 한 단계 더 도약하는 최고의 기회로 전환하는 가장 강력한 전략적 선택입니다.</a:t>
            </a:r>
            <a:endParaRPr lang="en-US" sz="1100" dirty="0"/>
          </a:p>
        </p:txBody>
      </p:sp>
      <p:sp>
        <p:nvSpPr>
          <p:cNvPr id="8" name="Text 6"/>
          <p:cNvSpPr/>
          <p:nvPr/>
        </p:nvSpPr>
        <p:spPr>
          <a:xfrm>
            <a:off x="457200" y="269748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장기적 관점에서의 추가 제언</a:t>
            </a:r>
            <a:endParaRPr lang="en-US" sz="1400" dirty="0"/>
          </a:p>
        </p:txBody>
      </p:sp>
      <p:sp>
        <p:nvSpPr>
          <p:cNvPr id="9" name="Text 7"/>
          <p:cNvSpPr/>
          <p:nvPr/>
        </p:nvSpPr>
        <p:spPr>
          <a:xfrm>
            <a:off x="457200" y="3154680"/>
            <a:ext cx="8229600" cy="91440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본 플랜 실행과 동시에, 확보된 법인 재원을 바탕으로 한 </a:t>
            </a:r>
            <a:r>
              <a:rPr lang="en-US" sz="1100" b="1" dirty="0">
                <a:solidFill>
                  <a:srgbClr val="2B2B2B"/>
                </a:solidFill>
                <a:latin typeface="맑은 고딕" pitchFamily="34" charset="0"/>
                <a:ea typeface="맑은 고딕" pitchFamily="34" charset="-122"/>
                <a:cs typeface="맑은 고딕" pitchFamily="34" charset="-120"/>
              </a:rPr>
              <a:t>'경영권 승계 로드맵'</a:t>
            </a:r>
            <a:r>
              <a:rPr lang="en-US" sz="1100" dirty="0">
                <a:solidFill>
                  <a:srgbClr val="2B2B2B"/>
                </a:solidFill>
                <a:latin typeface="맑은 고딕" pitchFamily="34" charset="0"/>
                <a:ea typeface="맑은 고딕" pitchFamily="34" charset="-122"/>
                <a:cs typeface="맑은 고딕" pitchFamily="34" charset="-120"/>
              </a:rPr>
              <a:t>을 구체화해야 합니다. 자사주 매입 후 후계자(김 이사)에게 증여 또는 양도하는 방안, 스톡옵션 부여 등 체계적인 지분 이전 계획을 수립하여 안정적인 2기 경영 체제를 준비해야 합니다.</a:t>
            </a:r>
            <a:endParaRPr lang="en-US" sz="11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20 / 32</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21</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VIII. 종합 결론 및 전략적 제언 (2/2)</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성공적인 실행을 위한 CEO의 리더십과 역할 강조</a:t>
            </a:r>
            <a:endParaRPr lang="en-US" sz="1400" dirty="0"/>
          </a:p>
        </p:txBody>
      </p:sp>
      <p:sp>
        <p:nvSpPr>
          <p:cNvPr id="6" name="Shape 4"/>
          <p:cNvSpPr/>
          <p:nvPr/>
        </p:nvSpPr>
        <p:spPr>
          <a:xfrm>
            <a:off x="457200" y="1143000"/>
            <a:ext cx="8229600" cy="1828800"/>
          </a:xfrm>
          <a:prstGeom prst="rect">
            <a:avLst/>
          </a:prstGeom>
          <a:solidFill>
            <a:srgbClr val="EEF2F7"/>
          </a:solidFill>
          <a:ln/>
        </p:spPr>
        <p:txBody>
          <a:bodyPr/>
          <a:lstStyle/>
          <a:p>
            <a:endParaRPr lang="ko-KR" altLang="en-US"/>
          </a:p>
        </p:txBody>
      </p:sp>
      <p:sp>
        <p:nvSpPr>
          <p:cNvPr id="7" name="Text 5"/>
          <p:cNvSpPr/>
          <p:nvPr/>
        </p:nvSpPr>
        <p:spPr>
          <a:xfrm>
            <a:off x="640080" y="1280160"/>
            <a:ext cx="7863840" cy="1554480"/>
          </a:xfrm>
          <a:prstGeom prst="rect">
            <a:avLst/>
          </a:prstGeom>
          <a:noFill/>
          <a:ln/>
        </p:spPr>
        <p:txBody>
          <a:bodyPr wrap="square" rtlCol="0" anchor="ctr"/>
          <a:lstStyle/>
          <a:p>
            <a:pPr marL="0" indent="0">
              <a:lnSpc>
                <a:spcPct val="135000"/>
              </a:lnSpc>
              <a:buNone/>
            </a:pPr>
            <a:r>
              <a:rPr lang="en-US" sz="1200" i="1" dirty="0">
                <a:solidFill>
                  <a:srgbClr val="2B2B2B"/>
                </a:solidFill>
                <a:latin typeface="맑은 고딕" pitchFamily="34" charset="0"/>
                <a:ea typeface="맑은 고딕" pitchFamily="34" charset="-122"/>
                <a:cs typeface="맑은 고딕" pitchFamily="34" charset="-120"/>
              </a:rPr>
              <a:t>"대표님, 알렉산더 대왕은 후계자를 정하지 못해 위대한 제국을 사분오열시켰습니다. 위대한 리더의 마지막 사명은 자신의 성공을 자랑하는 것이 아니라, 자신의 부재를 대비하는 것입니다. 오늘 대표님의 결단이, (주)솔라테크 코리아의 역사를 '영웅의 시대'에서 '시스템의 시대'로 바꾸는 위대한 변곡점이 될 것이라 확신합니다."</a:t>
            </a:r>
            <a:endParaRPr lang="en-US" sz="120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21 / 32</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22</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 상담주제 1 (1/2)</a:t>
            </a:r>
            <a:endParaRPr lang="en-US" sz="1500" dirty="0"/>
          </a:p>
        </p:txBody>
      </p:sp>
      <p:sp>
        <p:nvSpPr>
          <p:cNvPr id="7" name="Text 5"/>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1 : 대표님, 은행의 시간표는 다릅니다</a:t>
            </a:r>
            <a:endParaRPr lang="en-US" sz="1400" dirty="0"/>
          </a:p>
        </p:txBody>
      </p:sp>
      <p:sp>
        <p:nvSpPr>
          <p:cNvPr id="8" name="Text 6"/>
          <p:cNvSpPr/>
          <p:nvPr/>
        </p:nvSpPr>
        <p:spPr>
          <a:xfrm>
            <a:off x="457200" y="1143000"/>
            <a:ext cx="8229600" cy="3566160"/>
          </a:xfrm>
          <a:prstGeom prst="rect">
            <a:avLst/>
          </a:prstGeom>
          <a:noFill/>
          <a:ln/>
        </p:spPr>
        <p:txBody>
          <a:bodyPr wrap="square" rtlCol="0" anchor="t"/>
          <a:lstStyle/>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리스크 진단 (As-Is파악):
</a:t>
            </a:r>
            <a:r>
              <a:rPr lang="en-US" sz="900" dirty="0">
                <a:solidFill>
                  <a:srgbClr val="2B2B2B"/>
                </a:solidFill>
                <a:latin typeface="맑은 고딕" pitchFamily="34" charset="0"/>
                <a:ea typeface="맑은 고딕" pitchFamily="34" charset="-122"/>
                <a:cs typeface="맑은 고딕" pitchFamily="34" charset="-120"/>
              </a:rPr>
              <a:t>"대표님, 대표님 사모님께서 가장 편안해야 할 대표님 댁이, 사실은 은행의 80억 원짜리 담보물이라는 사실을 알고 계십니까? 대표님께 무슨 일이 생긴다면, 은행은 슬픔을 위로할 시간을 주지 않습니다. 그들은 오직 자신들의 시간표, 즉 '즉시 상환' 일정에 따라 움직일 뿐입니다."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전략 제안 (To-Be 플랜):
</a:t>
            </a:r>
            <a:r>
              <a:rPr lang="en-US" sz="900" dirty="0">
                <a:solidFill>
                  <a:srgbClr val="2B2B2B"/>
                </a:solidFill>
                <a:latin typeface="맑은 고딕" pitchFamily="34" charset="0"/>
                <a:ea typeface="맑은 고딕" pitchFamily="34" charset="-122"/>
                <a:cs typeface="맑은 고딕" pitchFamily="34" charset="-120"/>
              </a:rPr>
              <a:t>"은행의 시간표에 끌려다니는 것이 아니라, 우리만의 시간표를 만들어야 합니다. 법인 명의로 150억 원의 비상 자금을 확보하여, 은행의 상환 요구를 단 하루 만에 해결하고 남은 돈으로 회사를 재건할 시간을 버는 것입니다."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기대 효과 요약 (ROI설명):
</a:t>
            </a:r>
            <a:r>
              <a:rPr lang="en-US" sz="900" dirty="0">
                <a:solidFill>
                  <a:srgbClr val="2B2B2B"/>
                </a:solidFill>
                <a:latin typeface="맑은 고딕" pitchFamily="34" charset="0"/>
                <a:ea typeface="맑은 고딕" pitchFamily="34" charset="-122"/>
                <a:cs typeface="맑은 고딕" pitchFamily="34" charset="-120"/>
              </a:rPr>
              <a:t>"은행에 80억을 갚는 순간, 대표님 댁의 담보 설정은 해제되고, 가족들은 온전한 보금자리를 지킬 수 있습니다. 또한 부채비율이 극적으로 개선되어 회사의 신용도는 오히려 상승합니다. 위기를 기회로 만드는 반전 드라마의 주인공이 되는 것입니다."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대표님이 자주 묻는 질문:
</a:t>
            </a:r>
            <a:r>
              <a:rPr lang="en-US" sz="900" dirty="0">
                <a:solidFill>
                  <a:srgbClr val="2B2B2B"/>
                </a:solidFill>
                <a:latin typeface="맑은 고딕" pitchFamily="34" charset="0"/>
                <a:ea typeface="맑은 고딕" pitchFamily="34" charset="-122"/>
                <a:cs typeface="맑은 고딕" pitchFamily="34" charset="-120"/>
              </a:rPr>
              <a:t>"내가 죽고 나서 받을 돈인데, 지금 당장 무슨 소용인가?" -&gt; "대표님, 이것은 사후를 위한 돈이 아니라 '현재'를 위한 투자입니다. 이 플랜이 있다는 사실만으로 은행은 회사를 다른 시각으로 봅니다. '리스크 관리가 되는 기업'으로요. 이는 추가 대출이나 금리 협상 시 보이지 않는 힘으로 작용합니다. 즉, 살아계실 때부터 그 효과는 시작됩니다."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결론:
</a:t>
            </a:r>
            <a:r>
              <a:rPr lang="en-US" sz="900" dirty="0">
                <a:solidFill>
                  <a:srgbClr val="2B2B2B"/>
                </a:solidFill>
                <a:latin typeface="맑은 고딕" pitchFamily="34" charset="0"/>
                <a:ea typeface="맑은 고딕" pitchFamily="34" charset="-122"/>
                <a:cs typeface="맑은 고딕" pitchFamily="34" charset="-120"/>
              </a:rPr>
              <a:t>리더의 가장 중요한 역할 중 하나는, 조직의 시간을 통제하는 것입니다. 은행에 시간을 빼앗기기 전에, 우리가 먼저 시간을 사는 결정을 해야 합니다.</a:t>
            </a:r>
            <a:endParaRPr lang="en-US" sz="9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22 / 32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23</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 상담주제 1 (2/2)</a:t>
            </a:r>
            <a:endParaRPr lang="en-US" sz="1500" dirty="0"/>
          </a:p>
        </p:txBody>
      </p:sp>
      <p:sp>
        <p:nvSpPr>
          <p:cNvPr id="7" name="Text 5"/>
          <p:cNvSpPr/>
          <p:nvPr/>
        </p:nvSpPr>
        <p:spPr>
          <a:xfrm>
            <a:off x="457200" y="685800"/>
            <a:ext cx="8229600" cy="32004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실무상담 스크립트(대화체구성)</a:t>
            </a:r>
            <a:endParaRPr lang="en-US" sz="1200" dirty="0"/>
          </a:p>
        </p:txBody>
      </p:sp>
      <p:sp>
        <p:nvSpPr>
          <p:cNvPr id="8" name="Shape 6"/>
          <p:cNvSpPr/>
          <p:nvPr/>
        </p:nvSpPr>
        <p:spPr>
          <a:xfrm>
            <a:off x="457200" y="1051560"/>
            <a:ext cx="36576" cy="3474720"/>
          </a:xfrm>
          <a:prstGeom prst="rect">
            <a:avLst/>
          </a:prstGeom>
          <a:solidFill>
            <a:srgbClr val="2563EB"/>
          </a:solidFill>
          <a:ln/>
        </p:spPr>
        <p:txBody>
          <a:bodyPr/>
          <a:lstStyle/>
          <a:p>
            <a:endParaRPr lang="ko-KR" altLang="en-US"/>
          </a:p>
        </p:txBody>
      </p:sp>
      <p:sp>
        <p:nvSpPr>
          <p:cNvPr id="9" name="Text 7"/>
          <p:cNvSpPr/>
          <p:nvPr/>
        </p:nvSpPr>
        <p:spPr>
          <a:xfrm>
            <a:off x="594360" y="1097280"/>
            <a:ext cx="8001000" cy="3383280"/>
          </a:xfrm>
          <a:prstGeom prst="rect">
            <a:avLst/>
          </a:prstGeom>
          <a:noFill/>
          <a:ln/>
        </p:spPr>
        <p:txBody>
          <a:bodyPr wrap="square" rtlCol="0" anchor="t"/>
          <a:lstStyle/>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"대표님, 지난번 은행에서 대출 연장하실 때 서류가 한 뭉치였죠. 아마 대표님 개인 인감도장과 함께, 지금 사시는 댁 등기부등본도 들어갔을 겁니다. 대표님의 신용과 개인 자산 전체가 이 회사의 운명과 함께 묶여있다는 의미입니다."</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"만약, 정말 만에 하나 대표님께 갑작스러운 일이 생긴다면 어떻게 될까요? 은행은 하루아침에 태도가 바뀝니다. '박진우 대표님'이 아닌 '(주)솔라테크 코리아라는 채무자'를 대할 뿐이죠. 80억을 즉시 갚으라고 요구할 겁니다. 못 갚으면요? 대표님 가족이 사는 집부터 경매에 넘어갈 겁니다. 평생을 바친 회사가 가족의 보금자리까지 위협하는 비극, 이것만큼은 막으셔야 하지 않겠습니까?"</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"그래서 은행의 시간표가 아닌, 우리만의 시간표를 만들어야 합니다. 제가 제안 드리는 150억 플랜은, 그 비극적인 시나리오를 코미디로 바꿔버리는 '신의 한 수'입니다. 은행이 찾아오면, '기다리셨죠? 여기 80억 있습니다' 하고 즉시 갚아버리는 겁니다. 그리고 남은 70억으로 회사를 재정비하며 유유히 다음 시대를 준비하는 거죠."</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"대표님, 이것은 회사를 살리고, 가족을 지키고, 대표님의 명예를 지키는 가장 완벽한 방법입니다. 은행이 우리 목에 걸어놓은 '담보'라는 사슬을, 우리 손으로 끊어버리는 이 통쾌한 프로젝트, 오늘 저와 함께 시작하시지 않겠습니까?"</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23 / 32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24</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 상담주제 2 (1/2)</a:t>
            </a:r>
            <a:endParaRPr lang="en-US" sz="1500" dirty="0"/>
          </a:p>
        </p:txBody>
      </p:sp>
      <p:sp>
        <p:nvSpPr>
          <p:cNvPr id="7" name="Text 5"/>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2 : 사모님께 '세금 고지서'가 아닌 '현금'을 남겨주십시오</a:t>
            </a:r>
            <a:endParaRPr lang="en-US" sz="1400" dirty="0"/>
          </a:p>
        </p:txBody>
      </p:sp>
      <p:sp>
        <p:nvSpPr>
          <p:cNvPr id="8" name="Text 6"/>
          <p:cNvSpPr/>
          <p:nvPr/>
        </p:nvSpPr>
        <p:spPr>
          <a:xfrm>
            <a:off x="457200" y="1143000"/>
            <a:ext cx="8229600" cy="3566160"/>
          </a:xfrm>
          <a:prstGeom prst="rect">
            <a:avLst/>
          </a:prstGeom>
          <a:noFill/>
          <a:ln/>
        </p:spPr>
        <p:txBody>
          <a:bodyPr wrap="square" rtlCol="0" anchor="t"/>
          <a:lstStyle/>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리스크 진단 (As-Is파악):
</a:t>
            </a:r>
            <a:r>
              <a:rPr lang="en-US" sz="900" dirty="0">
                <a:solidFill>
                  <a:srgbClr val="2B2B2B"/>
                </a:solidFill>
                <a:latin typeface="맑은 고딕" pitchFamily="34" charset="0"/>
                <a:ea typeface="맑은 고딕" pitchFamily="34" charset="-122"/>
                <a:cs typeface="맑은 고딕" pitchFamily="34" charset="-120"/>
              </a:rPr>
              <a:t>"대표님, 현재 대표님 지분(65%)의 가치는 장부상으로만 455억(자본총계 70억*65%)이지만, 실제 상속가치 평가(보충적 평가방법)를 하면 미처분이익잉여금 때문에 훨씬 높게 나옵니다. 예상 상속세만 수십억 원입니다. 사모님께서 이 세금을 어떻게 감당하실 수 있을까요?"</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전략 제안 (To-Be 플랜):
</a:t>
            </a:r>
            <a:r>
              <a:rPr lang="en-US" sz="900" dirty="0">
                <a:solidFill>
                  <a:srgbClr val="2B2B2B"/>
                </a:solidFill>
                <a:latin typeface="맑은 고딕" pitchFamily="34" charset="0"/>
                <a:ea typeface="맑은 고딕" pitchFamily="34" charset="-122"/>
                <a:cs typeface="맑은 고딕" pitchFamily="34" charset="-120"/>
              </a:rPr>
              <a:t>"사모님과 자녀분들이 '상속세' 때문에 고통받지 않도록, 회사가 직접 구원투수로 나서는 전략입니다. 법인이 받은 보험금 150억 원 중 30억 원을 활용해, 사모님께서 상속받은 주식을 회사가 다시 사주는(자사주 매입) 것입니다."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기대 효과 요약 (ROI설명):
</a:t>
            </a:r>
            <a:r>
              <a:rPr lang="en-US" sz="900" dirty="0">
                <a:solidFill>
                  <a:srgbClr val="2B2B2B"/>
                </a:solidFill>
                <a:latin typeface="맑은 고딕" pitchFamily="34" charset="0"/>
                <a:ea typeface="맑은 고딕" pitchFamily="34" charset="-122"/>
                <a:cs typeface="맑은 고딕" pitchFamily="34" charset="-120"/>
              </a:rPr>
              <a:t>"이 전략 하나로 3가지 문제가 동시에 해결됩니다. ① 사모님은 주식을 '안전한 현금'으로 바꿔 상속세를 완납하고 평생 쓸 생활자금을 확보합니다. ② 회사는 지분이 제3자에게 넘어가는 것을 막아 경영권을 완벽하게 방어합니다. ③ 남아있는 후계자(김 이사)의 지배력은 오히려 강화됩니다."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대표님이 자주 묻는 질문:
</a:t>
            </a:r>
            <a:r>
              <a:rPr lang="en-US" sz="900" dirty="0">
                <a:solidFill>
                  <a:srgbClr val="2B2B2B"/>
                </a:solidFill>
                <a:latin typeface="맑은 고딕" pitchFamily="34" charset="0"/>
                <a:ea typeface="맑은 고딕" pitchFamily="34" charset="-122"/>
                <a:cs typeface="맑은 고딕" pitchFamily="34" charset="-120"/>
              </a:rPr>
              <a:t>"자사주 매입은 절차가 복잡하고 세금 문제도 있지 않나?" -&gt; "맞습니다. 그래서 전문가가 필요합니다. 상법상 절차(주주총회 결의 등)를 준수하고, 의제배당소득세가 아닌 양도소득세로 과세될 수 있도록 주식 소각 등 후속조치를 연계하면 세금 부담을 크게 줄일 수 있습니다. 이 모든 과정을 저희가 원스톱으로 처리해 드립니다."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결론:
</a:t>
            </a:r>
            <a:r>
              <a:rPr lang="en-US" sz="900" dirty="0">
                <a:solidFill>
                  <a:srgbClr val="2B2B2B"/>
                </a:solidFill>
                <a:latin typeface="맑은 고딕" pitchFamily="34" charset="0"/>
                <a:ea typeface="맑은 고딕" pitchFamily="34" charset="-122"/>
                <a:cs typeface="맑은 고딕" pitchFamily="34" charset="-120"/>
              </a:rPr>
              <a:t>진정한 상속은 재산을 물려주는 것이 아니라, 재산에 붙은 '문제'까지 모두 해결해서 물려주는 것입니다.</a:t>
            </a:r>
            <a:endParaRPr lang="en-US" sz="9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24 / 32</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25</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 상담주제 2 (2/2)</a:t>
            </a:r>
            <a:endParaRPr lang="en-US" sz="1500" dirty="0"/>
          </a:p>
        </p:txBody>
      </p:sp>
      <p:sp>
        <p:nvSpPr>
          <p:cNvPr id="7" name="Text 5"/>
          <p:cNvSpPr/>
          <p:nvPr/>
        </p:nvSpPr>
        <p:spPr>
          <a:xfrm>
            <a:off x="457200" y="685800"/>
            <a:ext cx="8229600" cy="32004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실무상담 스크립트(대화체구성)</a:t>
            </a:r>
            <a:endParaRPr lang="en-US" sz="1200" dirty="0"/>
          </a:p>
        </p:txBody>
      </p:sp>
      <p:sp>
        <p:nvSpPr>
          <p:cNvPr id="8" name="Shape 6"/>
          <p:cNvSpPr/>
          <p:nvPr/>
        </p:nvSpPr>
        <p:spPr>
          <a:xfrm>
            <a:off x="457200" y="1051560"/>
            <a:ext cx="36576" cy="3474720"/>
          </a:xfrm>
          <a:prstGeom prst="rect">
            <a:avLst/>
          </a:prstGeom>
          <a:solidFill>
            <a:srgbClr val="2563EB"/>
          </a:solidFill>
          <a:ln/>
        </p:spPr>
        <p:txBody>
          <a:bodyPr/>
          <a:lstStyle/>
          <a:p>
            <a:endParaRPr lang="ko-KR" altLang="en-US"/>
          </a:p>
        </p:txBody>
      </p:sp>
      <p:sp>
        <p:nvSpPr>
          <p:cNvPr id="9" name="Text 7"/>
          <p:cNvSpPr/>
          <p:nvPr/>
        </p:nvSpPr>
        <p:spPr>
          <a:xfrm>
            <a:off x="594360" y="1097280"/>
            <a:ext cx="8001000" cy="3383280"/>
          </a:xfrm>
          <a:prstGeom prst="rect">
            <a:avLst/>
          </a:prstGeom>
          <a:noFill/>
          <a:ln/>
        </p:spPr>
        <p:txBody>
          <a:bodyPr wrap="square" rtlCol="0" anchor="t"/>
          <a:lstStyle/>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"대표님, 자녀분 결혼시킬 때 집 한 채 해주는 게 부모 마음이라고들 합니다. 그런데 지금 대표님께서 사모님과 자녀분께 물려주실 이 회사 지분은, '수십억 원짜리 세금 고지서'가 붙어있는 집과 같습니다. 열쇠를 받는 순간부터 세금 걱정에 잠 못 이루게 될 겁니다."</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"경영도 모르시는 사모님께서 당장 수십억의 현금을 어디서 구하시겠습니까? 결국 상속받은 주식을 팔아야 하는데, 누가 제값을 쳐줄까요? 상속세 때문에 급하게 파는 주식은 '악성 매물'일 뿐입니다. 평생 일군 회사의 가치를 스스로 깎아내리고, 심지어 엉뚱한 사람 손에 경영권을 넘겨줘야 할 수도 있습니다."</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"제가 제안하는 것은, 사모님께서 그 누구도 아닌 가장 안전한 구매자인 '(주)솔라테크 코리아'에 주식을 파실 수 있도록 만들어 드리는 겁니다. 법인이 수령한 보험금이 그 재원입니다. 회사는 지분을 되찾아와서 좋고, 사모님은 현금을 확보해서 좋고, 그 과정에서 세금 문제까지 최소화할 수 있으니 모두가 웃는 최고의 시나리오입니다."</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"대표님께서 가족에게 남겨주고 싶은 것이 '자랑스러운 회사'이지 '골치 아픈 세금덩어리'는 아니실 겁니다. 사모님의 눈물을 닦아줄 '현금'을 준비해두는 것, 그것이 대표님께서 지금 하실 수 있는 가장 큰 사랑의 표현 아닐까요? 제가 그 사랑을 구체적인 숫자로 설계해 드리겠습니다."</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25 / 32</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26</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 상담주제 3 (1/2)</a:t>
            </a:r>
            <a:endParaRPr lang="en-US" sz="1500" dirty="0"/>
          </a:p>
        </p:txBody>
      </p:sp>
      <p:sp>
        <p:nvSpPr>
          <p:cNvPr id="7" name="Text 5"/>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상담주제 3 : 대표님의 마지막 프로젝트, '100년 기업'의 초석을 놓다</a:t>
            </a:r>
            <a:endParaRPr lang="en-US" sz="1400" dirty="0"/>
          </a:p>
        </p:txBody>
      </p:sp>
      <p:sp>
        <p:nvSpPr>
          <p:cNvPr id="8" name="Text 6"/>
          <p:cNvSpPr/>
          <p:nvPr/>
        </p:nvSpPr>
        <p:spPr>
          <a:xfrm>
            <a:off x="457200" y="1143000"/>
            <a:ext cx="8229600" cy="3566160"/>
          </a:xfrm>
          <a:prstGeom prst="rect">
            <a:avLst/>
          </a:prstGeom>
          <a:noFill/>
          <a:ln/>
        </p:spPr>
        <p:txBody>
          <a:bodyPr wrap="square" rtlCol="0" anchor="t"/>
          <a:lstStyle/>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리스크 진단 (As-Is파악):
</a:t>
            </a:r>
            <a:r>
              <a:rPr lang="en-US" sz="900" dirty="0">
                <a:solidFill>
                  <a:srgbClr val="2B2B2B"/>
                </a:solidFill>
                <a:latin typeface="맑은 고딕" pitchFamily="34" charset="0"/>
                <a:ea typeface="맑은 고딕" pitchFamily="34" charset="-122"/>
                <a:cs typeface="맑은 고딕" pitchFamily="34" charset="-120"/>
              </a:rPr>
              <a:t>"대표님께서는 지금까지 수많은 프로젝트를 성공시키며 회사를 키워오셨습니다. 그렇다면 대표님 경영 인생의 마지막이자 가장 위대한 프로젝트는 무엇이 되어야 할까요? 바로 '대표님이 없어도 스스로 성장하는 회사', 즉 100년 기업의 시스템을 만드는 '영속성(Sustainability) 프로젝트'입니다."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전략 제안 (To-Be 플랜):
</a:t>
            </a:r>
            <a:r>
              <a:rPr lang="en-US" sz="900" dirty="0">
                <a:solidFill>
                  <a:srgbClr val="2B2B2B"/>
                </a:solidFill>
                <a:latin typeface="맑은 고딕" pitchFamily="34" charset="0"/>
                <a:ea typeface="맑은 고딕" pitchFamily="34" charset="-122"/>
                <a:cs typeface="맑은 고딕" pitchFamily="34" charset="-120"/>
              </a:rPr>
              <a:t>"이 위대한 프로젝트의 핵심 자원은 '시간'과 '자본'입니다. 대표님 유고 후, 후계자인 김 이사가 당황하지 않고 회사를 안정시키고 새로운 비전을 만들 수 있는 최소 2년의 시간, 그리고 그 시간을 버티게 해줄 150억 원의 비상 자본이 필요합니다. Key-Man 보험은 그 두 가지를 동시에 확보해주는 가장 효과적인 도구입니다."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기대 효과 요약 (ROI설명):
</a:t>
            </a:r>
            <a:r>
              <a:rPr lang="en-US" sz="900" dirty="0">
                <a:solidFill>
                  <a:srgbClr val="2B2B2B"/>
                </a:solidFill>
                <a:latin typeface="맑은 고딕" pitchFamily="34" charset="0"/>
                <a:ea typeface="맑은 고딕" pitchFamily="34" charset="-122"/>
                <a:cs typeface="맑은 고딕" pitchFamily="34" charset="-120"/>
              </a:rPr>
              <a:t>"이 보험금 150억은 단순한 돈이 아닙니다. 남아있는 직원들에게는 '회사가 우리를 지켜줄 것'이라는 확고한 믿음을, 후계자 김 이사에게는 '나는 혼자가 아니다'라는 리더십의 기반을, 그리고 시장과 고객에게는 '이 회사는 시스템으로 움직인다'는 강력한 신뢰를 주는 무형의 자산입니다."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대표님이 자주 묻는 질문:
</a:t>
            </a:r>
            <a:r>
              <a:rPr lang="en-US" sz="900" dirty="0">
                <a:solidFill>
                  <a:srgbClr val="2B2B2B"/>
                </a:solidFill>
                <a:latin typeface="맑은 고딕" pitchFamily="34" charset="0"/>
                <a:ea typeface="맑은 고딕" pitchFamily="34" charset="-122"/>
                <a:cs typeface="맑은 고딕" pitchFamily="34" charset="-120"/>
              </a:rPr>
              <a:t>"그 돈을 그냥 회사에 유보금으로 쌓아두면 안 되나?" -&gt; "물론 좋은 방법이지만, 앞서 말씀드렸듯 미처분이익잉여금이 과도하게 쌓이면 비상장주식 가치를 높여 오히려 상속세를 폭증시키는 부작용이 있습니다. 보험으로 준비하면, 현재의 주식가치에 영향을 주지 않으면서 미래의 특정 시점에 정확히 필요한 자금을 만들어낼 수 있는 전략적 장점이 있습니다."</a:t>
            </a:r>
            <a:endParaRPr lang="en-US" sz="900" dirty="0"/>
          </a:p>
          <a:p>
            <a:pPr marL="0" indent="0">
              <a:lnSpc>
                <a:spcPct val="120000"/>
              </a:lnSpc>
              <a:buNone/>
            </a:pPr>
            <a:r>
              <a:rPr lang="en-US" sz="400" dirty="0">
                <a:solidFill>
                  <a:srgbClr val="2B2B2B"/>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결론:
</a:t>
            </a:r>
            <a:r>
              <a:rPr lang="en-US" sz="900" dirty="0">
                <a:solidFill>
                  <a:srgbClr val="2B2B2B"/>
                </a:solidFill>
                <a:latin typeface="맑은 고딕" pitchFamily="34" charset="0"/>
                <a:ea typeface="맑은 고딕" pitchFamily="34" charset="-122"/>
                <a:cs typeface="맑은 고딕" pitchFamily="34" charset="-120"/>
              </a:rPr>
              <a:t>진정한 리더십은 자신의 존재감을 과시하는 것이 아니라, 자신의 부재를 느끼지 못하게 만드는 것이다. 이 프로젝트는 대표님의 경영 철학을 완성하는 화룡점정이 될 것입니다.</a:t>
            </a:r>
            <a:endParaRPr lang="en-US" sz="900" dirty="0"/>
          </a:p>
        </p:txBody>
      </p:sp>
      <p:sp>
        <p:nvSpPr>
          <p:cNvPr id="9" name="Text 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0" name="Text 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26 / 32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5" name="Text 3"/>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27</a:t>
            </a:r>
            <a:endParaRPr lang="en-US" sz="900" dirty="0"/>
          </a:p>
        </p:txBody>
      </p:sp>
      <p:sp>
        <p:nvSpPr>
          <p:cNvPr id="6" name="Text 4"/>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IX. 컨설팅 시나리오 — 상담주제 3 (2/2)</a:t>
            </a:r>
            <a:endParaRPr lang="en-US" sz="1500" dirty="0"/>
          </a:p>
        </p:txBody>
      </p:sp>
      <p:sp>
        <p:nvSpPr>
          <p:cNvPr id="7" name="Text 5"/>
          <p:cNvSpPr/>
          <p:nvPr/>
        </p:nvSpPr>
        <p:spPr>
          <a:xfrm>
            <a:off x="457200" y="685800"/>
            <a:ext cx="8229600" cy="32004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실무상담 스크립트(대화체구성)</a:t>
            </a:r>
            <a:endParaRPr lang="en-US" sz="1200" dirty="0"/>
          </a:p>
        </p:txBody>
      </p:sp>
      <p:sp>
        <p:nvSpPr>
          <p:cNvPr id="8" name="Shape 6"/>
          <p:cNvSpPr/>
          <p:nvPr/>
        </p:nvSpPr>
        <p:spPr>
          <a:xfrm>
            <a:off x="457200" y="1051560"/>
            <a:ext cx="36576" cy="3474720"/>
          </a:xfrm>
          <a:prstGeom prst="rect">
            <a:avLst/>
          </a:prstGeom>
          <a:solidFill>
            <a:srgbClr val="2563EB"/>
          </a:solidFill>
          <a:ln/>
        </p:spPr>
        <p:txBody>
          <a:bodyPr/>
          <a:lstStyle/>
          <a:p>
            <a:endParaRPr lang="ko-KR" altLang="en-US"/>
          </a:p>
        </p:txBody>
      </p:sp>
      <p:sp>
        <p:nvSpPr>
          <p:cNvPr id="9" name="Text 7"/>
          <p:cNvSpPr/>
          <p:nvPr/>
        </p:nvSpPr>
        <p:spPr>
          <a:xfrm>
            <a:off x="594360" y="1097280"/>
            <a:ext cx="8001000" cy="3383280"/>
          </a:xfrm>
          <a:prstGeom prst="rect">
            <a:avLst/>
          </a:prstGeom>
          <a:noFill/>
          <a:ln/>
        </p:spPr>
        <p:txBody>
          <a:bodyPr wrap="square" rtlCol="0" anchor="t"/>
          <a:lstStyle/>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"대표님, 지금까지 수많은 기술 개발과 투자를 성공시키셨습니다. 이 모든 것은 '회사의 성장'을 위한 프로젝트였습니다. 그렇다면 이제, '회사의 생존'을 위한 프로젝트를 시작할 때가 아닐까요? 대표님의 경영 인생을 총결산하는 가장 위대한 프로젝트 말입니다."</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"그 프로젝트의 이름은 바로 '박진우 없는 (주)솔라테크 코리아 만들기'입니다. 대표님의 그늘 아래서 성장하는 회사가 아니라, 대표님의 부재 속에서도 시스템으로 성장하는 회사를 만드는 것이죠. 그것이야말로 이 회사를 진정한 '100년 기업'의 반석 위에 올려놓는, 대표님 경영 철학의 완성이 아닐까요?"</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"모든 위대한 프로젝트에는 초기 투자금이 필요합니다. 이 '100년 기업 프로젝트'의 시드머니가 바로 Key-Man 보험 150억 플랜입니다. 대표님 유고라는 가장 큰 위기의 순간에, 이 자금이 긴급 투입되어 회사를 살려냅니다. 후계자가 리더십을 발휘할 시간을 벌어주고, 직원들이 동요하지 않게 만들고, 시장의 신뢰를 지켜내는 '컨트롤타워' 역할을 하는 자금입니다."</a:t>
            </a:r>
            <a:endParaRPr lang="en-US" sz="900" dirty="0"/>
          </a:p>
          <a:p>
            <a:pPr marL="0" indent="0">
              <a:lnSpc>
                <a:spcPct val="120000"/>
              </a:lnSpc>
              <a:buNone/>
            </a:pPr>
            <a:r>
              <a:rPr lang="en-US" sz="400" i="1" dirty="0">
                <a:solidFill>
                  <a:srgbClr val="4A5568"/>
                </a:solidFill>
                <a:latin typeface="맑은 고딕" pitchFamily="34" charset="0"/>
                <a:ea typeface="맑은 고딕" pitchFamily="34" charset="-122"/>
                <a:cs typeface="맑은 고딕" pitchFamily="34" charset="-120"/>
              </a:rPr>
              <a:t>
</a:t>
            </a:r>
            <a:endParaRPr lang="en-US" sz="900" dirty="0"/>
          </a:p>
          <a:p>
            <a:pPr marL="0" indent="0">
              <a:lnSpc>
                <a:spcPct val="120000"/>
              </a:lnSpc>
              <a:buNone/>
            </a:pPr>
            <a:r>
              <a:rPr lang="en-US" sz="900" i="1" dirty="0">
                <a:solidFill>
                  <a:srgbClr val="4A5568"/>
                </a:solidFill>
                <a:latin typeface="맑은 고딕" pitchFamily="34" charset="0"/>
                <a:ea typeface="맑은 고딕" pitchFamily="34" charset="-122"/>
                <a:cs typeface="맑은 고딕" pitchFamily="34" charset="-120"/>
              </a:rPr>
              <a:t>"대표님, 오늘 이 자리는 단순히 보험을 논하는 자리가 아닙니다. 대표님의 경영 스토리에 가장 빛나는 마지막 챕터를 어떻게 장식할 것인가를 논의하는 자리입니다. 이 위대한 프로젝트의 총괄 책임자로서, 지금 바로 프로젝트 실행에 서명해 주시지 않으시겠습니까?"</a:t>
            </a:r>
            <a:endParaRPr lang="en-US" sz="9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27 / 32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(1/2)</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전문용어 설명</a:t>
            </a:r>
            <a:endParaRPr lang="en-US" sz="1400" dirty="0"/>
          </a:p>
        </p:txBody>
      </p:sp>
      <p:sp>
        <p:nvSpPr>
          <p:cNvPr id="6" name="Shape 4"/>
          <p:cNvSpPr/>
          <p:nvPr/>
        </p:nvSpPr>
        <p:spPr>
          <a:xfrm>
            <a:off x="457200" y="1143000"/>
            <a:ext cx="8229600" cy="9601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960120"/>
          </a:xfrm>
          <a:prstGeom prst="rect">
            <a:avLst/>
          </a:prstGeom>
          <a:solidFill>
            <a:srgbClr val="C8962E"/>
          </a:solidFill>
          <a:ln/>
        </p:spPr>
        <p:txBody>
          <a:bodyPr/>
          <a:lstStyle/>
          <a:p>
            <a:endParaRPr lang="ko-KR" altLang="en-US"/>
          </a:p>
        </p:txBody>
      </p:sp>
      <p:sp>
        <p:nvSpPr>
          <p:cNvPr id="8" name="Text 6"/>
          <p:cNvSpPr/>
          <p:nvPr/>
        </p:nvSpPr>
        <p:spPr>
          <a:xfrm>
            <a:off x="640080" y="1188720"/>
            <a:ext cx="7863840" cy="228600"/>
          </a:xfrm>
          <a:prstGeom prst="rect">
            <a:avLst/>
          </a:prstGeom>
          <a:noFill/>
          <a:ln/>
        </p:spPr>
        <p:txBody>
          <a:bodyPr wrap="square" rtlCol="0" anchor="ctr"/>
          <a:lstStyle/>
          <a:p>
            <a:pPr marL="0" indent="0">
              <a:buNone/>
            </a:pPr>
            <a:r>
              <a:rPr lang="en-US" sz="1100" b="1" dirty="0">
                <a:solidFill>
                  <a:srgbClr val="2B2B2B"/>
                </a:solidFill>
                <a:latin typeface="맑은 고딕" pitchFamily="34" charset="0"/>
                <a:ea typeface="맑은 고딕" pitchFamily="34" charset="-122"/>
                <a:cs typeface="맑은 고딕" pitchFamily="34" charset="-120"/>
              </a:rPr>
              <a:t>Key-Man 보험</a:t>
            </a:r>
            <a:endParaRPr lang="en-US" sz="1100" dirty="0"/>
          </a:p>
        </p:txBody>
      </p:sp>
      <p:sp>
        <p:nvSpPr>
          <p:cNvPr id="9" name="Text 7"/>
          <p:cNvSpPr/>
          <p:nvPr/>
        </p:nvSpPr>
        <p:spPr>
          <a:xfrm>
            <a:off x="640080" y="1417320"/>
            <a:ext cx="7863840" cy="594360"/>
          </a:xfrm>
          <a:prstGeom prst="rect">
            <a:avLst/>
          </a:prstGeom>
          <a:noFill/>
          <a:ln/>
        </p:spPr>
        <p:txBody>
          <a:bodyPr wrap="square" rtlCol="0" anchor="t"/>
          <a:lstStyle/>
          <a:p>
            <a:pPr marL="0" indent="0">
              <a:lnSpc>
                <a:spcPct val="120000"/>
              </a:lnSpc>
              <a:buNone/>
            </a:pPr>
            <a:r>
              <a:rPr lang="en-US" sz="1000" dirty="0">
                <a:solidFill>
                  <a:srgbClr val="4A5568"/>
                </a:solidFill>
                <a:latin typeface="맑은 고딕" pitchFamily="34" charset="0"/>
                <a:ea typeface="맑은 고딕" pitchFamily="34" charset="-122"/>
                <a:cs typeface="맑은 고딕" pitchFamily="34" charset="-120"/>
              </a:rPr>
              <a:t>기업의 핵심인력(Key-Man, 주로 CEO)의 사망 등으로 인한 기업의 재무적 손실(채무 상환, 매출 급감 등)을 보전하기 위해, 법인이 계약자와 수익자가 되어 가입하는 생명보험.</a:t>
            </a:r>
            <a:endParaRPr lang="en-US" sz="1000" dirty="0"/>
          </a:p>
        </p:txBody>
      </p:sp>
      <p:sp>
        <p:nvSpPr>
          <p:cNvPr id="10" name="Shape 8"/>
          <p:cNvSpPr/>
          <p:nvPr/>
        </p:nvSpPr>
        <p:spPr>
          <a:xfrm>
            <a:off x="457200" y="2194560"/>
            <a:ext cx="8229600" cy="9601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194560"/>
            <a:ext cx="54864" cy="960120"/>
          </a:xfrm>
          <a:prstGeom prst="rect">
            <a:avLst/>
          </a:prstGeom>
          <a:solidFill>
            <a:srgbClr val="C8962E"/>
          </a:solidFill>
          <a:ln/>
        </p:spPr>
        <p:txBody>
          <a:bodyPr/>
          <a:lstStyle/>
          <a:p>
            <a:endParaRPr lang="ko-KR" altLang="en-US"/>
          </a:p>
        </p:txBody>
      </p:sp>
      <p:sp>
        <p:nvSpPr>
          <p:cNvPr id="12" name="Text 10"/>
          <p:cNvSpPr/>
          <p:nvPr/>
        </p:nvSpPr>
        <p:spPr>
          <a:xfrm>
            <a:off x="640080" y="2240280"/>
            <a:ext cx="7863840" cy="228600"/>
          </a:xfrm>
          <a:prstGeom prst="rect">
            <a:avLst/>
          </a:prstGeom>
          <a:noFill/>
          <a:ln/>
        </p:spPr>
        <p:txBody>
          <a:bodyPr wrap="square" rtlCol="0" anchor="ctr"/>
          <a:lstStyle/>
          <a:p>
            <a:pPr marL="0" indent="0">
              <a:buNone/>
            </a:pPr>
            <a:r>
              <a:rPr lang="en-US" sz="1100" b="1" dirty="0">
                <a:solidFill>
                  <a:srgbClr val="2B2B2B"/>
                </a:solidFill>
                <a:latin typeface="맑은 고딕" pitchFamily="34" charset="0"/>
                <a:ea typeface="맑은 고딕" pitchFamily="34" charset="-122"/>
                <a:cs typeface="맑은 고딕" pitchFamily="34" charset="-120"/>
              </a:rPr>
              <a:t>미처분이익잉여금</a:t>
            </a:r>
            <a:endParaRPr lang="en-US" sz="1100" dirty="0"/>
          </a:p>
        </p:txBody>
      </p:sp>
      <p:sp>
        <p:nvSpPr>
          <p:cNvPr id="13" name="Text 11"/>
          <p:cNvSpPr/>
          <p:nvPr/>
        </p:nvSpPr>
        <p:spPr>
          <a:xfrm>
            <a:off x="640080" y="2468880"/>
            <a:ext cx="7863840" cy="594360"/>
          </a:xfrm>
          <a:prstGeom prst="rect">
            <a:avLst/>
          </a:prstGeom>
          <a:noFill/>
          <a:ln/>
        </p:spPr>
        <p:txBody>
          <a:bodyPr wrap="square" rtlCol="0" anchor="t"/>
          <a:lstStyle/>
          <a:p>
            <a:pPr marL="0" indent="0">
              <a:lnSpc>
                <a:spcPct val="120000"/>
              </a:lnSpc>
              <a:buNone/>
            </a:pPr>
            <a:r>
              <a:rPr lang="en-US" sz="1000" dirty="0">
                <a:solidFill>
                  <a:srgbClr val="4A5568"/>
                </a:solidFill>
                <a:latin typeface="맑은 고딕" pitchFamily="34" charset="0"/>
                <a:ea typeface="맑은 고딕" pitchFamily="34" charset="-122"/>
                <a:cs typeface="맑은 고딕" pitchFamily="34" charset="-120"/>
              </a:rPr>
              <a:t>기업이 벌어들인 이익 중 배당 등으로 사외 유출하지 않고 내부에 축적한 금액. 기업의 순자산가치를 높여 비상장주식의 가치를 상승시키므로, 상속·증여 시 과도한 세금의 원인이 됨.</a:t>
            </a:r>
            <a:endParaRPr lang="en-US" sz="1000" dirty="0"/>
          </a:p>
        </p:txBody>
      </p:sp>
      <p:sp>
        <p:nvSpPr>
          <p:cNvPr id="14" name="Shape 12"/>
          <p:cNvSpPr/>
          <p:nvPr/>
        </p:nvSpPr>
        <p:spPr>
          <a:xfrm>
            <a:off x="457200" y="3246120"/>
            <a:ext cx="822960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3246120"/>
            <a:ext cx="54864" cy="1051560"/>
          </a:xfrm>
          <a:prstGeom prst="rect">
            <a:avLst/>
          </a:prstGeom>
          <a:solidFill>
            <a:srgbClr val="C8962E"/>
          </a:solidFill>
          <a:ln/>
        </p:spPr>
        <p:txBody>
          <a:bodyPr/>
          <a:lstStyle/>
          <a:p>
            <a:endParaRPr lang="ko-KR" altLang="en-US"/>
          </a:p>
        </p:txBody>
      </p:sp>
      <p:sp>
        <p:nvSpPr>
          <p:cNvPr id="16" name="Text 14"/>
          <p:cNvSpPr/>
          <p:nvPr/>
        </p:nvSpPr>
        <p:spPr>
          <a:xfrm>
            <a:off x="640080" y="3291840"/>
            <a:ext cx="7863840" cy="228600"/>
          </a:xfrm>
          <a:prstGeom prst="rect">
            <a:avLst/>
          </a:prstGeom>
          <a:noFill/>
          <a:ln/>
        </p:spPr>
        <p:txBody>
          <a:bodyPr wrap="square" rtlCol="0" anchor="ctr"/>
          <a:lstStyle/>
          <a:p>
            <a:pPr marL="0" indent="0">
              <a:buNone/>
            </a:pPr>
            <a:r>
              <a:rPr lang="en-US" sz="1100" b="1" dirty="0">
                <a:solidFill>
                  <a:srgbClr val="2B2B2B"/>
                </a:solidFill>
                <a:latin typeface="맑은 고딕" pitchFamily="34" charset="0"/>
                <a:ea typeface="맑은 고딕" pitchFamily="34" charset="-122"/>
                <a:cs typeface="맑은 고딕" pitchFamily="34" charset="-120"/>
              </a:rPr>
              <a:t>자사주 매입 (자기주식 취득)</a:t>
            </a:r>
            <a:endParaRPr lang="en-US" sz="1100" dirty="0"/>
          </a:p>
        </p:txBody>
      </p:sp>
      <p:sp>
        <p:nvSpPr>
          <p:cNvPr id="17" name="Text 15"/>
          <p:cNvSpPr/>
          <p:nvPr/>
        </p:nvSpPr>
        <p:spPr>
          <a:xfrm>
            <a:off x="640080" y="3520440"/>
            <a:ext cx="7863840" cy="685800"/>
          </a:xfrm>
          <a:prstGeom prst="rect">
            <a:avLst/>
          </a:prstGeom>
          <a:noFill/>
          <a:ln/>
        </p:spPr>
        <p:txBody>
          <a:bodyPr wrap="square" rtlCol="0" anchor="t"/>
          <a:lstStyle/>
          <a:p>
            <a:pPr marL="0" indent="0">
              <a:lnSpc>
                <a:spcPct val="120000"/>
              </a:lnSpc>
              <a:buNone/>
            </a:pPr>
            <a:r>
              <a:rPr lang="en-US" sz="1000" dirty="0">
                <a:solidFill>
                  <a:srgbClr val="4A5568"/>
                </a:solidFill>
                <a:latin typeface="맑은 고딕" pitchFamily="34" charset="0"/>
                <a:ea typeface="맑은 고딕" pitchFamily="34" charset="-122"/>
                <a:cs typeface="맑은 고딕" pitchFamily="34" charset="-120"/>
              </a:rPr>
              <a:t>회사가 자기자본으로 자기 회사가 발행한 주식을 다시 사들이는 행위. 상법상 배당가능이익 범위 내에서 주주총회 결의 등 적법한 절차를 거쳐야 함. 경영권 방어, 주주가치 제고, 상속세 재원 마련 등 다양한 전략에 활용됨.</a:t>
            </a:r>
            <a:endParaRPr lang="en-US" sz="1000" dirty="0"/>
          </a:p>
        </p:txBody>
      </p:sp>
      <p:sp>
        <p:nvSpPr>
          <p:cNvPr id="18" name="Text 1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9" name="Text 1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28 / 32</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29</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(2/3)</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FAQ</a:t>
            </a:r>
            <a:endParaRPr lang="en-US" sz="1400" dirty="0"/>
          </a:p>
        </p:txBody>
      </p:sp>
      <p:sp>
        <p:nvSpPr>
          <p:cNvPr id="6" name="Shape 4"/>
          <p:cNvSpPr/>
          <p:nvPr/>
        </p:nvSpPr>
        <p:spPr>
          <a:xfrm>
            <a:off x="457200" y="114300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645920"/>
          </a:xfrm>
          <a:prstGeom prst="rect">
            <a:avLst/>
          </a:prstGeom>
          <a:solidFill>
            <a:srgbClr val="1B2A4A"/>
          </a:solidFill>
          <a:ln/>
        </p:spPr>
        <p:txBody>
          <a:bodyPr/>
          <a:lstStyle/>
          <a:p>
            <a:endParaRPr lang="ko-KR" altLang="en-US"/>
          </a:p>
        </p:txBody>
      </p:sp>
      <p:sp>
        <p:nvSpPr>
          <p:cNvPr id="8" name="Text 6"/>
          <p:cNvSpPr/>
          <p:nvPr/>
        </p:nvSpPr>
        <p:spPr>
          <a:xfrm>
            <a:off x="640080" y="1188720"/>
            <a:ext cx="7863840" cy="274320"/>
          </a:xfrm>
          <a:prstGeom prst="rect">
            <a:avLst/>
          </a:prstGeom>
          <a:noFill/>
          <a:ln/>
        </p:spPr>
        <p:txBody>
          <a:bodyPr wrap="square" rtlCol="0" anchor="ct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Q1: 보험료가 너무 비싼 것 같습니다. 비용 처리(손금산입)는 확실히 되는 건가요?</a:t>
            </a:r>
            <a:endParaRPr lang="en-US" sz="1000" dirty="0"/>
          </a:p>
        </p:txBody>
      </p:sp>
      <p:sp>
        <p:nvSpPr>
          <p:cNvPr id="9" name="Text 7"/>
          <p:cNvSpPr/>
          <p:nvPr/>
        </p:nvSpPr>
        <p:spPr>
          <a:xfrm>
            <a:off x="640080" y="1463040"/>
            <a:ext cx="7863840" cy="1234440"/>
          </a:xfrm>
          <a:prstGeom prst="rect">
            <a:avLst/>
          </a:prstGeom>
          <a:noFill/>
          <a:ln/>
        </p:spPr>
        <p:txBody>
          <a:bodyPr wrap="square" rtlCol="0" anchor="t"/>
          <a:lstStyle/>
          <a:p>
            <a:pPr marL="0" indent="0">
              <a:lnSpc>
                <a:spcPct val="125000"/>
              </a:lnSpc>
              <a:buNone/>
            </a:pPr>
            <a:r>
              <a:rPr lang="en-US" sz="900" dirty="0">
                <a:solidFill>
                  <a:srgbClr val="2B2B2B"/>
                </a:solidFill>
                <a:latin typeface="맑은 고딕" pitchFamily="34" charset="0"/>
                <a:ea typeface="맑은 고딕" pitchFamily="34" charset="-122"/>
                <a:cs typeface="맑은 고딕" pitchFamily="34" charset="-120"/>
              </a:rPr>
              <a:t>A: 보험료의 비용 처리는 보험의 종류에 따라 다릅니다. 만기환급금이 없는 순수보장성 '정기보험'의 보험료는 전액 손금산입이 가능합니다. '종신보험'은 저축성 기능이 있어 보험료를 자산으로 처리했다가, 향후 CEO 퇴직 시 퇴직금 재원으로 지급하며 비용 처리하는 등 정교한 회계 처리가 필요합니다. 본 제안은 비용 효율이 높은 정기보험을 결합하여, 절세 효과와 비용 부담 완화를 동시에 고려한 최적의 설계입니다.</a:t>
            </a:r>
            <a:endParaRPr lang="en-US" sz="900" dirty="0"/>
          </a:p>
        </p:txBody>
      </p:sp>
      <p:sp>
        <p:nvSpPr>
          <p:cNvPr id="10" name="Shape 8"/>
          <p:cNvSpPr/>
          <p:nvPr/>
        </p:nvSpPr>
        <p:spPr>
          <a:xfrm>
            <a:off x="457200" y="292608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926080"/>
            <a:ext cx="54864" cy="1188720"/>
          </a:xfrm>
          <a:prstGeom prst="rect">
            <a:avLst/>
          </a:prstGeom>
          <a:solidFill>
            <a:srgbClr val="1B2A4A"/>
          </a:solidFill>
          <a:ln/>
        </p:spPr>
        <p:txBody>
          <a:bodyPr/>
          <a:lstStyle/>
          <a:p>
            <a:endParaRPr lang="ko-KR" altLang="en-US"/>
          </a:p>
        </p:txBody>
      </p:sp>
      <p:sp>
        <p:nvSpPr>
          <p:cNvPr id="12" name="Text 10"/>
          <p:cNvSpPr/>
          <p:nvPr/>
        </p:nvSpPr>
        <p:spPr>
          <a:xfrm>
            <a:off x="640080" y="2971800"/>
            <a:ext cx="7863840" cy="274320"/>
          </a:xfrm>
          <a:prstGeom prst="rect">
            <a:avLst/>
          </a:prstGeom>
          <a:noFill/>
          <a:ln/>
        </p:spPr>
        <p:txBody>
          <a:bodyPr wrap="square" rtlCol="0" anchor="ct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Q2: 보험금에 대한 법인세를 내야 한다면 실효성이 떨어지는 것 아닌가요?</a:t>
            </a:r>
            <a:endParaRPr lang="en-US" sz="1000" dirty="0"/>
          </a:p>
        </p:txBody>
      </p:sp>
      <p:sp>
        <p:nvSpPr>
          <p:cNvPr id="13" name="Text 11"/>
          <p:cNvSpPr/>
          <p:nvPr/>
        </p:nvSpPr>
        <p:spPr>
          <a:xfrm>
            <a:off x="640080" y="3246120"/>
            <a:ext cx="7863840" cy="777240"/>
          </a:xfrm>
          <a:prstGeom prst="rect">
            <a:avLst/>
          </a:prstGeom>
          <a:noFill/>
          <a:ln/>
        </p:spPr>
        <p:txBody>
          <a:bodyPr wrap="square" rtlCol="0" anchor="t"/>
          <a:lstStyle/>
          <a:p>
            <a:pPr marL="0" indent="0">
              <a:lnSpc>
                <a:spcPct val="125000"/>
              </a:lnSpc>
              <a:buNone/>
            </a:pPr>
            <a:r>
              <a:rPr lang="en-US" sz="900" dirty="0">
                <a:solidFill>
                  <a:srgbClr val="2B2B2B"/>
                </a:solidFill>
                <a:latin typeface="맑은 고딕" pitchFamily="34" charset="0"/>
                <a:ea typeface="맑은 고딕" pitchFamily="34" charset="-122"/>
                <a:cs typeface="맑은 고딕" pitchFamily="34" charset="-120"/>
              </a:rPr>
              <a:t>A: 그렇지 않습니다. 첫째, 세금을 내더라도 보험금이 없다면 회사는 파산합니다. 생존 자체가 불가능합니다. 둘째, 이는 사전에 계획된 절세 전략과 연계됩니다. 보험금을 수령하는 연도에 CEO의 사망 퇴직금을 거액으로 지급하면, 수익(보험금)과 비용(퇴직금)이 상계되어 법인세 부담을 합법적으로 최소화할 수 있습니다.</a:t>
            </a:r>
            <a:endParaRPr lang="en-US" sz="9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29 / 32</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30</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(3/5)</a:t>
            </a:r>
            <a:endParaRPr lang="en-US" sz="1500" dirty="0"/>
          </a:p>
        </p:txBody>
      </p:sp>
      <p:sp>
        <p:nvSpPr>
          <p:cNvPr id="5" name="Shape 3"/>
          <p:cNvSpPr/>
          <p:nvPr/>
        </p:nvSpPr>
        <p:spPr>
          <a:xfrm>
            <a:off x="457200" y="685800"/>
            <a:ext cx="8229600" cy="14630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463040"/>
          </a:xfrm>
          <a:prstGeom prst="rect">
            <a:avLst/>
          </a:prstGeom>
          <a:solidFill>
            <a:srgbClr val="1B2A4A"/>
          </a:solidFill>
          <a:ln/>
        </p:spPr>
        <p:txBody>
          <a:bodyPr/>
          <a:lstStyle/>
          <a:p>
            <a:endParaRPr lang="ko-KR" altLang="en-US"/>
          </a:p>
        </p:txBody>
      </p:sp>
      <p:sp>
        <p:nvSpPr>
          <p:cNvPr id="7" name="Text 5"/>
          <p:cNvSpPr/>
          <p:nvPr/>
        </p:nvSpPr>
        <p:spPr>
          <a:xfrm>
            <a:off x="640080" y="731520"/>
            <a:ext cx="7863840" cy="274320"/>
          </a:xfrm>
          <a:prstGeom prst="rect">
            <a:avLst/>
          </a:prstGeom>
          <a:noFill/>
          <a:ln/>
        </p:spPr>
        <p:txBody>
          <a:bodyPr wrap="square" rtlCol="0" anchor="ct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Q3: 가입 후 CEO가 건강하게 은퇴하면 이 보험은 어떻게 되나요?</a:t>
            </a:r>
            <a:endParaRPr lang="en-US" sz="1000" dirty="0"/>
          </a:p>
        </p:txBody>
      </p:sp>
      <p:sp>
        <p:nvSpPr>
          <p:cNvPr id="8" name="Text 6"/>
          <p:cNvSpPr/>
          <p:nvPr/>
        </p:nvSpPr>
        <p:spPr>
          <a:xfrm>
            <a:off x="640080" y="1005840"/>
            <a:ext cx="7863840" cy="1051560"/>
          </a:xfrm>
          <a:prstGeom prst="rect">
            <a:avLst/>
          </a:prstGeom>
          <a:noFill/>
          <a:ln/>
        </p:spPr>
        <p:txBody>
          <a:bodyPr wrap="square" rtlCol="0" anchor="t"/>
          <a:lstStyle/>
          <a:p>
            <a:pPr marL="0" indent="0">
              <a:lnSpc>
                <a:spcPct val="125000"/>
              </a:lnSpc>
              <a:buNone/>
            </a:pPr>
            <a:r>
              <a:rPr lang="en-US" sz="900" dirty="0">
                <a:solidFill>
                  <a:srgbClr val="2B2B2B"/>
                </a:solidFill>
                <a:latin typeface="맑은 고딕" pitchFamily="34" charset="0"/>
                <a:ea typeface="맑은 고딕" pitchFamily="34" charset="-122"/>
                <a:cs typeface="맑은 고딕" pitchFamily="34" charset="-120"/>
              </a:rPr>
              <a:t>A: 매우 좋은 질문입니다. CEO가 건강하게 은퇴하실 때, 이 보험은 '사망 보장'이라는 1차 목적에서 '은퇴 자금'이라는 2차 목적으로 전환됩니다. 종신보험의 해지환급금을 CEO의 퇴직금 재원으로 활용하는 것입니다. 이는 법인의 부채(퇴직금)를 상쇄하는 효과가 있으며, 대표님께는 안정적인 노후를 보장하는 훌륭한 출구전략이 됩니다.</a:t>
            </a:r>
            <a:endParaRPr lang="en-US" sz="900" dirty="0"/>
          </a:p>
        </p:txBody>
      </p:sp>
      <p:sp>
        <p:nvSpPr>
          <p:cNvPr id="9" name="Text 7"/>
          <p:cNvSpPr/>
          <p:nvPr/>
        </p:nvSpPr>
        <p:spPr>
          <a:xfrm>
            <a:off x="457200" y="22860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관련 법규·출처</a:t>
            </a:r>
            <a:endParaRPr lang="en-US" sz="1400" dirty="0"/>
          </a:p>
        </p:txBody>
      </p:sp>
      <p:sp>
        <p:nvSpPr>
          <p:cNvPr id="10" name="Text 8"/>
          <p:cNvSpPr/>
          <p:nvPr/>
        </p:nvSpPr>
        <p:spPr>
          <a:xfrm>
            <a:off x="457200" y="2743200"/>
            <a:ext cx="8229600" cy="274320"/>
          </a:xfrm>
          <a:prstGeom prst="rect">
            <a:avLst/>
          </a:prstGeom>
          <a:noFill/>
          <a:ln/>
        </p:spPr>
        <p:txBody>
          <a:bodyPr wrap="square" rtlCol="0" anchor="ctr"/>
          <a:lstStyle/>
          <a:p>
            <a:pPr marL="0" indent="0">
              <a:buNone/>
            </a:pPr>
            <a:r>
              <a:rPr lang="en-US" sz="1000" i="1" dirty="0">
                <a:solidFill>
                  <a:srgbClr val="4A5568"/>
                </a:solidFill>
                <a:latin typeface="맑은 고딕" pitchFamily="34" charset="0"/>
                <a:ea typeface="맑은 고딕" pitchFamily="34" charset="-122"/>
                <a:cs typeface="맑은 고딕" pitchFamily="34" charset="-120"/>
              </a:rPr>
              <a:t>(다음 슬라이드에서 상세 내용 확인)</a:t>
            </a:r>
            <a:endParaRPr lang="en-US" sz="1000" dirty="0"/>
          </a:p>
        </p:txBody>
      </p:sp>
      <p:sp>
        <p:nvSpPr>
          <p:cNvPr id="11" name="Text 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2" name="Text 10"/>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30 / 32</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31</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(4/5)</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관련 법규·출처</a:t>
            </a:r>
            <a:endParaRPr lang="en-US" sz="1400" dirty="0"/>
          </a:p>
        </p:txBody>
      </p:sp>
      <p:sp>
        <p:nvSpPr>
          <p:cNvPr id="6" name="Shape 4"/>
          <p:cNvSpPr/>
          <p:nvPr/>
        </p:nvSpPr>
        <p:spPr>
          <a:xfrm>
            <a:off x="457200" y="1143000"/>
            <a:ext cx="8229600" cy="16916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691640"/>
          </a:xfrm>
          <a:prstGeom prst="rect">
            <a:avLst/>
          </a:prstGeom>
          <a:solidFill>
            <a:srgbClr val="1B2A4A"/>
          </a:solidFill>
          <a:ln/>
        </p:spPr>
        <p:txBody>
          <a:bodyPr/>
          <a:lstStyle/>
          <a:p>
            <a:endParaRPr lang="ko-KR" altLang="en-US"/>
          </a:p>
        </p:txBody>
      </p:sp>
      <p:sp>
        <p:nvSpPr>
          <p:cNvPr id="8" name="Text 6"/>
          <p:cNvSpPr/>
          <p:nvPr/>
        </p:nvSpPr>
        <p:spPr>
          <a:xfrm>
            <a:off x="640080" y="1188720"/>
            <a:ext cx="7863840" cy="274320"/>
          </a:xfrm>
          <a:prstGeom prst="rect">
            <a:avLst/>
          </a:prstGeom>
          <a:noFill/>
          <a:ln/>
        </p:spPr>
        <p:txBody>
          <a:bodyPr wrap="square" rtlCol="0" anchor="ct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상속세 및 증여세법 제8조 (상속재산으로 보는 보험금)</a:t>
            </a:r>
            <a:endParaRPr lang="en-US" sz="1000" dirty="0"/>
          </a:p>
        </p:txBody>
      </p:sp>
      <p:sp>
        <p:nvSpPr>
          <p:cNvPr id="9" name="Text 7"/>
          <p:cNvSpPr/>
          <p:nvPr/>
        </p:nvSpPr>
        <p:spPr>
          <a:xfrm>
            <a:off x="640080" y="1463040"/>
            <a:ext cx="7863840" cy="1280160"/>
          </a:xfrm>
          <a:prstGeom prst="rect">
            <a:avLst/>
          </a:prstGeom>
          <a:noFill/>
          <a:ln/>
        </p:spPr>
        <p:txBody>
          <a:bodyPr wrap="square" rtlCol="0" anchor="t"/>
          <a:lstStyle/>
          <a:p>
            <a:pPr marL="0" indent="0">
              <a:lnSpc>
                <a:spcPct val="125000"/>
              </a:lnSpc>
              <a:buNone/>
            </a:pPr>
            <a:r>
              <a:rPr lang="en-US" sz="900" b="1" dirty="0">
                <a:solidFill>
                  <a:srgbClr val="2B2B2B"/>
                </a:solidFill>
                <a:latin typeface="맑은 고딕" pitchFamily="34" charset="0"/>
                <a:ea typeface="맑은 고딕" pitchFamily="34" charset="-122"/>
                <a:cs typeface="맑은 고딕" pitchFamily="34" charset="-120"/>
              </a:rPr>
              <a:t>내용: </a:t>
            </a:r>
            <a:r>
              <a:rPr lang="en-US" sz="900" dirty="0">
                <a:solidFill>
                  <a:srgbClr val="2B2B2B"/>
                </a:solidFill>
                <a:latin typeface="맑은 고딕" pitchFamily="34" charset="0"/>
                <a:ea typeface="맑은 고딕" pitchFamily="34" charset="-122"/>
                <a:cs typeface="맑은 고딕" pitchFamily="34" charset="-120"/>
              </a:rPr>
              <a:t>피상속인(CEO)의 사망으로 인하여 받는 생명보험 또는 손해보험의 보험금으로서 피상속인이 보험계약자인 보험계약에 의하여 받는 것은 상속재산으로 본다.</a:t>
            </a:r>
            <a:endParaRPr lang="en-US" sz="900" dirty="0"/>
          </a:p>
          <a:p>
            <a:pPr marL="0" indent="0">
              <a:lnSpc>
                <a:spcPct val="125000"/>
              </a:lnSpc>
              <a:buNone/>
            </a:pPr>
            <a:r>
              <a:rPr lang="en-US" sz="900" b="1" dirty="0">
                <a:solidFill>
                  <a:srgbClr val="2B2B2B"/>
                </a:solidFill>
                <a:latin typeface="맑은 고딕" pitchFamily="34" charset="0"/>
                <a:ea typeface="맑은 고딕" pitchFamily="34" charset="-122"/>
                <a:cs typeface="맑은 고딕" pitchFamily="34" charset="-120"/>
              </a:rPr>
              <a:t>시사점: </a:t>
            </a:r>
            <a:r>
              <a:rPr lang="en-US" sz="900" dirty="0">
                <a:solidFill>
                  <a:srgbClr val="2B2B2B"/>
                </a:solidFill>
                <a:latin typeface="맑은 고딕" pitchFamily="34" charset="0"/>
                <a:ea typeface="맑은 고딕" pitchFamily="34" charset="-122"/>
                <a:cs typeface="맑은 고딕" pitchFamily="34" charset="-120"/>
              </a:rPr>
              <a:t>본 보고서에서 법인을 계약자와 수익자로 설계하는 핵심 이유입니다. 이 구조를 통해 보험금은 CEO의 상속재산이 아닌 법인의 고유 자산으로 귀속되어 상속세 과세 대상에서 제외되고, 회사의 비상 자금으로 활용될 수 있습니다.</a:t>
            </a:r>
            <a:endParaRPr lang="en-US" sz="900" dirty="0"/>
          </a:p>
        </p:txBody>
      </p:sp>
      <p:sp>
        <p:nvSpPr>
          <p:cNvPr id="10" name="Shape 8"/>
          <p:cNvSpPr/>
          <p:nvPr/>
        </p:nvSpPr>
        <p:spPr>
          <a:xfrm>
            <a:off x="457200" y="2971800"/>
            <a:ext cx="8229600" cy="16916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971800"/>
            <a:ext cx="54864" cy="1691640"/>
          </a:xfrm>
          <a:prstGeom prst="rect">
            <a:avLst/>
          </a:prstGeom>
          <a:solidFill>
            <a:srgbClr val="1B2A4A"/>
          </a:solidFill>
          <a:ln/>
        </p:spPr>
        <p:txBody>
          <a:bodyPr/>
          <a:lstStyle/>
          <a:p>
            <a:endParaRPr lang="ko-KR" altLang="en-US"/>
          </a:p>
        </p:txBody>
      </p:sp>
      <p:sp>
        <p:nvSpPr>
          <p:cNvPr id="12" name="Text 10"/>
          <p:cNvSpPr/>
          <p:nvPr/>
        </p:nvSpPr>
        <p:spPr>
          <a:xfrm>
            <a:off x="640080" y="3017520"/>
            <a:ext cx="7863840" cy="274320"/>
          </a:xfrm>
          <a:prstGeom prst="rect">
            <a:avLst/>
          </a:prstGeom>
          <a:noFill/>
          <a:ln/>
        </p:spPr>
        <p:txBody>
          <a:bodyPr wrap="square" rtlCol="0" anchor="ct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법인세법 시행령 제44조의2 (퇴직보험료등의 손금산입)</a:t>
            </a:r>
            <a:endParaRPr lang="en-US" sz="1000" dirty="0"/>
          </a:p>
        </p:txBody>
      </p:sp>
      <p:sp>
        <p:nvSpPr>
          <p:cNvPr id="13" name="Text 11"/>
          <p:cNvSpPr/>
          <p:nvPr/>
        </p:nvSpPr>
        <p:spPr>
          <a:xfrm>
            <a:off x="640080" y="3291840"/>
            <a:ext cx="7863840" cy="1280160"/>
          </a:xfrm>
          <a:prstGeom prst="rect">
            <a:avLst/>
          </a:prstGeom>
          <a:noFill/>
          <a:ln/>
        </p:spPr>
        <p:txBody>
          <a:bodyPr wrap="square" rtlCol="0" anchor="t"/>
          <a:lstStyle/>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내용: </a:t>
            </a:r>
            <a:r>
              <a:rPr lang="en-US" sz="900" dirty="0">
                <a:solidFill>
                  <a:srgbClr val="2B2B2B"/>
                </a:solidFill>
                <a:latin typeface="맑은 고딕" pitchFamily="34" charset="0"/>
                <a:ea typeface="맑은 고딕" pitchFamily="34" charset="-122"/>
                <a:cs typeface="맑은 고딕" pitchFamily="34" charset="-120"/>
              </a:rPr>
              <a:t>내국법인이 임직원의 퇴직을 보험금 지급사유로 하고 임직원을 피보험자와 수익자로 하는 보험의 보험료는 손금에 산입한다. 그러나 만기에 납입보험료를 초과하는 금액을 환급하는 저축성 보험료는 제외한다.</a:t>
            </a:r>
            <a:endParaRPr lang="en-US" sz="900" dirty="0"/>
          </a:p>
          <a:p>
            <a:pPr marL="0" indent="0">
              <a:lnSpc>
                <a:spcPct val="120000"/>
              </a:lnSpc>
              <a:buNone/>
            </a:pPr>
            <a:r>
              <a:rPr lang="en-US" sz="900" b="1" dirty="0">
                <a:solidFill>
                  <a:srgbClr val="2B2B2B"/>
                </a:solidFill>
                <a:latin typeface="맑은 고딕" pitchFamily="34" charset="0"/>
                <a:ea typeface="맑은 고딕" pitchFamily="34" charset="-122"/>
                <a:cs typeface="맑은 고딕" pitchFamily="34" charset="-120"/>
              </a:rPr>
              <a:t>시사점: </a:t>
            </a:r>
            <a:r>
              <a:rPr lang="en-US" sz="900" dirty="0">
                <a:solidFill>
                  <a:srgbClr val="2B2B2B"/>
                </a:solidFill>
                <a:latin typeface="맑은 고딕" pitchFamily="34" charset="0"/>
                <a:ea typeface="맑은 고딕" pitchFamily="34" charset="-122"/>
                <a:cs typeface="맑은 고딕" pitchFamily="34" charset="-120"/>
              </a:rPr>
              <a:t>임직원 복리후생 목적의 보험료 손금산입 규정입니다. Key-Man 보험의 경우 수익자가 '법인'이므로, 이 조항과 별개로 보험의 성격(보장성 vs 저축성)에 따라 회계 및 세무 처리를 달리해야 합니다. 순수보장성 정기보험은 비용 처리, 저축성 성격이 있는 종신보험은 자산 처리 후 목적에 맞게 비용화하는 전략이 유효합니다.</a:t>
            </a:r>
            <a:endParaRPr lang="en-US" sz="90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31 / 32</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rPr>
              <a:t>32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X. 부록 (Appendix) (5/5)</a:t>
            </a:r>
            <a:endParaRPr lang="en-US" sz="1500" dirty="0"/>
          </a:p>
        </p:txBody>
      </p:sp>
      <p:sp>
        <p:nvSpPr>
          <p:cNvPr id="5" name="Text 3"/>
          <p:cNvSpPr/>
          <p:nvPr/>
        </p:nvSpPr>
        <p:spPr>
          <a:xfrm>
            <a:off x="457200" y="685800"/>
            <a:ext cx="8229600" cy="365760"/>
          </a:xfrm>
          <a:prstGeom prst="rect">
            <a:avLst/>
          </a:prstGeom>
          <a:noFill/>
          <a:ln/>
        </p:spPr>
        <p:txBody>
          <a:bodyPr wrap="square" rtlCol="0" anchor="t"/>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관련 법규·출처 (계속)</a:t>
            </a:r>
            <a:endParaRPr lang="en-US" sz="1400" dirty="0"/>
          </a:p>
        </p:txBody>
      </p:sp>
      <p:sp>
        <p:nvSpPr>
          <p:cNvPr id="6" name="Shape 4"/>
          <p:cNvSpPr/>
          <p:nvPr/>
        </p:nvSpPr>
        <p:spPr>
          <a:xfrm>
            <a:off x="457200" y="1143000"/>
            <a:ext cx="8229600" cy="2011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2011680"/>
          </a:xfrm>
          <a:prstGeom prst="rect">
            <a:avLst/>
          </a:prstGeom>
          <a:solidFill>
            <a:srgbClr val="1B2A4A"/>
          </a:solidFill>
          <a:ln/>
        </p:spPr>
        <p:txBody>
          <a:bodyPr/>
          <a:lstStyle/>
          <a:p>
            <a:endParaRPr lang="ko-KR" altLang="en-US"/>
          </a:p>
        </p:txBody>
      </p:sp>
      <p:sp>
        <p:nvSpPr>
          <p:cNvPr id="8" name="Text 6"/>
          <p:cNvSpPr/>
          <p:nvPr/>
        </p:nvSpPr>
        <p:spPr>
          <a:xfrm>
            <a:off x="640080" y="1188720"/>
            <a:ext cx="7863840" cy="274320"/>
          </a:xfrm>
          <a:prstGeom prst="rect">
            <a:avLst/>
          </a:prstGeom>
          <a:noFill/>
          <a:ln/>
        </p:spPr>
        <p:txBody>
          <a:bodyPr wrap="square" rtlCol="0" anchor="ctr"/>
          <a:lstStyle/>
          <a:p>
            <a:pPr marL="0" indent="0">
              <a:buNone/>
            </a:pPr>
            <a:r>
              <a:rPr lang="en-US" sz="1000" b="1" dirty="0">
                <a:solidFill>
                  <a:srgbClr val="2B2B2B"/>
                </a:solidFill>
                <a:latin typeface="맑은 고딕" pitchFamily="34" charset="0"/>
                <a:ea typeface="맑은 고딕" pitchFamily="34" charset="-122"/>
                <a:cs typeface="맑은 고딕" pitchFamily="34" charset="-120"/>
              </a:rPr>
              <a:t>상법 제341조 (자기주식의 취득)</a:t>
            </a:r>
            <a:endParaRPr lang="en-US" sz="1000" dirty="0"/>
          </a:p>
        </p:txBody>
      </p:sp>
      <p:sp>
        <p:nvSpPr>
          <p:cNvPr id="9" name="Text 7"/>
          <p:cNvSpPr/>
          <p:nvPr/>
        </p:nvSpPr>
        <p:spPr>
          <a:xfrm>
            <a:off x="640080" y="1463040"/>
            <a:ext cx="7863840" cy="1554480"/>
          </a:xfrm>
          <a:prstGeom prst="rect">
            <a:avLst/>
          </a:prstGeom>
          <a:noFill/>
          <a:ln/>
        </p:spPr>
        <p:txBody>
          <a:bodyPr wrap="square" rtlCol="0" anchor="t"/>
          <a:lstStyle/>
          <a:p>
            <a:pPr marL="0" indent="0">
              <a:lnSpc>
                <a:spcPct val="125000"/>
              </a:lnSpc>
              <a:buNone/>
            </a:pPr>
            <a:r>
              <a:rPr lang="en-US" sz="900" b="1" dirty="0">
                <a:solidFill>
                  <a:srgbClr val="2B2B2B"/>
                </a:solidFill>
                <a:latin typeface="맑은 고딕" pitchFamily="34" charset="0"/>
                <a:ea typeface="맑은 고딕" pitchFamily="34" charset="-122"/>
                <a:cs typeface="맑은 고딕" pitchFamily="34" charset="-120"/>
              </a:rPr>
              <a:t>내용: </a:t>
            </a:r>
            <a:r>
              <a:rPr lang="en-US" sz="900" dirty="0">
                <a:solidFill>
                  <a:srgbClr val="2B2B2B"/>
                </a:solidFill>
                <a:latin typeface="맑은 고딕" pitchFamily="34" charset="0"/>
                <a:ea typeface="맑은 고딕" pitchFamily="34" charset="-122"/>
                <a:cs typeface="맑은 고딕" pitchFamily="34" charset="-120"/>
              </a:rPr>
              <a:t>회사는 특정 목적이 있는 경우에만 자기의 명의와 계산으로 자기주식을 취득할 수 있으며, 그 취득가액의 총액은 직전 결산기의 재무상태표상 순자산액에서 자본금, 자본준비금 등을 뺀 금액(배당가능이익)을 초과하지 못한다.</a:t>
            </a:r>
            <a:endParaRPr lang="en-US" sz="900" dirty="0"/>
          </a:p>
          <a:p>
            <a:pPr marL="0" indent="0">
              <a:lnSpc>
                <a:spcPct val="125000"/>
              </a:lnSpc>
              <a:buNone/>
            </a:pPr>
            <a:r>
              <a:rPr lang="en-US" sz="900" b="1" dirty="0">
                <a:solidFill>
                  <a:srgbClr val="2B2B2B"/>
                </a:solidFill>
                <a:latin typeface="맑은 고딕" pitchFamily="34" charset="0"/>
                <a:ea typeface="맑은 고딕" pitchFamily="34" charset="-122"/>
                <a:cs typeface="맑은 고딕" pitchFamily="34" charset="-120"/>
              </a:rPr>
              <a:t>시사점: </a:t>
            </a:r>
            <a:r>
              <a:rPr lang="en-US" sz="900" dirty="0">
                <a:solidFill>
                  <a:srgbClr val="2B2B2B"/>
                </a:solidFill>
                <a:latin typeface="맑은 고딕" pitchFamily="34" charset="0"/>
                <a:ea typeface="맑은 고딕" pitchFamily="34" charset="-122"/>
                <a:cs typeface="맑은 고딕" pitchFamily="34" charset="-120"/>
              </a:rPr>
              <a:t>자사주 매입은 법적으로 정해진 재원(배당가능이익)과 절차를 따라야 합니다. Key-Man 보험금은 법인의 '영업외수익'으로 잡혀 배당가능이익을 늘려주므로, 자사주 매입을 위한 재원을 합법적으로 마련하는 가장 확실한 방법이 됩니다.</a:t>
            </a:r>
            <a:endParaRPr lang="en-US" sz="900" dirty="0"/>
          </a:p>
        </p:txBody>
      </p:sp>
      <p:sp>
        <p:nvSpPr>
          <p:cNvPr id="10" name="Shape 8"/>
          <p:cNvSpPr/>
          <p:nvPr/>
        </p:nvSpPr>
        <p:spPr>
          <a:xfrm>
            <a:off x="457200" y="3429000"/>
            <a:ext cx="8229600" cy="1005840"/>
          </a:xfrm>
          <a:prstGeom prst="rect">
            <a:avLst/>
          </a:prstGeom>
          <a:solidFill>
            <a:srgbClr val="FFFBEB"/>
          </a:solidFill>
          <a:ln/>
        </p:spPr>
        <p:txBody>
          <a:bodyPr/>
          <a:lstStyle/>
          <a:p>
            <a:endParaRPr lang="ko-KR" altLang="en-US"/>
          </a:p>
        </p:txBody>
      </p:sp>
      <p:sp>
        <p:nvSpPr>
          <p:cNvPr id="11" name="Text 9"/>
          <p:cNvSpPr/>
          <p:nvPr/>
        </p:nvSpPr>
        <p:spPr>
          <a:xfrm>
            <a:off x="640080" y="3474720"/>
            <a:ext cx="7863840" cy="914400"/>
          </a:xfrm>
          <a:prstGeom prst="rect">
            <a:avLst/>
          </a:prstGeom>
          <a:noFill/>
          <a:ln/>
        </p:spPr>
        <p:txBody>
          <a:bodyPr wrap="square" rtlCol="0" anchor="t"/>
          <a:lstStyle/>
          <a:p>
            <a:pPr marL="0" indent="0">
              <a:lnSpc>
                <a:spcPct val="125000"/>
              </a:lnSpc>
              <a:buNone/>
            </a:pPr>
            <a:r>
              <a:rPr lang="en-US" sz="800" dirty="0">
                <a:solidFill>
                  <a:srgbClr val="78350F"/>
                </a:solidFill>
                <a:latin typeface="맑은 고딕" pitchFamily="34" charset="0"/>
                <a:ea typeface="맑은 고딕" pitchFamily="34" charset="-122"/>
                <a:cs typeface="맑은 고딕" pitchFamily="34" charset="-120"/>
              </a:rPr>
              <a:t>본 보고서는 ㈜KFPC의 '이너서클 멤버십'과 '컨설턴트 홈페이지' 이용회원의 원활한 영업활동을 돕기 위해서 가상의 사례(회사, 개인 등의 정보 등...)를 설정하여 '인공지능'을 통해 제작되었습니다.</a:t>
            </a:r>
            <a:endParaRPr lang="en-US" sz="800" dirty="0"/>
          </a:p>
          <a:p>
            <a:pPr marL="0" indent="0">
              <a:lnSpc>
                <a:spcPct val="125000"/>
              </a:lnSpc>
              <a:buNone/>
            </a:pPr>
            <a:r>
              <a:rPr lang="en-US" sz="800" dirty="0">
                <a:solidFill>
                  <a:srgbClr val="78350F"/>
                </a:solidFill>
                <a:latin typeface="맑은 고딕" pitchFamily="34" charset="0"/>
                <a:ea typeface="맑은 고딕" pitchFamily="34" charset="-122"/>
                <a:cs typeface="맑은 고딕" pitchFamily="34" charset="-120"/>
              </a:rPr>
              <a:t>AI는 언제든지 오류가 있을 수 있으므로 참고용으로 사용하여 주시고, 실무 사용시 세법을 포함한 모든 규정, 제도들은 반드시 분야별 전문가와 충분히 상담을 하신 후 진행하시기 바랍니다.</a:t>
            </a:r>
            <a:endParaRPr lang="en-US" sz="800" dirty="0"/>
          </a:p>
          <a:p>
            <a:pPr marL="0" indent="0">
              <a:lnSpc>
                <a:spcPct val="125000"/>
              </a:lnSpc>
              <a:buNone/>
            </a:pPr>
            <a:r>
              <a:rPr lang="en-US" sz="800" dirty="0">
                <a:solidFill>
                  <a:srgbClr val="78350F"/>
                </a:solidFill>
                <a:latin typeface="맑은 고딕" pitchFamily="34" charset="0"/>
                <a:ea typeface="맑은 고딕" pitchFamily="34" charset="-122"/>
                <a:cs typeface="맑은 고딕" pitchFamily="34" charset="-120"/>
              </a:rPr>
              <a:t>사용에 따라 발생되는 문제에 대하여 제작처는 책임이 없음을 알려드립니다.</a:t>
            </a:r>
            <a:endParaRPr lang="en-US" sz="800" dirty="0"/>
          </a:p>
        </p:txBody>
      </p:sp>
      <p:sp>
        <p:nvSpPr>
          <p:cNvPr id="12" name="Text 1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rPr>
              <a:t>CEO 사망 시 회사를 지키는 보험 설계 (Key-Man 보험)</a:t>
            </a:r>
            <a:endParaRPr lang="en-US" sz="800" dirty="0"/>
          </a:p>
        </p:txBody>
      </p:sp>
      <p:sp>
        <p:nvSpPr>
          <p:cNvPr id="13" name="Text 1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rPr>
              <a:t>32 / 32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5201</Words>
  <Application>Microsoft Office PowerPoint</Application>
  <PresentationFormat>화면 슬라이드 쇼(16:9)</PresentationFormat>
  <Paragraphs>425</Paragraphs>
  <Slides>32</Slides>
  <Notes>32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32</vt:i4>
      </vt:variant>
    </vt:vector>
  </HeadingPairs>
  <TitlesOfParts>
    <vt:vector size="35"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에프피센터 한국</cp:lastModifiedBy>
  <cp:revision>2</cp:revision>
  <dcterms:created xsi:type="dcterms:W3CDTF">2026-02-20T04:39:13Z</dcterms:created>
  <dcterms:modified xsi:type="dcterms:W3CDTF">2026-02-23T03:05:32Z</dcterms:modified>
</cp:coreProperties>
</file>