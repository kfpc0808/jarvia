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02898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548640"/>
          </a:xfrm>
          <a:prstGeom prst="rect">
            <a:avLst/>
          </a:prstGeom>
          <a:noFill/>
          <a:ln/>
        </p:spPr>
        <p:txBody>
          <a:bodyPr wrap="square" rtlCol="0" anchor="ctr"/>
          <a:lstStyle/>
          <a:p>
            <a:pPr marL="0" indent="0" algn="ctr">
              <a:buNone/>
            </a:pPr>
            <a:r>
              <a:rPr lang="en-US" sz="1800" dirty="0">
                <a:solidFill>
                  <a:srgbClr val="CBD5E1"/>
                </a:solidFill>
                <a:latin typeface="맑은 고딕" pitchFamily="34" charset="0"/>
                <a:ea typeface="맑은 고딕" pitchFamily="34" charset="-122"/>
                <a:cs typeface="맑은 고딕" pitchFamily="34" charset="-120"/>
              </a:rPr>
              <a:t>기업의 지속가능 성장 및 CEO 자산가치 극대화를 위한</a:t>
            </a:r>
            <a:endParaRPr lang="en-US" sz="1800" dirty="0"/>
          </a:p>
        </p:txBody>
      </p:sp>
      <p:sp>
        <p:nvSpPr>
          <p:cNvPr id="3" name="Text 1"/>
          <p:cNvSpPr/>
          <p:nvPr/>
        </p:nvSpPr>
        <p:spPr>
          <a:xfrm>
            <a:off x="731520" y="1737360"/>
            <a:ext cx="7680960" cy="914400"/>
          </a:xfrm>
          <a:prstGeom prst="rect">
            <a:avLst/>
          </a:prstGeom>
          <a:noFill/>
          <a:ln/>
        </p:spPr>
        <p:txBody>
          <a:bodyPr wrap="square" rtlCol="0" anchor="ctr"/>
          <a:lstStyle/>
          <a:p>
            <a:pPr marL="0" indent="0" algn="ctr">
              <a:buNone/>
            </a:pPr>
            <a:r>
              <a:rPr lang="en-US" sz="3200" b="1" dirty="0">
                <a:solidFill>
                  <a:srgbClr val="C8962E"/>
                </a:solidFill>
                <a:latin typeface="맑은 고딕" pitchFamily="34" charset="0"/>
                <a:ea typeface="맑은 고딕" pitchFamily="34" charset="-122"/>
                <a:cs typeface="맑은 고딕" pitchFamily="34" charset="-120"/>
              </a:rPr>
              <a:t>『컨설팅 특급보고서』</a:t>
            </a:r>
            <a:endParaRPr lang="en-US" sz="3200" dirty="0"/>
          </a:p>
        </p:txBody>
      </p:sp>
      <p:sp>
        <p:nvSpPr>
          <p:cNvPr id="4" name="Text 2"/>
          <p:cNvSpPr/>
          <p:nvPr/>
        </p:nvSpPr>
        <p:spPr>
          <a:xfrm>
            <a:off x="731520" y="2834640"/>
            <a:ext cx="7680960" cy="640080"/>
          </a:xfrm>
          <a:prstGeom prst="rect">
            <a:avLst/>
          </a:prstGeom>
          <a:noFill/>
          <a:ln/>
        </p:spPr>
        <p:txBody>
          <a:bodyPr wrap="square" rtlCol="0" anchor="ctr"/>
          <a:lstStyle/>
          <a:p>
            <a:pPr marL="0" indent="0" algn="ctr">
              <a:buNone/>
            </a:pPr>
            <a:r>
              <a:rPr lang="en-US" sz="2000" dirty="0">
                <a:solidFill>
                  <a:srgbClr val="CBD5E1"/>
                </a:solidFill>
                <a:latin typeface="맑은 고딕" pitchFamily="34" charset="0"/>
                <a:ea typeface="맑은 고딕" pitchFamily="34" charset="-122"/>
                <a:cs typeface="맑은 고딕" pitchFamily="34" charset="-120"/>
              </a:rPr>
              <a:t>CEO퇴직금을 미리 준비하는 절세 보험설계</a:t>
            </a:r>
            <a:endParaRPr lang="en-US" sz="2000" dirty="0"/>
          </a:p>
        </p:txBody>
      </p:sp>
      <p:sp>
        <p:nvSpPr>
          <p:cNvPr id="5" name="Text 3"/>
          <p:cNvSpPr/>
          <p:nvPr/>
        </p:nvSpPr>
        <p:spPr>
          <a:xfrm>
            <a:off x="731520" y="4709160"/>
            <a:ext cx="7680960" cy="274320"/>
          </a:xfrm>
          <a:prstGeom prst="rect">
            <a:avLst/>
          </a:prstGeom>
          <a:noFill/>
          <a:ln/>
        </p:spPr>
        <p:txBody>
          <a:bodyPr wrap="square" lIns="0" tIns="0" rIns="0" bIns="0" rtlCol="0" anchor="ctr"/>
          <a:lstStyle/>
          <a:p>
            <a:pPr marL="0" indent="0" algn="ctr">
              <a:buNone/>
            </a:pPr>
            <a:r>
              <a:rPr lang="en-US" sz="750" i="1" dirty="0">
                <a:solidFill>
                  <a:srgbClr val="64748B"/>
                </a:solidFill>
              </a:rPr>
              <a:t>본 자료는 AI 보조 도구를 활용하여 생성되었습니다. 실제 적용 전 전문가 확인이 필요합니다.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 자료 읽기에 앞서</a:t>
            </a:r>
            <a:endParaRPr lang="en-US" sz="1600" dirty="0"/>
          </a:p>
        </p:txBody>
      </p:sp>
      <p:sp>
        <p:nvSpPr>
          <p:cNvPr id="5" name="Text 3"/>
          <p:cNvSpPr/>
          <p:nvPr/>
        </p:nvSpPr>
        <p:spPr>
          <a:xfrm>
            <a:off x="457200" y="685800"/>
            <a:ext cx="8229600" cy="109728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CEO 여러분, 그리고 컨설턴트 여러분. 오늘 우리는 기업의 가장 중요한 자산이자 가장 예측 가능한 부채, 바로 'CEO 자신'에 대한 이야기를 하고자 합니다. 대표님의 헌신으로 회사는 매년 성장하고 이익을 쌓아가지만, 그 이면에는 언젠가 반드시 지급해야 할 '퇴직금'이라는 거대한 재무적 과제가 함께 자라나고 있습니다.</a:t>
            </a:r>
            <a:endParaRPr lang="en-US" sz="1100" dirty="0"/>
          </a:p>
        </p:txBody>
      </p:sp>
      <p:sp>
        <p:nvSpPr>
          <p:cNvPr id="6" name="Text 4"/>
          <p:cNvSpPr/>
          <p:nvPr/>
        </p:nvSpPr>
        <p:spPr>
          <a:xfrm>
            <a:off x="457200" y="1874520"/>
            <a:ext cx="8229600" cy="109728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많은 기업들이 이 문제를 애써 외면하다가, 대표님의 퇴임 시점에 이르러서야 막대한 현금 유출이라는 현실에 직면합니다. 이는 평생 일군 기업의 재무 건전성을 심각하게 훼손할 수 있는 '회색 코뿔소'와 같습니다. 본 보고서는 이처럼 거대하고 확실한 리스크를 더 이상 방치하지 않고, 현재의 이익을 활용해 '관리 가능한 자산'으로 전환하는 고도의 재무 전략을 제시합니다.</a:t>
            </a:r>
            <a:endParaRPr lang="en-US" sz="11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 / 35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 자료 읽기에 앞서 (계속)</a:t>
            </a:r>
            <a:endParaRPr lang="en-US" sz="1600" dirty="0"/>
          </a:p>
        </p:txBody>
      </p:sp>
      <p:sp>
        <p:nvSpPr>
          <p:cNvPr id="5" name="Shape 3"/>
          <p:cNvSpPr/>
          <p:nvPr/>
        </p:nvSpPr>
        <p:spPr>
          <a:xfrm>
            <a:off x="457200" y="685800"/>
            <a:ext cx="8229600" cy="3474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3474720"/>
          </a:xfrm>
          <a:prstGeom prst="rect">
            <a:avLst/>
          </a:prstGeom>
          <a:solidFill>
            <a:srgbClr val="C8962E"/>
          </a:solidFill>
          <a:ln/>
        </p:spPr>
        <p:txBody>
          <a:bodyPr/>
          <a:lstStyle/>
          <a:p>
            <a:endParaRPr lang="ko-KR" altLang="en-US"/>
          </a:p>
        </p:txBody>
      </p:sp>
      <p:sp>
        <p:nvSpPr>
          <p:cNvPr id="7" name="Text 5"/>
          <p:cNvSpPr/>
          <p:nvPr/>
        </p:nvSpPr>
        <p:spPr>
          <a:xfrm>
            <a:off x="685800" y="758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핵심 전략: 분산과 제도화</a:t>
            </a:r>
            <a:endParaRPr lang="en-US" sz="1200" dirty="0"/>
          </a:p>
        </p:txBody>
      </p:sp>
      <p:sp>
        <p:nvSpPr>
          <p:cNvPr id="8" name="Text 6"/>
          <p:cNvSpPr/>
          <p:nvPr/>
        </p:nvSpPr>
        <p:spPr>
          <a:xfrm>
            <a:off x="685800" y="1143000"/>
            <a:ext cx="7818120" cy="292608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핵심은 '분산'과 '제도화'입니다. 미래의 목돈을 장기간에 걸쳐 분할하여 준비하고, 이 과정을 정관과 규정으로 제도화하여 세무적 안정성을 확보하는 것입니다.</a:t>
            </a:r>
            <a:endParaRPr lang="en-US" sz="1000" dirty="0"/>
          </a:p>
          <a:p>
            <a:pPr marL="0" indent="0">
              <a:lnSpc>
                <a:spcPct val="130000"/>
              </a:lnSpc>
              <a:buNone/>
            </a:pP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그 가장 효과적인 도구로, 법인세 절감 효과와 자산 증식 기능을 동시에 갖춘 법인 보험 상품을 활용하는 방안을, 현실적인 제약과 법률적 리스크까지 고려하여 심도 있게 분석하고 시뮬레이션했습니다.</a:t>
            </a:r>
            <a:endParaRPr lang="en-US" sz="1000" dirty="0"/>
          </a:p>
          <a:p>
            <a:pPr marL="0" indent="0">
              <a:lnSpc>
                <a:spcPct val="130000"/>
              </a:lnSpc>
              <a:buNone/>
            </a:pP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본 보고서를 통해 컨설턴트 여러분은 CEO에게 단순한 상품 제안을 넘어, 기업의 10년, 20년 미래를 내다보는 재무 파트너로서의 통찰력을 제시할 수 있을 것입니다. CEO께서는 본인의 합당한 보상을 안정적으로 확보하고, 동시에 회사의 지속가능성까지 담보하는 최적의 솔루션을 발견하게 될 것입니다.</a:t>
            </a:r>
            <a:endParaRPr lang="en-US" sz="10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 / 35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기업 분석 (As-Is)</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법인 기본 정보 (가상 기업)</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779776"/>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4747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법인명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(주)하이테크정밀</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대표이사</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김영진 (만 55세)</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설립일</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2008년 5월 10일 (업력 17년)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업종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반도체 검사장비 부품 제조업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소재지</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경기도 평택시</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주주 구성</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대표이사 김영진 80%, 아들 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47472">
                <a:tc>
                  <a:txBody>
                    <a:bodyP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임직원 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45명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4 / 35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기업 분석 (As-Is)</a:t>
            </a:r>
            <a:endParaRPr lang="en-US" sz="1600" dirty="0"/>
          </a:p>
        </p:txBody>
      </p:sp>
      <p:sp>
        <p:nvSpPr>
          <p:cNvPr id="5" name="Shape 3"/>
          <p:cNvSpPr/>
          <p:nvPr/>
        </p:nvSpPr>
        <p:spPr>
          <a:xfrm>
            <a:off x="457200" y="685800"/>
            <a:ext cx="822960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371600"/>
          </a:xfrm>
          <a:prstGeom prst="rect">
            <a:avLst/>
          </a:prstGeom>
          <a:solidFill>
            <a:srgbClr val="C8962E"/>
          </a:solidFill>
          <a:ln/>
        </p:spPr>
        <p:txBody>
          <a:bodyPr/>
          <a:lstStyle/>
          <a:p>
            <a:endParaRPr lang="ko-KR" altLang="en-US"/>
          </a:p>
        </p:txBody>
      </p:sp>
      <p:sp>
        <p:nvSpPr>
          <p:cNvPr id="7" name="Text 5"/>
          <p:cNvSpPr/>
          <p:nvPr/>
        </p:nvSpPr>
        <p:spPr>
          <a:xfrm>
            <a:off x="685800" y="758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사업 영역 및 핵심 경쟁력 분석</a:t>
            </a:r>
            <a:endParaRPr lang="en-US" sz="1200" dirty="0"/>
          </a:p>
        </p:txBody>
      </p:sp>
      <p:sp>
        <p:nvSpPr>
          <p:cNvPr id="8" name="Text 6"/>
          <p:cNvSpPr/>
          <p:nvPr/>
        </p:nvSpPr>
        <p:spPr>
          <a:xfrm>
            <a:off x="685800" y="1097280"/>
            <a:ext cx="7818120" cy="91440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주요 사업: 국내 대기업 S사, H사의 반도체 검사장비에 탑재되는 초정밀 부품을 개발 및 제조.</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핵심 경쟁력: 나노 단위 공정 기술력과 높은 수율을 바탕으로 한 독점적 공급 지위 확보. 꾸준한 R&amp;D 투자를 통해 기술 격차를 유지하며 안정적인 성장세를 보이고 있음.</a:t>
            </a:r>
            <a:endParaRPr lang="en-US" sz="1000" dirty="0"/>
          </a:p>
        </p:txBody>
      </p:sp>
      <p:sp>
        <p:nvSpPr>
          <p:cNvPr id="9" name="Text 7"/>
          <p:cNvSpPr/>
          <p:nvPr/>
        </p:nvSpPr>
        <p:spPr>
          <a:xfrm>
            <a:off x="457200" y="224028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재무구조 및 CEO Needs 심층 진단</a:t>
            </a:r>
            <a:endParaRPr lang="en-US" sz="1400" dirty="0"/>
          </a:p>
        </p:txBody>
      </p:sp>
      <p:sp>
        <p:nvSpPr>
          <p:cNvPr id="10" name="Text 8"/>
          <p:cNvSpPr/>
          <p:nvPr/>
        </p:nvSpPr>
        <p:spPr>
          <a:xfrm>
            <a:off x="457200" y="2651760"/>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[재무구조 정밀 분석]</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879089180"/>
              </p:ext>
            </p:extLst>
          </p:nvPr>
        </p:nvGraphicFramePr>
        <p:xfrm>
          <a:off x="457200" y="2971800"/>
          <a:ext cx="8229600" cy="1676400"/>
        </p:xfrm>
        <a:graphic>
          <a:graphicData uri="http://schemas.openxmlformats.org/drawingml/2006/table">
            <a:tbl>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계정과목 (단위: 억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2023년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2024년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2025년 (추정)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매출액</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145</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160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연평균 15% 성장</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당기순이익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8</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수익성 양호</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미처분이익잉여금</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35</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45</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57</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D4382C"/>
                          </a:solidFill>
                          <a:latin typeface="맑은 고딕" pitchFamily="34" charset="0"/>
                          <a:ea typeface="맑은 고딕" pitchFamily="34" charset="-122"/>
                          <a:cs typeface="맑은 고딕" pitchFamily="34" charset="-120"/>
                        </a:rPr>
                        <a:t>급격한 증가, 주가 상승 및 상속세 부담 가중</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부채비율</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80%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75%</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70%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안정적 관리 중</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12" name="Text 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3" name="Text 10"/>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5 / 35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기업 분석 (As-Is)</a:t>
            </a:r>
            <a:endParaRPr lang="en-US" sz="1600" dirty="0"/>
          </a:p>
        </p:txBody>
      </p:sp>
      <p:sp>
        <p:nvSpPr>
          <p:cNvPr id="5" name="Shape 3"/>
          <p:cNvSpPr/>
          <p:nvPr/>
        </p:nvSpPr>
        <p:spPr>
          <a:xfrm>
            <a:off x="457200" y="685800"/>
            <a:ext cx="8229600" cy="1244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244600"/>
          </a:xfrm>
          <a:prstGeom prst="rect">
            <a:avLst/>
          </a:prstGeom>
          <a:solidFill>
            <a:srgbClr val="D4382C"/>
          </a:solidFill>
          <a:ln/>
        </p:spPr>
        <p:txBody>
          <a:bodyPr/>
          <a:lstStyle/>
          <a:p>
            <a:endParaRPr lang="ko-KR" altLang="en-US"/>
          </a:p>
        </p:txBody>
      </p:sp>
      <p:sp>
        <p:nvSpPr>
          <p:cNvPr id="7" name="Text 5"/>
          <p:cNvSpPr/>
          <p:nvPr/>
        </p:nvSpPr>
        <p:spPr>
          <a:xfrm>
            <a:off x="685800" y="758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[분석]</a:t>
            </a:r>
            <a:endParaRPr lang="en-US" sz="1200" dirty="0"/>
          </a:p>
        </p:txBody>
      </p:sp>
      <p:sp>
        <p:nvSpPr>
          <p:cNvPr id="8" name="Text 6"/>
          <p:cNvSpPr/>
          <p:nvPr/>
        </p:nvSpPr>
        <p:spPr>
          <a:xfrm>
            <a:off x="685800" y="1097280"/>
            <a:ext cx="7818120" cy="9144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회사는 높은 성장성과 수익성을 바탕으로 안정적인 재무구조를 유지하고 있습니다. 그러나 별다른 출구 전략 없이 이익이 내부에 계속 유보되면서, 미처분이익잉여금이 기하급수적으로 증가하고 있습니다. 이는 비상장주식 가치를 끌어올려 향후 가업승계나 상속 시 막대한 세금 부담으로 작용할 핵심 리스크입니다.</a:t>
            </a:r>
            <a:endParaRPr lang="en-US" sz="1000" dirty="0"/>
          </a:p>
        </p:txBody>
      </p:sp>
      <p:sp>
        <p:nvSpPr>
          <p:cNvPr id="9" name="Text 7"/>
          <p:cNvSpPr/>
          <p:nvPr/>
        </p:nvSpPr>
        <p:spPr>
          <a:xfrm>
            <a:off x="457200" y="2240280"/>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[CEO Needs 및 경영 목표 분석]</a:t>
            </a:r>
            <a:endParaRPr lang="en-US" sz="1200" dirty="0"/>
          </a:p>
        </p:txBody>
      </p:sp>
      <p:sp>
        <p:nvSpPr>
          <p:cNvPr id="10" name="Shape 8"/>
          <p:cNvSpPr/>
          <p:nvPr/>
        </p:nvSpPr>
        <p:spPr>
          <a:xfrm>
            <a:off x="457200" y="2606040"/>
            <a:ext cx="8229600" cy="2194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606040"/>
            <a:ext cx="54864" cy="2194560"/>
          </a:xfrm>
          <a:prstGeom prst="rect">
            <a:avLst/>
          </a:prstGeom>
          <a:solidFill>
            <a:srgbClr val="C8962E"/>
          </a:solidFill>
          <a:ln/>
        </p:spPr>
        <p:txBody>
          <a:bodyPr/>
          <a:lstStyle/>
          <a:p>
            <a:endParaRPr lang="ko-KR" altLang="en-US"/>
          </a:p>
        </p:txBody>
      </p:sp>
      <p:sp>
        <p:nvSpPr>
          <p:cNvPr id="12" name="Text 10"/>
          <p:cNvSpPr/>
          <p:nvPr/>
        </p:nvSpPr>
        <p:spPr>
          <a:xfrm>
            <a:off x="685800" y="2697480"/>
            <a:ext cx="7818120" cy="2286000"/>
          </a:xfrm>
          <a:prstGeom prst="rect">
            <a:avLst/>
          </a:prstGeom>
          <a:noFill/>
          <a:ln/>
        </p:spPr>
        <p:txBody>
          <a:bodyPr wrap="square" lIns="0" tIns="0" rIns="0" bIns="0" rtlCol="0" anchor="t"/>
          <a:lstStyle/>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CEO 개인 목표: 65세에 명예롭게 은퇴하여 가족과 여유로운 노후를 보내는 것. 평생 일군 회사에 대한 합당한 보상을 세금 부담을 최소화하여 수령하고 싶어 함.</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기업 경영 목표: 안정적인 2세 승계 또는 유능한 전문경영인에게 회사를 인계하는 것. CEO 퇴임이 회사의 경영 위기로 이어지지 않도록 하는 것이 최우선 과제.</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CEO 애로사항: "내가 평생 일군 회사인데, 막상 퇴직할 때 내 퇴직금 하나 챙기자고 회사를 휘청이게 할 수는 없지 않나... 그렇다고 그냥 빈손으로 나갈 수도 없고... 세금도 무섭고, 정말 고민이 많다."</a:t>
            </a:r>
            <a:endParaRPr lang="en-US" sz="1000" dirty="0"/>
          </a:p>
          <a:p>
            <a:pPr marL="0" indent="0">
              <a:lnSpc>
                <a:spcPct val="130000"/>
              </a:lnSpc>
              <a:buNone/>
            </a:pPr>
            <a:endParaRPr lang="en-US" sz="1000" dirty="0"/>
          </a:p>
          <a:p>
            <a:pPr marL="0" indent="0">
              <a:lnSpc>
                <a:spcPct val="130000"/>
              </a:lnSpc>
              <a:buNone/>
            </a:pPr>
            <a:r>
              <a:rPr lang="en-US" sz="950" b="1" dirty="0">
                <a:solidFill>
                  <a:srgbClr val="2B2B2B"/>
                </a:solidFill>
                <a:latin typeface="맑은 고딕" pitchFamily="34" charset="0"/>
                <a:ea typeface="맑은 고딕" pitchFamily="34" charset="-122"/>
                <a:cs typeface="맑은 고딕" pitchFamily="34" charset="-120"/>
              </a:rPr>
              <a:t>[전문가 의견] 대표님의 고민은 단순히 개인의 노후 문제를 넘어, 회사의 지속가능성과 직결된 핵심 경영 과제입니다. 현재 재무제표에 보이지 않는 'CEO 퇴직금'이라는 부채는 이미 50억 원이 넘는 이익잉여금 속에 숨어 있습니다. 이 리스크를 선제적으로 관리하는 것이야말로, 대표님의 성공적인 퇴임과 회사의 안정적인 미래를 동시에 잡는 최선의 전략입니다.</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6 / 35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Executive Summary 및 핵심 이슈</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Executive Summary (경영자를 위한 핵심 요약)</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011680"/>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10058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컨설팅 배경</a:t>
                      </a:r>
                      <a:endParaRPr lang="en-US" sz="1000" dirty="0">
                        <a:latin typeface="맑은 고딕" charset="0"/>
                        <a:ea typeface="맑은 고딕" charset="0"/>
                        <a:cs typeface="맑은 고딕" charset="0"/>
                      </a:endParaRPr>
                    </a:p>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및 목적</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(주)하이테크정밀은 꾸준한 흑자 경영으로 미처분이익잉여금이 누적되고 있으며, 10년 후로 예상되는 CEO의 은퇴 시점에 필요한 퇴직금 재원이 전혀 준비되어 있지 않습니다. 본 컨설팅은 이 '잠재된 부채'를 지금부터 '계획된 자산'으로 전환하여 기업의 재무 안정성을 높이고 CEO의 성공적인 출구 전략을 마련하는 것을 목적으로 합니다.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058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현황 진단</a:t>
                      </a:r>
                      <a:endParaRPr lang="en-US" sz="1000" dirty="0">
                        <a:latin typeface="맑은 고딕" charset="0"/>
                        <a:ea typeface="맑은 고딕" charset="0"/>
                        <a:cs typeface="맑은 고딕" charset="0"/>
                      </a:endParaRPr>
                    </a:p>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(As-Is)</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현재 규정상 대표님의 예상 퇴직금은 법정 최소 배수(1배)만 적용해도 약 4.5억 원에 달하며, 이는 매년 증가하는 '시한폭탄💣'과 같습니다. 이 재원을 일시에 지급할 경우, 회사는 심각한 유동성 위기를 겪거나 고금리 대출에 의존해야만 합니다. 이는 R&amp;D 투자 위축 및 성장 동력 상실로 이어질 수 있는 중대한 경영 리스크입니다.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6"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7 / 35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Executive Summary 및 핵심 이슈</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685800"/>
          <a:ext cx="8229600" cy="2560320"/>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128016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솔루션 제안</a:t>
                      </a:r>
                      <a:endParaRPr lang="en-US" sz="1000" dirty="0">
                        <a:latin typeface="맑은 고딕" charset="0"/>
                        <a:ea typeface="맑은 고딕" charset="0"/>
                        <a:cs typeface="맑은 고딕" charset="0"/>
                      </a:endParaRPr>
                    </a:p>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(To-Be)</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정관 내 임원 퇴직금 지급 규정을 합리적인 수준(지급배수 2.5배)으로 개정하고, "개정 이후 근속기간부터" 이 규정을 적용하여 법적 안정성을 확보합니다. 이를 근거로 향후 10년간 매년 약 6,500만 원의 보험료를 납입하여 약 5.9억원의 퇴직 재원을 목적성 자금으로 적립합니다. 이때, 보험료는 상품의 성격에 따라 보장성 부분만 비용 처리하여 법인세를 절감하고, 저축성 부분은 법인의 자산으로 계상합니다.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28016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기대효과</a:t>
                      </a:r>
                      <a:endParaRPr lang="en-US" sz="1000" dirty="0">
                        <a:latin typeface="맑은 고딕" charset="0"/>
                        <a:ea typeface="맑은 고딕" charset="0"/>
                        <a:cs typeface="맑은 고딕" charset="0"/>
                      </a:endParaRPr>
                    </a:p>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(ROI)</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 법인: 10년간 약 2,500만~5,000만 원의 법인세 절감 효과 및 예측 가능한 현금흐름 관리. 미래의 갑작스러운 거액 지출 리스크를 현재의 통제 가능한 자산 형성 과정으로 전환합니다.</a:t>
                      </a:r>
                      <a:endParaRPr lang="en-US" sz="1000" dirty="0">
                        <a:latin typeface="맑은 고딕" charset="0"/>
                        <a:ea typeface="맑은 고딕" charset="0"/>
                        <a:cs typeface="맑은 고딕" charset="0"/>
                      </a:endParaRPr>
                    </a:p>
                    <a:p>
                      <a:pPr marL="0" indent="0">
                        <a:buNone/>
                      </a:pPr>
                      <a:r>
                        <a:rPr lang="en-US" sz="1000" dirty="0">
                          <a:solidFill>
                            <a:srgbClr val="2B2B2B"/>
                          </a:solidFill>
                          <a:latin typeface="맑은 고딕" pitchFamily="34" charset="0"/>
                          <a:ea typeface="맑은 고딕" pitchFamily="34" charset="-122"/>
                          <a:cs typeface="맑은 고딕" pitchFamily="34" charset="-120"/>
                        </a:rPr>
                        <a:t>• CEO: 약 5.9억 원의 은퇴 재원을 확보하고, 퇴직소득세 분리과세 혜택을 통해 일반 급여나 상여 대비 약 1억 원 이상의 실효세율 절감 효과를 누리며 안정적인 노후를 보장받습니다.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bl>
          </a:graphicData>
        </a:graphic>
      </p:graphicFrame>
      <p:sp>
        <p:nvSpPr>
          <p:cNvPr id="6" name="Shape 3"/>
          <p:cNvSpPr/>
          <p:nvPr/>
        </p:nvSpPr>
        <p:spPr>
          <a:xfrm>
            <a:off x="365760" y="3429000"/>
            <a:ext cx="2651760" cy="137160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7" name="Text 4"/>
          <p:cNvSpPr/>
          <p:nvPr/>
        </p:nvSpPr>
        <p:spPr>
          <a:xfrm>
            <a:off x="365760" y="3520440"/>
            <a:ext cx="2651760" cy="274320"/>
          </a:xfrm>
          <a:prstGeom prst="rect">
            <a:avLst/>
          </a:prstGeom>
          <a:noFill/>
          <a:ln/>
        </p:spPr>
        <p:txBody>
          <a:bodyPr wrap="square" lIns="0" tIns="0" rIns="0" bIns="0" rtlCol="0" anchor="ctr"/>
          <a:lstStyle/>
          <a:p>
            <a:pPr marL="0" indent="0" algn="ctr">
              <a:buNone/>
            </a:pPr>
            <a:r>
              <a:rPr lang="en-US" sz="1000" dirty="0">
                <a:solidFill>
                  <a:srgbClr val="C8962E"/>
                </a:solidFill>
                <a:latin typeface="맑은 고딕" pitchFamily="34" charset="0"/>
                <a:ea typeface="맑은 고딕" pitchFamily="34" charset="-122"/>
                <a:cs typeface="맑은 고딕" pitchFamily="34" charset="-120"/>
              </a:rPr>
              <a:t>핵심 전략 (지급배수)</a:t>
            </a:r>
            <a:endParaRPr lang="en-US" sz="1000" dirty="0"/>
          </a:p>
        </p:txBody>
      </p:sp>
      <p:sp>
        <p:nvSpPr>
          <p:cNvPr id="8" name="Text 5"/>
          <p:cNvSpPr/>
          <p:nvPr/>
        </p:nvSpPr>
        <p:spPr>
          <a:xfrm>
            <a:off x="365760" y="3840480"/>
            <a:ext cx="26517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2.5배</a:t>
            </a:r>
            <a:endParaRPr lang="en-US" sz="2600" dirty="0"/>
          </a:p>
        </p:txBody>
      </p:sp>
      <p:sp>
        <p:nvSpPr>
          <p:cNvPr id="5" name="Text 6"/>
          <p:cNvSpPr/>
          <p:nvPr/>
        </p:nvSpPr>
        <p:spPr>
          <a:xfrm>
            <a:off x="365760" y="4389120"/>
            <a:ext cx="2651760" cy="274320"/>
          </a:xfrm>
          <a:prstGeom prst="rect">
            <a:avLst/>
          </a:prstGeom>
          <a:noFill/>
          <a:ln/>
        </p:spPr>
        <p:txBody>
          <a:bodyPr wrap="square" lIns="0" tIns="0" rIns="0" bIns="0"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정관 개정 후 적용</a:t>
            </a:r>
            <a:endParaRPr lang="en-US" sz="900" dirty="0"/>
          </a:p>
        </p:txBody>
      </p:sp>
      <p:sp>
        <p:nvSpPr>
          <p:cNvPr id="10" name="Shape 7"/>
          <p:cNvSpPr/>
          <p:nvPr/>
        </p:nvSpPr>
        <p:spPr>
          <a:xfrm>
            <a:off x="3200400" y="3429000"/>
            <a:ext cx="2651760" cy="137160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1" name="Text 8"/>
          <p:cNvSpPr/>
          <p:nvPr/>
        </p:nvSpPr>
        <p:spPr>
          <a:xfrm>
            <a:off x="3200400" y="3520440"/>
            <a:ext cx="2651760" cy="274320"/>
          </a:xfrm>
          <a:prstGeom prst="rect">
            <a:avLst/>
          </a:prstGeom>
          <a:noFill/>
          <a:ln/>
        </p:spPr>
        <p:txBody>
          <a:bodyPr wrap="square" lIns="0" tIns="0" rIns="0" bIns="0" rtlCol="0" anchor="ctr"/>
          <a:lstStyle/>
          <a:p>
            <a:pPr marL="0" indent="0" algn="ctr">
              <a:buNone/>
            </a:pPr>
            <a:r>
              <a:rPr lang="en-US" sz="1000" dirty="0">
                <a:solidFill>
                  <a:srgbClr val="C8962E"/>
                </a:solidFill>
                <a:latin typeface="맑은 고딕" pitchFamily="34" charset="0"/>
                <a:ea typeface="맑은 고딕" pitchFamily="34" charset="-122"/>
                <a:cs typeface="맑은 고딕" pitchFamily="34" charset="-120"/>
              </a:rPr>
              <a:t>10년 목표 퇴직 재원</a:t>
            </a:r>
            <a:endParaRPr lang="en-US" sz="1000" dirty="0"/>
          </a:p>
        </p:txBody>
      </p:sp>
      <p:sp>
        <p:nvSpPr>
          <p:cNvPr id="12" name="Text 9"/>
          <p:cNvSpPr/>
          <p:nvPr/>
        </p:nvSpPr>
        <p:spPr>
          <a:xfrm>
            <a:off x="3200400" y="3840480"/>
            <a:ext cx="26517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~5.9억원</a:t>
            </a:r>
            <a:endParaRPr lang="en-US" sz="2600" dirty="0"/>
          </a:p>
        </p:txBody>
      </p:sp>
      <p:sp>
        <p:nvSpPr>
          <p:cNvPr id="13" name="Text 10"/>
          <p:cNvSpPr/>
          <p:nvPr/>
        </p:nvSpPr>
        <p:spPr>
          <a:xfrm>
            <a:off x="3200400" y="4389120"/>
            <a:ext cx="2651760" cy="274320"/>
          </a:xfrm>
          <a:prstGeom prst="rect">
            <a:avLst/>
          </a:prstGeom>
          <a:noFill/>
          <a:ln/>
        </p:spPr>
        <p:txBody>
          <a:bodyPr wrap="square" lIns="0" tIns="0" rIns="0" bIns="0"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회사 자산으로 적립</a:t>
            </a:r>
            <a:endParaRPr lang="en-US" sz="900" dirty="0"/>
          </a:p>
        </p:txBody>
      </p:sp>
      <p:sp>
        <p:nvSpPr>
          <p:cNvPr id="14" name="Shape 11"/>
          <p:cNvSpPr/>
          <p:nvPr/>
        </p:nvSpPr>
        <p:spPr>
          <a:xfrm>
            <a:off x="6035040" y="3429000"/>
            <a:ext cx="2651760" cy="137160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5" name="Text 12"/>
          <p:cNvSpPr/>
          <p:nvPr/>
        </p:nvSpPr>
        <p:spPr>
          <a:xfrm>
            <a:off x="6035040" y="3520440"/>
            <a:ext cx="2651760" cy="274320"/>
          </a:xfrm>
          <a:prstGeom prst="rect">
            <a:avLst/>
          </a:prstGeom>
          <a:noFill/>
          <a:ln/>
        </p:spPr>
        <p:txBody>
          <a:bodyPr wrap="square" lIns="0" tIns="0" rIns="0" bIns="0" rtlCol="0" anchor="ctr"/>
          <a:lstStyle/>
          <a:p>
            <a:pPr marL="0" indent="0" algn="ctr">
              <a:buNone/>
            </a:pPr>
            <a:r>
              <a:rPr lang="en-US" sz="1000" dirty="0">
                <a:solidFill>
                  <a:srgbClr val="C8962E"/>
                </a:solidFill>
                <a:latin typeface="맑은 고딕" pitchFamily="34" charset="0"/>
                <a:ea typeface="맑은 고딕" pitchFamily="34" charset="-122"/>
                <a:cs typeface="맑은 고딕" pitchFamily="34" charset="-120"/>
              </a:rPr>
              <a:t>연간 납입 보험료</a:t>
            </a:r>
            <a:endParaRPr lang="en-US" sz="1000" dirty="0"/>
          </a:p>
        </p:txBody>
      </p:sp>
      <p:sp>
        <p:nvSpPr>
          <p:cNvPr id="16" name="Text 13"/>
          <p:cNvSpPr/>
          <p:nvPr/>
        </p:nvSpPr>
        <p:spPr>
          <a:xfrm>
            <a:off x="6035040" y="3840480"/>
            <a:ext cx="26517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6,500만원</a:t>
            </a:r>
            <a:endParaRPr lang="en-US" sz="2600" dirty="0"/>
          </a:p>
        </p:txBody>
      </p:sp>
      <p:sp>
        <p:nvSpPr>
          <p:cNvPr id="17" name="Text 14"/>
          <p:cNvSpPr/>
          <p:nvPr/>
        </p:nvSpPr>
        <p:spPr>
          <a:xfrm>
            <a:off x="6035040" y="4389120"/>
            <a:ext cx="2651760" cy="274320"/>
          </a:xfrm>
          <a:prstGeom prst="rect">
            <a:avLst/>
          </a:prstGeom>
          <a:noFill/>
          <a:ln/>
        </p:spPr>
        <p:txBody>
          <a:bodyPr wrap="square" lIns="0" tIns="0" rIns="0" bIns="0" rtlCol="0" anchor="ctr"/>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자산화 및 비용처리</a:t>
            </a:r>
            <a:endParaRPr lang="en-US" sz="900" dirty="0"/>
          </a:p>
        </p:txBody>
      </p:sp>
      <p:sp>
        <p:nvSpPr>
          <p:cNvPr id="18"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9" name="Text 1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8 / 35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Executive Summary 및 핵심 이슈</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핵심 이슈 및 전략 과제 도출</a:t>
            </a:r>
            <a:endParaRPr lang="en-US" sz="1400" dirty="0"/>
          </a:p>
        </p:txBody>
      </p:sp>
      <p:sp>
        <p:nvSpPr>
          <p:cNvPr id="6" name="Shape 4"/>
          <p:cNvSpPr/>
          <p:nvPr/>
        </p:nvSpPr>
        <p:spPr>
          <a:xfrm>
            <a:off x="457200" y="1142999"/>
            <a:ext cx="8229600" cy="136990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2999"/>
            <a:ext cx="54864" cy="1369907"/>
          </a:xfrm>
          <a:prstGeom prst="rect">
            <a:avLst/>
          </a:prstGeom>
          <a:solidFill>
            <a:srgbClr val="D4382C"/>
          </a:solidFill>
          <a:ln/>
        </p:spPr>
        <p:txBody>
          <a:bodyPr/>
          <a:lstStyle/>
          <a:p>
            <a:endParaRPr lang="ko-KR" altLang="en-US"/>
          </a:p>
        </p:txBody>
      </p:sp>
      <p:sp>
        <p:nvSpPr>
          <p:cNvPr id="8" name="Text 6"/>
          <p:cNvSpPr/>
          <p:nvPr/>
        </p:nvSpPr>
        <p:spPr>
          <a:xfrm>
            <a:off x="685800" y="12161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[재무구조 리스크]</a:t>
            </a:r>
            <a:endParaRPr lang="en-US" sz="1200" dirty="0"/>
          </a:p>
        </p:txBody>
      </p:sp>
      <p:sp>
        <p:nvSpPr>
          <p:cNvPr id="9" name="Text 7"/>
          <p:cNvSpPr/>
          <p:nvPr/>
        </p:nvSpPr>
        <p:spPr>
          <a:xfrm>
            <a:off x="685800" y="1554480"/>
            <a:ext cx="7818120" cy="73152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과도한 미처분이익잉여금: 현재 57억 원의 이익잉여금은 잠재적 세금 부담(상속/증여/청산 시)을 안고 있는 '세금 이연 부채'와 같습니다.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CEO 퇴직금 재원 부재: 재무상태표 상에 퇴직급여충당부채가 CEO 몫으로는 전혀 계상되어 있지 않아, 실제 현금 유출 필요 시 재무적 충격이 예상됩니다.</a:t>
            </a:r>
            <a:endParaRPr lang="en-US" sz="1000" dirty="0"/>
          </a:p>
        </p:txBody>
      </p:sp>
      <p:sp>
        <p:nvSpPr>
          <p:cNvPr id="10" name="Shape 8"/>
          <p:cNvSpPr/>
          <p:nvPr/>
        </p:nvSpPr>
        <p:spPr>
          <a:xfrm>
            <a:off x="457200" y="2679192"/>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679192"/>
            <a:ext cx="54864" cy="1188720"/>
          </a:xfrm>
          <a:prstGeom prst="rect">
            <a:avLst/>
          </a:prstGeom>
          <a:solidFill>
            <a:srgbClr val="D4382C"/>
          </a:solidFill>
          <a:ln/>
        </p:spPr>
        <p:txBody>
          <a:bodyPr/>
          <a:lstStyle/>
          <a:p>
            <a:endParaRPr lang="ko-KR" altLang="en-US"/>
          </a:p>
        </p:txBody>
      </p:sp>
      <p:sp>
        <p:nvSpPr>
          <p:cNvPr id="12" name="Text 10"/>
          <p:cNvSpPr/>
          <p:nvPr/>
        </p:nvSpPr>
        <p:spPr>
          <a:xfrm>
            <a:off x="685800" y="2752344"/>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[CEO 관련 리스크]</a:t>
            </a:r>
            <a:endParaRPr lang="en-US" sz="1200" dirty="0"/>
          </a:p>
        </p:txBody>
      </p:sp>
      <p:sp>
        <p:nvSpPr>
          <p:cNvPr id="13" name="Text 11"/>
          <p:cNvSpPr/>
          <p:nvPr/>
        </p:nvSpPr>
        <p:spPr>
          <a:xfrm>
            <a:off x="685800" y="3090672"/>
            <a:ext cx="7818120" cy="73152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출구전략(Exit Plan) 부재: 은퇴 시점에서 본인의 기여분을 회수할 합법적이고 효율적인 방안이 전무합니다.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과도한 세금 부담: 퇴직금을 일시 상여금 등으로 처리할 경우, 최고 49.5%(지방세 포함)의 종합소득세율이 적용되어 절반 가까이를 세금으로 납부해야 하는 불상사가 발생할 수 있습니다.</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9 / 35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Executive Summary 및 핵심 이슈</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[우선 과제 선정]</a:t>
            </a:r>
            <a:endParaRPr lang="en-US" sz="1200" dirty="0"/>
          </a:p>
        </p:txBody>
      </p:sp>
      <p:sp>
        <p:nvSpPr>
          <p:cNvPr id="6" name="Shape 4"/>
          <p:cNvSpPr/>
          <p:nvPr/>
        </p:nvSpPr>
        <p:spPr>
          <a:xfrm>
            <a:off x="457200" y="1005840"/>
            <a:ext cx="822960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05840"/>
            <a:ext cx="54864" cy="1371600"/>
          </a:xfrm>
          <a:prstGeom prst="rect">
            <a:avLst/>
          </a:prstGeom>
          <a:solidFill>
            <a:srgbClr val="C8962E"/>
          </a:solidFill>
          <a:ln/>
        </p:spPr>
        <p:txBody>
          <a:bodyPr/>
          <a:lstStyle/>
          <a:p>
            <a:endParaRPr lang="ko-KR" altLang="en-US"/>
          </a:p>
        </p:txBody>
      </p:sp>
      <p:sp>
        <p:nvSpPr>
          <p:cNvPr id="8" name="Text 6"/>
          <p:cNvSpPr/>
          <p:nvPr/>
        </p:nvSpPr>
        <p:spPr>
          <a:xfrm>
            <a:off x="685800" y="107899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최우선 전략 과제</a:t>
            </a:r>
            <a:endParaRPr lang="en-US" sz="1200" dirty="0"/>
          </a:p>
        </p:txBody>
      </p:sp>
      <p:sp>
        <p:nvSpPr>
          <p:cNvPr id="9" name="Text 7"/>
          <p:cNvSpPr/>
          <p:nvPr/>
        </p:nvSpPr>
        <p:spPr>
          <a:xfrm>
            <a:off x="685800" y="1417320"/>
            <a:ext cx="7818120" cy="731520"/>
          </a:xfrm>
          <a:prstGeom prst="rect">
            <a:avLst/>
          </a:prstGeom>
          <a:noFill/>
          <a:ln/>
        </p:spPr>
        <p:txBody>
          <a:bodyPr wrap="square" lIns="0" tIns="0" rIns="0" bIns="0" rtlCol="0" anchor="t"/>
          <a:lstStyle/>
          <a:p>
            <a:pPr marL="0" indent="0">
              <a:lnSpc>
                <a:spcPct val="130000"/>
              </a:lnSpc>
              <a:buNone/>
            </a:pPr>
            <a:r>
              <a:rPr lang="en-US" sz="1200" b="1" dirty="0">
                <a:solidFill>
                  <a:srgbClr val="D4382C"/>
                </a:solidFill>
                <a:latin typeface="맑은 고딕" pitchFamily="34" charset="0"/>
                <a:ea typeface="맑은 고딕" pitchFamily="34" charset="-122"/>
                <a:cs typeface="맑은 고딕" pitchFamily="34" charset="-120"/>
              </a:rPr>
              <a:t>'정관에 근거한 임원 퇴직금 지급 규정을 마련하고, 이를 재원으로 하는 계획된 적립 플랜을 즉시 수립하는 것'</a:t>
            </a:r>
            <a:endParaRPr lang="en-US" sz="1000" dirty="0"/>
          </a:p>
        </p:txBody>
      </p:sp>
      <p:sp>
        <p:nvSpPr>
          <p:cNvPr id="10" name="Shape 8"/>
          <p:cNvSpPr/>
          <p:nvPr/>
        </p:nvSpPr>
        <p:spPr>
          <a:xfrm>
            <a:off x="457200" y="256032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560320"/>
            <a:ext cx="54864" cy="1097280"/>
          </a:xfrm>
          <a:prstGeom prst="rect">
            <a:avLst/>
          </a:prstGeom>
          <a:solidFill>
            <a:srgbClr val="C8962E"/>
          </a:solidFill>
          <a:ln/>
        </p:spPr>
        <p:txBody>
          <a:bodyPr/>
          <a:lstStyle/>
          <a:p>
            <a:endParaRPr lang="ko-KR" altLang="en-US"/>
          </a:p>
        </p:txBody>
      </p:sp>
      <p:sp>
        <p:nvSpPr>
          <p:cNvPr id="12" name="Text 10"/>
          <p:cNvSpPr/>
          <p:nvPr/>
        </p:nvSpPr>
        <p:spPr>
          <a:xfrm>
            <a:off x="685800" y="263347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선정 근거</a:t>
            </a:r>
            <a:endParaRPr lang="en-US" sz="1200" dirty="0"/>
          </a:p>
        </p:txBody>
      </p:sp>
      <p:sp>
        <p:nvSpPr>
          <p:cNvPr id="13" name="Text 11"/>
          <p:cNvSpPr/>
          <p:nvPr/>
        </p:nvSpPr>
        <p:spPr>
          <a:xfrm>
            <a:off x="685800" y="2971800"/>
            <a:ext cx="7818120" cy="9144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이 과제 하나를 해결함으로써 ①미처분이익잉여금의 합법적 이전, ②법인세 절감, ③CEO의 안정적 은퇴자금 마련, ④퇴직소득세 절세라는 네 마리 토끼를 동시에 잡을 수 있는 가장 효율적이고 시급한 전략이기 때문입니다.</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10 / 35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맞춤형 솔루션 및 실행 전략 (To-Be)</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솔루션 기본 방향 및 목표 설정</a:t>
            </a:r>
            <a:endParaRPr lang="en-US" sz="1400" dirty="0"/>
          </a:p>
        </p:txBody>
      </p:sp>
      <p:sp>
        <p:nvSpPr>
          <p:cNvPr id="6" name="Shape 4"/>
          <p:cNvSpPr/>
          <p:nvPr/>
        </p:nvSpPr>
        <p:spPr>
          <a:xfrm>
            <a:off x="457200" y="1020403"/>
            <a:ext cx="8229600" cy="624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20403"/>
            <a:ext cx="54864" cy="624840"/>
          </a:xfrm>
          <a:prstGeom prst="rect">
            <a:avLst/>
          </a:prstGeom>
          <a:solidFill>
            <a:srgbClr val="C8962E"/>
          </a:solidFill>
          <a:ln/>
        </p:spPr>
        <p:txBody>
          <a:bodyPr/>
          <a:lstStyle/>
          <a:p>
            <a:endParaRPr lang="ko-KR" altLang="en-US"/>
          </a:p>
        </p:txBody>
      </p:sp>
      <p:sp>
        <p:nvSpPr>
          <p:cNvPr id="8" name="Text 6"/>
          <p:cNvSpPr/>
          <p:nvPr/>
        </p:nvSpPr>
        <p:spPr>
          <a:xfrm>
            <a:off x="685800" y="1111843"/>
            <a:ext cx="7818120" cy="731520"/>
          </a:xfrm>
          <a:prstGeom prst="rect">
            <a:avLst/>
          </a:prstGeom>
          <a:noFill/>
          <a:ln/>
        </p:spPr>
        <p:txBody>
          <a:bodyPr wrap="square" lIns="0" tIns="0" rIns="0" bIns="0" rtlCol="0" anchor="t"/>
          <a:lstStyle/>
          <a:p>
            <a:pPr marL="342900" indent="-342900">
              <a:lnSpc>
                <a:spcPct val="130000"/>
              </a:lnSpc>
              <a:buSzPct val="100000"/>
              <a:buChar char="•"/>
            </a:pPr>
            <a:r>
              <a:rPr lang="en-US" sz="1000" b="1" dirty="0">
                <a:solidFill>
                  <a:srgbClr val="2B2B2B"/>
                </a:solidFill>
                <a:latin typeface="맑은 고딕" pitchFamily="34" charset="0"/>
                <a:ea typeface="맑은 고딕" pitchFamily="34" charset="-122"/>
                <a:cs typeface="맑은 고딕" pitchFamily="34" charset="-120"/>
              </a:rPr>
              <a:t>방향: CEO 퇴직금을 '미래의 예측 불가능한 부채'에서 '현재의 통제 가능한 비용 및 자산'으로 전환</a:t>
            </a:r>
            <a:endParaRPr lang="en-US" sz="1000" dirty="0"/>
          </a:p>
          <a:p>
            <a:pPr marL="342900" indent="-342900">
              <a:lnSpc>
                <a:spcPct val="130000"/>
              </a:lnSpc>
              <a:buSzPct val="100000"/>
              <a:buChar char="•"/>
            </a:pPr>
            <a:r>
              <a:rPr lang="en-US" sz="1000" b="1" dirty="0">
                <a:solidFill>
                  <a:srgbClr val="2B2B2B"/>
                </a:solidFill>
                <a:latin typeface="맑은 고딕" pitchFamily="34" charset="0"/>
                <a:ea typeface="맑은 고딕" pitchFamily="34" charset="-122"/>
                <a:cs typeface="맑은 고딕" pitchFamily="34" charset="-120"/>
              </a:rPr>
              <a:t>목표: 10년 후 CEO 퇴임 시, 법적으로 안정되고 재무적으로 부담 없는 퇴직금 지급 시스템 구축</a:t>
            </a:r>
            <a:endParaRPr lang="en-US" sz="1000" dirty="0"/>
          </a:p>
        </p:txBody>
      </p:sp>
      <p:sp>
        <p:nvSpPr>
          <p:cNvPr id="9" name="Text 7"/>
          <p:cNvSpPr/>
          <p:nvPr/>
        </p:nvSpPr>
        <p:spPr>
          <a:xfrm>
            <a:off x="457200" y="1892473"/>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핵심 전략: 임원 퇴직금 규정 최적화</a:t>
            </a:r>
            <a:endParaRPr lang="en-US" sz="1400" dirty="0"/>
          </a:p>
        </p:txBody>
      </p:sp>
      <p:sp>
        <p:nvSpPr>
          <p:cNvPr id="10" name="Shape 8"/>
          <p:cNvSpPr/>
          <p:nvPr/>
        </p:nvSpPr>
        <p:spPr>
          <a:xfrm>
            <a:off x="457200" y="2249769"/>
            <a:ext cx="8229600" cy="253897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49769"/>
            <a:ext cx="54864" cy="2538978"/>
          </a:xfrm>
          <a:prstGeom prst="rect">
            <a:avLst/>
          </a:prstGeom>
          <a:solidFill>
            <a:srgbClr val="C8962E"/>
          </a:solidFill>
          <a:ln/>
        </p:spPr>
        <p:txBody>
          <a:bodyPr/>
          <a:lstStyle/>
          <a:p>
            <a:endParaRPr lang="ko-KR" altLang="en-US"/>
          </a:p>
        </p:txBody>
      </p:sp>
      <p:sp>
        <p:nvSpPr>
          <p:cNvPr id="12" name="Text 10"/>
          <p:cNvSpPr/>
          <p:nvPr/>
        </p:nvSpPr>
        <p:spPr>
          <a:xfrm>
            <a:off x="685800" y="2322921"/>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법률 리스크 관리 방안</a:t>
            </a:r>
            <a:endParaRPr lang="en-US" sz="1200" dirty="0"/>
          </a:p>
        </p:txBody>
      </p:sp>
      <p:sp>
        <p:nvSpPr>
          <p:cNvPr id="13" name="Text 11"/>
          <p:cNvSpPr/>
          <p:nvPr/>
        </p:nvSpPr>
        <p:spPr>
          <a:xfrm>
            <a:off x="685800" y="2661249"/>
            <a:ext cx="7818120" cy="18288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원칙: 법인세법상 임원 퇴직금은 정관에 지급 규정이 있는 경우에만 해당 금액을 비용(손금)으로 인정받을 수 있습니다.</a:t>
            </a:r>
            <a:endParaRPr lang="en-US" sz="1000" dirty="0"/>
          </a:p>
          <a:p>
            <a:pPr marL="0" indent="0">
              <a:lnSpc>
                <a:spcPct val="130000"/>
              </a:lnSpc>
              <a:buNone/>
            </a:pPr>
            <a:endParaRPr lang="en-US" sz="1000" dirty="0"/>
          </a:p>
          <a:p>
            <a:pPr marL="0" indent="0">
              <a:lnSpc>
                <a:spcPct val="130000"/>
              </a:lnSpc>
              <a:buNone/>
            </a:pPr>
            <a:r>
              <a:rPr lang="en-US" sz="1000" b="1" dirty="0">
                <a:solidFill>
                  <a:srgbClr val="D4382C"/>
                </a:solidFill>
                <a:latin typeface="맑은 고딕" pitchFamily="34" charset="0"/>
                <a:ea typeface="맑은 고딕" pitchFamily="34" charset="-122"/>
                <a:cs typeface="맑은 고딕" pitchFamily="34" charset="-120"/>
              </a:rPr>
              <a:t>핵심 리스크: 정관 개정 시, 개정 전 근속기간까지 소급하여 높은 배수를 적용할 경우 세무당국이 소급 적용분을 부인할 수 있습니다. (법인세법 시행령 제44조 4항)</a:t>
            </a:r>
            <a:endParaRPr lang="en-US" sz="1000" dirty="0"/>
          </a:p>
          <a:p>
            <a:pPr marL="0" indent="0">
              <a:lnSpc>
                <a:spcPct val="130000"/>
              </a:lnSpc>
              <a:buNone/>
            </a:pPr>
            <a:endParaRPr lang="en-US" sz="1000" dirty="0"/>
          </a:p>
          <a:p>
            <a:pPr marL="0" indent="0">
              <a:lnSpc>
                <a:spcPct val="130000"/>
              </a:lnSpc>
              <a:buNone/>
            </a:pPr>
            <a:r>
              <a:rPr lang="en-US" sz="1000" b="1" dirty="0">
                <a:solidFill>
                  <a:srgbClr val="1B2A4A"/>
                </a:solidFill>
                <a:latin typeface="맑은 고딕" pitchFamily="34" charset="0"/>
                <a:ea typeface="맑은 고딕" pitchFamily="34" charset="-122"/>
                <a:cs typeface="맑은 고딕" pitchFamily="34" charset="-120"/>
              </a:rPr>
              <a:t>실행 전략: 소급 적용 리스크 원천 차단</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주주총회 특별결의를 통해 정관을 개정하되, "본 규정은 개정 이후의 근무기간부터 적용한다"는 문구를 명시하여 법적 안정성을 확보합니다.</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 정관 개정 전 기간 (17년): 퇴직 전 3년 평균 연봉 × 17년 × 1배 (법정배수)</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 정관 개정 후 기간 (10년): 퇴직 전 3년 평균 연봉 × 10년 × 2.5배 (신설배수)</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11 / 35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맞춤형 솔루션 및 실행 전략 (To-Be)</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최적 금융 솔루션: 법인 명의 보험 활용</a:t>
            </a:r>
            <a:endParaRPr lang="en-US" sz="1400" dirty="0"/>
          </a:p>
        </p:txBody>
      </p:sp>
      <p:sp>
        <p:nvSpPr>
          <p:cNvPr id="6" name="Text 4"/>
          <p:cNvSpPr/>
          <p:nvPr/>
        </p:nvSpPr>
        <p:spPr>
          <a:xfrm>
            <a:off x="457200" y="1078992"/>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[필요 재원 재산정]</a:t>
            </a:r>
            <a:endParaRPr lang="en-US" sz="1200" dirty="0"/>
          </a:p>
        </p:txBody>
      </p:sp>
      <p:sp>
        <p:nvSpPr>
          <p:cNvPr id="7" name="Shape 5"/>
          <p:cNvSpPr/>
          <p:nvPr/>
        </p:nvSpPr>
        <p:spPr>
          <a:xfrm>
            <a:off x="457200" y="1351620"/>
            <a:ext cx="8229600" cy="944541"/>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351620"/>
            <a:ext cx="54864" cy="944541"/>
          </a:xfrm>
          <a:prstGeom prst="rect">
            <a:avLst/>
          </a:prstGeom>
          <a:solidFill>
            <a:srgbClr val="C8962E"/>
          </a:solidFill>
          <a:ln/>
        </p:spPr>
        <p:txBody>
          <a:bodyPr/>
          <a:lstStyle/>
          <a:p>
            <a:endParaRPr lang="ko-KR" altLang="en-US"/>
          </a:p>
        </p:txBody>
      </p:sp>
      <p:sp>
        <p:nvSpPr>
          <p:cNvPr id="9" name="Text 7"/>
          <p:cNvSpPr/>
          <p:nvPr/>
        </p:nvSpPr>
        <p:spPr>
          <a:xfrm>
            <a:off x="685800" y="1424773"/>
            <a:ext cx="7818120" cy="77724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퇴직금 산정 원칙 (임원): 임원 퇴직금은 근로기준법의 법정 산식을 의무적으로 적용하지 않으며, 정관 또는 퇴직급여지급규정에 정한 산식을 따릅니다.</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본 플랜 적용 산식:</a:t>
            </a:r>
            <a:endParaRPr lang="en-US" sz="1000" dirty="0"/>
          </a:p>
          <a:p>
            <a:pPr marL="0" indent="0">
              <a:lnSpc>
                <a:spcPct val="130000"/>
              </a:lnSpc>
              <a:buNone/>
            </a:pPr>
            <a:r>
              <a:rPr lang="en-US" sz="1000" b="1" dirty="0">
                <a:solidFill>
                  <a:srgbClr val="1B2A4A"/>
                </a:solidFill>
                <a:latin typeface="맑은 고딕" pitchFamily="34" charset="0"/>
                <a:ea typeface="맑은 고딕" pitchFamily="34" charset="-122"/>
                <a:cs typeface="맑은 고딕" pitchFamily="34" charset="-120"/>
              </a:rPr>
              <a:t>퇴직금 = 퇴직 전 3년 평균 월보수 × 해당 기간 근속연수 × 지급배수</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142766967"/>
              </p:ext>
            </p:extLst>
          </p:nvPr>
        </p:nvGraphicFramePr>
        <p:xfrm>
          <a:off x="457200" y="2421468"/>
          <a:ext cx="8229600" cy="1389888"/>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34747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기준 월보수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근속연수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지급배수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계산</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과거분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1,250만원/월</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17년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1.0배</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1,250만 × 17 = 2.125억원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미래분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1,500만원/월</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2.5배</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1,500만 × 25 = 3.75억원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합계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27년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5.875억원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8"/>
          <p:cNvSpPr/>
          <p:nvPr/>
        </p:nvSpPr>
        <p:spPr>
          <a:xfrm>
            <a:off x="457200" y="3917018"/>
            <a:ext cx="8229600" cy="953009"/>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9"/>
          <p:cNvSpPr/>
          <p:nvPr/>
        </p:nvSpPr>
        <p:spPr>
          <a:xfrm>
            <a:off x="457200" y="3917018"/>
            <a:ext cx="54864" cy="953009"/>
          </a:xfrm>
          <a:prstGeom prst="rect">
            <a:avLst/>
          </a:prstGeom>
          <a:solidFill>
            <a:srgbClr val="C8962E"/>
          </a:solidFill>
          <a:ln/>
        </p:spPr>
        <p:txBody>
          <a:bodyPr/>
          <a:lstStyle/>
          <a:p>
            <a:endParaRPr lang="ko-KR" altLang="en-US"/>
          </a:p>
        </p:txBody>
      </p:sp>
      <p:sp>
        <p:nvSpPr>
          <p:cNvPr id="10" name="Text 10"/>
          <p:cNvSpPr/>
          <p:nvPr/>
        </p:nvSpPr>
        <p:spPr>
          <a:xfrm>
            <a:off x="685800" y="3990171"/>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[가정]</a:t>
            </a:r>
            <a:endParaRPr lang="en-US" sz="1200" dirty="0"/>
          </a:p>
        </p:txBody>
      </p:sp>
      <p:sp>
        <p:nvSpPr>
          <p:cNvPr id="14" name="Text 11"/>
          <p:cNvSpPr/>
          <p:nvPr/>
        </p:nvSpPr>
        <p:spPr>
          <a:xfrm>
            <a:off x="685800" y="4228931"/>
            <a:ext cx="7818120" cy="50292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과거분 기준: 현재 평균 월보수 1,250만원 (연 1.5억)</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미래분 기준: 향후 평균 월보수 1,500만원 (연 1.8억)</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실제 금액은 퇴직 시점의 3년 평균 월보수에 따라 자동 조정됨</a:t>
            </a:r>
            <a:endParaRPr lang="en-US" sz="1000" dirty="0"/>
          </a:p>
        </p:txBody>
      </p:sp>
      <p:sp>
        <p:nvSpPr>
          <p:cNvPr id="15"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6"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12 / 35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맞춤형 솔루션 및 실행 전략 (To-Be)</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[정관 규정 예시 (핵심 문구)]</a:t>
            </a:r>
            <a:endParaRPr lang="en-US" sz="1200" dirty="0"/>
          </a:p>
        </p:txBody>
      </p:sp>
      <p:sp>
        <p:nvSpPr>
          <p:cNvPr id="6" name="Shape 4"/>
          <p:cNvSpPr/>
          <p:nvPr/>
        </p:nvSpPr>
        <p:spPr>
          <a:xfrm>
            <a:off x="457200" y="1005840"/>
            <a:ext cx="8229600" cy="1463040"/>
          </a:xfrm>
          <a:prstGeom prst="rect">
            <a:avLst/>
          </a:prstGeom>
          <a:solidFill>
            <a:srgbClr val="F7F8FA"/>
          </a:solidFill>
          <a:ln/>
        </p:spPr>
        <p:txBody>
          <a:bodyPr/>
          <a:lstStyle/>
          <a:p>
            <a:endParaRPr lang="ko-KR" altLang="en-US"/>
          </a:p>
        </p:txBody>
      </p:sp>
      <p:sp>
        <p:nvSpPr>
          <p:cNvPr id="7" name="Shape 5"/>
          <p:cNvSpPr/>
          <p:nvPr/>
        </p:nvSpPr>
        <p:spPr>
          <a:xfrm>
            <a:off x="457200" y="1005840"/>
            <a:ext cx="54864" cy="1463040"/>
          </a:xfrm>
          <a:prstGeom prst="rect">
            <a:avLst/>
          </a:prstGeom>
          <a:solidFill>
            <a:srgbClr val="3B5BDB"/>
          </a:solidFill>
          <a:ln/>
        </p:spPr>
        <p:txBody>
          <a:bodyPr/>
          <a:lstStyle/>
          <a:p>
            <a:endParaRPr lang="ko-KR" altLang="en-US"/>
          </a:p>
        </p:txBody>
      </p:sp>
      <p:sp>
        <p:nvSpPr>
          <p:cNvPr id="8" name="Text 6"/>
          <p:cNvSpPr/>
          <p:nvPr/>
        </p:nvSpPr>
        <p:spPr>
          <a:xfrm>
            <a:off x="685800" y="1097280"/>
            <a:ext cx="7818120" cy="128016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제○조 (임원 퇴직금)</a:t>
            </a:r>
            <a:endParaRPr lang="en-US" sz="1000" dirty="0"/>
          </a:p>
          <a:p>
            <a:pPr marL="0" indent="0">
              <a:buNone/>
            </a:pPr>
            <a:r>
              <a:rPr lang="en-US" sz="1000" dirty="0">
                <a:solidFill>
                  <a:srgbClr val="2B2B2B"/>
                </a:solidFill>
                <a:latin typeface="맑은 고딕" pitchFamily="34" charset="0"/>
                <a:ea typeface="맑은 고딕" pitchFamily="34" charset="-122"/>
                <a:cs typeface="맑은 고딕" pitchFamily="34" charset="-120"/>
              </a:rPr>
              <a:t>① 임원의 퇴직금은 퇴직 전 3년 평균 월보수 × 근속연수 × 지급배수로 산정한다.</a:t>
            </a:r>
            <a:endParaRPr lang="en-US" sz="1000" dirty="0"/>
          </a:p>
          <a:p>
            <a:pPr marL="0" indent="0">
              <a:buNone/>
            </a:pPr>
            <a:r>
              <a:rPr lang="en-US" sz="1000" dirty="0">
                <a:solidFill>
                  <a:srgbClr val="2B2B2B"/>
                </a:solidFill>
                <a:latin typeface="맑은 고딕" pitchFamily="34" charset="0"/>
                <a:ea typeface="맑은 고딕" pitchFamily="34" charset="-122"/>
                <a:cs typeface="맑은 고딕" pitchFamily="34" charset="-120"/>
              </a:rPr>
              <a:t>② 지급배수는 [2.5배]로 한다.</a:t>
            </a:r>
            <a:endParaRPr lang="en-US" sz="1000" dirty="0"/>
          </a:p>
          <a:p>
            <a:pPr marL="0" indent="0">
              <a:buNone/>
            </a:pPr>
            <a:r>
              <a:rPr lang="en-US" sz="1000" b="1" dirty="0">
                <a:solidFill>
                  <a:srgbClr val="D4382C"/>
                </a:solidFill>
                <a:latin typeface="맑은 고딕" pitchFamily="34" charset="0"/>
                <a:ea typeface="맑은 고딕" pitchFamily="34" charset="-122"/>
                <a:cs typeface="맑은 고딕" pitchFamily="34" charset="-120"/>
              </a:rPr>
              <a:t>③ 본 규정은 개정 이후의 근무기간부터 적용한다.</a:t>
            </a:r>
            <a:endParaRPr lang="en-US" sz="1000" dirty="0"/>
          </a:p>
          <a:p>
            <a:pPr marL="0" indent="0">
              <a:buNone/>
            </a:pPr>
            <a:r>
              <a:rPr lang="en-US" sz="1000" i="1" dirty="0">
                <a:solidFill>
                  <a:srgbClr val="2B2B2B"/>
                </a:solidFill>
                <a:latin typeface="맑은 고딕" pitchFamily="34" charset="0"/>
                <a:ea typeface="맑은 고딕" pitchFamily="34" charset="-122"/>
                <a:cs typeface="맑은 고딕" pitchFamily="34" charset="-120"/>
              </a:rPr>
              <a:t>※ ③항이 소급 적용 리스크를 원천 차단하는 핵심 조항</a:t>
            </a:r>
            <a:endParaRPr lang="en-US" sz="1000" dirty="0"/>
          </a:p>
        </p:txBody>
      </p:sp>
      <p:sp>
        <p:nvSpPr>
          <p:cNvPr id="9" name="Text 7"/>
          <p:cNvSpPr/>
          <p:nvPr/>
        </p:nvSpPr>
        <p:spPr>
          <a:xfrm>
            <a:off x="457200" y="2651760"/>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[재원 마련 계획]</a:t>
            </a:r>
            <a:endParaRPr lang="en-US" sz="1200" dirty="0"/>
          </a:p>
        </p:txBody>
      </p:sp>
      <p:sp>
        <p:nvSpPr>
          <p:cNvPr id="10" name="Shape 8"/>
          <p:cNvSpPr/>
          <p:nvPr/>
        </p:nvSpPr>
        <p:spPr>
          <a:xfrm>
            <a:off x="457200" y="2971800"/>
            <a:ext cx="822960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971800"/>
            <a:ext cx="54864" cy="914400"/>
          </a:xfrm>
          <a:prstGeom prst="rect">
            <a:avLst/>
          </a:prstGeom>
          <a:solidFill>
            <a:srgbClr val="C8962E"/>
          </a:solidFill>
          <a:ln/>
        </p:spPr>
        <p:txBody>
          <a:bodyPr/>
          <a:lstStyle/>
          <a:p>
            <a:endParaRPr lang="ko-KR" altLang="en-US"/>
          </a:p>
        </p:txBody>
      </p:sp>
      <p:sp>
        <p:nvSpPr>
          <p:cNvPr id="12" name="Text 10"/>
          <p:cNvSpPr/>
          <p:nvPr/>
        </p:nvSpPr>
        <p:spPr>
          <a:xfrm>
            <a:off x="685800" y="3063240"/>
            <a:ext cx="7818120" cy="77724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상품 유형: 법인 CEO 플랜 (보장성/저축성 혼합 상품)</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계약 형태: 계약자(법인), 피보험자(CEO), 수익자(법인)</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납입 계획: 연 6,500만 원 × 10년 (총 6.5억 원 납입)</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13 / 35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맞춤형 솔루션 및 실행 전략 (To-Be)</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목표 해지환급금 (10년 후, 수익률별 시나리오)</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3172136700"/>
              </p:ext>
            </p:extLst>
          </p:nvPr>
        </p:nvGraphicFramePr>
        <p:xfrm>
          <a:off x="457200" y="1005840"/>
          <a:ext cx="8229600" cy="173736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4747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시나리오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연 실현수익률</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10년 후 예상 해지환급금</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보수적</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7.2억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최저 안전 범위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중간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3.0%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7.5억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일반적 수준</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우호적</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4.0%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7.8억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양호한 상품</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낙관</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4.8%</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8.1억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최상급 상품 + 낮은 사업비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7" name="Shape 4"/>
          <p:cNvSpPr/>
          <p:nvPr/>
        </p:nvSpPr>
        <p:spPr>
          <a:xfrm>
            <a:off x="457200" y="3017520"/>
            <a:ext cx="8229600" cy="15544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5"/>
          <p:cNvSpPr/>
          <p:nvPr/>
        </p:nvSpPr>
        <p:spPr>
          <a:xfrm>
            <a:off x="457200" y="3017520"/>
            <a:ext cx="54864" cy="1554480"/>
          </a:xfrm>
          <a:prstGeom prst="rect">
            <a:avLst/>
          </a:prstGeom>
          <a:solidFill>
            <a:srgbClr val="D4382C"/>
          </a:solidFill>
          <a:ln/>
        </p:spPr>
        <p:txBody>
          <a:bodyPr/>
          <a:lstStyle/>
          <a:p>
            <a:endParaRPr lang="ko-KR" altLang="en-US"/>
          </a:p>
        </p:txBody>
      </p:sp>
      <p:sp>
        <p:nvSpPr>
          <p:cNvPr id="9" name="Text 6"/>
          <p:cNvSpPr/>
          <p:nvPr/>
        </p:nvSpPr>
        <p:spPr>
          <a:xfrm>
            <a:off x="685800" y="309067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중요 고지</a:t>
            </a:r>
            <a:endParaRPr lang="en-US" sz="1200" dirty="0"/>
          </a:p>
        </p:txBody>
      </p:sp>
      <p:sp>
        <p:nvSpPr>
          <p:cNvPr id="10" name="Text 7"/>
          <p:cNvSpPr/>
          <p:nvPr/>
        </p:nvSpPr>
        <p:spPr>
          <a:xfrm>
            <a:off x="685800" y="3429000"/>
            <a:ext cx="7818120" cy="109728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위 수치는 보장·사업비 차감 후 실현 수익률 가정입니다.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실제 환급금은 상품 구조(보장/저축 비율), 사업비, 공시이율, 계약 유지 조건에 따라 달라집니다.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가입 전 반드시 상품 설계서로 최종 확인이 필수입니다.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현실성 확보: 중소기업의 현금흐름 변동성을 고려, 납입유예나 감액 기능이 있는 상품을 선택하여 10년간 안정적으로 유지할 수 있는 플랜을 설계합니다.</a:t>
            </a:r>
            <a:endParaRPr lang="en-US" sz="1000" dirty="0"/>
          </a:p>
        </p:txBody>
      </p:sp>
      <p:sp>
        <p:nvSpPr>
          <p:cNvPr id="11"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2"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14 / 35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맞춤형 솔루션 및 실행 전략 (To-Be)</a:t>
            </a:r>
            <a:endParaRPr lang="en-US" sz="1600" dirty="0"/>
          </a:p>
        </p:txBody>
      </p:sp>
      <p:sp>
        <p:nvSpPr>
          <p:cNvPr id="5" name="Shape 3"/>
          <p:cNvSpPr/>
          <p:nvPr/>
        </p:nvSpPr>
        <p:spPr>
          <a:xfrm>
            <a:off x="457200" y="685800"/>
            <a:ext cx="822960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822960"/>
          </a:xfrm>
          <a:prstGeom prst="rect">
            <a:avLst/>
          </a:prstGeom>
          <a:solidFill>
            <a:srgbClr val="1A6B4A"/>
          </a:solidFill>
          <a:ln/>
        </p:spPr>
        <p:txBody>
          <a:bodyPr/>
          <a:lstStyle/>
          <a:p>
            <a:endParaRPr lang="ko-KR" altLang="en-US"/>
          </a:p>
        </p:txBody>
      </p:sp>
      <p:sp>
        <p:nvSpPr>
          <p:cNvPr id="7" name="Text 5"/>
          <p:cNvSpPr/>
          <p:nvPr/>
        </p:nvSpPr>
        <p:spPr>
          <a:xfrm>
            <a:off x="685800" y="758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필요 퇴직금 5.9억 대비</a:t>
            </a:r>
            <a:endParaRPr lang="en-US" sz="1200" dirty="0"/>
          </a:p>
        </p:txBody>
      </p:sp>
      <p:sp>
        <p:nvSpPr>
          <p:cNvPr id="8" name="Text 6"/>
          <p:cNvSpPr/>
          <p:nvPr/>
        </p:nvSpPr>
        <p:spPr>
          <a:xfrm>
            <a:off x="685800" y="1051560"/>
            <a:ext cx="7818120" cy="41148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모든 시나리오에서 목표 달성 가능</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초과분은 법인 유보 또는 추가 보상 재원 활용</a:t>
            </a:r>
            <a:endParaRPr lang="en-US" sz="1000" dirty="0"/>
          </a:p>
        </p:txBody>
      </p:sp>
      <p:sp>
        <p:nvSpPr>
          <p:cNvPr id="9" name="Text 7"/>
          <p:cNvSpPr/>
          <p:nvPr/>
        </p:nvSpPr>
        <p:spPr>
          <a:xfrm>
            <a:off x="457200" y="1818301"/>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절차적 정당성 확보 방안</a:t>
            </a:r>
            <a:endParaRPr lang="en-US" sz="1400" dirty="0"/>
          </a:p>
        </p:txBody>
      </p:sp>
      <p:sp>
        <p:nvSpPr>
          <p:cNvPr id="10" name="Shape 8"/>
          <p:cNvSpPr/>
          <p:nvPr/>
        </p:nvSpPr>
        <p:spPr>
          <a:xfrm>
            <a:off x="457200" y="2229781"/>
            <a:ext cx="8229600" cy="2150533"/>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29781"/>
            <a:ext cx="54864" cy="2150533"/>
          </a:xfrm>
          <a:prstGeom prst="rect">
            <a:avLst/>
          </a:prstGeom>
          <a:solidFill>
            <a:srgbClr val="C8962E"/>
          </a:solidFill>
          <a:ln/>
        </p:spPr>
        <p:txBody>
          <a:bodyPr/>
          <a:lstStyle/>
          <a:p>
            <a:endParaRPr lang="ko-KR" altLang="en-US"/>
          </a:p>
        </p:txBody>
      </p:sp>
      <p:sp>
        <p:nvSpPr>
          <p:cNvPr id="12" name="Text 10"/>
          <p:cNvSpPr/>
          <p:nvPr/>
        </p:nvSpPr>
        <p:spPr>
          <a:xfrm>
            <a:off x="685800" y="2321221"/>
            <a:ext cx="7818120" cy="256032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1. 정관 개정: 주주총회 특별결의를 거쳐 임원 퇴직금 지급 규정 신설 (의사록 공증 필수)</a:t>
            </a:r>
            <a:endParaRPr lang="en-US" sz="1000" dirty="0"/>
          </a:p>
          <a:p>
            <a:pPr marL="0" indent="0">
              <a:lnSpc>
                <a:spcPct val="130000"/>
              </a:lnSpc>
              <a:buNone/>
            </a:pP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2. 이사회 결의: CEO를 위한 보험 가입에 대한 이사회 결의 진행. 만약 이사회가 구성되지 않은 소규모 법인일 경우, '주주총회 결의'로 이를 갈음하여 법적 근거를 마련합니다. (의사록 작성)</a:t>
            </a:r>
            <a:endParaRPr lang="en-US" sz="1000" dirty="0"/>
          </a:p>
          <a:p>
            <a:pPr marL="0" indent="0">
              <a:lnSpc>
                <a:spcPct val="130000"/>
              </a:lnSpc>
              <a:buNone/>
            </a:pP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3. 회계 및 세무 처리:</a:t>
            </a:r>
            <a:endParaRPr lang="en-US" sz="1000" dirty="0"/>
          </a:p>
          <a:p>
            <a:pPr marL="0" indent="0">
              <a:lnSpc>
                <a:spcPct val="130000"/>
              </a:lnSpc>
              <a:buNone/>
            </a:pPr>
            <a:r>
              <a:rPr lang="en-US" sz="1000" dirty="0">
                <a:solidFill>
                  <a:srgbClr val="D4382C"/>
                </a:solidFill>
                <a:latin typeface="맑은 고딕" pitchFamily="34" charset="0"/>
                <a:ea typeface="맑은 고딕" pitchFamily="34" charset="-122"/>
                <a:cs typeface="맑은 고딕" pitchFamily="34" charset="-120"/>
              </a:rPr>
              <a:t>매년 납입하는 보험료 중 상품의 저축성 부분은 '자산'으로, 순수 보장성 부분은 '비용(손금)'으로 회계 처리합니다. 보험료 전액이 비용 처리된다는 가정은 위험합니다. 퇴직금 지급 시, 회사는 적립된 보험 자산(해지환급금)을 현금화하여 퇴직금(비용)을 지급합니다. 이 둘은 별개의 회계 사건이며, 동일한 값이 아닙니다.</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15 / 35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기대효과 및 제언</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재원 준비 시각화</a:t>
            </a:r>
            <a:endParaRPr lang="en-US" sz="1400" dirty="0"/>
          </a:p>
        </p:txBody>
      </p:sp>
      <p:sp>
        <p:nvSpPr>
          <p:cNvPr id="6" name="Text 4"/>
          <p:cNvSpPr/>
          <p:nvPr/>
        </p:nvSpPr>
        <p:spPr>
          <a:xfrm>
            <a:off x="457200" y="1143000"/>
            <a:ext cx="8229600" cy="274320"/>
          </a:xfrm>
          <a:prstGeom prst="rect">
            <a:avLst/>
          </a:prstGeom>
          <a:noFill/>
          <a:ln/>
        </p:spPr>
        <p:txBody>
          <a:bodyPr wrap="square" lIns="0" tIns="0" rIns="0" bIns="0"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현재 준비된 퇴직 재원                                                                                 0 원</a:t>
            </a:r>
            <a:endParaRPr lang="en-US" sz="900" dirty="0"/>
          </a:p>
        </p:txBody>
      </p:sp>
      <p:sp>
        <p:nvSpPr>
          <p:cNvPr id="7" name="Shape 5"/>
          <p:cNvSpPr/>
          <p:nvPr/>
        </p:nvSpPr>
        <p:spPr>
          <a:xfrm>
            <a:off x="457200" y="1417320"/>
            <a:ext cx="8229600" cy="182880"/>
          </a:xfrm>
          <a:prstGeom prst="rect">
            <a:avLst/>
          </a:prstGeom>
          <a:solidFill>
            <a:srgbClr val="F7F8FA"/>
          </a:solidFill>
          <a:ln w="12700">
            <a:solidFill>
              <a:srgbClr val="E2E8F0"/>
            </a:solidFill>
            <a:prstDash val="solid"/>
          </a:ln>
        </p:spPr>
        <p:txBody>
          <a:bodyPr/>
          <a:lstStyle/>
          <a:p>
            <a:endParaRPr lang="ko-KR" altLang="en-US"/>
          </a:p>
        </p:txBody>
      </p:sp>
      <p:sp>
        <p:nvSpPr>
          <p:cNvPr id="8" name="Text 6"/>
          <p:cNvSpPr/>
          <p:nvPr/>
        </p:nvSpPr>
        <p:spPr>
          <a:xfrm>
            <a:off x="457200" y="1783080"/>
            <a:ext cx="8229600" cy="274320"/>
          </a:xfrm>
          <a:prstGeom prst="rect">
            <a:avLst/>
          </a:prstGeom>
          <a:noFill/>
          <a:ln/>
        </p:spPr>
        <p:txBody>
          <a:bodyPr wrap="square" lIns="0" tIns="0" rIns="0" bIns="0"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솔루션 실행 후 목표 재원 (10년)                                                              ~5.9 억원</a:t>
            </a:r>
            <a:endParaRPr lang="en-US" sz="900" dirty="0"/>
          </a:p>
        </p:txBody>
      </p:sp>
      <p:sp>
        <p:nvSpPr>
          <p:cNvPr id="9" name="Shape 7"/>
          <p:cNvSpPr/>
          <p:nvPr/>
        </p:nvSpPr>
        <p:spPr>
          <a:xfrm>
            <a:off x="457200" y="2057400"/>
            <a:ext cx="8229600" cy="182880"/>
          </a:xfrm>
          <a:prstGeom prst="rect">
            <a:avLst/>
          </a:prstGeom>
          <a:solidFill>
            <a:srgbClr val="3B5BDB"/>
          </a:solidFill>
          <a:ln/>
        </p:spPr>
        <p:txBody>
          <a:bodyPr/>
          <a:lstStyle/>
          <a:p>
            <a:endParaRPr lang="ko-KR" altLang="en-US"/>
          </a:p>
        </p:txBody>
      </p:sp>
      <p:sp>
        <p:nvSpPr>
          <p:cNvPr id="10" name="Text 8"/>
          <p:cNvSpPr/>
          <p:nvPr/>
        </p:nvSpPr>
        <p:spPr>
          <a:xfrm>
            <a:off x="457200" y="25146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정성적 기대효과</a:t>
            </a:r>
            <a:endParaRPr lang="en-US" sz="1400" dirty="0"/>
          </a:p>
        </p:txBody>
      </p:sp>
      <p:sp>
        <p:nvSpPr>
          <p:cNvPr id="11" name="Shape 9"/>
          <p:cNvSpPr/>
          <p:nvPr/>
        </p:nvSpPr>
        <p:spPr>
          <a:xfrm>
            <a:off x="457200" y="2926080"/>
            <a:ext cx="8229600" cy="117043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926080"/>
            <a:ext cx="54864" cy="1170432"/>
          </a:xfrm>
          <a:prstGeom prst="rect">
            <a:avLst/>
          </a:prstGeom>
          <a:solidFill>
            <a:srgbClr val="C8962E"/>
          </a:solidFill>
          <a:ln/>
        </p:spPr>
        <p:txBody>
          <a:bodyPr/>
          <a:lstStyle/>
          <a:p>
            <a:endParaRPr lang="ko-KR" altLang="en-US"/>
          </a:p>
        </p:txBody>
      </p:sp>
      <p:sp>
        <p:nvSpPr>
          <p:cNvPr id="13" name="Text 11"/>
          <p:cNvSpPr/>
          <p:nvPr/>
        </p:nvSpPr>
        <p:spPr>
          <a:xfrm>
            <a:off x="685800" y="3105573"/>
            <a:ext cx="7818120" cy="118872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기업 측면: CEO 유고 시에도 보험금을 통해 부채 상환, 긴급 운영자금 확보 등 재무적 완충 역할 수행. 체계적인 보상 시스템 구축으로 기업 신뢰도 향상.</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CEO 측면: 회사의 미래를 걱정하지 않고 본인의 업적에 대한 정당한 보상을 확보. 안정적인 은퇴 계획 수립으로 경영에 더욱 전념 가능.</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16 / 35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기대효과 및 제언</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정량적 기대효과</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4107608995"/>
              </p:ext>
            </p:extLst>
          </p:nvPr>
        </p:nvGraphicFramePr>
        <p:xfrm>
          <a:off x="457200" y="1143000"/>
          <a:ext cx="8229600" cy="2700528"/>
        </p:xfrm>
        <a:graphic>
          <a:graphicData uri="http://schemas.openxmlformats.org/drawingml/2006/table">
            <a:tbl>
              <a:tblPr/>
              <a:tblGrid>
                <a:gridCol w="2286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84048">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Before (솔루션 실행 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After (솔루션 실행 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연간 보험료 납입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6,500만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손금 산입액 (연간)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1,300~2,600만 원</a:t>
                      </a:r>
                      <a:endParaRPr lang="en-US" sz="1000" dirty="0">
                        <a:latin typeface="맑은 고딕" charset="0"/>
                        <a:ea typeface="맑은 고딕" charset="0"/>
                        <a:cs typeface="맑은 고딕" charset="0"/>
                      </a:endParaRPr>
                    </a:p>
                    <a:p>
                      <a:pPr marL="0" indent="0" algn="ctr">
                        <a:buNone/>
                      </a:pPr>
                      <a:r>
                        <a:rPr lang="en-US" sz="1000" dirty="0">
                          <a:solidFill>
                            <a:srgbClr val="2B2B2B"/>
                          </a:solidFill>
                          <a:latin typeface="맑은 고딕" pitchFamily="34" charset="0"/>
                          <a:ea typeface="맑은 고딕" pitchFamily="34" charset="-122"/>
                          <a:cs typeface="맑은 고딕" pitchFamily="34" charset="-120"/>
                        </a:rPr>
                        <a:t>(보장성 비율 20~40% 가정)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과세표준 (연간)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12억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11.74~11.87억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법인세 (연간, 19% 세율 가정)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2.28억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2.23~2.26억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연간 법인세 절감액</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000" dirty="0">
                          <a:solidFill>
                            <a:srgbClr val="D4382C"/>
                          </a:solidFill>
                          <a:latin typeface="맑은 고딕" pitchFamily="34" charset="0"/>
                          <a:ea typeface="맑은 고딕" pitchFamily="34" charset="-122"/>
                          <a:cs typeface="맑은 고딕" pitchFamily="34" charset="-120"/>
                        </a:rPr>
                        <a:t>-</a:t>
                      </a:r>
                      <a:endParaRPr lang="en-US" sz="1000" dirty="0">
                        <a:latin typeface="맑은 고딕" charset="0"/>
                        <a:ea typeface="맑은 고딕" charset="0"/>
                        <a:cs typeface="맑은 고딕"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약 250~500만 원</a:t>
                      </a:r>
                      <a:endParaRPr lang="en-US" sz="1000" dirty="0">
                        <a:latin typeface="맑은 고딕" charset="0"/>
                        <a:ea typeface="맑은 고딕" charset="0"/>
                        <a:cs typeface="맑은 고딕"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extLst>
                  <a:ext uri="{0D108BD9-81ED-4DB2-BD59-A6C34878D82A}">
                    <a16:rowId xmlns:a16="http://schemas.microsoft.com/office/drawing/2014/main" val="10005"/>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10년 총 법인세 절감액</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000" dirty="0">
                          <a:solidFill>
                            <a:srgbClr val="D4382C"/>
                          </a:solidFill>
                          <a:latin typeface="맑은 고딕" pitchFamily="34" charset="0"/>
                          <a:ea typeface="맑은 고딕" pitchFamily="34" charset="-122"/>
                          <a:cs typeface="맑은 고딕" pitchFamily="34" charset="-120"/>
                        </a:rPr>
                        <a:t>-</a:t>
                      </a:r>
                      <a:endParaRPr lang="en-US" sz="1000" dirty="0">
                        <a:latin typeface="맑은 고딕" charset="0"/>
                        <a:ea typeface="맑은 고딕" charset="0"/>
                        <a:cs typeface="맑은 고딕"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약 2,500~5,000만 원</a:t>
                      </a:r>
                      <a:endParaRPr lang="en-US" sz="1000" dirty="0">
                        <a:latin typeface="맑은 고딕" charset="0"/>
                        <a:ea typeface="맑은 고딕" charset="0"/>
                        <a:cs typeface="맑은 고딕"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extLst>
                  <a:ext uri="{0D108BD9-81ED-4DB2-BD59-A6C34878D82A}">
                    <a16:rowId xmlns:a16="http://schemas.microsoft.com/office/drawing/2014/main" val="10006"/>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17 / 35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기대효과 및 제언</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3276410473"/>
              </p:ext>
            </p:extLst>
          </p:nvPr>
        </p:nvGraphicFramePr>
        <p:xfrm>
          <a:off x="457200" y="685800"/>
          <a:ext cx="8229600" cy="2011680"/>
        </p:xfrm>
        <a:graphic>
          <a:graphicData uri="http://schemas.openxmlformats.org/drawingml/2006/table">
            <a:tbl>
              <a:tblPr/>
              <a:tblGrid>
                <a:gridCol w="2286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50292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Before (솔루션 실행 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After (솔루션 실행 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CEO 퇴직금 재원</a:t>
                      </a:r>
                      <a:endParaRPr lang="en-US" sz="1000" dirty="0">
                        <a:latin typeface="맑은 고딕" charset="0"/>
                        <a:ea typeface="맑은 고딕" charset="0"/>
                        <a:cs typeface="맑은 고딕" charset="0"/>
                      </a:endParaRPr>
                    </a:p>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(10년 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0원 (전액 현금 유출 필요)</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7.2~7.8억 원</a:t>
                      </a:r>
                      <a:endParaRPr lang="en-US" sz="1000" dirty="0">
                        <a:latin typeface="맑은 고딕" charset="0"/>
                        <a:ea typeface="맑은 고딕" charset="0"/>
                        <a:cs typeface="맑은 고딕" charset="0"/>
                      </a:endParaRPr>
                    </a:p>
                    <a:p>
                      <a:pPr marL="0" indent="0" algn="ctr">
                        <a:buNone/>
                      </a:pPr>
                      <a:r>
                        <a:rPr lang="en-US" sz="1000" dirty="0">
                          <a:solidFill>
                            <a:srgbClr val="2B2B2B"/>
                          </a:solidFill>
                          <a:latin typeface="맑은 고딕" pitchFamily="34" charset="0"/>
                          <a:ea typeface="맑은 고딕" pitchFamily="34" charset="-122"/>
                          <a:cs typeface="맑은 고딕" pitchFamily="34" charset="-120"/>
                        </a:rPr>
                        <a:t>(보수적~우호적 시나리오)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CEO 실효세율</a:t>
                      </a:r>
                      <a:endParaRPr lang="en-US" sz="1000" dirty="0">
                        <a:latin typeface="맑은 고딕" charset="0"/>
                        <a:ea typeface="맑은 고딕" charset="0"/>
                        <a:cs typeface="맑은 고딕" charset="0"/>
                      </a:endParaRPr>
                    </a:p>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(8.1억 수령 시)</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40~45%</a:t>
                      </a:r>
                      <a:endParaRPr lang="en-US" sz="1000" dirty="0">
                        <a:latin typeface="맑은 고딕" charset="0"/>
                        <a:ea typeface="맑은 고딕" charset="0"/>
                        <a:cs typeface="맑은 고딕" charset="0"/>
                      </a:endParaRPr>
                    </a:p>
                    <a:p>
                      <a:pPr marL="0" indent="0" algn="ctr">
                        <a:buNone/>
                      </a:pPr>
                      <a:r>
                        <a:rPr lang="en-US" sz="1000" dirty="0">
                          <a:solidFill>
                            <a:srgbClr val="2B2B2B"/>
                          </a:solidFill>
                          <a:latin typeface="맑은 고딕" pitchFamily="34" charset="0"/>
                          <a:ea typeface="맑은 고딕" pitchFamily="34" charset="-122"/>
                          <a:cs typeface="맑은 고딕" pitchFamily="34" charset="-120"/>
                        </a:rPr>
                        <a:t>(상여금 처리 시)</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약 15~20%</a:t>
                      </a:r>
                      <a:endParaRPr lang="en-US" sz="1000" dirty="0">
                        <a:latin typeface="맑은 고딕" charset="0"/>
                        <a:ea typeface="맑은 고딕" charset="0"/>
                        <a:cs typeface="맑은 고딕" charset="0"/>
                      </a:endParaRPr>
                    </a:p>
                    <a:p>
                      <a:pPr marL="0" indent="0" algn="ctr">
                        <a:buNone/>
                      </a:pPr>
                      <a:r>
                        <a:rPr lang="en-US" sz="1000" dirty="0">
                          <a:solidFill>
                            <a:srgbClr val="2B2B2B"/>
                          </a:solidFill>
                          <a:latin typeface="맑은 고딕" pitchFamily="34" charset="0"/>
                          <a:ea typeface="맑은 고딕" pitchFamily="34" charset="-122"/>
                          <a:cs typeface="맑은 고딕" pitchFamily="34" charset="-120"/>
                        </a:rPr>
                        <a:t>(퇴직소득세 처리 시)</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02920">
                <a:tc>
                  <a:txBody>
                    <a:bodyP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CEO 최종 절세액</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D4382C"/>
                          </a:solidFill>
                          <a:latin typeface="맑은 고딕" pitchFamily="34" charset="0"/>
                          <a:ea typeface="맑은 고딕" pitchFamily="34" charset="-122"/>
                          <a:cs typeface="맑은 고딕" pitchFamily="34" charset="-120"/>
                        </a:rPr>
                        <a:t>-</a:t>
                      </a:r>
                      <a:endParaRPr lang="en-US" sz="1000" dirty="0">
                        <a:latin typeface="맑은 고딕" charset="0"/>
                        <a:ea typeface="맑은 고딕" charset="0"/>
                        <a:cs typeface="맑은 고딕"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약 1.5억 원 이상</a:t>
                      </a:r>
                      <a:endParaRPr lang="en-US" sz="1000" dirty="0">
                        <a:latin typeface="맑은 고딕" charset="0"/>
                        <a:ea typeface="맑은 고딕" charset="0"/>
                        <a:cs typeface="맑은 고딕"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297180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4"/>
          <p:cNvSpPr/>
          <p:nvPr/>
        </p:nvSpPr>
        <p:spPr>
          <a:xfrm>
            <a:off x="457200" y="2971800"/>
            <a:ext cx="54864" cy="1188720"/>
          </a:xfrm>
          <a:prstGeom prst="rect">
            <a:avLst/>
          </a:prstGeom>
          <a:solidFill>
            <a:srgbClr val="D4382C"/>
          </a:solidFill>
          <a:ln/>
        </p:spPr>
        <p:txBody>
          <a:bodyPr/>
          <a:lstStyle/>
          <a:p>
            <a:endParaRPr lang="ko-KR" altLang="en-US"/>
          </a:p>
        </p:txBody>
      </p:sp>
      <p:sp>
        <p:nvSpPr>
          <p:cNvPr id="8" name="Text 5"/>
          <p:cNvSpPr/>
          <p:nvPr/>
        </p:nvSpPr>
        <p:spPr>
          <a:xfrm>
            <a:off x="685800" y="3044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법인세 절감 관련 주의사항</a:t>
            </a:r>
            <a:endParaRPr lang="en-US" sz="1200" dirty="0"/>
          </a:p>
        </p:txBody>
      </p:sp>
      <p:sp>
        <p:nvSpPr>
          <p:cNvPr id="9" name="Text 6"/>
          <p:cNvSpPr/>
          <p:nvPr/>
        </p:nvSpPr>
        <p:spPr>
          <a:xfrm>
            <a:off x="685800" y="3383280"/>
            <a:ext cx="7818120" cy="731520"/>
          </a:xfrm>
          <a:prstGeom prst="rect">
            <a:avLst/>
          </a:prstGeom>
          <a:noFill/>
          <a:ln/>
        </p:spPr>
        <p:txBody>
          <a:bodyPr wrap="square" lIns="0" tIns="0" rIns="0" bIns="0" rtlCol="0" anchor="t"/>
          <a:lstStyle/>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실제 손금 인정액은 상품의 보장성/저축성 배분에 따라 결정됩니다.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세무사 확인 및 회계정책 메모(보전자료)를 함께 보관하는 것이 필수입니다.</a:t>
            </a:r>
            <a:endParaRPr lang="en-US" sz="1000" dirty="0"/>
          </a:p>
          <a:p>
            <a:pPr marL="342900" indent="-342900">
              <a:lnSpc>
                <a:spcPct val="13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저축성 비율이 높을수록 손금 인정액은 감소합니다.</a:t>
            </a:r>
            <a:endParaRPr lang="en-US" sz="1000" dirty="0"/>
          </a:p>
        </p:txBody>
      </p:sp>
      <p:sp>
        <p:nvSpPr>
          <p:cNvPr id="10"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18 / 35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기대효과 및 제언</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Before &amp; After 요약</a:t>
            </a:r>
            <a:endParaRPr lang="en-US" sz="1400" dirty="0"/>
          </a:p>
        </p:txBody>
      </p:sp>
      <p:sp>
        <p:nvSpPr>
          <p:cNvPr id="6" name="Shape 4"/>
          <p:cNvSpPr/>
          <p:nvPr/>
        </p:nvSpPr>
        <p:spPr>
          <a:xfrm>
            <a:off x="365760" y="1188720"/>
            <a:ext cx="3931920" cy="3017520"/>
          </a:xfrm>
          <a:prstGeom prst="rect">
            <a:avLst/>
          </a:prstGeom>
          <a:solidFill>
            <a:srgbClr val="D4382C"/>
          </a:solidFill>
          <a:ln/>
          <a:effectLst>
            <a:outerShdw blurRad="50800" dist="25400" dir="8100000" algn="bl" rotWithShape="0">
              <a:srgbClr val="000000">
                <a:alpha val="10000"/>
              </a:srgbClr>
            </a:outerShdw>
          </a:effectLst>
        </p:spPr>
        <p:txBody>
          <a:bodyPr/>
          <a:lstStyle/>
          <a:p>
            <a:endParaRPr lang="ko-KR" altLang="en-US"/>
          </a:p>
        </p:txBody>
      </p:sp>
      <p:sp>
        <p:nvSpPr>
          <p:cNvPr id="7" name="Text 5"/>
          <p:cNvSpPr/>
          <p:nvPr/>
        </p:nvSpPr>
        <p:spPr>
          <a:xfrm>
            <a:off x="457200" y="1280160"/>
            <a:ext cx="3749040" cy="365760"/>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 Before (실행 전)</a:t>
            </a:r>
            <a:endParaRPr lang="en-US" sz="1400" dirty="0"/>
          </a:p>
        </p:txBody>
      </p:sp>
      <p:sp>
        <p:nvSpPr>
          <p:cNvPr id="8" name="Text 6"/>
          <p:cNvSpPr/>
          <p:nvPr/>
        </p:nvSpPr>
        <p:spPr>
          <a:xfrm>
            <a:off x="548640" y="1737360"/>
            <a:ext cx="3566160" cy="2468880"/>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맑은 고딕" pitchFamily="34" charset="0"/>
                <a:ea typeface="맑은 고딕" pitchFamily="34" charset="-122"/>
                <a:cs typeface="맑은 고딕" pitchFamily="34" charset="-120"/>
              </a:rPr>
              <a:t>재무 상태: 재무제표에 보이지 않는 '숨겨진 부채'가 계속 증가</a:t>
            </a:r>
            <a:endParaRPr lang="en-US" sz="1000" dirty="0"/>
          </a:p>
          <a:p>
            <a:pPr marL="342900" indent="-342900">
              <a:buSzPct val="100000"/>
              <a:buChar char="•"/>
            </a:pPr>
            <a:r>
              <a:rPr lang="en-US" sz="1000" dirty="0">
                <a:solidFill>
                  <a:srgbClr val="FFFFFF"/>
                </a:solidFill>
                <a:latin typeface="맑은 고딕" pitchFamily="34" charset="0"/>
                <a:ea typeface="맑은 고딕" pitchFamily="34" charset="-122"/>
                <a:cs typeface="맑은 고딕" pitchFamily="34" charset="-120"/>
              </a:rPr>
              <a:t>퇴직 시점: 회사의 심각한 유동성 위기 및 경영 리스크 발생</a:t>
            </a:r>
            <a:endParaRPr lang="en-US" sz="1000" dirty="0"/>
          </a:p>
          <a:p>
            <a:pPr marL="342900" indent="-342900">
              <a:buSzPct val="100000"/>
              <a:buChar char="•"/>
            </a:pPr>
            <a:r>
              <a:rPr lang="en-US" sz="1000" dirty="0">
                <a:solidFill>
                  <a:srgbClr val="FFFFFF"/>
                </a:solidFill>
                <a:latin typeface="맑은 고딕" pitchFamily="34" charset="0"/>
                <a:ea typeface="맑은 고딕" pitchFamily="34" charset="-122"/>
                <a:cs typeface="맑은 고딕" pitchFamily="34" charset="-120"/>
              </a:rPr>
              <a:t>CEO: 상여 처리 시 과도한 세금(40~45%) 부담으로 실제 수령액 급감</a:t>
            </a:r>
            <a:endParaRPr lang="en-US" sz="1000" dirty="0"/>
          </a:p>
          <a:p>
            <a:pPr marL="0" indent="0">
              <a:buNone/>
            </a:pPr>
            <a:endParaRPr lang="en-US" sz="1000" dirty="0"/>
          </a:p>
          <a:p>
            <a:pPr marL="0" indent="0">
              <a:buNone/>
            </a:pPr>
            <a:r>
              <a:rPr lang="en-US" sz="1200" b="1" dirty="0">
                <a:solidFill>
                  <a:srgbClr val="FFFFFF"/>
                </a:solidFill>
                <a:latin typeface="맑은 고딕" pitchFamily="34" charset="0"/>
                <a:ea typeface="맑은 고딕" pitchFamily="34" charset="-122"/>
                <a:cs typeface="맑은 고딕" pitchFamily="34" charset="-120"/>
              </a:rPr>
              <a:t>결론: 고위험 시한폭탄</a:t>
            </a:r>
            <a:endParaRPr lang="en-US" sz="1000" dirty="0"/>
          </a:p>
        </p:txBody>
      </p:sp>
      <p:sp>
        <p:nvSpPr>
          <p:cNvPr id="9" name="Shape 7"/>
          <p:cNvSpPr/>
          <p:nvPr/>
        </p:nvSpPr>
        <p:spPr>
          <a:xfrm>
            <a:off x="4846320" y="1188720"/>
            <a:ext cx="3931920" cy="3017520"/>
          </a:xfrm>
          <a:prstGeom prst="rect">
            <a:avLst/>
          </a:prstGeom>
          <a:solidFill>
            <a:srgbClr val="1A6B4A"/>
          </a:solidFill>
          <a:ln/>
          <a:effectLst>
            <a:outerShdw blurRad="50800" dist="25400" dir="8100000" algn="bl" rotWithShape="0">
              <a:srgbClr val="000000">
                <a:alpha val="10000"/>
              </a:srgbClr>
            </a:outerShdw>
          </a:effectLst>
        </p:spPr>
        <p:txBody>
          <a:bodyPr/>
          <a:lstStyle/>
          <a:p>
            <a:endParaRPr lang="ko-KR" altLang="en-US"/>
          </a:p>
        </p:txBody>
      </p:sp>
      <p:sp>
        <p:nvSpPr>
          <p:cNvPr id="10" name="Text 8"/>
          <p:cNvSpPr/>
          <p:nvPr/>
        </p:nvSpPr>
        <p:spPr>
          <a:xfrm>
            <a:off x="4937760" y="1280160"/>
            <a:ext cx="3749040" cy="365760"/>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 After (실행 후)</a:t>
            </a:r>
            <a:endParaRPr lang="en-US" sz="1400" dirty="0"/>
          </a:p>
        </p:txBody>
      </p:sp>
      <p:sp>
        <p:nvSpPr>
          <p:cNvPr id="11" name="Text 9"/>
          <p:cNvSpPr/>
          <p:nvPr/>
        </p:nvSpPr>
        <p:spPr>
          <a:xfrm>
            <a:off x="5029200" y="1737360"/>
            <a:ext cx="3566160" cy="2468880"/>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맑은 고딕" pitchFamily="34" charset="0"/>
                <a:ea typeface="맑은 고딕" pitchFamily="34" charset="-122"/>
                <a:cs typeface="맑은 고딕" pitchFamily="34" charset="-120"/>
              </a:rPr>
              <a:t>재무 상태: 매년 법인세 절감 및 계획된 자산 형성</a:t>
            </a:r>
            <a:endParaRPr lang="en-US" sz="1000" dirty="0"/>
          </a:p>
          <a:p>
            <a:pPr marL="342900" indent="-342900">
              <a:buSzPct val="100000"/>
              <a:buChar char="•"/>
            </a:pPr>
            <a:r>
              <a:rPr lang="en-US" sz="1000" dirty="0">
                <a:solidFill>
                  <a:srgbClr val="FFFFFF"/>
                </a:solidFill>
                <a:latin typeface="맑은 고딕" pitchFamily="34" charset="0"/>
                <a:ea typeface="맑은 고딕" pitchFamily="34" charset="-122"/>
                <a:cs typeface="맑은 고딕" pitchFamily="34" charset="-120"/>
              </a:rPr>
              <a:t>퇴직 시점: 준비된 자산으로 안정적인 퇴직금 지급, 재무 충격 없음</a:t>
            </a:r>
            <a:endParaRPr lang="en-US" sz="1000" dirty="0"/>
          </a:p>
          <a:p>
            <a:pPr marL="342900" indent="-342900">
              <a:buSzPct val="100000"/>
              <a:buChar char="•"/>
            </a:pPr>
            <a:r>
              <a:rPr lang="en-US" sz="1000" dirty="0">
                <a:solidFill>
                  <a:srgbClr val="FFFFFF"/>
                </a:solidFill>
                <a:latin typeface="맑은 고딕" pitchFamily="34" charset="0"/>
                <a:ea typeface="맑은 고딕" pitchFamily="34" charset="-122"/>
                <a:cs typeface="맑은 고딕" pitchFamily="34" charset="-120"/>
              </a:rPr>
              <a:t>CEO: 퇴직소득세 분리과세로 1.5억 이상 절세 효과, 안정적 노후 보장</a:t>
            </a:r>
            <a:endParaRPr lang="en-US" sz="1000" dirty="0"/>
          </a:p>
          <a:p>
            <a:pPr marL="0" indent="0">
              <a:buNone/>
            </a:pPr>
            <a:endParaRPr lang="en-US" sz="1000" dirty="0"/>
          </a:p>
          <a:p>
            <a:pPr marL="0" indent="0">
              <a:buNone/>
            </a:pPr>
            <a:r>
              <a:rPr lang="en-US" sz="1200" b="1" dirty="0">
                <a:solidFill>
                  <a:srgbClr val="FFFFFF"/>
                </a:solidFill>
                <a:latin typeface="맑은 고딕" pitchFamily="34" charset="0"/>
                <a:ea typeface="맑은 고딕" pitchFamily="34" charset="-122"/>
                <a:cs typeface="맑은 고딕" pitchFamily="34" charset="-120"/>
              </a:rPr>
              <a:t>결론: 통제 가능한 자산</a:t>
            </a:r>
            <a:endParaRPr lang="en-US" sz="10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19 / 35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기대효과 및 제언</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5. 실행 계획 및 종합 제언</a:t>
            </a:r>
            <a:endParaRPr lang="en-US" sz="1400" dirty="0"/>
          </a:p>
        </p:txBody>
      </p:sp>
      <p:sp>
        <p:nvSpPr>
          <p:cNvPr id="6" name="Shape 4"/>
          <p:cNvSpPr/>
          <p:nvPr/>
        </p:nvSpPr>
        <p:spPr>
          <a:xfrm>
            <a:off x="457200" y="1075268"/>
            <a:ext cx="822960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75268"/>
            <a:ext cx="54864" cy="1051560"/>
          </a:xfrm>
          <a:prstGeom prst="rect">
            <a:avLst/>
          </a:prstGeom>
          <a:solidFill>
            <a:srgbClr val="C8962E"/>
          </a:solidFill>
          <a:ln/>
        </p:spPr>
        <p:txBody>
          <a:bodyPr/>
          <a:lstStyle/>
          <a:p>
            <a:endParaRPr lang="ko-KR" altLang="en-US"/>
          </a:p>
        </p:txBody>
      </p:sp>
      <p:sp>
        <p:nvSpPr>
          <p:cNvPr id="8" name="Text 6"/>
          <p:cNvSpPr/>
          <p:nvPr/>
        </p:nvSpPr>
        <p:spPr>
          <a:xfrm>
            <a:off x="685800" y="1148420"/>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Phase 1: 기반 구축 (예상 기간: 1개월)</a:t>
            </a:r>
            <a:endParaRPr lang="en-US" sz="1200" dirty="0"/>
          </a:p>
        </p:txBody>
      </p:sp>
      <p:sp>
        <p:nvSpPr>
          <p:cNvPr id="9" name="Text 7"/>
          <p:cNvSpPr/>
          <p:nvPr/>
        </p:nvSpPr>
        <p:spPr>
          <a:xfrm>
            <a:off x="685800" y="1441028"/>
            <a:ext cx="7818120" cy="50292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1. 정관 및 관련 규정 정밀 검토</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2. 퇴직금 이원화 계산 및 보험 플랜 확정</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담당 주체: 컨설턴트, CEO, 전문가</a:t>
            </a:r>
            <a:endParaRPr lang="en-US" sz="1000" dirty="0"/>
          </a:p>
        </p:txBody>
      </p:sp>
      <p:sp>
        <p:nvSpPr>
          <p:cNvPr id="10" name="Shape 8"/>
          <p:cNvSpPr/>
          <p:nvPr/>
        </p:nvSpPr>
        <p:spPr>
          <a:xfrm>
            <a:off x="457200" y="2267374"/>
            <a:ext cx="822960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67374"/>
            <a:ext cx="54864" cy="1051560"/>
          </a:xfrm>
          <a:prstGeom prst="rect">
            <a:avLst/>
          </a:prstGeom>
          <a:solidFill>
            <a:srgbClr val="C8962E"/>
          </a:solidFill>
          <a:ln/>
        </p:spPr>
        <p:txBody>
          <a:bodyPr/>
          <a:lstStyle/>
          <a:p>
            <a:endParaRPr lang="ko-KR" altLang="en-US"/>
          </a:p>
        </p:txBody>
      </p:sp>
      <p:sp>
        <p:nvSpPr>
          <p:cNvPr id="12" name="Text 10"/>
          <p:cNvSpPr/>
          <p:nvPr/>
        </p:nvSpPr>
        <p:spPr>
          <a:xfrm>
            <a:off x="685800" y="2340526"/>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Phase 2: 제도화 (예상 기간: 1개월)</a:t>
            </a:r>
            <a:endParaRPr lang="en-US" sz="1200" dirty="0"/>
          </a:p>
        </p:txBody>
      </p:sp>
      <p:sp>
        <p:nvSpPr>
          <p:cNvPr id="13" name="Text 11"/>
          <p:cNvSpPr/>
          <p:nvPr/>
        </p:nvSpPr>
        <p:spPr>
          <a:xfrm>
            <a:off x="685800" y="2633134"/>
            <a:ext cx="7818120" cy="50292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1. 주주총회 소집 및 소급 적용 배제 정관 개정 결의</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2. 이사회(또는 주주총회) 개최 및 보험 가입 승인</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담당 주체: CEO, 주주, 이사회</a:t>
            </a:r>
            <a:endParaRPr lang="en-US" sz="1000" dirty="0"/>
          </a:p>
        </p:txBody>
      </p:sp>
      <p:sp>
        <p:nvSpPr>
          <p:cNvPr id="14" name="Shape 12"/>
          <p:cNvSpPr/>
          <p:nvPr/>
        </p:nvSpPr>
        <p:spPr>
          <a:xfrm>
            <a:off x="457200" y="3466424"/>
            <a:ext cx="8229600" cy="1239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3466424"/>
            <a:ext cx="54864" cy="1239520"/>
          </a:xfrm>
          <a:prstGeom prst="rect">
            <a:avLst/>
          </a:prstGeom>
          <a:solidFill>
            <a:srgbClr val="C8962E"/>
          </a:solidFill>
          <a:ln/>
        </p:spPr>
        <p:txBody>
          <a:bodyPr/>
          <a:lstStyle/>
          <a:p>
            <a:endParaRPr lang="ko-KR" altLang="en-US"/>
          </a:p>
        </p:txBody>
      </p:sp>
      <p:sp>
        <p:nvSpPr>
          <p:cNvPr id="16" name="Text 14"/>
          <p:cNvSpPr/>
          <p:nvPr/>
        </p:nvSpPr>
        <p:spPr>
          <a:xfrm>
            <a:off x="685800" y="3539576"/>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Phase 3: 실행 및 관리 (예상 기간: 10년 지속)</a:t>
            </a:r>
            <a:endParaRPr lang="en-US" sz="1200" dirty="0"/>
          </a:p>
        </p:txBody>
      </p:sp>
      <p:sp>
        <p:nvSpPr>
          <p:cNvPr id="17" name="Text 15"/>
          <p:cNvSpPr/>
          <p:nvPr/>
        </p:nvSpPr>
        <p:spPr>
          <a:xfrm>
            <a:off x="685800" y="3832184"/>
            <a:ext cx="7818120" cy="6858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1. 보험 계약 체결 및 1회차 보험료 납입</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2. 보장성/저축성 분리 회계처리</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3. 매년 플랜 리뷰 및 미세 조정</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담당 주체: 컨설턴트, 재무팀</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20 / 35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기대효과 및 제언</a:t>
            </a:r>
            <a:endParaRPr lang="en-US" sz="1600" dirty="0"/>
          </a:p>
        </p:txBody>
      </p:sp>
      <p:sp>
        <p:nvSpPr>
          <p:cNvPr id="5" name="Shape 3"/>
          <p:cNvSpPr/>
          <p:nvPr/>
        </p:nvSpPr>
        <p:spPr>
          <a:xfrm>
            <a:off x="457200" y="685800"/>
            <a:ext cx="8229600" cy="12435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243584"/>
          </a:xfrm>
          <a:prstGeom prst="rect">
            <a:avLst/>
          </a:prstGeom>
          <a:solidFill>
            <a:srgbClr val="C8962E"/>
          </a:solidFill>
          <a:ln/>
        </p:spPr>
        <p:txBody>
          <a:bodyPr/>
          <a:lstStyle/>
          <a:p>
            <a:endParaRPr lang="ko-KR" altLang="en-US"/>
          </a:p>
        </p:txBody>
      </p:sp>
      <p:sp>
        <p:nvSpPr>
          <p:cNvPr id="7" name="Text 5"/>
          <p:cNvSpPr/>
          <p:nvPr/>
        </p:nvSpPr>
        <p:spPr>
          <a:xfrm>
            <a:off x="685800" y="813816"/>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[컨설팅 핵심 요약 및 결론]</a:t>
            </a:r>
            <a:endParaRPr lang="en-US" sz="1200" dirty="0"/>
          </a:p>
        </p:txBody>
      </p:sp>
      <p:sp>
        <p:nvSpPr>
          <p:cNvPr id="8" name="Text 6"/>
          <p:cNvSpPr/>
          <p:nvPr/>
        </p:nvSpPr>
        <p:spPr>
          <a:xfrm>
            <a:off x="685800" y="1152144"/>
            <a:ext cx="7818120" cy="9144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본 제안은 대표님의 퇴직금을 단순히 '비용'으로 처리하는 소극적 관점을 넘어, '법인세 절감', 'CEO 자산 형성', '기업 재무 안정성 강화'라는 3가지 목표를 동시에 달성하는 적극적인 투자 관점의 재무 전략입니다. 정관 정비와 법인 보험 플랜의 결합은 현재 시점에서 대표님과 회사가 선택할 수 있는 가장 합리적이고 강력한 솔루션입니다.</a:t>
            </a:r>
            <a:endParaRPr lang="en-US" sz="1000" dirty="0"/>
          </a:p>
        </p:txBody>
      </p:sp>
      <p:sp>
        <p:nvSpPr>
          <p:cNvPr id="9" name="Shape 7"/>
          <p:cNvSpPr/>
          <p:nvPr/>
        </p:nvSpPr>
        <p:spPr>
          <a:xfrm>
            <a:off x="457200" y="2046223"/>
            <a:ext cx="822960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046223"/>
            <a:ext cx="54864" cy="914400"/>
          </a:xfrm>
          <a:prstGeom prst="rect">
            <a:avLst/>
          </a:prstGeom>
          <a:solidFill>
            <a:srgbClr val="C8962E"/>
          </a:solidFill>
          <a:ln/>
        </p:spPr>
        <p:txBody>
          <a:bodyPr/>
          <a:lstStyle/>
          <a:p>
            <a:endParaRPr lang="ko-KR" altLang="en-US"/>
          </a:p>
        </p:txBody>
      </p:sp>
      <p:sp>
        <p:nvSpPr>
          <p:cNvPr id="11" name="Text 9"/>
          <p:cNvSpPr/>
          <p:nvPr/>
        </p:nvSpPr>
        <p:spPr>
          <a:xfrm>
            <a:off x="685800" y="2160013"/>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[장기적 관점에서의 추가 제언]</a:t>
            </a:r>
            <a:endParaRPr lang="en-US" sz="1200" dirty="0"/>
          </a:p>
        </p:txBody>
      </p:sp>
      <p:sp>
        <p:nvSpPr>
          <p:cNvPr id="12" name="Text 10"/>
          <p:cNvSpPr/>
          <p:nvPr/>
        </p:nvSpPr>
        <p:spPr>
          <a:xfrm>
            <a:off x="685800" y="2452621"/>
            <a:ext cx="7818120" cy="41148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CEO 퇴직금 플랜이 성공적으로 안착된 후에는, 차기 경영진 및 핵심 인력에 대한 보상 플랜(Key-Man 보험 등)을 도입하여 인재 유출을 방지하고 지속가능한 경영 시스템을 구축하는 방향으로 나아가야 합니다.</a:t>
            </a:r>
            <a:endParaRPr lang="en-US" sz="1000" dirty="0"/>
          </a:p>
        </p:txBody>
      </p:sp>
      <p:sp>
        <p:nvSpPr>
          <p:cNvPr id="13" name="Shape 11"/>
          <p:cNvSpPr/>
          <p:nvPr/>
        </p:nvSpPr>
        <p:spPr>
          <a:xfrm>
            <a:off x="457200" y="3052062"/>
            <a:ext cx="8229600" cy="966893"/>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3052062"/>
            <a:ext cx="54864" cy="966893"/>
          </a:xfrm>
          <a:prstGeom prst="rect">
            <a:avLst/>
          </a:prstGeom>
          <a:solidFill>
            <a:srgbClr val="C8962E"/>
          </a:solidFill>
          <a:ln/>
        </p:spPr>
        <p:txBody>
          <a:bodyPr/>
          <a:lstStyle/>
          <a:p>
            <a:endParaRPr lang="ko-KR" altLang="en-US"/>
          </a:p>
        </p:txBody>
      </p:sp>
      <p:sp>
        <p:nvSpPr>
          <p:cNvPr id="15" name="Text 13"/>
          <p:cNvSpPr/>
          <p:nvPr/>
        </p:nvSpPr>
        <p:spPr>
          <a:xfrm>
            <a:off x="685800" y="3206493"/>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[성공적인 실행을 위한 CEO의 역할]</a:t>
            </a:r>
            <a:endParaRPr lang="en-US" sz="1200" dirty="0"/>
          </a:p>
        </p:txBody>
      </p:sp>
      <p:sp>
        <p:nvSpPr>
          <p:cNvPr id="16" name="Text 14"/>
          <p:cNvSpPr/>
          <p:nvPr/>
        </p:nvSpPr>
        <p:spPr>
          <a:xfrm>
            <a:off x="685800" y="3499101"/>
            <a:ext cx="7818120" cy="41148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이 모든 전략의 성공적인 실행은 결국 대표님의 확고한 의지와 결단에 달려 있습니다. 단기적인 비용 지출을 망설이기보다, 10년 후의 회사와 본인의 모습을 내다보는 장기적인 안목으로 과감한 의사결정을 내려주시길 바랍니다.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21 / 35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핵심 요약 (One-Page Summary)</a:t>
            </a:r>
            <a:endParaRPr lang="en-US" sz="1600" dirty="0"/>
          </a:p>
        </p:txBody>
      </p:sp>
      <p:sp>
        <p:nvSpPr>
          <p:cNvPr id="5" name="Shape 3"/>
          <p:cNvSpPr/>
          <p:nvPr/>
        </p:nvSpPr>
        <p:spPr>
          <a:xfrm>
            <a:off x="457200" y="685800"/>
            <a:ext cx="8229600" cy="25247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2524760"/>
          </a:xfrm>
          <a:prstGeom prst="rect">
            <a:avLst/>
          </a:prstGeom>
          <a:solidFill>
            <a:srgbClr val="C8962E"/>
          </a:solidFill>
          <a:ln/>
        </p:spPr>
        <p:txBody>
          <a:bodyPr/>
          <a:lstStyle/>
          <a:p>
            <a:endParaRPr lang="ko-KR" altLang="en-US"/>
          </a:p>
        </p:txBody>
      </p:sp>
      <p:sp>
        <p:nvSpPr>
          <p:cNvPr id="7" name="Text 5"/>
          <p:cNvSpPr/>
          <p:nvPr/>
        </p:nvSpPr>
        <p:spPr>
          <a:xfrm>
            <a:off x="685800" y="904240"/>
            <a:ext cx="7818120" cy="3383280"/>
          </a:xfrm>
          <a:prstGeom prst="rect">
            <a:avLst/>
          </a:prstGeom>
          <a:noFill/>
          <a:ln/>
        </p:spPr>
        <p:txBody>
          <a:bodyPr wrap="square" lIns="0" tIns="0" rIns="0" bIns="0" rtlCol="0" anchor="t"/>
          <a:lstStyle/>
          <a:p>
            <a:pPr marL="0" indent="0">
              <a:lnSpc>
                <a:spcPct val="120000"/>
              </a:lnSpc>
              <a:buNone/>
            </a:pPr>
            <a:r>
              <a:rPr lang="en-US" sz="1200" b="1" dirty="0">
                <a:solidFill>
                  <a:srgbClr val="1B2A4A"/>
                </a:solidFill>
                <a:latin typeface="맑은 고딕" pitchFamily="34" charset="0"/>
                <a:ea typeface="맑은 고딕" pitchFamily="34" charset="-122"/>
                <a:cs typeface="맑은 고딕" pitchFamily="34" charset="-120"/>
              </a:rPr>
              <a:t>핵심 과제: </a:t>
            </a:r>
            <a:r>
              <a:rPr lang="en-US" sz="1100" dirty="0">
                <a:solidFill>
                  <a:srgbClr val="D4382C"/>
                </a:solidFill>
                <a:latin typeface="맑은 고딕" pitchFamily="34" charset="0"/>
                <a:ea typeface="맑은 고딕" pitchFamily="34" charset="-122"/>
                <a:cs typeface="맑은 고딕" pitchFamily="34" charset="-120"/>
              </a:rPr>
              <a:t>재무제표에 보이지 않는 미래 퇴직금 부채(약 5.9억)와 과도한 이익잉여금으로 인한 세금 리스크</a:t>
            </a:r>
            <a:endParaRPr lang="en-US" sz="1200" dirty="0"/>
          </a:p>
          <a:p>
            <a:pPr marL="0" indent="0">
              <a:lnSpc>
                <a:spcPct val="120000"/>
              </a:lnSpc>
              <a:buNone/>
            </a:pPr>
            <a:endParaRPr lang="en-US" sz="1200" dirty="0"/>
          </a:p>
          <a:p>
            <a:pPr marL="0" indent="0">
              <a:lnSpc>
                <a:spcPct val="120000"/>
              </a:lnSpc>
              <a:buNone/>
            </a:pPr>
            <a:r>
              <a:rPr lang="en-US" sz="1200" b="1" dirty="0">
                <a:solidFill>
                  <a:srgbClr val="1B2A4A"/>
                </a:solidFill>
                <a:latin typeface="맑은 고딕" pitchFamily="34" charset="0"/>
                <a:ea typeface="맑은 고딕" pitchFamily="34" charset="-122"/>
                <a:cs typeface="맑은 고딕" pitchFamily="34" charset="-120"/>
              </a:rPr>
              <a:t>해결 구조: </a:t>
            </a:r>
            <a:r>
              <a:rPr lang="en-US" sz="1100" dirty="0">
                <a:solidFill>
                  <a:srgbClr val="2B2B2B"/>
                </a:solidFill>
                <a:latin typeface="맑은 고딕" pitchFamily="34" charset="0"/>
                <a:ea typeface="맑은 고딕" pitchFamily="34" charset="-122"/>
                <a:cs typeface="맑은 고딕" pitchFamily="34" charset="-120"/>
              </a:rPr>
              <a:t>정관 개정(지급배수 2.5배, 소급적용 배제) + 법인 보험 플랜 (연 6,500만 원) → 10년간 안전자산 형성</a:t>
            </a:r>
            <a:endParaRPr lang="en-US" sz="1200" dirty="0"/>
          </a:p>
          <a:p>
            <a:pPr marL="0" indent="0">
              <a:lnSpc>
                <a:spcPct val="120000"/>
              </a:lnSpc>
              <a:buNone/>
            </a:pPr>
            <a:endParaRPr lang="en-US" sz="1200" dirty="0"/>
          </a:p>
          <a:p>
            <a:pPr marL="0" indent="0">
              <a:lnSpc>
                <a:spcPct val="120000"/>
              </a:lnSpc>
              <a:buNone/>
            </a:pPr>
            <a:r>
              <a:rPr lang="en-US" sz="1200" b="1" dirty="0">
                <a:solidFill>
                  <a:srgbClr val="1B2A4A"/>
                </a:solidFill>
                <a:latin typeface="맑은 고딕" pitchFamily="34" charset="0"/>
                <a:ea typeface="맑은 고딕" pitchFamily="34" charset="-122"/>
                <a:cs typeface="맑은 고딕" pitchFamily="34" charset="-120"/>
              </a:rPr>
              <a:t>주요 효과 (법인): </a:t>
            </a:r>
            <a:r>
              <a:rPr lang="en-US" sz="1100" dirty="0">
                <a:solidFill>
                  <a:srgbClr val="2B2B2B"/>
                </a:solidFill>
                <a:latin typeface="맑은 고딕" pitchFamily="34" charset="0"/>
                <a:ea typeface="맑은 고딕" pitchFamily="34" charset="-122"/>
                <a:cs typeface="맑은 고딕" pitchFamily="34" charset="-120"/>
              </a:rPr>
              <a:t>10년간 약 2,500만~5,000만 원 법인세 절감 및 재무 안정성 강화</a:t>
            </a:r>
            <a:endParaRPr lang="en-US" sz="1200" dirty="0"/>
          </a:p>
          <a:p>
            <a:pPr marL="0" indent="0">
              <a:lnSpc>
                <a:spcPct val="120000"/>
              </a:lnSpc>
              <a:buNone/>
            </a:pPr>
            <a:endParaRPr lang="en-US" sz="1200" dirty="0"/>
          </a:p>
          <a:p>
            <a:pPr marL="0" indent="0">
              <a:lnSpc>
                <a:spcPct val="120000"/>
              </a:lnSpc>
              <a:buNone/>
            </a:pPr>
            <a:r>
              <a:rPr lang="en-US" sz="1200" b="1" dirty="0">
                <a:solidFill>
                  <a:srgbClr val="1B2A4A"/>
                </a:solidFill>
                <a:latin typeface="맑은 고딕" pitchFamily="34" charset="0"/>
                <a:ea typeface="맑은 고딕" pitchFamily="34" charset="-122"/>
                <a:cs typeface="맑은 고딕" pitchFamily="34" charset="-120"/>
              </a:rPr>
              <a:t>주요 효과 (CEO): </a:t>
            </a:r>
            <a:r>
              <a:rPr lang="en-US" sz="1100" dirty="0">
                <a:solidFill>
                  <a:srgbClr val="2B2B2B"/>
                </a:solidFill>
                <a:latin typeface="맑은 고딕" pitchFamily="34" charset="0"/>
                <a:ea typeface="맑은 고딕" pitchFamily="34" charset="-122"/>
                <a:cs typeface="맑은 고딕" pitchFamily="34" charset="-120"/>
              </a:rPr>
              <a:t>약 1.5억 원 이상의 절세 효과를 누리며 안정적인 은퇴자금 확보</a:t>
            </a:r>
            <a:endParaRPr lang="en-US" sz="1200" dirty="0"/>
          </a:p>
          <a:p>
            <a:pPr marL="0" indent="0">
              <a:lnSpc>
                <a:spcPct val="120000"/>
              </a:lnSpc>
              <a:buNone/>
            </a:pPr>
            <a:endParaRPr lang="en-US" sz="1200" dirty="0"/>
          </a:p>
          <a:p>
            <a:pPr marL="0" indent="0">
              <a:lnSpc>
                <a:spcPct val="120000"/>
              </a:lnSpc>
              <a:buNone/>
            </a:pPr>
            <a:r>
              <a:rPr lang="en-US" sz="1200" b="1" dirty="0">
                <a:solidFill>
                  <a:srgbClr val="1B2A4A"/>
                </a:solidFill>
                <a:latin typeface="맑은 고딕" pitchFamily="34" charset="0"/>
                <a:ea typeface="맑은 고딕" pitchFamily="34" charset="-122"/>
                <a:cs typeface="맑은 고딕" pitchFamily="34" charset="-120"/>
              </a:rPr>
              <a:t>다음 단계: </a:t>
            </a:r>
            <a:r>
              <a:rPr lang="en-US" sz="1100" dirty="0">
                <a:solidFill>
                  <a:srgbClr val="2B2B2B"/>
                </a:solidFill>
                <a:latin typeface="맑은 고딕" pitchFamily="34" charset="0"/>
                <a:ea typeface="맑은 고딕" pitchFamily="34" charset="-122"/>
                <a:cs typeface="맑은 고딕" pitchFamily="34" charset="-120"/>
              </a:rPr>
              <a:t>정관 및 관련 규정 검토 → 주주총회 결의 → 보험 플랜 최종 확정 및 계약 체결</a:t>
            </a:r>
            <a:endParaRPr lang="en-US" sz="12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22 / 35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lIns="0" tIns="0" rIns="0" bIns="0" rtlCol="0" anchor="ctr"/>
          <a:lstStyle/>
          <a:p>
            <a:pPr marL="0" indent="0">
              <a:buNone/>
            </a:pPr>
            <a:r>
              <a:rPr lang="en-US" sz="1600" b="1" dirty="0">
                <a:solidFill>
                  <a:srgbClr val="1B2A4A"/>
                </a:solidFill>
                <a:latin typeface="맑은 고딕" pitchFamily="34" charset="0"/>
                <a:ea typeface="맑은 고딕" pitchFamily="34" charset="-122"/>
                <a:cs typeface="맑은 고딕" pitchFamily="34" charset="-120"/>
              </a:rPr>
              <a:t>VI. 컨설팅 시나리오 (상담 가이드)</a:t>
            </a:r>
            <a:endParaRPr lang="en-US" sz="1600" dirty="0"/>
          </a:p>
        </p:txBody>
      </p:sp>
      <p:sp>
        <p:nvSpPr>
          <p:cNvPr id="5" name="Text 3"/>
          <p:cNvSpPr/>
          <p:nvPr/>
        </p:nvSpPr>
        <p:spPr>
          <a:xfrm>
            <a:off x="457200" y="960120"/>
            <a:ext cx="1097280" cy="274320"/>
          </a:xfrm>
          <a:prstGeom prst="rect">
            <a:avLst/>
          </a:prstGeom>
          <a:solidFill>
            <a:srgbClr val="3B5BDB"/>
          </a:solidFill>
          <a:ln/>
        </p:spPr>
        <p:txBody>
          <a:bodyPr wrap="square" lIns="0" tIns="0" rIns="0" bIns="0" rtlCol="0" anchor="ctr"/>
          <a:lstStyle/>
          <a:p>
            <a:pPr marL="0" indent="0" algn="ctr">
              <a:buNone/>
            </a:pPr>
            <a:r>
              <a:rPr lang="en-US" sz="1000" b="1" dirty="0">
                <a:solidFill>
                  <a:srgbClr val="FFFFFF"/>
                </a:solidFill>
              </a:rPr>
              <a:t>상담주제  </a:t>
            </a:r>
            <a:endParaRPr lang="en-US" sz="1000" dirty="0"/>
          </a:p>
        </p:txBody>
      </p:sp>
      <p:sp>
        <p:nvSpPr>
          <p:cNvPr id="6" name="Text 4"/>
          <p:cNvSpPr/>
          <p:nvPr/>
        </p:nvSpPr>
        <p:spPr>
          <a:xfrm>
            <a:off x="1645920" y="960120"/>
            <a:ext cx="7040880" cy="274320"/>
          </a:xfrm>
          <a:prstGeom prst="rect">
            <a:avLst/>
          </a:prstGeom>
          <a:noFill/>
          <a:ln/>
        </p:spPr>
        <p:txBody>
          <a:bodyPr wrap="square" lIns="0" tIns="0" rIns="0" bIns="0" rtlCol="0" anchor="ctr"/>
          <a:lstStyle/>
          <a:p>
            <a:pPr marL="0" indent="0">
              <a:buNone/>
            </a:pPr>
            <a:r>
              <a:rPr lang="en-US" sz="1100" b="1" dirty="0">
                <a:solidFill>
                  <a:srgbClr val="2B2B2B"/>
                </a:solidFill>
                <a:latin typeface="맑은 고딕" pitchFamily="34" charset="0"/>
                <a:ea typeface="맑은 고딕" pitchFamily="34" charset="-122"/>
                <a:cs typeface="맑은 고딕" pitchFamily="34" charset="-120"/>
              </a:rPr>
              <a:t>"대표님의 '아름다운 퇴장', 법률 리스크까지 고려한 10년 재무 로드맵"</a:t>
            </a:r>
            <a:endParaRPr lang="en-US" sz="1100" dirty="0"/>
          </a:p>
        </p:txBody>
      </p:sp>
      <p:sp>
        <p:nvSpPr>
          <p:cNvPr id="7" name="Text 5"/>
          <p:cNvSpPr/>
          <p:nvPr/>
        </p:nvSpPr>
        <p:spPr>
          <a:xfrm>
            <a:off x="457200" y="1417320"/>
            <a:ext cx="2743200" cy="274320"/>
          </a:xfrm>
          <a:prstGeom prst="rect">
            <a:avLst/>
          </a:prstGeom>
          <a:solidFill>
            <a:srgbClr val="EEF2FF"/>
          </a:solidFill>
          <a:ln/>
        </p:spPr>
        <p:txBody>
          <a:bodyPr wrap="square" lIns="0" tIns="0" rIns="0" bIns="0" rtlCol="0" anchor="ct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1단계: 존경과 공감</a:t>
            </a:r>
            <a:endParaRPr lang="en-US" sz="1000" dirty="0"/>
          </a:p>
        </p:txBody>
      </p:sp>
      <p:sp>
        <p:nvSpPr>
          <p:cNvPr id="8" name="Shape 6"/>
          <p:cNvSpPr/>
          <p:nvPr/>
        </p:nvSpPr>
        <p:spPr>
          <a:xfrm>
            <a:off x="457200" y="1783080"/>
            <a:ext cx="54864" cy="822960"/>
          </a:xfrm>
          <a:prstGeom prst="rect">
            <a:avLst/>
          </a:prstGeom>
          <a:solidFill>
            <a:srgbClr val="3B5BDB"/>
          </a:solidFill>
          <a:ln/>
        </p:spPr>
        <p:txBody>
          <a:bodyPr/>
          <a:lstStyle/>
          <a:p>
            <a:endParaRPr lang="ko-KR" altLang="en-US"/>
          </a:p>
        </p:txBody>
      </p:sp>
      <p:sp>
        <p:nvSpPr>
          <p:cNvPr id="9" name="Shape 7"/>
          <p:cNvSpPr/>
          <p:nvPr/>
        </p:nvSpPr>
        <p:spPr>
          <a:xfrm>
            <a:off x="457200" y="1783080"/>
            <a:ext cx="777240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10" name="Text 8"/>
          <p:cNvSpPr/>
          <p:nvPr/>
        </p:nvSpPr>
        <p:spPr>
          <a:xfrm>
            <a:off x="594360" y="1828800"/>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컨설턴트</a:t>
            </a:r>
            <a:endParaRPr lang="en-US" sz="900" dirty="0"/>
          </a:p>
        </p:txBody>
      </p:sp>
      <p:sp>
        <p:nvSpPr>
          <p:cNvPr id="11" name="Text 9"/>
          <p:cNvSpPr/>
          <p:nvPr/>
        </p:nvSpPr>
        <p:spPr>
          <a:xfrm>
            <a:off x="594360" y="2011680"/>
            <a:ext cx="7498080" cy="54864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"대표님, 지난 17년간 (주)하이테크정밀을 이만큼 성장시키신 노고에 깊은 존경을 표합니다. 아마 매일 회사의 미래만 걱정하시느라, 정작 대표님 자신의 미래는 차분히 돌아볼 시간이 없으셨을 것 같습니다."</a:t>
            </a:r>
            <a:endParaRPr lang="en-US" sz="900" dirty="0"/>
          </a:p>
        </p:txBody>
      </p:sp>
      <p:sp>
        <p:nvSpPr>
          <p:cNvPr id="12" name="Shape 10"/>
          <p:cNvSpPr/>
          <p:nvPr/>
        </p:nvSpPr>
        <p:spPr>
          <a:xfrm>
            <a:off x="914400" y="2697480"/>
            <a:ext cx="7772400" cy="640080"/>
          </a:xfrm>
          <a:prstGeom prst="rect">
            <a:avLst/>
          </a:prstGeom>
          <a:solidFill>
            <a:srgbClr val="FDF4FF"/>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914400" y="2697480"/>
            <a:ext cx="54864" cy="640080"/>
          </a:xfrm>
          <a:prstGeom prst="rect">
            <a:avLst/>
          </a:prstGeom>
          <a:solidFill>
            <a:srgbClr val="A855F7"/>
          </a:solidFill>
          <a:ln/>
        </p:spPr>
        <p:txBody>
          <a:bodyPr/>
          <a:lstStyle/>
          <a:p>
            <a:endParaRPr lang="ko-KR" altLang="en-US"/>
          </a:p>
        </p:txBody>
      </p:sp>
      <p:sp>
        <p:nvSpPr>
          <p:cNvPr id="14" name="Text 12"/>
          <p:cNvSpPr/>
          <p:nvPr/>
        </p:nvSpPr>
        <p:spPr>
          <a:xfrm>
            <a:off x="1051560" y="2743200"/>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CEO</a:t>
            </a:r>
            <a:endParaRPr lang="en-US" sz="900" dirty="0"/>
          </a:p>
        </p:txBody>
      </p:sp>
      <p:sp>
        <p:nvSpPr>
          <p:cNvPr id="15" name="Text 13"/>
          <p:cNvSpPr/>
          <p:nvPr/>
        </p:nvSpPr>
        <p:spPr>
          <a:xfrm>
            <a:off x="1051560" y="2926080"/>
            <a:ext cx="7498080" cy="36576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"맞습니다. 정신없이 달려왔네요. 이제 슬슬 은퇴도 생각해야 할 나이인데, 막상 어떻게 해야 할지 막막합니다."</a:t>
            </a:r>
            <a:endParaRPr lang="en-US" sz="900" dirty="0"/>
          </a:p>
        </p:txBody>
      </p:sp>
      <p:sp>
        <p:nvSpPr>
          <p:cNvPr id="16" name="Text 14"/>
          <p:cNvSpPr/>
          <p:nvPr/>
        </p:nvSpPr>
        <p:spPr>
          <a:xfrm>
            <a:off x="457200" y="3429000"/>
            <a:ext cx="3200400" cy="274320"/>
          </a:xfrm>
          <a:prstGeom prst="rect">
            <a:avLst/>
          </a:prstGeom>
          <a:solidFill>
            <a:srgbClr val="EEF2FF"/>
          </a:solidFill>
          <a:ln/>
        </p:spPr>
        <p:txBody>
          <a:bodyPr wrap="square" lIns="0" tIns="0" rIns="0" bIns="0" rtlCol="0" anchor="ct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2단계: 숫자로 보여주는 리스크</a:t>
            </a:r>
            <a:endParaRPr lang="en-US" sz="1000" dirty="0"/>
          </a:p>
        </p:txBody>
      </p:sp>
      <p:sp>
        <p:nvSpPr>
          <p:cNvPr id="17" name="Shape 15"/>
          <p:cNvSpPr/>
          <p:nvPr/>
        </p:nvSpPr>
        <p:spPr>
          <a:xfrm>
            <a:off x="457200" y="3794760"/>
            <a:ext cx="54864" cy="640080"/>
          </a:xfrm>
          <a:prstGeom prst="rect">
            <a:avLst/>
          </a:prstGeom>
          <a:solidFill>
            <a:srgbClr val="3B5BDB"/>
          </a:solidFill>
          <a:ln/>
        </p:spPr>
        <p:txBody>
          <a:bodyPr/>
          <a:lstStyle/>
          <a:p>
            <a:endParaRPr lang="ko-KR" altLang="en-US"/>
          </a:p>
        </p:txBody>
      </p:sp>
      <p:sp>
        <p:nvSpPr>
          <p:cNvPr id="18" name="Shape 16"/>
          <p:cNvSpPr/>
          <p:nvPr/>
        </p:nvSpPr>
        <p:spPr>
          <a:xfrm>
            <a:off x="457200" y="3794760"/>
            <a:ext cx="777240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19" name="Text 17"/>
          <p:cNvSpPr/>
          <p:nvPr/>
        </p:nvSpPr>
        <p:spPr>
          <a:xfrm>
            <a:off x="594360" y="3840480"/>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컨설턴트</a:t>
            </a:r>
            <a:endParaRPr lang="en-US" sz="900" dirty="0"/>
          </a:p>
        </p:txBody>
      </p:sp>
      <p:sp>
        <p:nvSpPr>
          <p:cNvPr id="20" name="Text 18"/>
          <p:cNvSpPr/>
          <p:nvPr/>
        </p:nvSpPr>
        <p:spPr>
          <a:xfrm>
            <a:off x="594360" y="4023360"/>
            <a:ext cx="7498080" cy="36576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"제가 대표님의 미래를 법률과 세법에 근거해서 정확하게 계산해 봤습니다. 현재 규정대로라면 10년 후 대표님의 예상 퇴직금은 약 8.1억 원 수준입니다. 그런데 이 돈, 지금 회사에 준비되어 있습니까?"</a:t>
            </a:r>
            <a:endParaRPr lang="en-US" sz="900" dirty="0"/>
          </a:p>
        </p:txBody>
      </p:sp>
      <p:sp>
        <p:nvSpPr>
          <p:cNvPr id="21" name="Text 1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22" name="Text 20"/>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23 / 35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VI. 컨설팅 시나리오 (계속)</a:t>
            </a:r>
            <a:endParaRPr lang="en-US" sz="1400" dirty="0"/>
          </a:p>
        </p:txBody>
      </p:sp>
      <p:sp>
        <p:nvSpPr>
          <p:cNvPr id="5" name="Shape 3"/>
          <p:cNvSpPr/>
          <p:nvPr/>
        </p:nvSpPr>
        <p:spPr>
          <a:xfrm>
            <a:off x="914400" y="914400"/>
            <a:ext cx="7772400" cy="548640"/>
          </a:xfrm>
          <a:prstGeom prst="rect">
            <a:avLst/>
          </a:prstGeom>
          <a:solidFill>
            <a:srgbClr val="FDF4FF"/>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914400" y="914400"/>
            <a:ext cx="54864" cy="548640"/>
          </a:xfrm>
          <a:prstGeom prst="rect">
            <a:avLst/>
          </a:prstGeom>
          <a:solidFill>
            <a:srgbClr val="A855F7"/>
          </a:solidFill>
          <a:ln/>
        </p:spPr>
        <p:txBody>
          <a:bodyPr/>
          <a:lstStyle/>
          <a:p>
            <a:endParaRPr lang="ko-KR" altLang="en-US"/>
          </a:p>
        </p:txBody>
      </p:sp>
      <p:sp>
        <p:nvSpPr>
          <p:cNvPr id="7" name="Text 5"/>
          <p:cNvSpPr/>
          <p:nvPr/>
        </p:nvSpPr>
        <p:spPr>
          <a:xfrm>
            <a:off x="1051560" y="941832"/>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CEO</a:t>
            </a:r>
            <a:endParaRPr lang="en-US" sz="900" dirty="0"/>
          </a:p>
        </p:txBody>
      </p:sp>
      <p:sp>
        <p:nvSpPr>
          <p:cNvPr id="8" name="Text 6"/>
          <p:cNvSpPr/>
          <p:nvPr/>
        </p:nvSpPr>
        <p:spPr>
          <a:xfrm>
            <a:off x="1051560" y="1115568"/>
            <a:ext cx="7498080" cy="320040"/>
          </a:xfrm>
          <a:prstGeom prst="rect">
            <a:avLst/>
          </a:prstGeom>
          <a:noFill/>
          <a:ln/>
        </p:spPr>
        <p:txBody>
          <a:bodyPr wrap="square" lIns="0" tIns="0" rIns="0" bIns="0" rtlCol="0" anchor="ct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"아니요. 그저 이익잉여금으로 쌓여있을 뿐이죠. 그걸 한 번에 빼가면 회사가 휘청일 겁니다."</a:t>
            </a:r>
            <a:endParaRPr lang="en-US" sz="900" dirty="0"/>
          </a:p>
        </p:txBody>
      </p:sp>
      <p:sp>
        <p:nvSpPr>
          <p:cNvPr id="9" name="Shape 7"/>
          <p:cNvSpPr/>
          <p:nvPr/>
        </p:nvSpPr>
        <p:spPr>
          <a:xfrm>
            <a:off x="457200" y="1554480"/>
            <a:ext cx="54864" cy="640080"/>
          </a:xfrm>
          <a:prstGeom prst="rect">
            <a:avLst/>
          </a:prstGeom>
          <a:solidFill>
            <a:srgbClr val="3B5BDB"/>
          </a:solidFill>
          <a:ln/>
        </p:spPr>
        <p:txBody>
          <a:bodyPr/>
          <a:lstStyle/>
          <a:p>
            <a:endParaRPr lang="ko-KR" altLang="en-US"/>
          </a:p>
        </p:txBody>
      </p:sp>
      <p:sp>
        <p:nvSpPr>
          <p:cNvPr id="10" name="Shape 8"/>
          <p:cNvSpPr/>
          <p:nvPr/>
        </p:nvSpPr>
        <p:spPr>
          <a:xfrm>
            <a:off x="457200" y="1554480"/>
            <a:ext cx="7772400" cy="640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11" name="Text 9"/>
          <p:cNvSpPr/>
          <p:nvPr/>
        </p:nvSpPr>
        <p:spPr>
          <a:xfrm>
            <a:off x="594360" y="1581912"/>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컨설턴트</a:t>
            </a:r>
            <a:endParaRPr lang="en-US" sz="900" dirty="0"/>
          </a:p>
        </p:txBody>
      </p:sp>
      <p:sp>
        <p:nvSpPr>
          <p:cNvPr id="12" name="Text 10"/>
          <p:cNvSpPr/>
          <p:nvPr/>
        </p:nvSpPr>
        <p:spPr>
          <a:xfrm>
            <a:off x="594360" y="1755648"/>
            <a:ext cx="7498080" cy="411480"/>
          </a:xfrm>
          <a:prstGeom prst="rect">
            <a:avLst/>
          </a:prstGeom>
          <a:noFill/>
          <a:ln/>
        </p:spPr>
        <p:txBody>
          <a:bodyPr wrap="square" lIns="0" tIns="0" rIns="0" bIns="0" rtlCol="0" anchor="ct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"정확히 보셨습니다. 재무제표에는 보이지 않지만, 회사는 지금 8억 원이 넘는 빚을 지고 있는 것과 같습니다. 이 '숨겨진 부채'가 대표님과 회사의 발목을 잡고 있는 가장 큰 리스크입니다."</a:t>
            </a:r>
            <a:endParaRPr lang="en-US" sz="900" dirty="0"/>
          </a:p>
        </p:txBody>
      </p:sp>
      <p:sp>
        <p:nvSpPr>
          <p:cNvPr id="13" name="Text 11"/>
          <p:cNvSpPr/>
          <p:nvPr/>
        </p:nvSpPr>
        <p:spPr>
          <a:xfrm>
            <a:off x="457200" y="2286000"/>
            <a:ext cx="3657600" cy="274320"/>
          </a:xfrm>
          <a:prstGeom prst="rect">
            <a:avLst/>
          </a:prstGeom>
          <a:solidFill>
            <a:srgbClr val="EEF2FF"/>
          </a:solidFill>
          <a:ln/>
        </p:spPr>
        <p:txBody>
          <a:bodyPr wrap="square" lIns="0" tIns="0" rIns="0" bIns="0" rtlCol="0" anchor="ct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3단계: 정교하고 안전한 해결책 제시</a:t>
            </a:r>
            <a:endParaRPr lang="en-US" sz="1000" dirty="0"/>
          </a:p>
        </p:txBody>
      </p:sp>
      <p:sp>
        <p:nvSpPr>
          <p:cNvPr id="14" name="Shape 12"/>
          <p:cNvSpPr/>
          <p:nvPr/>
        </p:nvSpPr>
        <p:spPr>
          <a:xfrm>
            <a:off x="457200" y="2606040"/>
            <a:ext cx="54864" cy="1005840"/>
          </a:xfrm>
          <a:prstGeom prst="rect">
            <a:avLst/>
          </a:prstGeom>
          <a:solidFill>
            <a:srgbClr val="3B5BDB"/>
          </a:solidFill>
          <a:ln/>
        </p:spPr>
        <p:txBody>
          <a:bodyPr/>
          <a:lstStyle/>
          <a:p>
            <a:endParaRPr lang="ko-KR" altLang="en-US"/>
          </a:p>
        </p:txBody>
      </p:sp>
      <p:sp>
        <p:nvSpPr>
          <p:cNvPr id="15" name="Shape 13"/>
          <p:cNvSpPr/>
          <p:nvPr/>
        </p:nvSpPr>
        <p:spPr>
          <a:xfrm>
            <a:off x="457200" y="2606040"/>
            <a:ext cx="7772400" cy="1005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16" name="Text 14"/>
          <p:cNvSpPr/>
          <p:nvPr/>
        </p:nvSpPr>
        <p:spPr>
          <a:xfrm>
            <a:off x="594360" y="2633472"/>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컨설턴트</a:t>
            </a:r>
            <a:endParaRPr lang="en-US" sz="900" dirty="0"/>
          </a:p>
        </p:txBody>
      </p:sp>
      <p:sp>
        <p:nvSpPr>
          <p:cNvPr id="17" name="Text 15"/>
          <p:cNvSpPr/>
          <p:nvPr/>
        </p:nvSpPr>
        <p:spPr>
          <a:xfrm>
            <a:off x="594360" y="2807208"/>
            <a:ext cx="7498080" cy="77724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"이 시한폭탄을 안전자산으로 바꿀, 가장 법적으로 안전한 방법이 있습니다. 첫째, 정관에 '임원 퇴직금은 2.5배수로 지급한다'고 명시하되, '규정 개정 이후 근무 기간부터 적용한다'고 못을 박아 세무 리스크를 원천 차단합니다. 둘째, 이를 바탕으로 매년 이익의 일부인 약 6,500만 원을 법인 명의 보험으로 적립하는 겁니다."</a:t>
            </a:r>
            <a:endParaRPr lang="en-US" sz="900" dirty="0"/>
          </a:p>
        </p:txBody>
      </p:sp>
      <p:sp>
        <p:nvSpPr>
          <p:cNvPr id="18" name="Shape 16"/>
          <p:cNvSpPr/>
          <p:nvPr/>
        </p:nvSpPr>
        <p:spPr>
          <a:xfrm>
            <a:off x="914400" y="3703320"/>
            <a:ext cx="7772400" cy="502920"/>
          </a:xfrm>
          <a:prstGeom prst="rect">
            <a:avLst/>
          </a:prstGeom>
          <a:solidFill>
            <a:srgbClr val="FDF4FF"/>
          </a:solidFill>
          <a:ln/>
          <a:effectLst>
            <a:outerShdw blurRad="50800" dist="25400" dir="8100000" algn="bl" rotWithShape="0">
              <a:srgbClr val="000000">
                <a:alpha val="10000"/>
              </a:srgbClr>
            </a:outerShdw>
          </a:effectLst>
        </p:spPr>
        <p:txBody>
          <a:bodyPr/>
          <a:lstStyle/>
          <a:p>
            <a:endParaRPr lang="ko-KR" altLang="en-US"/>
          </a:p>
        </p:txBody>
      </p:sp>
      <p:sp>
        <p:nvSpPr>
          <p:cNvPr id="19" name="Shape 17"/>
          <p:cNvSpPr/>
          <p:nvPr/>
        </p:nvSpPr>
        <p:spPr>
          <a:xfrm>
            <a:off x="914400" y="3703320"/>
            <a:ext cx="54864" cy="502920"/>
          </a:xfrm>
          <a:prstGeom prst="rect">
            <a:avLst/>
          </a:prstGeom>
          <a:solidFill>
            <a:srgbClr val="A855F7"/>
          </a:solidFill>
          <a:ln/>
        </p:spPr>
        <p:txBody>
          <a:bodyPr/>
          <a:lstStyle/>
          <a:p>
            <a:endParaRPr lang="ko-KR" altLang="en-US"/>
          </a:p>
        </p:txBody>
      </p:sp>
      <p:sp>
        <p:nvSpPr>
          <p:cNvPr id="20" name="Text 18"/>
          <p:cNvSpPr/>
          <p:nvPr/>
        </p:nvSpPr>
        <p:spPr>
          <a:xfrm>
            <a:off x="1051560" y="3730752"/>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CEO</a:t>
            </a:r>
            <a:endParaRPr lang="en-US" sz="900" dirty="0"/>
          </a:p>
        </p:txBody>
      </p:sp>
      <p:sp>
        <p:nvSpPr>
          <p:cNvPr id="21" name="Text 19"/>
          <p:cNvSpPr/>
          <p:nvPr/>
        </p:nvSpPr>
        <p:spPr>
          <a:xfrm>
            <a:off x="1051560" y="3904488"/>
            <a:ext cx="7498080" cy="274320"/>
          </a:xfrm>
          <a:prstGeom prst="rect">
            <a:avLst/>
          </a:prstGeom>
          <a:noFill/>
          <a:ln/>
        </p:spPr>
        <p:txBody>
          <a:bodyPr wrap="square" lIns="0" tIns="0" rIns="0" bIns="0" rtlCol="0" anchor="ctr"/>
          <a:lstStyle/>
          <a:p>
            <a:pPr marL="0" indent="0">
              <a:buNone/>
            </a:pPr>
            <a:r>
              <a:rPr lang="en-US" sz="900" dirty="0">
                <a:solidFill>
                  <a:srgbClr val="2B2B2B"/>
                </a:solidFill>
                <a:latin typeface="맑은 고딕" pitchFamily="34" charset="0"/>
                <a:ea typeface="맑은 고딕" pitchFamily="34" charset="-122"/>
                <a:cs typeface="맑은 고딕" pitchFamily="34" charset="-120"/>
              </a:rPr>
              <a:t>"매년 6,500만 원씩 나가는 건 부담인데요? 그리고 그 돈, 전부 비용처리 되는 겁니까?"</a:t>
            </a:r>
            <a:endParaRPr lang="en-US" sz="900" dirty="0"/>
          </a:p>
        </p:txBody>
      </p:sp>
      <p:sp>
        <p:nvSpPr>
          <p:cNvPr id="22" name="Text 2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23" name="Text 2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24 / 35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VI. 컨설팅 시나리오 (계속)</a:t>
            </a:r>
            <a:endParaRPr lang="en-US" sz="1400" dirty="0"/>
          </a:p>
        </p:txBody>
      </p:sp>
      <p:sp>
        <p:nvSpPr>
          <p:cNvPr id="5" name="Shape 3"/>
          <p:cNvSpPr/>
          <p:nvPr/>
        </p:nvSpPr>
        <p:spPr>
          <a:xfrm>
            <a:off x="457200" y="914400"/>
            <a:ext cx="54864" cy="1188720"/>
          </a:xfrm>
          <a:prstGeom prst="rect">
            <a:avLst/>
          </a:prstGeom>
          <a:solidFill>
            <a:srgbClr val="3B5BDB"/>
          </a:solidFill>
          <a:ln/>
        </p:spPr>
        <p:txBody>
          <a:bodyPr/>
          <a:lstStyle/>
          <a:p>
            <a:endParaRPr lang="ko-KR" altLang="en-US"/>
          </a:p>
        </p:txBody>
      </p:sp>
      <p:sp>
        <p:nvSpPr>
          <p:cNvPr id="6" name="Shape 4"/>
          <p:cNvSpPr/>
          <p:nvPr/>
        </p:nvSpPr>
        <p:spPr>
          <a:xfrm>
            <a:off x="457200" y="914400"/>
            <a:ext cx="777240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7" name="Text 5"/>
          <p:cNvSpPr/>
          <p:nvPr/>
        </p:nvSpPr>
        <p:spPr>
          <a:xfrm>
            <a:off x="594360" y="941832"/>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컨설턴트</a:t>
            </a:r>
            <a:endParaRPr lang="en-US" sz="900" dirty="0"/>
          </a:p>
        </p:txBody>
      </p:sp>
      <p:sp>
        <p:nvSpPr>
          <p:cNvPr id="8" name="Text 6"/>
          <p:cNvSpPr/>
          <p:nvPr/>
        </p:nvSpPr>
        <p:spPr>
          <a:xfrm>
            <a:off x="594360" y="1115568"/>
            <a:ext cx="7498080" cy="96012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"대표님, 좋은 질문입니다. 전액 비용처리는 안됩니다. 그건 과장된 설명입니다. 이 6,500만 원 중 순수 위험보장에 대한 일부만 비용 처리되어 법인세를 절감하고, 나머지는 회사의 '자산'으로 차곡차곡 쌓이는 구조입니다. 즉, 비용 소모가 아니라 자산 이전의 개념입니다. 10년간 절약하는 법인세만 해도 2,500만~5,000만 원이 넘고, 대표님의 퇴직금 5.9억 원은 안전하게 회사 자산으로 마련되는 플랜입니다. 상품 구조가 우호적이면 최대 7.8억까지도 가능합니다."</a:t>
            </a:r>
            <a:endParaRPr lang="en-US" sz="900" dirty="0"/>
          </a:p>
        </p:txBody>
      </p:sp>
      <p:sp>
        <p:nvSpPr>
          <p:cNvPr id="9" name="Text 7"/>
          <p:cNvSpPr/>
          <p:nvPr/>
        </p:nvSpPr>
        <p:spPr>
          <a:xfrm>
            <a:off x="457200" y="2194560"/>
            <a:ext cx="3200400" cy="274320"/>
          </a:xfrm>
          <a:prstGeom prst="rect">
            <a:avLst/>
          </a:prstGeom>
          <a:solidFill>
            <a:srgbClr val="EEF2FF"/>
          </a:solidFill>
          <a:ln/>
        </p:spPr>
        <p:txBody>
          <a:bodyPr wrap="square" lIns="0" tIns="0" rIns="0" bIns="0" rtlCol="0" anchor="ct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4단계: 가치 제안과 행동 촉구</a:t>
            </a:r>
            <a:endParaRPr lang="en-US" sz="1000" dirty="0"/>
          </a:p>
        </p:txBody>
      </p:sp>
      <p:sp>
        <p:nvSpPr>
          <p:cNvPr id="10" name="Shape 8"/>
          <p:cNvSpPr/>
          <p:nvPr/>
        </p:nvSpPr>
        <p:spPr>
          <a:xfrm>
            <a:off x="457200" y="2514600"/>
            <a:ext cx="54864" cy="1188720"/>
          </a:xfrm>
          <a:prstGeom prst="rect">
            <a:avLst/>
          </a:prstGeom>
          <a:solidFill>
            <a:srgbClr val="3B5BDB"/>
          </a:solidFill>
          <a:ln/>
        </p:spPr>
        <p:txBody>
          <a:bodyPr/>
          <a:lstStyle/>
          <a:p>
            <a:endParaRPr lang="ko-KR" altLang="en-US"/>
          </a:p>
        </p:txBody>
      </p:sp>
      <p:sp>
        <p:nvSpPr>
          <p:cNvPr id="11" name="Shape 9"/>
          <p:cNvSpPr/>
          <p:nvPr/>
        </p:nvSpPr>
        <p:spPr>
          <a:xfrm>
            <a:off x="457200" y="2514600"/>
            <a:ext cx="777240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12" name="Text 10"/>
          <p:cNvSpPr/>
          <p:nvPr/>
        </p:nvSpPr>
        <p:spPr>
          <a:xfrm>
            <a:off x="594360" y="2542032"/>
            <a:ext cx="1828800" cy="182880"/>
          </a:xfrm>
          <a:prstGeom prst="rect">
            <a:avLst/>
          </a:prstGeom>
          <a:noFill/>
          <a:ln/>
        </p:spPr>
        <p:txBody>
          <a:bodyPr wrap="square" lIns="0" tIns="0" rIns="0" bIns="0"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 컨설턴트</a:t>
            </a:r>
            <a:endParaRPr lang="en-US" sz="900" dirty="0"/>
          </a:p>
        </p:txBody>
      </p:sp>
      <p:sp>
        <p:nvSpPr>
          <p:cNvPr id="13" name="Text 11"/>
          <p:cNvSpPr/>
          <p:nvPr/>
        </p:nvSpPr>
        <p:spPr>
          <a:xfrm>
            <a:off x="594360" y="2715768"/>
            <a:ext cx="7498080" cy="114300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"대표님, 선택은 두 가지입니다. 지금처럼 '숨겨진 부채'를 방치하여 10년 뒤 회사와 대표님 모두가 힘든 상황에 처하거나, 아니면 지금부터 매년 절세 혜택을 받으며 안전하게 '목표 자산'을 만들어 가거나. 어떤 미래를 선택하시겠습니까? 이 로드맵은 대표님의 평생의 헌신에 대한 '존중'이자, 회사의 미래를 위한 '책임'입니다. 우선 정관 검토부터 시작해 보시는 것이 어떻겠습니까?"</a:t>
            </a:r>
            <a:endParaRPr lang="en-US" sz="9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25 / 35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심화 응대 기법: 고객 반론 대응</a:t>
            </a:r>
            <a:endParaRPr lang="en-US" sz="1400" dirty="0"/>
          </a:p>
        </p:txBody>
      </p:sp>
      <p:sp>
        <p:nvSpPr>
          <p:cNvPr id="5" name="Shape 3"/>
          <p:cNvSpPr/>
          <p:nvPr/>
        </p:nvSpPr>
        <p:spPr>
          <a:xfrm>
            <a:off x="457200" y="91440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914400"/>
            <a:ext cx="54864" cy="1645920"/>
          </a:xfrm>
          <a:prstGeom prst="rect">
            <a:avLst/>
          </a:prstGeom>
          <a:solidFill>
            <a:srgbClr val="C8962E"/>
          </a:solidFill>
          <a:ln/>
        </p:spPr>
        <p:txBody>
          <a:bodyPr/>
          <a:lstStyle/>
          <a:p>
            <a:endParaRPr lang="ko-KR" altLang="en-US"/>
          </a:p>
        </p:txBody>
      </p:sp>
      <p:sp>
        <p:nvSpPr>
          <p:cNvPr id="7" name="Text 5"/>
          <p:cNvSpPr/>
          <p:nvPr/>
        </p:nvSpPr>
        <p:spPr>
          <a:xfrm>
            <a:off x="685800" y="106883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비용 반론 대응</a:t>
            </a:r>
            <a:endParaRPr lang="en-US" sz="1200" dirty="0"/>
          </a:p>
        </p:txBody>
      </p:sp>
      <p:sp>
        <p:nvSpPr>
          <p:cNvPr id="8" name="Text 6"/>
          <p:cNvSpPr/>
          <p:nvPr/>
        </p:nvSpPr>
        <p:spPr>
          <a:xfrm>
            <a:off x="685800" y="1379728"/>
            <a:ext cx="7818120" cy="1188720"/>
          </a:xfrm>
          <a:prstGeom prst="rect">
            <a:avLst/>
          </a:prstGeom>
          <a:noFill/>
          <a:ln/>
        </p:spPr>
        <p:txBody>
          <a:bodyPr wrap="square" lIns="0" tIns="0" rIns="0" bIns="0" rtlCol="0" anchor="t"/>
          <a:lstStyle/>
          <a:p>
            <a:pPr marL="0" indent="0">
              <a:lnSpc>
                <a:spcPct val="130000"/>
              </a:lnSpc>
              <a:buNone/>
            </a:pPr>
            <a:r>
              <a:rPr lang="en-US" sz="900" b="1" dirty="0">
                <a:solidFill>
                  <a:srgbClr val="2B2B2B"/>
                </a:solidFill>
                <a:latin typeface="맑은 고딕" pitchFamily="34" charset="0"/>
                <a:ea typeface="맑은 고딕" pitchFamily="34" charset="-122"/>
                <a:cs typeface="맑은 고딕" pitchFamily="34" charset="-120"/>
              </a:rPr>
              <a:t>상황: "연 6,500만 원은 너무 부담스럽습니다. 금액을 줄일 수는 없나요?"</a:t>
            </a:r>
            <a:endParaRPr lang="en-US" sz="1000" dirty="0"/>
          </a:p>
          <a:p>
            <a:pPr marL="0" indent="0">
              <a:lnSpc>
                <a:spcPct val="130000"/>
              </a:lnSpc>
              <a:buNone/>
            </a:pPr>
            <a:endParaRPr lang="en-US" sz="10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응대법: "물론입니다, 대표님. 가장 중요한 것은 10년간 꾸준히 유지하는 것이니까요. 그렇다면 목표 금액을 다소 낮추거나 기간을 늘려 월 납입 부담을 줄이는 대안을 즉시 마련해 드릴 수 있습니다. 예를 들어 연 납입액을 4,000만 원으로 조정할 경우, 10년 후 약 4.5억 원의 재원을 마련하게 됩니다. 완벽하진 않지만, '0원'인 상태보다는 훨씬 안전한 방어막이 되어줄 겁니다. 대표님의 현금흐름에 가장 적합한 최적의 플랜을 함께 찾아보겠습니다."</a:t>
            </a:r>
            <a:endParaRPr lang="en-US" sz="1000" dirty="0"/>
          </a:p>
        </p:txBody>
      </p:sp>
      <p:sp>
        <p:nvSpPr>
          <p:cNvPr id="9" name="Shape 7"/>
          <p:cNvSpPr/>
          <p:nvPr/>
        </p:nvSpPr>
        <p:spPr>
          <a:xfrm>
            <a:off x="457200" y="274320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743200"/>
            <a:ext cx="54864" cy="1645920"/>
          </a:xfrm>
          <a:prstGeom prst="rect">
            <a:avLst/>
          </a:prstGeom>
          <a:solidFill>
            <a:srgbClr val="C8962E"/>
          </a:solidFill>
          <a:ln/>
        </p:spPr>
        <p:txBody>
          <a:bodyPr/>
          <a:lstStyle/>
          <a:p>
            <a:endParaRPr lang="ko-KR" altLang="en-US"/>
          </a:p>
        </p:txBody>
      </p:sp>
      <p:sp>
        <p:nvSpPr>
          <p:cNvPr id="11" name="Text 9"/>
          <p:cNvSpPr/>
          <p:nvPr/>
        </p:nvSpPr>
        <p:spPr>
          <a:xfrm>
            <a:off x="685800" y="2897629"/>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복잡성/불신 반론 대응</a:t>
            </a:r>
            <a:endParaRPr lang="en-US" sz="1200" dirty="0"/>
          </a:p>
        </p:txBody>
      </p:sp>
      <p:sp>
        <p:nvSpPr>
          <p:cNvPr id="12" name="Text 10"/>
          <p:cNvSpPr/>
          <p:nvPr/>
        </p:nvSpPr>
        <p:spPr>
          <a:xfrm>
            <a:off x="685800" y="3208525"/>
            <a:ext cx="7818120" cy="1371600"/>
          </a:xfrm>
          <a:prstGeom prst="rect">
            <a:avLst/>
          </a:prstGeom>
          <a:noFill/>
          <a:ln/>
        </p:spPr>
        <p:txBody>
          <a:bodyPr wrap="square" lIns="0" tIns="0" rIns="0" bIns="0" rtlCol="0" anchor="t"/>
          <a:lstStyle/>
          <a:p>
            <a:pPr marL="0" indent="0">
              <a:lnSpc>
                <a:spcPct val="130000"/>
              </a:lnSpc>
              <a:buNone/>
            </a:pPr>
            <a:r>
              <a:rPr lang="en-US" sz="900" b="1" dirty="0">
                <a:solidFill>
                  <a:srgbClr val="2B2B2B"/>
                </a:solidFill>
                <a:latin typeface="맑은 고딕" pitchFamily="34" charset="0"/>
                <a:ea typeface="맑은 고딕" pitchFamily="34" charset="-122"/>
                <a:cs typeface="맑은 고딕" pitchFamily="34" charset="-120"/>
              </a:rPr>
              <a:t>상황: "그냥 예·적금으로 준비하면 안 되나요? 보험은 너무 복잡하고 사업비도 많다고 하던데요."</a:t>
            </a:r>
            <a:endParaRPr lang="en-US" sz="1000" dirty="0"/>
          </a:p>
          <a:p>
            <a:pPr marL="0" indent="0">
              <a:lnSpc>
                <a:spcPct val="130000"/>
              </a:lnSpc>
              <a:buNone/>
            </a:pPr>
            <a:endParaRPr lang="en-US" sz="10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응대법: "매우 합리적인 질문이십니다. 물론 예·적금도 좋은 방법이지만, 두 가지 결정적인 차이가 있습니다. 첫째, 예·적금은 법인세 절감 효과가 전혀 없습니다. 둘째, 대표님께 예기치 못한 유고 상황이 발생했을 때, 예·적금은 딱 불입한 원리금만큼만 회사의 자산이 되지만, 이 플랜은 약속된 사망보험금 전액이 즉시 법인에 지급되어 회사를 지키는 최후의 보루가 되어줍니다. '절세'와 '안전장치'라는 두 가지 핵심 가치를 고려하면 가장 효과적인 선택입니다."</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26 / 35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심화 응대 기법: 고객 반론 대응 (계속)</a:t>
            </a:r>
            <a:endParaRPr lang="en-US" sz="1400" dirty="0"/>
          </a:p>
        </p:txBody>
      </p:sp>
      <p:sp>
        <p:nvSpPr>
          <p:cNvPr id="5" name="Shape 3"/>
          <p:cNvSpPr/>
          <p:nvPr/>
        </p:nvSpPr>
        <p:spPr>
          <a:xfrm>
            <a:off x="457200" y="914400"/>
            <a:ext cx="8229600" cy="210650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914400"/>
            <a:ext cx="54864" cy="2106507"/>
          </a:xfrm>
          <a:prstGeom prst="rect">
            <a:avLst/>
          </a:prstGeom>
          <a:solidFill>
            <a:srgbClr val="C8962E"/>
          </a:solidFill>
          <a:ln/>
        </p:spPr>
        <p:txBody>
          <a:bodyPr/>
          <a:lstStyle/>
          <a:p>
            <a:endParaRPr lang="ko-KR" altLang="en-US"/>
          </a:p>
        </p:txBody>
      </p:sp>
      <p:sp>
        <p:nvSpPr>
          <p:cNvPr id="7" name="Text 5"/>
          <p:cNvSpPr/>
          <p:nvPr/>
        </p:nvSpPr>
        <p:spPr>
          <a:xfrm>
            <a:off x="685800" y="1068831"/>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실행 지연 반론 대응</a:t>
            </a:r>
            <a:endParaRPr lang="en-US" sz="1200" dirty="0"/>
          </a:p>
        </p:txBody>
      </p:sp>
      <p:sp>
        <p:nvSpPr>
          <p:cNvPr id="8" name="Text 6"/>
          <p:cNvSpPr/>
          <p:nvPr/>
        </p:nvSpPr>
        <p:spPr>
          <a:xfrm>
            <a:off x="685800" y="1379727"/>
            <a:ext cx="7818120" cy="1828800"/>
          </a:xfrm>
          <a:prstGeom prst="rect">
            <a:avLst/>
          </a:prstGeom>
          <a:noFill/>
          <a:ln/>
        </p:spPr>
        <p:txBody>
          <a:bodyPr wrap="square" lIns="0" tIns="0" rIns="0" bIns="0" rtlCol="0" anchor="t"/>
          <a:lstStyle/>
          <a:p>
            <a:pPr marL="0" indent="0">
              <a:lnSpc>
                <a:spcPct val="130000"/>
              </a:lnSpc>
              <a:buNone/>
            </a:pPr>
            <a:r>
              <a:rPr lang="en-US" sz="950" b="1" dirty="0">
                <a:solidFill>
                  <a:srgbClr val="2B2B2B"/>
                </a:solidFill>
                <a:latin typeface="맑은 고딕" pitchFamily="34" charset="0"/>
                <a:ea typeface="맑은 고딕" pitchFamily="34" charset="-122"/>
                <a:cs typeface="맑은 고딕" pitchFamily="34" charset="-120"/>
              </a:rPr>
              <a:t>상황: "좋은 건 알겠는데, 내년에 사업 확장 계획이 있어서... 내년 이맘때쯤 다시 검토해 봅시다."</a:t>
            </a:r>
            <a:endParaRPr lang="en-US" sz="1000" dirty="0"/>
          </a:p>
          <a:p>
            <a:pPr marL="0" indent="0">
              <a:lnSpc>
                <a:spcPct val="130000"/>
              </a:lnSpc>
              <a:buNone/>
            </a:pPr>
            <a:endParaRPr lang="en-US" sz="1000" dirty="0"/>
          </a:p>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응대법: "네, 대표님의 중요한 계획을 존중합니다. 다만 딱 두 가지만 참고로 말씀드리겠습니다. 첫째, 이 플랜은 1년이라도 일찍 시작할수록 복리 효과가 커져서, 내년에 시작하시면 같은 돈을 내고도 만기에 받는 금액이 줄어들게 됩니다. 둘째, 건강은 예측할 수 없어서, 만약 내년 검토 시점 전에 건강에 작은 이상이라도 생기면 이 좋은 조건으로는 다시 가입이 어려워질 수 있습니다. '시간'과 '건강'이라는 두 가지 기회비용을 고려하시어 현명한 결정 내리시길 바랍니다."</a:t>
            </a:r>
            <a:endParaRPr lang="en-US" sz="10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27 / 35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전문용어 설명</a:t>
            </a:r>
            <a:endParaRPr lang="en-US" sz="1400" dirty="0"/>
          </a:p>
        </p:txBody>
      </p:sp>
      <p:sp>
        <p:nvSpPr>
          <p:cNvPr id="6" name="Shape 4"/>
          <p:cNvSpPr/>
          <p:nvPr/>
        </p:nvSpPr>
        <p:spPr>
          <a:xfrm>
            <a:off x="457200" y="1142999"/>
            <a:ext cx="8229600" cy="98382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2999"/>
            <a:ext cx="54864" cy="983827"/>
          </a:xfrm>
          <a:prstGeom prst="rect">
            <a:avLst/>
          </a:prstGeom>
          <a:solidFill>
            <a:srgbClr val="C8962E"/>
          </a:solidFill>
          <a:ln/>
        </p:spPr>
        <p:txBody>
          <a:bodyPr/>
          <a:lstStyle/>
          <a:p>
            <a:endParaRPr lang="ko-KR" altLang="en-US"/>
          </a:p>
        </p:txBody>
      </p:sp>
      <p:sp>
        <p:nvSpPr>
          <p:cNvPr id="8" name="Text 6"/>
          <p:cNvSpPr/>
          <p:nvPr/>
        </p:nvSpPr>
        <p:spPr>
          <a:xfrm>
            <a:off x="685800" y="1290659"/>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미처분이익잉여금</a:t>
            </a:r>
            <a:endParaRPr lang="en-US" sz="1200" dirty="0"/>
          </a:p>
        </p:txBody>
      </p:sp>
      <p:sp>
        <p:nvSpPr>
          <p:cNvPr id="9" name="Text 7"/>
          <p:cNvSpPr/>
          <p:nvPr/>
        </p:nvSpPr>
        <p:spPr>
          <a:xfrm>
            <a:off x="685800" y="1583267"/>
            <a:ext cx="7818120" cy="50292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기업이 벌어들인 이익 중, 배당이나 투자 등으로 사용하지 않고 내부에 쌓아둔 자금. 이 금액이 과도하면 비상장주식 가치를 높여 상속세, 증여세 부담을 가중시키는 원인이 됩니다.</a:t>
            </a:r>
            <a:endParaRPr lang="en-US" sz="1000" dirty="0"/>
          </a:p>
        </p:txBody>
      </p:sp>
      <p:sp>
        <p:nvSpPr>
          <p:cNvPr id="10" name="Shape 8"/>
          <p:cNvSpPr/>
          <p:nvPr/>
        </p:nvSpPr>
        <p:spPr>
          <a:xfrm>
            <a:off x="457200" y="2260428"/>
            <a:ext cx="8229600" cy="98382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60428"/>
            <a:ext cx="54864" cy="983827"/>
          </a:xfrm>
          <a:prstGeom prst="rect">
            <a:avLst/>
          </a:prstGeom>
          <a:solidFill>
            <a:srgbClr val="C8962E"/>
          </a:solidFill>
          <a:ln/>
        </p:spPr>
        <p:txBody>
          <a:bodyPr/>
          <a:lstStyle/>
          <a:p>
            <a:endParaRPr lang="ko-KR" altLang="en-US"/>
          </a:p>
        </p:txBody>
      </p:sp>
      <p:sp>
        <p:nvSpPr>
          <p:cNvPr id="12" name="Text 10"/>
          <p:cNvSpPr/>
          <p:nvPr/>
        </p:nvSpPr>
        <p:spPr>
          <a:xfrm>
            <a:off x="685800" y="2408086"/>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가지급금</a:t>
            </a:r>
            <a:endParaRPr lang="en-US" sz="1200" dirty="0"/>
          </a:p>
        </p:txBody>
      </p:sp>
      <p:sp>
        <p:nvSpPr>
          <p:cNvPr id="13" name="Text 11"/>
          <p:cNvSpPr/>
          <p:nvPr/>
        </p:nvSpPr>
        <p:spPr>
          <a:xfrm>
            <a:off x="685800" y="2700694"/>
            <a:ext cx="7818120" cy="50292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실제 현금 지출은 있었으나 거래 내용이 불분명하거나 계정과목이 확정되지 않은 경우, 일시적으로 처리하는 가계정. 대표이사가 개인적으로 사용한 자금 등이 해당하며, 인정이자 발생 및 법인세 부담 증가 등 세무적으로 큰 불이익이 따릅니다.</a:t>
            </a:r>
            <a:endParaRPr lang="en-US" sz="1000" dirty="0"/>
          </a:p>
        </p:txBody>
      </p:sp>
      <p:sp>
        <p:nvSpPr>
          <p:cNvPr id="14" name="Shape 12"/>
          <p:cNvSpPr/>
          <p:nvPr/>
        </p:nvSpPr>
        <p:spPr>
          <a:xfrm>
            <a:off x="457200" y="3406140"/>
            <a:ext cx="822960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3406140"/>
            <a:ext cx="54864" cy="822960"/>
          </a:xfrm>
          <a:prstGeom prst="rect">
            <a:avLst/>
          </a:prstGeom>
          <a:solidFill>
            <a:srgbClr val="C8962E"/>
          </a:solidFill>
          <a:ln/>
        </p:spPr>
        <p:txBody>
          <a:bodyPr/>
          <a:lstStyle/>
          <a:p>
            <a:endParaRPr lang="ko-KR" altLang="en-US"/>
          </a:p>
        </p:txBody>
      </p:sp>
      <p:sp>
        <p:nvSpPr>
          <p:cNvPr id="16" name="Text 14"/>
          <p:cNvSpPr/>
          <p:nvPr/>
        </p:nvSpPr>
        <p:spPr>
          <a:xfrm>
            <a:off x="685800" y="3587665"/>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Key-Man 보험 (핵심인력 보험)</a:t>
            </a:r>
            <a:endParaRPr lang="en-US" sz="1200" dirty="0"/>
          </a:p>
        </p:txBody>
      </p:sp>
      <p:sp>
        <p:nvSpPr>
          <p:cNvPr id="17" name="Text 15"/>
          <p:cNvSpPr/>
          <p:nvPr/>
        </p:nvSpPr>
        <p:spPr>
          <a:xfrm>
            <a:off x="685800" y="3880273"/>
            <a:ext cx="7818120" cy="41148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CEO나 핵심 임원의 유고(사망, 질병 등) 시, 회사가 입게 될 경영 손실을 보전하기 위해 법인이 계약하고 보험료를 납부하는 보장성 보험.</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28 / 35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FAQ</a:t>
            </a:r>
            <a:endParaRPr lang="en-US" sz="1400" dirty="0"/>
          </a:p>
        </p:txBody>
      </p:sp>
      <p:sp>
        <p:nvSpPr>
          <p:cNvPr id="6" name="Shape 4"/>
          <p:cNvSpPr/>
          <p:nvPr/>
        </p:nvSpPr>
        <p:spPr>
          <a:xfrm>
            <a:off x="457200" y="114300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097280"/>
          </a:xfrm>
          <a:prstGeom prst="rect">
            <a:avLst/>
          </a:prstGeom>
          <a:solidFill>
            <a:srgbClr val="C8962E"/>
          </a:solidFill>
          <a:ln/>
        </p:spPr>
        <p:txBody>
          <a:bodyPr/>
          <a:lstStyle/>
          <a:p>
            <a:endParaRPr lang="ko-KR" altLang="en-US"/>
          </a:p>
        </p:txBody>
      </p:sp>
      <p:sp>
        <p:nvSpPr>
          <p:cNvPr id="8" name="Text 6"/>
          <p:cNvSpPr/>
          <p:nvPr/>
        </p:nvSpPr>
        <p:spPr>
          <a:xfrm>
            <a:off x="685800" y="1319447"/>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Q1. 과세당국에서 이 플랜을 문제 삼을 가능성은 없나요?</a:t>
            </a:r>
            <a:endParaRPr lang="en-US" sz="1200" dirty="0"/>
          </a:p>
        </p:txBody>
      </p:sp>
      <p:sp>
        <p:nvSpPr>
          <p:cNvPr id="9" name="Text 7"/>
          <p:cNvSpPr/>
          <p:nvPr/>
        </p:nvSpPr>
        <p:spPr>
          <a:xfrm>
            <a:off x="685800" y="1612055"/>
            <a:ext cx="7818120" cy="6858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A1. 모든 절차를 적법하게 진행한다면 문제될 가능성은 매우 낮습니다. 핵심은 ①적법한 주주총회 결의, ②합리적인 지급 배수 설정, 그리고 가장 중요한 ③정관 개정 후 근무기간부터 신설 규정을 적용하는 것입니다. 소급 적용의 유혹을 버리는 것이 가장 안전한 길입니다.</a:t>
            </a:r>
            <a:endParaRPr lang="en-US" sz="1000" dirty="0"/>
          </a:p>
        </p:txBody>
      </p:sp>
      <p:sp>
        <p:nvSpPr>
          <p:cNvPr id="10" name="Shape 8"/>
          <p:cNvSpPr/>
          <p:nvPr/>
        </p:nvSpPr>
        <p:spPr>
          <a:xfrm>
            <a:off x="457200" y="242316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423160"/>
            <a:ext cx="54864" cy="1188720"/>
          </a:xfrm>
          <a:prstGeom prst="rect">
            <a:avLst/>
          </a:prstGeom>
          <a:solidFill>
            <a:srgbClr val="C8962E"/>
          </a:solidFill>
          <a:ln/>
        </p:spPr>
        <p:txBody>
          <a:bodyPr/>
          <a:lstStyle/>
          <a:p>
            <a:endParaRPr lang="ko-KR" altLang="en-US"/>
          </a:p>
        </p:txBody>
      </p:sp>
      <p:sp>
        <p:nvSpPr>
          <p:cNvPr id="12" name="Text 10"/>
          <p:cNvSpPr/>
          <p:nvPr/>
        </p:nvSpPr>
        <p:spPr>
          <a:xfrm>
            <a:off x="685800" y="2569464"/>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Q2. 회사가 어려워져 중간에 보험료를 못 내게 되면 어떻게 되나요?</a:t>
            </a:r>
            <a:endParaRPr lang="en-US" sz="1200" dirty="0"/>
          </a:p>
        </p:txBody>
      </p:sp>
      <p:sp>
        <p:nvSpPr>
          <p:cNvPr id="13" name="Text 11"/>
          <p:cNvSpPr/>
          <p:nvPr/>
        </p:nvSpPr>
        <p:spPr>
          <a:xfrm>
            <a:off x="685800" y="2862072"/>
            <a:ext cx="7818120" cy="77724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A2. 일시적으로 유동성이 악화될 경우, '보험료 납입 일시중지'나 '감액' 기능을 활용하여 계약을 유지할 수 있습니다. 이는 장기 플랜의 현실성을 높여주는 중요한 안전장치입니다. 최악의 경우 계약을 해지하더라도, 그 시점까지 쌓인 해지환급금은 법인 자산으로 귀속되어 유동성 자금으로 활용할 수 있습니다.</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29 / 35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Shape 3"/>
          <p:cNvSpPr/>
          <p:nvPr/>
        </p:nvSpPr>
        <p:spPr>
          <a:xfrm>
            <a:off x="457200" y="68580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097280"/>
          </a:xfrm>
          <a:prstGeom prst="rect">
            <a:avLst/>
          </a:prstGeom>
          <a:solidFill>
            <a:srgbClr val="C8962E"/>
          </a:solidFill>
          <a:ln/>
        </p:spPr>
        <p:txBody>
          <a:bodyPr/>
          <a:lstStyle/>
          <a:p>
            <a:endParaRPr lang="ko-KR" altLang="en-US"/>
          </a:p>
        </p:txBody>
      </p:sp>
      <p:sp>
        <p:nvSpPr>
          <p:cNvPr id="7" name="Text 5"/>
          <p:cNvSpPr/>
          <p:nvPr/>
        </p:nvSpPr>
        <p:spPr>
          <a:xfrm>
            <a:off x="685800" y="877824"/>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Q3. 10년이 되기 전에 제가 갑자기 사망하면 어떻게 되나요?</a:t>
            </a:r>
            <a:endParaRPr lang="en-US" sz="1200" dirty="0"/>
          </a:p>
        </p:txBody>
      </p:sp>
      <p:sp>
        <p:nvSpPr>
          <p:cNvPr id="8" name="Text 6"/>
          <p:cNvSpPr/>
          <p:nvPr/>
        </p:nvSpPr>
        <p:spPr>
          <a:xfrm>
            <a:off x="685800" y="1170432"/>
            <a:ext cx="7818120" cy="6858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A3. 피보험자인 대표님께서 사망하실 경우, 약정한 사망보험금이 수익자인 법인에게 지급됩니다. 이 보험금은 대표님의 유족에게 지급할 위로금, 법인의 부채 상환, 긴급 운영자금 등으로 활용되어 갑작스러운 경영 공백 리스크를 막는 중요한 안전장치가 됩니다.</a:t>
            </a:r>
            <a:endParaRPr lang="en-US" sz="1000" dirty="0"/>
          </a:p>
        </p:txBody>
      </p:sp>
      <p:sp>
        <p:nvSpPr>
          <p:cNvPr id="9" name="Shape 7"/>
          <p:cNvSpPr/>
          <p:nvPr/>
        </p:nvSpPr>
        <p:spPr>
          <a:xfrm>
            <a:off x="457200" y="1965959"/>
            <a:ext cx="8229600" cy="119718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1965959"/>
            <a:ext cx="54864" cy="1197187"/>
          </a:xfrm>
          <a:prstGeom prst="rect">
            <a:avLst/>
          </a:prstGeom>
          <a:solidFill>
            <a:srgbClr val="C8962E"/>
          </a:solidFill>
          <a:ln/>
        </p:spPr>
        <p:txBody>
          <a:bodyPr/>
          <a:lstStyle/>
          <a:p>
            <a:endParaRPr lang="ko-KR" altLang="en-US"/>
          </a:p>
        </p:txBody>
      </p:sp>
      <p:sp>
        <p:nvSpPr>
          <p:cNvPr id="11" name="Text 9"/>
          <p:cNvSpPr/>
          <p:nvPr/>
        </p:nvSpPr>
        <p:spPr>
          <a:xfrm>
            <a:off x="685800" y="2113619"/>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Q4. 보험료는 전액 비용(손금)으로 인정받을 수 있나요?</a:t>
            </a:r>
            <a:endParaRPr lang="en-US" sz="1200" dirty="0"/>
          </a:p>
        </p:txBody>
      </p:sp>
      <p:sp>
        <p:nvSpPr>
          <p:cNvPr id="12" name="Text 10"/>
          <p:cNvSpPr/>
          <p:nvPr/>
        </p:nvSpPr>
        <p:spPr>
          <a:xfrm>
            <a:off x="685800" y="2406227"/>
            <a:ext cx="7818120" cy="68580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A4. 아닙니다. 상품의 성격에 따라 다릅니다. 일반적으로 만기환급금이 납입보험료를 초과하는 저축성 보험료는 자산으로 처리하며, 순수 보장성 보험료 부분만 비용으로 인정됩니다. 따라서 실제 법인세 절감 효과는 상품의 보장성/저축성 비율에 따라 달라지므로 가입 시 반드시 확인해야 합니다.</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30 / 35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관련 법규·출처</a:t>
            </a:r>
            <a:endParaRPr lang="en-US" sz="1400" dirty="0"/>
          </a:p>
        </p:txBody>
      </p:sp>
      <p:sp>
        <p:nvSpPr>
          <p:cNvPr id="6" name="Shape 4"/>
          <p:cNvSpPr/>
          <p:nvPr/>
        </p:nvSpPr>
        <p:spPr>
          <a:xfrm>
            <a:off x="457200" y="1143000"/>
            <a:ext cx="822960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371600"/>
          </a:xfrm>
          <a:prstGeom prst="rect">
            <a:avLst/>
          </a:prstGeom>
          <a:solidFill>
            <a:srgbClr val="C8962E"/>
          </a:solidFill>
          <a:ln/>
        </p:spPr>
        <p:txBody>
          <a:bodyPr/>
          <a:lstStyle/>
          <a:p>
            <a:endParaRPr lang="ko-KR" altLang="en-US"/>
          </a:p>
        </p:txBody>
      </p:sp>
      <p:sp>
        <p:nvSpPr>
          <p:cNvPr id="8" name="Text 6"/>
          <p:cNvSpPr/>
          <p:nvPr/>
        </p:nvSpPr>
        <p:spPr>
          <a:xfrm>
            <a:off x="685800" y="1317667"/>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임원 퇴직금의 손금 산입 한도</a:t>
            </a:r>
            <a:endParaRPr lang="en-US" sz="1200" dirty="0"/>
          </a:p>
        </p:txBody>
      </p:sp>
      <p:sp>
        <p:nvSpPr>
          <p:cNvPr id="9" name="Text 7"/>
          <p:cNvSpPr/>
          <p:nvPr/>
        </p:nvSpPr>
        <p:spPr>
          <a:xfrm>
            <a:off x="685800" y="1610275"/>
            <a:ext cx="7818120" cy="960120"/>
          </a:xfrm>
          <a:prstGeom prst="rect">
            <a:avLst/>
          </a:prstGeom>
          <a:noFill/>
          <a:ln/>
        </p:spPr>
        <p:txBody>
          <a:bodyPr wrap="square" lIns="0" tIns="0" rIns="0" bIns="0" rtlCol="0" anchor="t"/>
          <a:lstStyle/>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근거: 법인세법 시행령 제44조 (퇴직급여의 손금불산입)</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내용: 정관 등 규정에 의해 지급하는 퇴직금은 손금 인정. 단, 임원 퇴직금 지급 규정을 새로 만들거나 개정하는 경우, 해당 규정의 설정 또는 개정 시점 이후 근무 기간에 대해서만 적용된다는 점을 명확히 인지해야 합니다. (2020.2.11. 개정사항)</a:t>
            </a:r>
            <a:endParaRPr lang="en-US" sz="1000" dirty="0"/>
          </a:p>
        </p:txBody>
      </p:sp>
      <p:sp>
        <p:nvSpPr>
          <p:cNvPr id="10" name="Shape 8"/>
          <p:cNvSpPr/>
          <p:nvPr/>
        </p:nvSpPr>
        <p:spPr>
          <a:xfrm>
            <a:off x="457200" y="2697480"/>
            <a:ext cx="8229600" cy="14630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697480"/>
            <a:ext cx="54864" cy="1463040"/>
          </a:xfrm>
          <a:prstGeom prst="rect">
            <a:avLst/>
          </a:prstGeom>
          <a:solidFill>
            <a:srgbClr val="C8962E"/>
          </a:solidFill>
          <a:ln/>
        </p:spPr>
        <p:txBody>
          <a:bodyPr/>
          <a:lstStyle/>
          <a:p>
            <a:endParaRPr lang="ko-KR" altLang="en-US"/>
          </a:p>
        </p:txBody>
      </p:sp>
      <p:sp>
        <p:nvSpPr>
          <p:cNvPr id="12" name="Text 10"/>
          <p:cNvSpPr/>
          <p:nvPr/>
        </p:nvSpPr>
        <p:spPr>
          <a:xfrm>
            <a:off x="685800" y="2863003"/>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퇴직소득의 구분과 과세</a:t>
            </a:r>
            <a:endParaRPr lang="en-US" sz="1200" dirty="0"/>
          </a:p>
        </p:txBody>
      </p:sp>
      <p:sp>
        <p:nvSpPr>
          <p:cNvPr id="13" name="Text 11"/>
          <p:cNvSpPr/>
          <p:nvPr/>
        </p:nvSpPr>
        <p:spPr>
          <a:xfrm>
            <a:off x="685800" y="3155611"/>
            <a:ext cx="7818120" cy="1051560"/>
          </a:xfrm>
          <a:prstGeom prst="rect">
            <a:avLst/>
          </a:prstGeom>
          <a:noFill/>
          <a:ln/>
        </p:spPr>
        <p:txBody>
          <a:bodyPr wrap="square" lIns="0" tIns="0" rIns="0" bIns="0" rtlCol="0" anchor="t"/>
          <a:lstStyle/>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근거: 소득세법 제22조 (퇴직소득) 및 제146조 (퇴직소득에 대한 원천징수시기와 방법)</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내용: 현실적인 퇴직을 원인으로 지급받는 소득은 퇴직소득으로 분류됩니다. 퇴직소득은 다른 종합소득과 합산하지 않고 '분류과세'하며, 근속연수 공제 등 다양한 공제 혜택이 있어 실효세율이 매우 낮다. 이는 CEO가 합법적으로 세금을 절약하며 은퇴 자금을 수령할 수 있는 핵심적인 법적 근거가 된다.</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31 / 35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Text 3"/>
          <p:cNvSpPr/>
          <p:nvPr/>
        </p:nvSpPr>
        <p:spPr>
          <a:xfrm>
            <a:off x="457200" y="685800"/>
            <a:ext cx="8229600" cy="365760"/>
          </a:xfrm>
          <a:prstGeom prst="rect">
            <a:avLst/>
          </a:prstGeom>
          <a:noFill/>
          <a:ln/>
        </p:spPr>
        <p:txBody>
          <a:bodyPr wrap="square" lIns="0" tIns="0" rIns="0" bIns="0"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실행을 위한 실무 체크리스트</a:t>
            </a:r>
            <a:endParaRPr lang="en-US" sz="1400" dirty="0"/>
          </a:p>
        </p:txBody>
      </p:sp>
      <p:sp>
        <p:nvSpPr>
          <p:cNvPr id="6" name="Shape 4"/>
          <p:cNvSpPr/>
          <p:nvPr/>
        </p:nvSpPr>
        <p:spPr>
          <a:xfrm>
            <a:off x="457200" y="1051560"/>
            <a:ext cx="8229600" cy="1920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51560"/>
            <a:ext cx="54864" cy="1920240"/>
          </a:xfrm>
          <a:prstGeom prst="rect">
            <a:avLst/>
          </a:prstGeom>
          <a:solidFill>
            <a:srgbClr val="3B5BDB"/>
          </a:solidFill>
          <a:ln/>
        </p:spPr>
        <p:txBody>
          <a:bodyPr/>
          <a:lstStyle/>
          <a:p>
            <a:endParaRPr lang="ko-KR" altLang="en-US"/>
          </a:p>
        </p:txBody>
      </p:sp>
      <p:sp>
        <p:nvSpPr>
          <p:cNvPr id="8" name="Text 6"/>
          <p:cNvSpPr/>
          <p:nvPr/>
        </p:nvSpPr>
        <p:spPr>
          <a:xfrm>
            <a:off x="685800" y="12161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1. 정관/규정 샘플 조항 (핵심)</a:t>
            </a:r>
            <a:endParaRPr lang="en-US" sz="1200" dirty="0"/>
          </a:p>
        </p:txBody>
      </p:sp>
      <p:sp>
        <p:nvSpPr>
          <p:cNvPr id="9" name="Text 7"/>
          <p:cNvSpPr/>
          <p:nvPr/>
        </p:nvSpPr>
        <p:spPr>
          <a:xfrm>
            <a:off x="685800" y="1554480"/>
            <a:ext cx="7818120" cy="1371600"/>
          </a:xfrm>
          <a:prstGeom prst="rect">
            <a:avLst/>
          </a:prstGeom>
          <a:noFill/>
          <a:ln/>
        </p:spPr>
        <p:txBody>
          <a:bodyPr wrap="square" lIns="0" tIns="0" rIns="0" bIns="0" rtlCol="0" anchor="t"/>
          <a:lstStyle/>
          <a:p>
            <a:pPr marL="0" indent="0">
              <a:buNone/>
            </a:pPr>
            <a:r>
              <a:rPr lang="en-US" sz="900" b="1" dirty="0">
                <a:solidFill>
                  <a:srgbClr val="2B2B2B"/>
                </a:solidFill>
                <a:latin typeface="맑은 고딕" pitchFamily="34" charset="0"/>
                <a:ea typeface="맑은 고딕" pitchFamily="34" charset="-122"/>
                <a:cs typeface="맑은 고딕" pitchFamily="34" charset="-120"/>
              </a:rPr>
              <a:t>제○조(임원 퇴직금)</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① 산식: 퇴직금 = [퇴직 전 3년 평균 월보수] × [근속연수] × [지급배수]</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② 지급배수는 2.5배로 한다.</a:t>
            </a:r>
            <a:endParaRPr lang="en-US" sz="900" dirty="0"/>
          </a:p>
          <a:p>
            <a:pPr marL="0" indent="0">
              <a:buNone/>
            </a:pPr>
            <a:r>
              <a:rPr lang="en-US" sz="900" b="1" dirty="0">
                <a:solidFill>
                  <a:srgbClr val="2B2B2B"/>
                </a:solidFill>
                <a:latin typeface="맑은 고딕" pitchFamily="34" charset="0"/>
                <a:ea typeface="맑은 고딕" pitchFamily="34" charset="-122"/>
                <a:cs typeface="맑은 고딕" pitchFamily="34" charset="-120"/>
              </a:rPr>
              <a:t>③ 본 조는 개정 이후의 근무기간에 한하여 적용한다. (소급적용 금지)</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④ 용어 정의</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   1. '월보수'는 급여, 상여 중 정기·계속적 지급분을 포함하며, 비과세성 복리후생비는 제외한다.</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   2. '근속연수'는 재임기간(월 단위) 합을 12로 나눈 값으로 한다(월할 적용).</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⑤ 퇴직 사유(사임, 해임, 정년 등)를 불문하고 본 산식을 적용하되,</a:t>
            </a:r>
            <a:endParaRPr lang="en-US" sz="900" dirty="0"/>
          </a:p>
          <a:p>
            <a:pPr marL="0" indent="0">
              <a:buNone/>
            </a:pPr>
            <a:r>
              <a:rPr lang="en-US" sz="900" dirty="0">
                <a:solidFill>
                  <a:srgbClr val="2B2B2B"/>
                </a:solidFill>
                <a:latin typeface="맑은 고딕" pitchFamily="34" charset="0"/>
                <a:ea typeface="맑은 고딕" pitchFamily="34" charset="-122"/>
                <a:cs typeface="맑은 고딕" pitchFamily="34" charset="-120"/>
              </a:rPr>
              <a:t>   고의·중대한 과실, 배임 등 회사가 정한 제한사유 발생 시 이사회 의결로 감액 가능하다.</a:t>
            </a:r>
            <a:endParaRPr lang="en-US" sz="900" dirty="0"/>
          </a:p>
        </p:txBody>
      </p:sp>
      <p:sp>
        <p:nvSpPr>
          <p:cNvPr id="10" name="Shape 8"/>
          <p:cNvSpPr/>
          <p:nvPr/>
        </p:nvSpPr>
        <p:spPr>
          <a:xfrm>
            <a:off x="457200" y="3154679"/>
            <a:ext cx="8229600" cy="145118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3154679"/>
            <a:ext cx="54864" cy="1451187"/>
          </a:xfrm>
          <a:prstGeom prst="rect">
            <a:avLst/>
          </a:prstGeom>
          <a:solidFill>
            <a:srgbClr val="3B5BDB"/>
          </a:solidFill>
          <a:ln/>
        </p:spPr>
        <p:txBody>
          <a:bodyPr/>
          <a:lstStyle/>
          <a:p>
            <a:endParaRPr lang="ko-KR" altLang="en-US"/>
          </a:p>
        </p:txBody>
      </p:sp>
      <p:sp>
        <p:nvSpPr>
          <p:cNvPr id="12" name="Text 10"/>
          <p:cNvSpPr/>
          <p:nvPr/>
        </p:nvSpPr>
        <p:spPr>
          <a:xfrm>
            <a:off x="685800" y="3261697"/>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2. 회계처리 메모 (세무조사 대비)</a:t>
            </a:r>
            <a:endParaRPr lang="en-US" sz="1200" dirty="0"/>
          </a:p>
        </p:txBody>
      </p:sp>
      <p:sp>
        <p:nvSpPr>
          <p:cNvPr id="13" name="Text 11"/>
          <p:cNvSpPr/>
          <p:nvPr/>
        </p:nvSpPr>
        <p:spPr>
          <a:xfrm>
            <a:off x="685800" y="3554305"/>
            <a:ext cx="7818120" cy="960120"/>
          </a:xfrm>
          <a:prstGeom prst="rect">
            <a:avLst/>
          </a:prstGeom>
          <a:noFill/>
          <a:ln/>
        </p:spPr>
        <p:txBody>
          <a:bodyPr wrap="square" lIns="0" tIns="0" rIns="0" bIns="0" rtlCol="0" anchor="t"/>
          <a:lstStyle/>
          <a:p>
            <a:pPr marL="342900" indent="-342900">
              <a:lnSpc>
                <a:spcPct val="130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납입 시(저축성): 보험적립금(자산) Dr / 보통예금 Cr</a:t>
            </a:r>
            <a:endParaRPr lang="en-US" sz="1000" dirty="0"/>
          </a:p>
          <a:p>
            <a:pPr marL="342900" indent="-342900">
              <a:lnSpc>
                <a:spcPct val="130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납입 시(보장성): 보험료(판관비) Dr / 보통예금 Cr</a:t>
            </a:r>
            <a:endParaRPr lang="en-US" sz="1000" dirty="0"/>
          </a:p>
          <a:p>
            <a:pPr marL="342900" indent="-342900">
              <a:lnSpc>
                <a:spcPct val="130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보장/저축 구분 기준: 약관·상품설명서의 사업방법서상 분해비율 인용(첨부)</a:t>
            </a:r>
            <a:endParaRPr lang="en-US" sz="1000" dirty="0"/>
          </a:p>
          <a:p>
            <a:pPr marL="342900" indent="-342900">
              <a:lnSpc>
                <a:spcPct val="130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손금 산입 판단 근거: 보장부문만 손금, 저축부문은 자산 계상(연말 세무조정 표기)</a:t>
            </a:r>
            <a:endParaRPr lang="en-US" sz="1000" dirty="0"/>
          </a:p>
          <a:p>
            <a:pPr marL="342900" indent="-342900">
              <a:lnSpc>
                <a:spcPct val="130000"/>
              </a:lnSpc>
              <a:buSzPct val="100000"/>
              <a:buChar char="•"/>
            </a:pPr>
            <a:r>
              <a:rPr lang="en-US" sz="900" dirty="0">
                <a:solidFill>
                  <a:srgbClr val="2B2B2B"/>
                </a:solidFill>
                <a:latin typeface="맑은 고딕" pitchFamily="34" charset="0"/>
                <a:ea typeface="맑은 고딕" pitchFamily="34" charset="-122"/>
                <a:cs typeface="맑은 고딕" pitchFamily="34" charset="-120"/>
              </a:rPr>
              <a:t>증빙: 약관, 상품설명서, 설계서, 이사회/주총 의사록, 정관 사본 등 첨부</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32 / 35</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Shape 3"/>
          <p:cNvSpPr/>
          <p:nvPr/>
        </p:nvSpPr>
        <p:spPr>
          <a:xfrm>
            <a:off x="457200" y="685800"/>
            <a:ext cx="8229600" cy="1752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752600"/>
          </a:xfrm>
          <a:prstGeom prst="rect">
            <a:avLst/>
          </a:prstGeom>
          <a:solidFill>
            <a:srgbClr val="3B5BDB"/>
          </a:solidFill>
          <a:ln/>
        </p:spPr>
        <p:txBody>
          <a:bodyPr/>
          <a:lstStyle/>
          <a:p>
            <a:endParaRPr lang="ko-KR" altLang="en-US"/>
          </a:p>
        </p:txBody>
      </p:sp>
      <p:sp>
        <p:nvSpPr>
          <p:cNvPr id="7" name="Text 5"/>
          <p:cNvSpPr/>
          <p:nvPr/>
        </p:nvSpPr>
        <p:spPr>
          <a:xfrm>
            <a:off x="685800" y="856659"/>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3. 의사록 필수 포함 사항</a:t>
            </a:r>
            <a:endParaRPr lang="en-US" sz="1200" dirty="0"/>
          </a:p>
        </p:txBody>
      </p:sp>
      <p:sp>
        <p:nvSpPr>
          <p:cNvPr id="8" name="Text 6"/>
          <p:cNvSpPr/>
          <p:nvPr/>
        </p:nvSpPr>
        <p:spPr>
          <a:xfrm>
            <a:off x="685800" y="1149267"/>
            <a:ext cx="7818120" cy="960120"/>
          </a:xfrm>
          <a:prstGeom prst="rect">
            <a:avLst/>
          </a:prstGeom>
          <a:noFill/>
          <a:ln/>
        </p:spPr>
        <p:txBody>
          <a:bodyPr wrap="square" lIns="0" tIns="0" rIns="0" bIns="0" rtlCol="0" anchor="t"/>
          <a:lstStyle/>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배수·산식 명시(월보수·근속연수 정의 포함)</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적용 시점: "개정 이후 근무기간부터"</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보험 가입 승인: 목적, 연납액, 납입기간, 주요 담보</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수익자 지정: 법인(필수)</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계약 변경 권한: 이사회 승인 범위(감액/일시중지/해지)</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의결 정족수 및 공증 여부 명기</a:t>
            </a:r>
            <a:endParaRPr lang="en-US" sz="1000" dirty="0"/>
          </a:p>
        </p:txBody>
      </p:sp>
      <p:sp>
        <p:nvSpPr>
          <p:cNvPr id="9" name="Shape 7"/>
          <p:cNvSpPr/>
          <p:nvPr/>
        </p:nvSpPr>
        <p:spPr>
          <a:xfrm>
            <a:off x="457200" y="2577169"/>
            <a:ext cx="8229600" cy="131749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577169"/>
            <a:ext cx="54864" cy="1317498"/>
          </a:xfrm>
          <a:prstGeom prst="rect">
            <a:avLst/>
          </a:prstGeom>
          <a:solidFill>
            <a:srgbClr val="3B5BDB"/>
          </a:solidFill>
          <a:ln/>
        </p:spPr>
        <p:txBody>
          <a:bodyPr/>
          <a:lstStyle/>
          <a:p>
            <a:endParaRPr lang="ko-KR" altLang="en-US"/>
          </a:p>
        </p:txBody>
      </p:sp>
      <p:sp>
        <p:nvSpPr>
          <p:cNvPr id="11" name="Text 9"/>
          <p:cNvSpPr/>
          <p:nvPr/>
        </p:nvSpPr>
        <p:spPr>
          <a:xfrm>
            <a:off x="685800" y="2745147"/>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4. 보험 계약 유연성 확인사항</a:t>
            </a:r>
            <a:endParaRPr lang="en-US" sz="1200" dirty="0"/>
          </a:p>
        </p:txBody>
      </p:sp>
      <p:sp>
        <p:nvSpPr>
          <p:cNvPr id="12" name="Text 10"/>
          <p:cNvSpPr/>
          <p:nvPr/>
        </p:nvSpPr>
        <p:spPr>
          <a:xfrm>
            <a:off x="685800" y="3037755"/>
            <a:ext cx="7818120" cy="685800"/>
          </a:xfrm>
          <a:prstGeom prst="rect">
            <a:avLst/>
          </a:prstGeom>
          <a:noFill/>
          <a:ln/>
        </p:spPr>
        <p:txBody>
          <a:bodyPr wrap="square" lIns="0" tIns="0" rIns="0" bIns="0" rtlCol="0" anchor="t"/>
          <a:lstStyle/>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납입 유예/감액 가능 여부 및 최대 기간</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중도 인출/담보대출 가능 여부 및 한도</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해지환급 구조(사업비 구간, 공시이율/가산이율)</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계약자/수익자 변경 제한 및 내부 승인 절차</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33 / 35</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Shape 3"/>
          <p:cNvSpPr/>
          <p:nvPr/>
        </p:nvSpPr>
        <p:spPr>
          <a:xfrm>
            <a:off x="457200" y="68580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645920"/>
          </a:xfrm>
          <a:prstGeom prst="rect">
            <a:avLst/>
          </a:prstGeom>
          <a:solidFill>
            <a:srgbClr val="3B5BDB"/>
          </a:solidFill>
          <a:ln/>
        </p:spPr>
        <p:txBody>
          <a:bodyPr/>
          <a:lstStyle/>
          <a:p>
            <a:endParaRPr lang="ko-KR" altLang="en-US"/>
          </a:p>
        </p:txBody>
      </p:sp>
      <p:sp>
        <p:nvSpPr>
          <p:cNvPr id="7" name="Text 5"/>
          <p:cNvSpPr/>
          <p:nvPr/>
        </p:nvSpPr>
        <p:spPr>
          <a:xfrm>
            <a:off x="685800" y="758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5. 세후 실효세율 참고표 (근속 27년 가정)</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583394821"/>
              </p:ext>
            </p:extLst>
          </p:nvPr>
        </p:nvGraphicFramePr>
        <p:xfrm>
          <a:off x="457200" y="1097280"/>
          <a:ext cx="8229600" cy="1389888"/>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4747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퇴직금(추정)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실효세율(범위)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추정 세액(범위)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5.9억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14~16%</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0.83~0.95억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7.5억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17~19%</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1.28~1.43억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8.1억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18~20%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1.46~1.62억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2522898"/>
            <a:ext cx="7818120" cy="182880"/>
          </a:xfrm>
          <a:prstGeom prst="rect">
            <a:avLst/>
          </a:prstGeom>
          <a:noFill/>
          <a:ln/>
        </p:spPr>
        <p:txBody>
          <a:bodyPr wrap="square" lIns="0" tIns="0" rIns="0" bIns="0" rtlCol="0" anchor="ctr"/>
          <a:lstStyle/>
          <a:p>
            <a:pPr marL="0" indent="0">
              <a:buNone/>
            </a:pPr>
            <a:r>
              <a:rPr lang="en-US" sz="800" i="1" dirty="0">
                <a:solidFill>
                  <a:srgbClr val="4A5568"/>
                </a:solidFill>
                <a:latin typeface="맑은 고딕" pitchFamily="34" charset="0"/>
                <a:ea typeface="맑은 고딕" pitchFamily="34" charset="-122"/>
                <a:cs typeface="맑은 고딕" pitchFamily="34" charset="-120"/>
              </a:rPr>
              <a:t>※ 근속연수공제, 환산급여 적용 후 추정치 (지자체세 포함)</a:t>
            </a:r>
            <a:endParaRPr lang="en-US" sz="800" dirty="0"/>
          </a:p>
        </p:txBody>
      </p:sp>
      <p:sp>
        <p:nvSpPr>
          <p:cNvPr id="10" name="Shape 7"/>
          <p:cNvSpPr/>
          <p:nvPr/>
        </p:nvSpPr>
        <p:spPr>
          <a:xfrm>
            <a:off x="457200" y="2924388"/>
            <a:ext cx="8229600" cy="1325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8"/>
          <p:cNvSpPr/>
          <p:nvPr/>
        </p:nvSpPr>
        <p:spPr>
          <a:xfrm>
            <a:off x="457200" y="2924388"/>
            <a:ext cx="54864" cy="1325880"/>
          </a:xfrm>
          <a:prstGeom prst="rect">
            <a:avLst/>
          </a:prstGeom>
          <a:solidFill>
            <a:srgbClr val="D4382C"/>
          </a:solidFill>
          <a:ln/>
        </p:spPr>
        <p:txBody>
          <a:bodyPr/>
          <a:lstStyle/>
          <a:p>
            <a:endParaRPr lang="ko-KR" altLang="en-US"/>
          </a:p>
        </p:txBody>
      </p:sp>
      <p:sp>
        <p:nvSpPr>
          <p:cNvPr id="12" name="Text 9"/>
          <p:cNvSpPr/>
          <p:nvPr/>
        </p:nvSpPr>
        <p:spPr>
          <a:xfrm>
            <a:off x="685800" y="3044952"/>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6. 리스크 고지</a:t>
            </a:r>
            <a:endParaRPr lang="en-US" sz="1200" dirty="0"/>
          </a:p>
        </p:txBody>
      </p:sp>
      <p:sp>
        <p:nvSpPr>
          <p:cNvPr id="13" name="Text 10"/>
          <p:cNvSpPr/>
          <p:nvPr/>
        </p:nvSpPr>
        <p:spPr>
          <a:xfrm>
            <a:off x="685800" y="3337560"/>
            <a:ext cx="7818120" cy="685800"/>
          </a:xfrm>
          <a:prstGeom prst="rect">
            <a:avLst/>
          </a:prstGeom>
          <a:noFill/>
          <a:ln/>
        </p:spPr>
        <p:txBody>
          <a:bodyPr wrap="square" lIns="0" tIns="0" rIns="0" bIns="0" rtlCol="0" anchor="t"/>
          <a:lstStyle/>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공시이율·사업비 변동에 따라 환급금이 달라질 수 있음</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초기 기간 해지환급률 저조로 원금 손실 가능</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유지 실패/감액 시 목표 환급금 하회 가능</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회계·세법 개정 시 비용/자산 분류 및 과세 영향 변동 가능</a:t>
            </a:r>
            <a:endParaRPr lang="en-US" sz="1000" dirty="0"/>
          </a:p>
        </p:txBody>
      </p:sp>
      <p:sp>
        <p:nvSpPr>
          <p:cNvPr id="14"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5"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34 / 35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35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부록 (Appendix)</a:t>
            </a:r>
            <a:endParaRPr lang="en-US" sz="1600" dirty="0"/>
          </a:p>
        </p:txBody>
      </p:sp>
      <p:sp>
        <p:nvSpPr>
          <p:cNvPr id="5" name="Shape 3"/>
          <p:cNvSpPr/>
          <p:nvPr/>
        </p:nvSpPr>
        <p:spPr>
          <a:xfrm>
            <a:off x="457200" y="685800"/>
            <a:ext cx="8229600" cy="122986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229868"/>
          </a:xfrm>
          <a:prstGeom prst="rect">
            <a:avLst/>
          </a:prstGeom>
          <a:solidFill>
            <a:srgbClr val="3B5BDB"/>
          </a:solidFill>
          <a:ln/>
        </p:spPr>
        <p:txBody>
          <a:bodyPr/>
          <a:lstStyle/>
          <a:p>
            <a:endParaRPr lang="ko-KR" altLang="en-US"/>
          </a:p>
        </p:txBody>
      </p:sp>
      <p:sp>
        <p:nvSpPr>
          <p:cNvPr id="7" name="Text 5"/>
          <p:cNvSpPr/>
          <p:nvPr/>
        </p:nvSpPr>
        <p:spPr>
          <a:xfrm>
            <a:off x="685800" y="792817"/>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7. 증빙 패키지 권장 보관목록</a:t>
            </a:r>
            <a:endParaRPr lang="en-US" sz="1200" dirty="0"/>
          </a:p>
        </p:txBody>
      </p:sp>
      <p:sp>
        <p:nvSpPr>
          <p:cNvPr id="8" name="Text 6"/>
          <p:cNvSpPr/>
          <p:nvPr/>
        </p:nvSpPr>
        <p:spPr>
          <a:xfrm>
            <a:off x="685800" y="1085425"/>
            <a:ext cx="7818120" cy="685800"/>
          </a:xfrm>
          <a:prstGeom prst="rect">
            <a:avLst/>
          </a:prstGeom>
          <a:noFill/>
          <a:ln/>
        </p:spPr>
        <p:txBody>
          <a:bodyPr wrap="square" lIns="0" tIns="0" rIns="0" bIns="0" rtlCol="0" anchor="t"/>
          <a:lstStyle/>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정관(개정본), 임원퇴직급여규정, 주총·이사회 의사록</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상품설명서, 약관, 사업방법서 요약, 2~3개사 설계서 비교</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회계정책 메모, 세무사 검토 의견(이메일 포함)</a:t>
            </a:r>
            <a:endParaRPr lang="en-US" sz="1000" dirty="0"/>
          </a:p>
          <a:p>
            <a:pPr marL="342900" indent="-342900">
              <a:lnSpc>
                <a:spcPct val="13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연간 리밸런싱 리포트(유지율·적립률·환급예상치)</a:t>
            </a:r>
            <a:endParaRPr lang="en-US" sz="1000" dirty="0"/>
          </a:p>
        </p:txBody>
      </p:sp>
      <p:sp>
        <p:nvSpPr>
          <p:cNvPr id="9" name="Shape 7"/>
          <p:cNvSpPr/>
          <p:nvPr/>
        </p:nvSpPr>
        <p:spPr>
          <a:xfrm>
            <a:off x="457200" y="2065188"/>
            <a:ext cx="8229600" cy="87612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065188"/>
            <a:ext cx="54864" cy="876127"/>
          </a:xfrm>
          <a:prstGeom prst="rect">
            <a:avLst/>
          </a:prstGeom>
          <a:solidFill>
            <a:srgbClr val="C8962E"/>
          </a:solidFill>
          <a:ln/>
        </p:spPr>
        <p:txBody>
          <a:bodyPr/>
          <a:lstStyle/>
          <a:p>
            <a:endParaRPr lang="ko-KR" altLang="en-US"/>
          </a:p>
        </p:txBody>
      </p:sp>
      <p:sp>
        <p:nvSpPr>
          <p:cNvPr id="11" name="Text 9"/>
          <p:cNvSpPr/>
          <p:nvPr/>
        </p:nvSpPr>
        <p:spPr>
          <a:xfrm>
            <a:off x="685800" y="2172206"/>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8. 퇴직금 누적 예측 시뮬레이터</a:t>
            </a:r>
            <a:endParaRPr lang="en-US" sz="1200" dirty="0"/>
          </a:p>
        </p:txBody>
      </p:sp>
      <p:sp>
        <p:nvSpPr>
          <p:cNvPr id="12" name="Text 10"/>
          <p:cNvSpPr/>
          <p:nvPr/>
        </p:nvSpPr>
        <p:spPr>
          <a:xfrm>
            <a:off x="685800" y="2464814"/>
            <a:ext cx="7818120" cy="320040"/>
          </a:xfrm>
          <a:prstGeom prst="rect">
            <a:avLst/>
          </a:prstGeom>
          <a:noFill/>
          <a:ln/>
        </p:spPr>
        <p:txBody>
          <a:bodyPr wrap="square" lIns="0" tIns="0" rIns="0" bIns="0" rtlCol="0" anchor="t"/>
          <a:lstStyle/>
          <a:p>
            <a:pPr marL="0" indent="0">
              <a:lnSpc>
                <a:spcPct val="130000"/>
              </a:lnSpc>
              <a:buNone/>
            </a:pPr>
            <a:r>
              <a:rPr lang="en-US" sz="1000" dirty="0">
                <a:solidFill>
                  <a:srgbClr val="4A5568"/>
                </a:solidFill>
                <a:latin typeface="맑은 고딕" pitchFamily="34" charset="0"/>
                <a:ea typeface="맑은 고딕" pitchFamily="34" charset="-122"/>
                <a:cs typeface="맑은 고딕" pitchFamily="34" charset="-120"/>
              </a:rPr>
              <a:t>※ </a:t>
            </a:r>
            <a:r>
              <a:rPr lang="en-US" sz="1000" i="1" dirty="0">
                <a:solidFill>
                  <a:srgbClr val="4A5568"/>
                </a:solidFill>
                <a:latin typeface="맑은 고딕" pitchFamily="34" charset="0"/>
                <a:ea typeface="맑은 고딕" pitchFamily="34" charset="-122"/>
                <a:cs typeface="맑은 고딕" pitchFamily="34" charset="-120"/>
              </a:rPr>
              <a:t>원본 HTML 인터랙티브 </a:t>
            </a:r>
            <a:r>
              <a:rPr lang="en-US" sz="1000" i="1" dirty="0" err="1">
                <a:solidFill>
                  <a:srgbClr val="4A5568"/>
                </a:solidFill>
                <a:latin typeface="맑은 고딕" pitchFamily="34" charset="0"/>
                <a:ea typeface="맑은 고딕" pitchFamily="34" charset="-122"/>
                <a:cs typeface="맑은 고딕" pitchFamily="34" charset="-120"/>
              </a:rPr>
              <a:t>계산기</a:t>
            </a:r>
            <a:r>
              <a:rPr lang="en-US" sz="1000" i="1" dirty="0">
                <a:solidFill>
                  <a:srgbClr val="4A5568"/>
                </a:solidFill>
                <a:latin typeface="맑은 고딕" pitchFamily="34" charset="0"/>
                <a:ea typeface="맑은 고딕" pitchFamily="34" charset="-122"/>
                <a:cs typeface="맑은 고딕" pitchFamily="34" charset="-120"/>
              </a:rPr>
              <a:t> 활</a:t>
            </a:r>
            <a:r>
              <a:rPr lang="ko-KR" altLang="en-US" sz="1000" i="1" dirty="0">
                <a:solidFill>
                  <a:srgbClr val="4A5568"/>
                </a:solidFill>
                <a:latin typeface="맑은 고딕" pitchFamily="34" charset="0"/>
                <a:ea typeface="맑은 고딕" pitchFamily="34" charset="-122"/>
                <a:cs typeface="맑은 고딕" pitchFamily="34" charset="-120"/>
              </a:rPr>
              <a:t>용</a:t>
            </a:r>
            <a:endParaRPr lang="en-US" altLang="ko-KR" sz="1000" i="1" dirty="0">
              <a:solidFill>
                <a:srgbClr val="4A5568"/>
              </a:solidFill>
              <a:latin typeface="맑은 고딕" pitchFamily="34" charset="0"/>
              <a:ea typeface="맑은 고딕" pitchFamily="34" charset="-122"/>
              <a:cs typeface="맑은 고딕" pitchFamily="34" charset="-120"/>
            </a:endParaRPr>
          </a:p>
          <a:p>
            <a:pPr marL="0" indent="0">
              <a:lnSpc>
                <a:spcPct val="130000"/>
              </a:lnSpc>
              <a:buNone/>
            </a:pPr>
            <a:r>
              <a:rPr lang="en-US" sz="950" dirty="0" err="1">
                <a:solidFill>
                  <a:srgbClr val="2B2B2B"/>
                </a:solidFill>
                <a:latin typeface="맑은 고딕" pitchFamily="34" charset="0"/>
                <a:ea typeface="맑은 고딕" pitchFamily="34" charset="-122"/>
                <a:cs typeface="맑은 고딕" pitchFamily="34" charset="-120"/>
              </a:rPr>
              <a:t>현재</a:t>
            </a:r>
            <a:r>
              <a:rPr lang="en-US" sz="950" dirty="0">
                <a:solidFill>
                  <a:srgbClr val="2B2B2B"/>
                </a:solidFill>
                <a:latin typeface="맑은 고딕" pitchFamily="34" charset="0"/>
                <a:ea typeface="맑은 고딕" pitchFamily="34" charset="-122"/>
                <a:cs typeface="맑은 고딕" pitchFamily="34" charset="-120"/>
              </a:rPr>
              <a:t> </a:t>
            </a:r>
            <a:r>
              <a:rPr lang="en-US" sz="950" dirty="0" err="1">
                <a:solidFill>
                  <a:srgbClr val="2B2B2B"/>
                </a:solidFill>
                <a:latin typeface="맑은 고딕" pitchFamily="34" charset="0"/>
                <a:ea typeface="맑은 고딕" pitchFamily="34" charset="-122"/>
                <a:cs typeface="맑은 고딕" pitchFamily="34" charset="-120"/>
              </a:rPr>
              <a:t>적립액</a:t>
            </a:r>
            <a:r>
              <a:rPr lang="en-US" sz="950" dirty="0">
                <a:solidFill>
                  <a:srgbClr val="2B2B2B"/>
                </a:solidFill>
                <a:latin typeface="맑은 고딕" pitchFamily="34" charset="0"/>
                <a:ea typeface="맑은 고딕" pitchFamily="34" charset="-122"/>
                <a:cs typeface="맑은 고딕" pitchFamily="34" charset="-120"/>
              </a:rPr>
              <a:t>, 월 적립액, 연 수익률, 물가상승률, 적립 기간, 과세 유형을 입력하면 퇴직금 누적 예측 그래프(명목/실제 가치)를 제공합니다.</a:t>
            </a:r>
            <a:endParaRPr lang="en-US" sz="1000" dirty="0"/>
          </a:p>
        </p:txBody>
      </p:sp>
      <p:sp>
        <p:nvSpPr>
          <p:cNvPr id="13" name="Shape 11"/>
          <p:cNvSpPr/>
          <p:nvPr/>
        </p:nvSpPr>
        <p:spPr>
          <a:xfrm>
            <a:off x="457200" y="3092703"/>
            <a:ext cx="8229600" cy="1511639"/>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3092703"/>
            <a:ext cx="54864" cy="1511639"/>
          </a:xfrm>
          <a:prstGeom prst="rect">
            <a:avLst/>
          </a:prstGeom>
          <a:solidFill>
            <a:srgbClr val="C8962E"/>
          </a:solidFill>
          <a:ln/>
        </p:spPr>
        <p:txBody>
          <a:bodyPr/>
          <a:lstStyle/>
          <a:p>
            <a:endParaRPr lang="ko-KR" altLang="en-US"/>
          </a:p>
        </p:txBody>
      </p:sp>
      <p:sp>
        <p:nvSpPr>
          <p:cNvPr id="15" name="Text 13"/>
          <p:cNvSpPr/>
          <p:nvPr/>
        </p:nvSpPr>
        <p:spPr>
          <a:xfrm>
            <a:off x="685800" y="3206494"/>
            <a:ext cx="7818120" cy="32004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9. 세무 리스크 자가진단 체크리스트</a:t>
            </a:r>
            <a:endParaRPr lang="en-US" sz="1200" dirty="0"/>
          </a:p>
        </p:txBody>
      </p:sp>
      <p:sp>
        <p:nvSpPr>
          <p:cNvPr id="16" name="Text 14"/>
          <p:cNvSpPr/>
          <p:nvPr/>
        </p:nvSpPr>
        <p:spPr>
          <a:xfrm>
            <a:off x="685800" y="3499102"/>
            <a:ext cx="7818120" cy="960120"/>
          </a:xfrm>
          <a:prstGeom prst="rect">
            <a:avLst/>
          </a:prstGeom>
          <a:noFill/>
          <a:ln/>
        </p:spPr>
        <p:txBody>
          <a:bodyPr wrap="square" lIns="0" tIns="0" rIns="0" bIns="0" rtlCol="0" anchor="t"/>
          <a:lstStyle/>
          <a:p>
            <a:pPr marL="0" indent="0">
              <a:lnSpc>
                <a:spcPct val="130000"/>
              </a:lnSpc>
              <a:buNone/>
            </a:pPr>
            <a:r>
              <a:rPr lang="en-US" sz="1000" i="1" dirty="0">
                <a:solidFill>
                  <a:srgbClr val="4A5568"/>
                </a:solidFill>
                <a:latin typeface="맑은 고딕" pitchFamily="34" charset="0"/>
                <a:ea typeface="맑은 고딕" pitchFamily="34" charset="-122"/>
                <a:cs typeface="맑은 고딕" pitchFamily="34" charset="-120"/>
              </a:rPr>
              <a:t>※ 원본 HTML 인터랙티브 계산기 활용</a:t>
            </a:r>
            <a:endParaRPr lang="en-US" sz="10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점검 항목: 정관에 임원퇴직금 규정 명시 / 주주총회 특별결의 및 의사록 보관 적정 / 지급배수 한도 준수(2020.1.1. 이후 근무분 2배) / 차등지급 합리 사유 및 근거자료 확보 / 퇴직금 추계 사전 산정 / 보험 세무처리 매트릭스 점검 / 형평적 비과세·증빙 전사 규정 운영 / 현금흐름(DSCR·약정 충돌) 사전 점검</a:t>
            </a:r>
            <a:endParaRPr lang="en-US" sz="10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리스크 지수 0~100 자동 산출 및 종합 판정(양호/보통/주의) 제공</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CEO퇴직금을 미리 준비하는 절세 보험설계</a:t>
            </a:r>
            <a:endParaRPr lang="en-US" sz="8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35 / 35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5016</Words>
  <Application>Microsoft Office PowerPoint</Application>
  <PresentationFormat>화면 슬라이드 쇼(16:9)</PresentationFormat>
  <Paragraphs>570</Paragraphs>
  <Slides>35</Slides>
  <Notes>35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CEO퇴직금을 미리 준비하는 절세 보험설계</dc:title>
  <dc:subject>PptxGenJS Presentation</dc:subject>
  <dc:creator>KFPC</dc:creator>
  <cp:lastModifiedBy>에프피센터 한국</cp:lastModifiedBy>
  <cp:revision>2</cp:revision>
  <dcterms:created xsi:type="dcterms:W3CDTF">2026-03-10T04:50:39Z</dcterms:created>
  <dcterms:modified xsi:type="dcterms:W3CDTF">2026-03-11T08:56:16Z</dcterms:modified>
</cp:coreProperties>
</file>