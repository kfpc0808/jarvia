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43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861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solidFill>
            <a:srgbClr val="C9A2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이슈브리핑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법인명의 부동산</a:t>
            </a:r>
            <a:endParaRPr lang="en-US" sz="3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양도소득세 줄이기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지속가능 성장 및 CEO 자산가치 극대화를 위한 맞춤형 솔루션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차 (Table of Contents)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502920" cy="2743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자료 읽기에 앞서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298448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Ⅰ. 기업개요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1636776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16367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16367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Ⅱ. Executive Summary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1975104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19751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1975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Ⅲ. 기업 현황 및 CEO Needs 심층 진단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313432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3134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2313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Ⅳ. 핵심 이슈 및 전략 과제 도출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2651760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651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Ⅴ. 맞춤형 솔루션 및 실행 전략 제안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990088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29900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2990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Ⅵ. 기대효과 및 재무적 영향 분석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3328416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33284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33284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Ⅶ. 실행 로드맵 및 추진 일정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3666744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366674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80160" y="3666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Ⅷ. 종합 결론 및 전략적 제언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4005072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40080" y="40050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Ⅸ. 컨설팅 시나리오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343400"/>
            <a:ext cx="50292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40080" y="43434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8016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Ⅹ. 부록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자료 읽기에 앞서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법인이 보유한 부동산 매각 시 발생하는 막대한 세부담을 합리적으로 관리하고, 이를 통해 확보된 현금을 CEO의 은퇴 자산 및 기업의 재투자 재원으로 전환하는 전략을 담고 있습니다.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현재, 부동산 경기 변동성과 세제 변화 속에서 법인 부동산 양도는 단순히 '파는 것'이 아니라 '어떻게 비용과 상쇄시키느냐'의 싸움입니다.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컨설팅은 매각연도의 비용 구조 정비(임원 퇴직금 제도 정비 및 경영인정기보험 활용)를 핵심 솔루션으로 제시하며, 결손금 이월공제 및 소급공제는 요건 충족 시 보조적 옵션으로 검토합니다.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Ⅰ. 기업개요 — 법인 기본 정보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(주)한성테크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자동차 부품 제조업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설립연도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2002년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대표이사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김OO (62세, 근속 24년)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108960"/>
            <a:ext cx="3840480" cy="1881952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영역 및 핵심 경쟁력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사업: 내연기관 및 전기차용 정밀 커넥터 생산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경쟁력: 특허 12건 보유, 국내 주요 완성차 업체 1차 협력사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재무적 특징: 과거 저렴하게 매입한 공장 부지의 지가 상승으로 장부가액 대비 시세 차익이 약 40억 원 발생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3108959"/>
            <a:ext cx="3840480" cy="1881951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실무 적용 시 주의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3520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비사업용 토지 해당 여부는 사실관계(사용기간, 용도, 임대 여부 등)에 따라 달라지므로, 매각 전 세무전문가를 통해 사전 판정을 받으시기 바랍니다.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Ⅱ. 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1754472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1371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컨설팅 배경 및 목적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현안: 본사 이전으로 인한 구 공장 부지 매각 예정. 양도차익 약 40억 원 발생 예상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법인세 및 토지등 양도소득에 대한 법인세(추가 납부) 최소화, 매각 대금의 효율적 개인화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840480" cy="1754472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54864" cy="13716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 핵심 요약 (As-Is)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매각 시, 비사업용 토지에 해당할 경우 일반 법인세에 더해 토지등 양도소득에 대한 법인세가 추가로 부과되어 세부담이 크게 증가할 수 있습니다.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근거: 법인세법 제55조의2에 따라, 비사업용 토지 양도 시 10%, 미등기 토지는 40%의 추가세율 적용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51752"/>
            <a:ext cx="3840480" cy="18288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851752"/>
            <a:ext cx="54864" cy="18288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897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제안 핵심 요약 (To-Be)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217512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상쇄: 매각 연도에 맞춰 CEO 퇴직금 지급(정관/규정 정비 + 현실적 퇴직 + 한도 내 지급 시 손금 인정 가능) 및 경영인정기보험을 통한 손금 산입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 구조: 비사업용 토지 판정 여부 사전 검토. 사업용 토지 인정을 위한 사용 실태·기간·용도 증빙 자료 확보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851752"/>
            <a:ext cx="3840480" cy="18288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46320" y="2851752"/>
            <a:ext cx="54864" cy="18288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2897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핵심 요약 (ROI)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217512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세금 절감: 과세표준을 유의미하게 낮추는 구조 설계를 통해 법인세 절감 가능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확보: CEO 은퇴 자금 확보 (한도 내 퇴직소득으로 수령 시 분류과세 구조로 종합과세 대비 유리)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현황 및 CEO Needs 심층 진단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Ⅲ. 기업 현황 및 CEO Needs 심층 진단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18288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재무구조 정밀 분석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구성: 부동산 비중이 전체 자산의 45%로 유동성 부족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이익잉여금: 약 80억 원 누적. 배당 실적 저조하여 주식 가치가 과도하게 평가됨 (상속/증여 리스크)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840480" cy="18288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54864" cy="18288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Needs 및 경영 목표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은퇴 플랜: 3년 내 차남에게 경영권 승계 후 은퇴 희망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 소요: 은퇴 후 생활비 및 승계 시 발생할 증여세 재원 마련 필요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864" cy="1371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(주)한성테크는 전형적인 '부동산 부자 법인'입니다. 장부가는 낮으나 실질 가치가 높아 향후 상속세 폭탄의 원인이 됩니다. 부동산 매각은 단순히 현금을 확보하는 이벤트가 아니라, 법인의 몸집을 줄이고 가업 승계를 가속화할 수 있는 최적의 타이밍(Golden Time)으로 활용해야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이슈 및 전략 과제 도출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Ⅳ. 재무구조 리스크 — 비사업용 부동산 추가 과세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4572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79" y="960120"/>
            <a:ext cx="8179601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법인이 </a:t>
            </a:r>
            <a:r>
              <a:rPr lang="en-US" sz="1200" dirty="0" err="1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</a:t>
            </a: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양도시</a:t>
            </a: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일반 법인세에 더해 자산 유형에 따라 토지등 양도소득에 대한 법인세가 추가될 수 있습니다.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840480" cy="21031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54864" cy="21031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이후 적용 법인세율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347472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과세표준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2억 이하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2억 초과 ~ 200억 이하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200억 초과 ~ 3,000억 이하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3,000억 초과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1554480"/>
            <a:ext cx="3840480" cy="21031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846320" y="1554480"/>
            <a:ext cx="54864" cy="21031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토지등 양도소득 추가 법인세율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920240"/>
          <a:ext cx="3474720" cy="11704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추가세율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비사업용 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미등기 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주택 (보유 수에 따라)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10%~30%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57200" y="3794760"/>
            <a:ext cx="3840480" cy="105201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57200" y="3794760"/>
            <a:ext cx="54864" cy="6400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40080" y="3840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관련 리스크: 퇴직금 규정 미비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정관상 퇴직금 지급 배수가 낮아 대규모 비용 처리가 불가능한 상태. 양도차익이 고스란히 이익으로 잡혀 법인세만 과다 지출됨.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846320" y="3794760"/>
            <a:ext cx="3840480" cy="105201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4846320" y="37947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9"/>
          <p:cNvSpPr/>
          <p:nvPr/>
        </p:nvSpPr>
        <p:spPr>
          <a:xfrm>
            <a:off x="5029200" y="3840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과제 선정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1순위: 임원 퇴직금 지급 규정 정비  |  2순위: 매각·비용 시점 일치(Matching)  |  3순위: 개인화 전략 다변화(자기주식 취득, 배당 병행)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솔루션 및 실행 전략 제안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Ⅴ. 솔루션 기본 방향 &amp; 핵심 전략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5486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89706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기본 방향: "Profit-Loss Matching" — 양도차익(수익)이 발생하는 연도에 합법적인 비용(손금)을 집중시켜 과세표준을 유의미하게 낮추는 방향으로 설계합니다.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" cy="10972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A: 임원 퇴직금 지급 규정 정비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00267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임원 퇴직금 지급 규정을 합리적으로 상향(예: 2배수 수준)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포인트: 법인세법상 손금한도와 소득세법상 퇴직소득 한도를 "구분"하여 설계. ※ 2배수 초과 금액은 '근로소득'으로 간주되어 최고 49.5% </a:t>
            </a:r>
            <a:r>
              <a:rPr lang="en-US" sz="1000" dirty="0" err="1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세율</a:t>
            </a: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적용_법적</a:t>
            </a: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근거: 법인세법 시행령 제44조, 소득세법 제22조 제3항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10058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solidFill>
            <a:srgbClr val="1A4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B: 경영인정기보험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1695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장기적 유동성 준비 및 CEO 유고 시 상속세 재원 확보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포인트: 피보험자가 임원이고 법인이 수익자인 경우, 해지환급금 상당액은 자산계상하고 순수 위험보험료 부분만 손금 인정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근거: 법인세법 기본통칙 19-19-6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778366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54864" cy="6858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C: 개인화 전략 다변화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3035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퇴직금 외 자기주식 취득(이익소각), 배당 등 병행하여 리스크 분산. 권장 배분: 퇴직금 40~50% / 자기주식 취득 20~30% / 배당 20~30% / 법인 유보 10~20%. 자녀의 가업 승계 후 운영자금(최소 6개월~1년치) 확보 필수.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및 재무적 영향 분석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Ⅵ. 부동산 매각 세무 시뮬레이션 &amp; CEO 수령 예상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 매각 세무 시뮬레이션 (단위: 억 원 / 양도차익 40억 가정)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1600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매각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21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상쇄 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양도차익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상쇄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15~20억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과세표준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E7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20~25억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법인세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8~12억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AE7C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4~6억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2926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본 수치는 이해를 돕기 위한 예시적 추정치입니다. 실제 세액은 감정가·세무조정 결과·비사업용 토지 해당 여부 등에 따라 크게 달라질 수 있습니다.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54864" cy="10972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수령 예상액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37033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내 퇴직소득으로 설계 시 약 12~15억(세전) 수령 가능 예상. 퇴직소득세는 분류과세 구조로 종합과세 대비 유리할 수 있으나, 한도 초과분은 근로소득으로 간주되어 높은 세율이 적용될 수 있음.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로드맵 및 추진 일정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Ⅶ. 실행 로드맵 및 추진 일정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실제 소요기간은 정관/규정 개정의 정당성 확보, 보험 언더라이팅/가입 심사, 부동산 매각 절차 등을 감안하면 통상 6개월 이상으로 보는 것이 현실적입니다.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534"/>
            <a:ext cx="8229600" cy="9144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508534"/>
            <a:ext cx="54864" cy="9144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0080" y="1554254"/>
            <a:ext cx="91440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5425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55425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및 규정 정비 (1~2개월 차)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187429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 형태 분석, 비사업용 토지 판정 체크리스트 점검, 정관 및 임원 퇴직금 규정 정비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094"/>
            <a:ext cx="8229600" cy="9144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560094"/>
            <a:ext cx="54864" cy="9144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2605814"/>
            <a:ext cx="91440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60581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60581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구조 설계 (3~4개월 차)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92585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경영인정기보험 가입, 매각 주관사 선정 및 매수자 탐색, 다양한 비용 항목 발굴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654"/>
            <a:ext cx="8229600" cy="9144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3611654"/>
            <a:ext cx="54864" cy="9144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3657374"/>
            <a:ext cx="914400" cy="2743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5737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365737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및 신고 (5~6개월 차 이후)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7741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'현실적 퇴직' 처리 및 퇴직금 지급, 법인세 신고 시 양도차익과 비용 상계 처리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Ⅶ. '현실적 퇴직' 입증 체크리스트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'현실적 퇴직' 입증 체크리스트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등기 변경 완료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사무실·명함·이메일 반납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결재라인 제외, 법인카드 회수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통보, 금융기관 서명권 변경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 지급 중단 또는 현저한 감액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실무 적용 시 주의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'현실적 퇴직' 인정 여부는 세무조사 시 핵심 쟁점이 됩니다. 단순히 대표이사에서 이사로 직함만 바꾸시면 세무서에서 부인할 가능성이 높습니다.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결론 및 전략적 제언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Ⅷ. 종합 결론 및 전략적 제언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9144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컨설팅의 핵심은 '부동산이라는 무거운 자산을 퇴직금이라는 가벼운 현금으로 전환하여 가업 승계의 골든타임을 확보하는 것'입니다.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4864" cy="731520"/>
          </a:xfrm>
          <a:prstGeom prst="rect">
            <a:avLst/>
          </a:prstGeom>
          <a:solidFill>
            <a:srgbClr val="162B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95898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명의 부동산은 매각 시 이중과세(법인세 + 배당 시 종합소득세) 리스크가 상존합니다. 따라서 지금 바로 정관을 정비하고 비용 처리 구조를 만들지 않으면, 수십 년간 일궈온 기업 자산의 상당 부분이 국고로 귀속될 수 있습니다.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59"/>
            <a:ext cx="8229600" cy="1808755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4864" cy="16459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시 필수 유의사항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퇴직금은 소득세상 퇴직소득 "인정한도(2배수)" 내 설계 권장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'현실적 퇴직' 요건 충족 필수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보험료 손금 처리는 조건부 (전액 비용 처리 보장 아님)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전략 다변화: 퇴직금 외 자기주식 취득, 배당 등 병행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유동성 확보: 승계 후 운영 자금(최소 6개월~1년치) 고려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컨설팅 시나리오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Ⅸ. 컨설팅 시나리오 — "자산 구조조정을 통한 가업 승계 골든타임 확보 전략"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15544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15544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시작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"대표님, 이번에 공장 부지 매각 검토하신다는 소식 들었습니다. 입지가 좋아서 시세가 많이 올랐더군요. 역시 대표님의 안목이 탁월하십니다. 그런데 혹시 매각 후 대표님 손에 실제 얼마가 남을지 계산해 보셨습니까?"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840480" cy="15544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54864" cy="15544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0" y="960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234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"단순히 계산해도 양도차익 40억 중 상당액이 법인세와 추가세율로 납부될 상황입니다. 특히 비사업용 토지에 해당할 경우 10%의 추가 세율이 적용됩니다. 더 큰 문제는 이 돈이 법인에 남아있으면, 나중에 대표님이 개인 자금으로 쓰시려 할 때 배당소득세까지 부담해야 한다는 점입니다."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39"/>
            <a:ext cx="3840480" cy="2042535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54864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제안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"대표님께 두 가지 선택지가 있습니다: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A: 세금 납부 후 법인에 유보하거나 배당으로 수령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B: 한도 내 비용 구조 정비를 통해 세부담을 줄이고 은퇴 자금으로 전환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B를 위해서는 정관/퇴직금 규정 정비와 경영인정기보험 활용이 핵심입니다."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606039"/>
            <a:ext cx="3840480" cy="2042535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46320" y="2606040"/>
            <a:ext cx="54864" cy="16459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9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잡힌 전략 + 동의 유도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926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"다만 매각 대금 전액을 퇴직금으로 수령하시면 법인의 유동성이 고갈됩니다. 퇴직금 40~50%, 자기주식 취득 20~30%, 배당 20~30%, 법인 유보 10~20%로 분산하시는 것을 권장드립니다.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정관 규정과 토지의 사업용 판정 여부를 검토해 드리겠습니다. 결과는 1페이지 진단표로 정리해 드립니다."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1691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Ⅹ. 부록 — 전문용어 설명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비사업용 토지: 법인이 사업에 직접 사용하지 않는 토지로, 양도 시 일반 법인세에 토지등 양도소득에 대한 법인세 10%가 추가됨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손금산입: 세법상 비용으로 인정받아 법인세 과세표준에서 제외되는 것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경영인정기보험: 법인이 계약자/수익자이고 임원이 피보험자인 보험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 퇴직: 임원이 실제로 퇴임하여 더 이상 임원으로서의 직무를 수행하지 않는 것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Ⅹ. 부록 — FAQ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10972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Q: 퇴직금을 무제한으로 많이 설정해도 되나요?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아닙니다. 소득세법상 퇴직소득 인정 한도는 2배수로 제한됩니다. 3배수를 지급할 수는 있으나, 2배수를 초과하는 금액은 '근로소득'으로 간주되어 최고 49.5%의 높은 세율이 부과됩니다.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Q: 보험료는 정말 100% 비용 처리가 되나요?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'100% 비용 처리'라는 표현은 부정확합니다. 해지환급금 상당액은 자산으로 계상하고, 순수 위험보험료 부분만 손금 인정됩니다.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0058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54864" cy="100584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Q: 대표이사에서 이사로 직함만 바꾸면 퇴직금을 받을 수 있나요?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단순한 직함 변경만으로는 '현실적 퇴직'으로 인정받기 어렵습니다. 등기 변경뿐 아니라 업무 배제, 의사결정 권한 상실, 대외적 표시, 보수 체계 변경 등의 객관적 증빙이 필요합니다.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73152" cy="6400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548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Ⅹ. 부록 — 관련 법규·출처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" cy="2560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법인세법 제55조 (세율)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법인세법 제55조의2 (토지등 양도소득에 대한 과세특례)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법인세법 제72조 (결손금 소급공제에 의한 환급)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법인세법 시행령 제44조 (퇴직급여의 손금불산입)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소득세법 제22조 제3항 (퇴직소득)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법인세법 기본통칙 19-19-6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대법원 2017두47564 판결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162B4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【면책 및 주의사항】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보고서는 가상의 사례를 설정하여 인공지능을 통해 제작되었습니다. 세법 및 관련 규정은 수시로 개정될 수 있으며, 개별 사안에 따라 결과가 달라질 수 있습니다. 실무 적용 시 반드시 세무사·변호사·보험전문가 등과 충분히 협의한 후 진행하시기 바랍니다.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A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법인명의 부동산 양도소득세 줄이기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1979</Words>
  <Application>Microsoft Office PowerPoint</Application>
  <PresentationFormat>화면 슬라이드 쇼(16:9)</PresentationFormat>
  <Paragraphs>245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법인명의 부동산 양도소득세 줄이기</dc:title>
  <dc:subject>PptxGenJS Presentation</dc:subject>
  <dc:creator>한국FP센터</dc:creator>
  <cp:lastModifiedBy>광호 이</cp:lastModifiedBy>
  <cp:revision>4</cp:revision>
  <dcterms:created xsi:type="dcterms:W3CDTF">2026-02-11T09:20:31Z</dcterms:created>
  <dcterms:modified xsi:type="dcterms:W3CDTF">2026-02-11T13:26:04Z</dcterms:modified>
</cp:coreProperties>
</file>