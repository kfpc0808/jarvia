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87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926080" y="914400"/>
            <a:ext cx="3291840" cy="2743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안정된 미래를 위한 재무안전망 구축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0D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프리랜서 5월 종소세 전 보험·공제 체크포인트 | 한세진 고객 컨설팅 특급보고서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3794760"/>
            <a:ext cx="3291840" cy="2743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7A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 컨설팅 특급보고서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제작_(주)한국FP센터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024128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10058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고객 프로필 및 재무현황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1560" y="1353312"/>
            <a:ext cx="6858000" cy="4572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408176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13898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Executive Summary — 핵심 과제 및 솔루션 요약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1560" y="1737360"/>
            <a:ext cx="6858000" cy="4572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1792224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177393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재무·보장자산 핵심 진단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51560" y="2121408"/>
            <a:ext cx="6858000" cy="4572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176272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215798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맞춤형 솔루션 — 절세·보장·노후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51560" y="2505456"/>
            <a:ext cx="6858000" cy="4572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2560320"/>
            <a:ext cx="237744" cy="237744"/>
          </a:xfrm>
          <a:prstGeom prst="rect">
            <a:avLst/>
          </a:prstGeom>
          <a:solidFill>
            <a:srgbClr val="2E5A88"/>
          </a:solidFill>
          <a:ln/>
          <a:effectLst>
            <a:outerShdw blurRad="50800" dist="12700" dir="81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25420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기대효과 및 종합 제언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프로필 — 한세진 (만 34세, 프리랜서 UX/UI 디자이너)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635222"/>
              </p:ext>
            </p:extLst>
          </p:nvPr>
        </p:nvGraphicFramePr>
        <p:xfrm>
          <a:off x="365760" y="914400"/>
          <a:ext cx="8412480" cy="2688336"/>
        </p:xfrm>
        <a:graphic>
          <a:graphicData uri="http://schemas.openxmlformats.org/drawingml/2006/table">
            <a:tbl>
              <a:tblPr/>
              <a:tblGrid>
                <a:gridCol w="3357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5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성명 / 성별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한세진 / 남성 (만 34세)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UX/UI 외주 디자이너 — 프리랜서 3.3% 원천징수 사업소득자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대기업 디자인팀 정규직 6년 → 프리랜서 전환 2년차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 구성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배우자(만 32세, 스타트업 정규직 연봉 3,800만 원) + 자녀 1명(만 2세)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전환 배경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정규직 안정성 포기 → 전문성·자율성 선택한 커리어 전환기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고민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세금 과다 납부 ② 현재 보험의 적합성 미확인 ③ 소득 변동성으로 고정 납입 부담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재무현황 — 월 현금흐름 및 자산·부채 구조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431820"/>
              </p:ext>
            </p:extLst>
          </p:nvPr>
        </p:nvGraphicFramePr>
        <p:xfrm>
          <a:off x="365760" y="914400"/>
          <a:ext cx="8412480" cy="2798064"/>
        </p:xfrm>
        <a:graphic>
          <a:graphicData uri="http://schemas.openxmlformats.org/drawingml/2006/table">
            <a:tbl>
              <a:tblPr/>
              <a:tblGrid>
                <a:gridCol w="1593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6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0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금액(월)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프리랜서 사업소득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 원 (평균)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300만~700만 원 변동, 연 환산 약 5,760만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배우자 근로소득(세후)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265만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연봉 3,800만 원 기준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수입 합계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745만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주거비(전세대출 이자)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전세대출 1.8억 원, 연 3.8%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생활비 + 양육비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생활비 180만 원 + 자녀 양육비 60만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국민연금·건강보험료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지역가입자 본인 전액 부담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보험료 합계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18.4만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종합보험+실손+배우자 종신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 합계 / 월 잉여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385만 원 / 약 360만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소득 최저월(300만 원) 기준 약 –85만 원 적자 전환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7856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순자산: 전세보증금 3억 + 예적금 2,800만 + IRP 2,400만 + 주식 500만 − 전세대출 1.8억 = 약 1.77억 원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 — 핵심 과제 및 솔루션 방향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891566"/>
              </p:ext>
            </p:extLst>
          </p:nvPr>
        </p:nvGraphicFramePr>
        <p:xfrm>
          <a:off x="365760" y="914400"/>
          <a:ext cx="8412480" cy="1536192"/>
        </p:xfrm>
        <a:graphic>
          <a:graphicData uri="http://schemas.openxmlformats.org/drawingml/2006/table">
            <a:tbl>
              <a:tblPr/>
              <a:tblGrid>
                <a:gridCol w="1332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6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과제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문제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솔루션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🔴 1순위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절세 기회 회복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연금저축·IRP·노란우산공제 전액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미활용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 주요 절세 수단 미활용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연금저축·IRP 세액공제 + 노란우산공제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소득공제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활용</a:t>
                      </a:r>
                      <a:endParaRPr lang="en-US" sz="900" dirty="0">
                        <a:solidFill>
                          <a:srgbClr val="2C3E50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(보장성보험료 세액공제는 별도 검토)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🟡 2순위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 공백 해소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사망보장 0원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유고 시 가족 보호 안전망 전무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정기보험 3억~5억 원 신규 설계 + 3대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질환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진단금</a:t>
                      </a:r>
                      <a:endParaRPr lang="en-US" sz="900" dirty="0">
                        <a:solidFill>
                          <a:srgbClr val="2C3E50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 원으로 보강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🟢 3순위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노후 준비 착수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연금 2·3층(연금저축·IRP 운용)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공백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국민연금 예상 수령 월 69만 원뿐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연금저축 월 30만~50만 원 유연 납입 + IRP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납입</a:t>
                      </a:r>
                      <a:endParaRPr lang="en-US" sz="900" dirty="0">
                        <a:solidFill>
                          <a:srgbClr val="2C3E50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비상자금 구조화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52374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기대효과: 절세 여지 확보(실제 환급액은 소득금액 확정 후 산출) / 사망보장 0→3억~5억 원 / 30년 후 연금자산 약 2.1억~3.5억 원 축적(연 4% 복리 가정)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보장·연금 통합 현황 진단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059407"/>
              </p:ext>
            </p:extLst>
          </p:nvPr>
        </p:nvGraphicFramePr>
        <p:xfrm>
          <a:off x="365760" y="914400"/>
          <a:ext cx="8412480" cy="2558288"/>
        </p:xfrm>
        <a:graphic>
          <a:graphicData uri="http://schemas.openxmlformats.org/drawingml/2006/table">
            <a:tbl>
              <a:tblPr/>
              <a:tblGrid>
                <a:gridCol w="1698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5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5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보장 / 납입현황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납입액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종합보험(갱신형)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3대 질환 진단금 2,000만 원,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입원일당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3만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7.8만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⚠️ 진단금 미달 + 갱신 시 보험료 급등 예상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실손보험(구형)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통원·입원 실손의료비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2.1만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⚠️ 4세대 전환 검토 필요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종신보험(배우자 명의)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사망보장 1억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배우자 보장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적정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단, 한세진 사망보장 0원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국민연금(지역가입)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8년 납부, 예상 수령 월 약 69만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27.6만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⚠️ 노후 부부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최소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생활비</a:t>
                      </a:r>
                      <a:endParaRPr lang="en-US" sz="900" dirty="0">
                        <a:solidFill>
                          <a:srgbClr val="2C3E50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200만 원 대비 131만 원 부족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IRP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2,400만 원 예치, 추가 납입 없음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❌ 세액공제 미활용, 운용 방치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연금저축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미가입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❌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세액공제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한도</a:t>
                      </a:r>
                      <a:endParaRPr lang="en-US" sz="900" dirty="0">
                        <a:solidFill>
                          <a:srgbClr val="2C3E50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600만 원 전액 미활용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노란우산공제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미가입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❌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소득공제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한도</a:t>
                      </a:r>
                      <a:endParaRPr lang="en-US" sz="900" dirty="0">
                        <a:solidFill>
                          <a:srgbClr val="2C3E50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200만~600만 원 전액 미활용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갭(Gap) 진단 — 4대 리스크 영역별 공백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157916"/>
              </p:ext>
            </p:extLst>
          </p:nvPr>
        </p:nvGraphicFramePr>
        <p:xfrm>
          <a:off x="365760" y="914400"/>
          <a:ext cx="8412480" cy="1865376"/>
        </p:xfrm>
        <a:graphic>
          <a:graphicData uri="http://schemas.openxmlformats.org/drawingml/2006/table">
            <a:tbl>
              <a:tblPr/>
              <a:tblGrid>
                <a:gridCol w="1482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5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7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7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리스크 영역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 보장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보장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갭(부족분)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사망보장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3억~5억 원 (가족 생활비 20년 + 대출 상환)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▶ 3억~5억 원 전액 공백 — 가장 시급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3대 질환 진단금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3,000만~5,000만 원 (치료비 + 소득 대체 6개월)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▶ 1,000만~3,000만 원 부족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입원일당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5만 원 (상급병실료·간병비 감안)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3만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▶ 일 2만 원 부족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노후 월 소득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200만 원 이상 (부부 최소 생활비)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국민연금 예상 월 약 69만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▶ 월 131만 원 이상 부족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절세 공제 활용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연금저축·IRP 900만 원 + 노란우산 200만~600만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절세 수단 미활용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▶ 연금·공제 주요 절세 수단 미활용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설계 원칙 — 프리랜서 맞춤 3원칙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06070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91440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① 시의성 우선: 2025년 내 납입분이 2026년 5월 종소세 신고에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연금저축·노란우산공제는 올해 안에 실행해야 절세 효과 발생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6362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14173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② 유연성 확보: 소득 변동(월 300만~700만 원)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감안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연금저축은 월납 의무 없이 연간 한도 내 자유 납입 가능, 소득 적은 달 납입 중단해도 불이익 없음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06654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192024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③ 단계적 실행: 1순위(절세) → 2순위(보장 보강) → 3순위(노후 준비) 순서로 재무 부담 </a:t>
            </a:r>
            <a:r>
              <a:rPr lang="en-US" sz="1100" dirty="0" err="1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분산</a:t>
            </a: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한꺼번에 고정 지출 늘리지 않는 구조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6946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" y="242316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소득 최저월 리스크 대응: 본인 단독 기준 소득 300만 원월은 약 –85만 원 적자 → 비상자금 2,310만 원(지출 6개월분) 별도 예치 후 솔루션 실행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 솔루션 — 절세 설계: 공제 항목별 실행안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227141"/>
              </p:ext>
            </p:extLst>
          </p:nvPr>
        </p:nvGraphicFramePr>
        <p:xfrm>
          <a:off x="365760" y="914400"/>
          <a:ext cx="8412480" cy="2218944"/>
        </p:xfrm>
        <a:graphic>
          <a:graphicData uri="http://schemas.openxmlformats.org/drawingml/2006/table">
            <a:tbl>
              <a:tblPr/>
              <a:tblGrid>
                <a:gridCol w="1678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0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9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3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공제 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납입 목표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공제 유형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절세 효과 추정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보장성보험료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118.8만 원 납입 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세액공제 12%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사업소득 중심 프리랜서는 별도 검토 필요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연금저축 신규 가입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360만~600만 원 (자유 납입)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세액공제 12%~15%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72만~90만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IRP 추가 납입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300만~540만 원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(연저+IRP 합산 900만 원 한도)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세액공제 12%~15%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연저+IRP 합산 최대 108만~135만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노란우산공제 가입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5만~25만 원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(연 200만~600만 원 한도 내)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소득공제 (과표 15% 구간)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사업소득금액 구간 및 세율에 따라 상이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국민연금·건강보험료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약 331만 원+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소득공제 전액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신고서 반영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여부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점검</a:t>
                      </a:r>
                      <a:endParaRPr lang="en-US" sz="900" dirty="0">
                        <a:solidFill>
                          <a:srgbClr val="2C3E50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누락 시 환급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3.3% 원천징수 기납부세액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약 190만 원 추정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기납부세액 공제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종소세 신고 시 환급 또는 추가 납부 확인 필수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16382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공제율 12% vs 15%: 사업소득자의 종합소득금액 4,500만 원 이하 시 15%, 초과 시 12% 적용 — 필요경비 차감 후 소득금액 확정 필요. 실제 효과는 세무사 정밀 검토 필수.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 솔루션 — 사망보장 신규 설계 및 진단금 보강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039415"/>
              </p:ext>
            </p:extLst>
          </p:nvPr>
        </p:nvGraphicFramePr>
        <p:xfrm>
          <a:off x="365760" y="914400"/>
          <a:ext cx="8412480" cy="1554480"/>
        </p:xfrm>
        <a:graphic>
          <a:graphicData uri="http://schemas.openxmlformats.org/drawingml/2006/table">
            <a:tbl>
              <a:tblPr/>
              <a:tblGrid>
                <a:gridCol w="1639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8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0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4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유형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 금액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 기간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보험료 추정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 근거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정기보험(비갱신형) [권장]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3억~5억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20~30년 만기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5만~10만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자녀 독립까지 집중 </a:t>
                      </a:r>
                      <a:r>
                        <a:rPr lang="en-US" sz="8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</a:t>
                      </a: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,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종신</a:t>
                      </a: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대비 보험료 효율 최우선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체감형 종신보험 (대안)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5억 원 → 점진 감소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8만~15만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부채·양육비 </a:t>
                      </a:r>
                      <a:r>
                        <a:rPr lang="en-US" sz="8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감소에</a:t>
                      </a: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맞춰</a:t>
                      </a:r>
                      <a:endParaRPr lang="en-US" sz="800" dirty="0">
                        <a:solidFill>
                          <a:srgbClr val="2C3E50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보장도</a:t>
                      </a: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감소하는 합리적 구조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비갱신형 CI보험/진단금 특약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암·뇌혈관·심장 3,000만 원 </a:t>
                      </a:r>
                      <a:r>
                        <a:rPr lang="en-US" sz="8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</a:t>
                      </a: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→ 합계 5,000만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비갱신 확정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3만~5만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갱신형 </a:t>
                      </a:r>
                      <a:r>
                        <a:rPr lang="en-US" sz="8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진단금</a:t>
                      </a: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</a:t>
                      </a:r>
                      <a:endParaRPr lang="en-US" sz="800" dirty="0">
                        <a:solidFill>
                          <a:srgbClr val="2C3E50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보험료 상승 리스크 차단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비갱신형 입원일당 특약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일당 2만 원 추가 → 합계 5만 원/일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비갱신 확정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1만~2만 원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프리랜서 입원 시 소득 0원 </a:t>
                      </a:r>
                      <a:r>
                        <a:rPr lang="en-US" sz="8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구조</a:t>
                      </a: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간병비·상급병실료 보완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542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보험료는 업계 평균 추정치. 실제 보험료는 보험사·상품·건강 상태·언더라이팅 결과에 따라 상이. 가장 사망보장 필요액: 가족생활비 4.32억(월180만×20년) + 전세대출 1.8억 = 약 6억 → 배우자 소득 반영 시 민간보험 우선 확보 범위 3억~5억 원.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3순위 솔루션 — 노후 준비 및 비상자금 구조화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129592"/>
              </p:ext>
            </p:extLst>
          </p:nvPr>
        </p:nvGraphicFramePr>
        <p:xfrm>
          <a:off x="365760" y="914400"/>
          <a:ext cx="8412480" cy="1920240"/>
        </p:xfrm>
        <a:graphic>
          <a:graphicData uri="http://schemas.openxmlformats.org/drawingml/2006/table">
            <a:tbl>
              <a:tblPr/>
              <a:tblGrid>
                <a:gridCol w="1293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3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납입액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기대 효과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연금저축 신규 가입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한도 내 자유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납입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프로젝트 정산 후 일시 납입 가능, 월납 의무 없음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30만~50만 원 목표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30년 후 약 2.1억~3.5억 원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축적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(연 4% 복리 가정) + 세액공제 최대 108만~135만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IRP 추가 납입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2,400만 원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예치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추가 납입으로 운용자산 확대 및 세액공제 활용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연금저축과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합산</a:t>
                      </a:r>
                      <a:endParaRPr lang="en-US" sz="900" dirty="0">
                        <a:solidFill>
                          <a:srgbClr val="2C3E50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900만 원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한도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내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세액공제 + 복리 운용 이중 혜택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노란우산공제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5만~25만 원 자유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프리랜서 퇴직금 계좌 역할, 수급권 압류 금지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 5만~25만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소득공제(소득구간에 따라 적용) +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복리이자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폐업 등 시 퇴직소득 과세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비상자금 구조화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예적금 2,800만 원 중 2,310만 원(지출 6개월분)을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비상자금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전용 계좌로 분리 예치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납입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불필요</a:t>
                      </a:r>
                      <a:endParaRPr lang="en-US" sz="900" dirty="0">
                        <a:solidFill>
                          <a:srgbClr val="2C3E50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(기존 자산 재배분)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소득 최저월(–85만 원 적자) 및 </a:t>
                      </a: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질병·사고</a:t>
                      </a:r>
                      <a:endParaRPr lang="en-US" sz="900" dirty="0">
                        <a:solidFill>
                          <a:srgbClr val="2C3E50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소득</a:t>
                      </a:r>
                      <a:r>
                        <a:rPr lang="en-US" sz="900" dirty="0">
                          <a:solidFill>
                            <a:srgbClr val="2C3E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공백 시 즉시 대응 가능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907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00" i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노란우산공제 임의해지 시 기타소득세 16.5% 부과 — 중장기 관점 운영 필수. 연금저축 중도인출 시 기타소득세 16.5% 부과 가능 (세무사 확인 필요).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기대효과: 솔루션 실행 전후 비교 (Before &amp; After)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3931920" cy="2560320"/>
          </a:xfrm>
          <a:prstGeom prst="rect">
            <a:avLst/>
          </a:prstGeom>
          <a:solidFill>
            <a:srgbClr val="FDEDEC"/>
          </a:solidFill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3931920" cy="1645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(Before)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325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절세 효과: 확정된 절세 구조 부재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6733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가장 사망보장: 0원 — 유고 시 가족 생활자금·대출 상환 재원 전무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0208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3대 질환 진단금: 2,000만 원 — 소득 대체 포함 시 최소 1,000만~3,000만 원 부족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3682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노후 월 소득: 국민연금 예상 월 69만 원 — 부부 최소 생활비 대비 131만 원 부족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7157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비상자금: 예적금 2,800만 원 (비상자금·투자 혼재, 구조화 미흡)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심리 상태: '뭘 챙겨야 하는지 모르겠다'는 불안과 공백 인식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60520" y="2011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37760" y="914400"/>
            <a:ext cx="3931920" cy="2560320"/>
          </a:xfrm>
          <a:prstGeom prst="rect">
            <a:avLst/>
          </a:prstGeom>
          <a:solidFill>
            <a:srgbClr val="EAFAF1"/>
          </a:solidFill>
          <a:ln/>
          <a:effectLst>
            <a:outerShdw blurRad="76200" dist="25400" dir="81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937760" y="914400"/>
            <a:ext cx="3931920" cy="34747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937760" y="1097280"/>
            <a:ext cx="3931920" cy="16459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93776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실행 후 (After)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1325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절세 효과: 연금계좌·노란우산공제 활용 구조 마련 — 실제 환급액은 종합소득금액 확정 후 산출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20640" y="16733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가장 사망보장: 3억~5억 원 확보 — 가족 생활비 20년분 + 대출 상환 재원 마련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20208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3대 질환 진단금: 5,000만 원 — 치료비 2,000만~3,000만 원 + 소득 공백 6개월분 보전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23682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노후 월 소득: 연금저축·IRP 30년 적립 시 약 2.1억~3.5억 원 축적 (연 4% 복리 가정)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27157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비상자금: 2,310만 원 별도 전용 예치 — 최저 소득월 및 질병 공백 시 즉시 대응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3063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심리 상태: '체계적으로 준비하고 있다'는 자기효능감으로 전환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7315"/>
          </a:xfrm>
          <a:prstGeom prst="rect">
            <a:avLst/>
          </a:prstGeom>
          <a:solidFill>
            <a:srgbClr val="E1E8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F2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제언 — 지금 시작해야 하는 이유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06070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" y="91440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절세 시작 시점: 2026년 납입분이 2027년 5월 종합소득세 신고에 반영 — 연금저축·IRP·노란우산공제를 올해 시작하면 내년 신고 시 절세효과 확인 가능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6362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14173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최적 시점: 34세 비흡연 남성 기준 현재가 정기보험 보험료 최저 구간 — 1년 지연 시 월 보험료 약 3~5% 상승, 10년 지연 시 보장 공백 기간 연장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06654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192024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3순위라도 '시작'이 핵심: 연금저축 월 30만 원 × 30년(연 4% 복리) = 약 2.1억 원 — 5년 늦게 시작할 경우 약 3,700만 원 손실 (복리 효과 감소)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6946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" y="242316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우선순위 제안: ① 연금저축 계좌 개설 + 노란우산공제 가입 (이번 달) → ② 정기보험 견적 비교·가입 (1개월 내) → ③ 비상자금 계좌 분리 + IRP 추가 납입 설정 (2개월 내)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73152" cy="73152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292608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 연계 필요: 기준경비율 vs 단순경비율 적용, 종합소득금액 확정 후 정확한 절세 효과 산출 — 5월 신고 전 세무사 사전 협의 필수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0" cy="2743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및 면책 고지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7432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0058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보고서는 고객의 재무 상황 개선을 위한 참고 자료로서, 특정 금융상품의 가입을 권유하거나 세무·법률적 조언을 제공하는 것을 목적으로 하지 않습니다.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및 절세 효과 수치는 업계 평균 및 예시 세율을 기반으로 한 추정치이며, 실제 금액은 보험사·상품 구성·건강 상태·언더라이팅 결과 및 개인별 종합소득금액·과세표준에 따라 상이할 수 있습니다.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연금저축·IRP·노란우산공제 관련 세액공제 및 소득공제 효과는 고객의 종합소득금액 확정 후 세무사의 정밀 검토를 통해 최종 확인하시기 바랍니다. 노란우산공제 및 연금저축의 중도 해지·인출 시 기타소득세(16.5%)가 부과될 수 있습니다.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실손보험 세대 전환, 보장성보험 가입 여부 등은 개인 상황에 따라 유불리가 다르므로 반드시 전문 컨설턴트와 충분한 상담 후 결정하시기 바랍니다.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보고서에 포함된 시뮬레이션 수치(노후 자산 축적액, 절세 효과 등)는 예시 목적의 단순 추정치이며, 미래 수익을 보장하지 않습니다.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제작·저작권: (주)한국FP센터 All Rights Reserved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4114800"/>
            <a:ext cx="2743200" cy="22860"/>
          </a:xfrm>
          <a:prstGeom prst="rect">
            <a:avLst/>
          </a:prstGeom>
          <a:solidFill>
            <a:srgbClr val="D4A0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8C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JARVIA | 제작_(주)한국FP센터 All Rights Reserved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2224</Words>
  <Application>Microsoft Office PowerPoint</Application>
  <PresentationFormat>화면 슬라이드 쇼(16:9)</PresentationFormat>
  <Paragraphs>316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JARVIA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5월 종소세 전, 프리랜서가 먼저 챙길 보험·공제 체크포인트</dc:title>
  <dc:subject>컨설팅 특급보고서</dc:subject>
  <dc:creator>(주)한국FP센터</dc:creator>
  <cp:lastModifiedBy>에프피센터 한국</cp:lastModifiedBy>
  <cp:revision>2</cp:revision>
  <dcterms:created xsi:type="dcterms:W3CDTF">2026-04-07T22:28:20Z</dcterms:created>
  <dcterms:modified xsi:type="dcterms:W3CDTF">2026-04-08T07:43:56Z</dcterms:modified>
</cp:coreProperties>
</file>