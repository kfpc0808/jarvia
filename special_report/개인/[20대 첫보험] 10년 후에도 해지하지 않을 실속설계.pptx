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1" d="100"/>
          <a:sy n="141" d="100"/>
        </p:scale>
        <p:origin x="66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369298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731520" y="1097280"/>
            <a:ext cx="7680960" cy="731520"/>
          </a:xfrm>
          <a:prstGeom prst="rect">
            <a:avLst/>
          </a:prstGeom>
          <a:noFill/>
          <a:ln/>
        </p:spPr>
        <p:txBody>
          <a:bodyPr wrap="square" rtlCol="0" anchor="ctr"/>
          <a:lstStyle/>
          <a:p>
            <a:pPr marL="0" indent="0" algn="ctr">
              <a:buNone/>
            </a:pPr>
            <a:r>
              <a:rPr lang="en-US" sz="2000" dirty="0">
                <a:solidFill>
                  <a:srgbClr val="CBD5E1"/>
                </a:solidFill>
                <a:latin typeface="맑은 고딕" pitchFamily="34" charset="0"/>
                <a:ea typeface="맑은 고딕" pitchFamily="34" charset="-122"/>
                <a:cs typeface="맑은 고딕" pitchFamily="34" charset="-120"/>
              </a:rPr>
              <a:t>고객의 안정된 미래를 위한 재무안전망 구축</a:t>
            </a:r>
            <a:endParaRPr lang="en-US" sz="2000" dirty="0"/>
          </a:p>
        </p:txBody>
      </p:sp>
      <p:sp>
        <p:nvSpPr>
          <p:cNvPr id="3" name="Text 1"/>
          <p:cNvSpPr/>
          <p:nvPr/>
        </p:nvSpPr>
        <p:spPr>
          <a:xfrm>
            <a:off x="731520" y="1828800"/>
            <a:ext cx="7680960" cy="914400"/>
          </a:xfrm>
          <a:prstGeom prst="rect">
            <a:avLst/>
          </a:prstGeom>
          <a:noFill/>
          <a:ln/>
        </p:spPr>
        <p:txBody>
          <a:bodyPr wrap="square" rtlCol="0" anchor="ctr"/>
          <a:lstStyle/>
          <a:p>
            <a:pPr marL="0" indent="0" algn="ctr">
              <a:buNone/>
            </a:pPr>
            <a:r>
              <a:rPr lang="en-US" sz="3400" b="1" dirty="0">
                <a:solidFill>
                  <a:srgbClr val="C8962E"/>
                </a:solidFill>
                <a:latin typeface="맑은 고딕" pitchFamily="34" charset="0"/>
                <a:ea typeface="맑은 고딕" pitchFamily="34" charset="-122"/>
                <a:cs typeface="맑은 고딕" pitchFamily="34" charset="-120"/>
              </a:rPr>
              <a:t>『컨설팅 특급보고서』</a:t>
            </a:r>
            <a:endParaRPr lang="en-US" sz="3400" dirty="0"/>
          </a:p>
        </p:txBody>
      </p:sp>
      <p:sp>
        <p:nvSpPr>
          <p:cNvPr id="4" name="Text 2"/>
          <p:cNvSpPr/>
          <p:nvPr/>
        </p:nvSpPr>
        <p:spPr>
          <a:xfrm>
            <a:off x="731520" y="2926080"/>
            <a:ext cx="7680960" cy="640080"/>
          </a:xfrm>
          <a:prstGeom prst="rect">
            <a:avLst/>
          </a:prstGeom>
          <a:noFill/>
          <a:ln/>
        </p:spPr>
        <p:txBody>
          <a:bodyPr wrap="square" rtlCol="0" anchor="ctr"/>
          <a:lstStyle/>
          <a:p>
            <a:pPr marL="0" indent="0" algn="ctr">
              <a:buNone/>
            </a:pPr>
            <a:r>
              <a:rPr lang="en-US" sz="1800" dirty="0">
                <a:solidFill>
                  <a:srgbClr val="CBD5E1"/>
                </a:solidFill>
                <a:latin typeface="맑은 고딕" pitchFamily="34" charset="0"/>
                <a:ea typeface="맑은 고딕" pitchFamily="34" charset="-122"/>
                <a:cs typeface="맑은 고딕" pitchFamily="34" charset="-120"/>
              </a:rPr>
              <a:t>[20대 첫 보험] 10년 후에도 해지하지 않을 실속설계</a:t>
            </a:r>
            <a:endParaRPr lang="en-US" sz="1800" dirty="0"/>
          </a:p>
        </p:txBody>
      </p:sp>
      <p:sp>
        <p:nvSpPr>
          <p:cNvPr id="5" name="Shape 3"/>
          <p:cNvSpPr/>
          <p:nvPr/>
        </p:nvSpPr>
        <p:spPr>
          <a:xfrm>
            <a:off x="0" y="4389120"/>
            <a:ext cx="9144000" cy="754380"/>
          </a:xfrm>
          <a:prstGeom prst="rect">
            <a:avLst/>
          </a:prstGeom>
          <a:solidFill>
            <a:srgbClr val="C8962E"/>
          </a:solidFill>
          <a:ln w="12700">
            <a:solidFill>
              <a:srgbClr val="C8962E"/>
            </a:solidFill>
            <a:prstDash val="solid"/>
          </a:ln>
        </p:spPr>
        <p:txBody>
          <a:bodyPr/>
          <a:lstStyle/>
          <a:p>
            <a:endParaRPr lang="ko-KR" altLang="en-US"/>
          </a:p>
        </p:txBody>
      </p:sp>
      <p:sp>
        <p:nvSpPr>
          <p:cNvPr id="6" name="Text 4"/>
          <p:cNvSpPr/>
          <p:nvPr/>
        </p:nvSpPr>
        <p:spPr>
          <a:xfrm>
            <a:off x="731520" y="4434840"/>
            <a:ext cx="7680960" cy="320040"/>
          </a:xfrm>
          <a:prstGeom prst="rect">
            <a:avLst/>
          </a:prstGeom>
          <a:noFill/>
          <a:ln/>
        </p:spPr>
        <p:txBody>
          <a:bodyPr wrap="square" lIns="0" tIns="0" rIns="0" bIns="0" rtlCol="0" anchor="ctr"/>
          <a:lstStyle/>
          <a:p>
            <a:pPr marL="0" indent="0" algn="ctr">
              <a:buNone/>
            </a:pPr>
            <a:r>
              <a:rPr lang="en-US" sz="750" i="1" dirty="0">
                <a:solidFill>
                  <a:srgbClr val="1B2A4A"/>
                </a:solidFill>
                <a:latin typeface="맑은 고딕" pitchFamily="34" charset="0"/>
                <a:ea typeface="맑은 고딕" pitchFamily="34" charset="-122"/>
                <a:cs typeface="맑은 고딕" pitchFamily="34" charset="-120"/>
              </a:rPr>
              <a:t>본 자료는 AI를 활용하여 생성되었으며, 검증과정을 거쳤으나 참고용으로 사용하시기 바라며, 실무적용 시에는 분야별 전문가와 협의 후 사용하시기 바랍니다.</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01</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서론</a:t>
            </a:r>
            <a:endParaRPr lang="en-US" sz="1600" dirty="0"/>
          </a:p>
        </p:txBody>
      </p:sp>
      <p:sp>
        <p:nvSpPr>
          <p:cNvPr id="5" name="Text 3"/>
          <p:cNvSpPr/>
          <p:nvPr/>
        </p:nvSpPr>
        <p:spPr>
          <a:xfrm>
            <a:off x="548640" y="685800"/>
            <a:ext cx="8046720" cy="658368"/>
          </a:xfrm>
          <a:prstGeom prst="rect">
            <a:avLst/>
          </a:prstGeom>
          <a:noFill/>
          <a:ln/>
        </p:spPr>
        <p:txBody>
          <a:bodyPr wrap="square" lIns="0" tIns="0" rIns="0" bIns="0" rtlCol="0" anchor="t"/>
          <a:lstStyle/>
          <a:p>
            <a:pPr marL="0" indent="0" algn="l">
              <a:lnSpc>
                <a:spcPct val="125000"/>
              </a:lnSpc>
              <a:buNone/>
            </a:pPr>
            <a:r>
              <a:rPr lang="en-US" sz="1100" dirty="0">
                <a:solidFill>
                  <a:srgbClr val="2B2B2B"/>
                </a:solidFill>
                <a:latin typeface="맑은 고딕" pitchFamily="34" charset="0"/>
                <a:ea typeface="맑은 고딕" pitchFamily="34" charset="-122"/>
                <a:cs typeface="맑은 고딕" pitchFamily="34" charset="-120"/>
              </a:rPr>
              <a:t>컨설턴트 여러분, 안녕하세요. 오늘 우리의 고객은 무한한 가능성을 지닌 20대 사회초년생입니다. 그들에게 보험은 먼 미래의 이야기이자, 현재의 즐거움을 포기해야 하는 '불필요한 지출'로 여겨지기 쉽습니다. 따라서 우리는 보험을 파는 사람이 아니라, '현명한 금융 습관'을 코칭하는 멘토가 되어야 합니다. 본 특급보고서는 바로 그 접근법을 담았습니다.</a:t>
            </a:r>
            <a:endParaRPr lang="en-US" sz="1100" dirty="0"/>
          </a:p>
        </p:txBody>
      </p:sp>
      <p:sp>
        <p:nvSpPr>
          <p:cNvPr id="6" name="Text 4"/>
          <p:cNvSpPr/>
          <p:nvPr/>
        </p:nvSpPr>
        <p:spPr>
          <a:xfrm>
            <a:off x="548640" y="1435608"/>
            <a:ext cx="8046720" cy="877824"/>
          </a:xfrm>
          <a:prstGeom prst="rect">
            <a:avLst/>
          </a:prstGeom>
          <a:noFill/>
          <a:ln/>
        </p:spPr>
        <p:txBody>
          <a:bodyPr wrap="square" lIns="0" tIns="0" rIns="0" bIns="0" rtlCol="0" anchor="t"/>
          <a:lstStyle/>
          <a:p>
            <a:pPr marL="0" indent="0" algn="l">
              <a:lnSpc>
                <a:spcPct val="125000"/>
              </a:lnSpc>
              <a:buNone/>
            </a:pPr>
            <a:r>
              <a:rPr lang="en-US" sz="1100" dirty="0">
                <a:solidFill>
                  <a:srgbClr val="2B2B2B"/>
                </a:solidFill>
                <a:latin typeface="맑은 고딕" pitchFamily="34" charset="0"/>
                <a:ea typeface="맑은 고딕" pitchFamily="34" charset="-122"/>
                <a:cs typeface="맑은 고딕" pitchFamily="34" charset="-120"/>
              </a:rPr>
              <a:t>"이것은 보험이 아니라, 매달 커피 몇 잔 값으로 10년 뒤 나를 지켜줄 수천만 원의 '금융 안전망'을 만드는 효과적인 위험 대비 방법"이라는 새로운 관점을 제시합니다. 보험의 뼈대만 남긴 '필수 3종 세트', 월 3만 원대라는 부담 없는 상한선 설정, 그리고 중도 해지 가능성까지 고려한 합리적인 상품 구성을 통해 10년 뒤에도 절대 후회하거나 해지하지 않을 '첫 단추'를 채우는 것이 이번 컨설팅의 핵심 목표입니다.</a:t>
            </a:r>
            <a:endParaRPr lang="en-US" sz="1100" dirty="0"/>
          </a:p>
        </p:txBody>
      </p:sp>
      <p:sp>
        <p:nvSpPr>
          <p:cNvPr id="7" name="Text 5"/>
          <p:cNvSpPr/>
          <p:nvPr/>
        </p:nvSpPr>
        <p:spPr>
          <a:xfrm>
            <a:off x="548640" y="2404872"/>
            <a:ext cx="8046720" cy="438912"/>
          </a:xfrm>
          <a:prstGeom prst="rect">
            <a:avLst/>
          </a:prstGeom>
          <a:noFill/>
          <a:ln/>
        </p:spPr>
        <p:txBody>
          <a:bodyPr wrap="square" lIns="0" tIns="0" rIns="0" bIns="0" rtlCol="0" anchor="t"/>
          <a:lstStyle/>
          <a:p>
            <a:pPr marL="0" indent="0" algn="l">
              <a:lnSpc>
                <a:spcPct val="125000"/>
              </a:lnSpc>
              <a:buNone/>
            </a:pPr>
            <a:r>
              <a:rPr lang="en-US" sz="1100" dirty="0">
                <a:solidFill>
                  <a:srgbClr val="2B2B2B"/>
                </a:solidFill>
                <a:latin typeface="맑은 고딕" pitchFamily="34" charset="0"/>
                <a:ea typeface="맑은 고딕" pitchFamily="34" charset="-122"/>
                <a:cs typeface="맑은 고딕" pitchFamily="34" charset="-120"/>
              </a:rPr>
              <a:t>이를 통해 고객은 생애 첫 금융 안전망을 성공적으로 구축하고, 컨설턴트는 고객의 평생 금융 파트너로 자리매김하는 첫 신뢰를 얻게 될 것입니다.</a:t>
            </a:r>
            <a:endParaRPr lang="en-US" sz="1100" dirty="0"/>
          </a:p>
        </p:txBody>
      </p:sp>
      <p:sp>
        <p:nvSpPr>
          <p:cNvPr id="8" name="Text 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9" name="Text 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02</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 고객 프로필 및 재무상황 분석 (Client Discovery)</a:t>
            </a:r>
            <a:endParaRPr lang="en-US" sz="1600" dirty="0"/>
          </a:p>
        </p:txBody>
      </p:sp>
      <p:sp>
        <p:nvSpPr>
          <p:cNvPr id="5" name="Text 3"/>
          <p:cNvSpPr/>
          <p:nvPr/>
        </p:nvSpPr>
        <p:spPr>
          <a:xfrm>
            <a:off x="548640" y="685800"/>
            <a:ext cx="8046720" cy="274320"/>
          </a:xfrm>
          <a:prstGeom prst="rect">
            <a:avLst/>
          </a:prstGeom>
          <a:noFill/>
          <a:ln/>
        </p:spPr>
        <p:txBody>
          <a:bodyPr wrap="square" lIns="0" tIns="0" rIns="0" bIns="0" rtlCol="0" anchor="ctr"/>
          <a:lstStyle/>
          <a:p>
            <a:pPr marL="0" indent="0" algn="l">
              <a:buNone/>
            </a:pPr>
            <a:r>
              <a:rPr lang="en-US" sz="1100" dirty="0">
                <a:solidFill>
                  <a:srgbClr val="4A5568"/>
                </a:solidFill>
                <a:latin typeface="맑은 고딕" pitchFamily="34" charset="0"/>
                <a:ea typeface="맑은 고딕" pitchFamily="34" charset="-122"/>
                <a:cs typeface="맑은 고딕" pitchFamily="34" charset="-120"/>
              </a:rPr>
              <a:t>20대의 삶을 이해하고 그들의 언어로 소통하는 것이 신뢰 구축의 시작입니다.</a:t>
            </a:r>
            <a:endParaRPr lang="en-US" sz="1100" dirty="0"/>
          </a:p>
        </p:txBody>
      </p:sp>
      <p:sp>
        <p:nvSpPr>
          <p:cNvPr id="6" name="Text 4"/>
          <p:cNvSpPr/>
          <p:nvPr/>
        </p:nvSpPr>
        <p:spPr>
          <a:xfrm>
            <a:off x="457200" y="105156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1. 고객 프로필</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768624495"/>
              </p:ext>
            </p:extLst>
          </p:nvPr>
        </p:nvGraphicFramePr>
        <p:xfrm>
          <a:off x="457200" y="1435608"/>
          <a:ext cx="8229600" cy="1389888"/>
        </p:xfrm>
        <a:graphic>
          <a:graphicData uri="http://schemas.openxmlformats.org/drawingml/2006/table">
            <a:tbl>
              <a:tblPr/>
              <a:tblGrid>
                <a:gridCol w="164592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292608">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구분</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내용</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274320">
                <a:tc>
                  <a:txBody>
                    <a:bodyPr/>
                    <a:lstStyle/>
                    <a:p>
                      <a:pPr marL="0" indent="0" algn="ctr">
                        <a:buNone/>
                      </a:pPr>
                      <a:r>
                        <a:rPr lang="en-US" sz="1000" b="1" dirty="0">
                          <a:solidFill>
                            <a:srgbClr val="000000"/>
                          </a:solidFill>
                          <a:latin typeface="맑은 고딕" pitchFamily="34" charset="0"/>
                          <a:ea typeface="맑은 고딕" pitchFamily="34" charset="-122"/>
                          <a:cs typeface="맑은 고딕" pitchFamily="34" charset="-120"/>
                        </a:rPr>
                        <a:t>성명</a:t>
                      </a:r>
                      <a:endParaRPr lang="en-US" sz="1000" dirty="0">
                        <a:latin typeface="맑은 고딕" charset="0"/>
                        <a:ea typeface="맑은 고딕" charset="0"/>
                        <a:cs typeface="맑은 고딕" charset="0"/>
                      </a:endParaRPr>
                    </a:p>
                  </a:txBody>
                  <a:tcPr marL="63500" marR="63500" marT="38100" marB="3810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이로운 (가명)</a:t>
                      </a:r>
                      <a:endParaRPr lang="en-US" sz="1000" dirty="0">
                        <a:latin typeface="맑은 고딕" charset="0"/>
                        <a:ea typeface="맑은 고딕" charset="0"/>
                        <a:cs typeface="맑은 고딕" charset="0"/>
                      </a:endParaRPr>
                    </a:p>
                  </a:txBody>
                  <a:tcPr marL="63500" marR="63500" marT="38100" marB="3810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extLst>
                  <a:ext uri="{0D108BD9-81ED-4DB2-BD59-A6C34878D82A}">
                    <a16:rowId xmlns:a16="http://schemas.microsoft.com/office/drawing/2014/main" val="10001"/>
                  </a:ext>
                </a:extLst>
              </a:tr>
              <a:tr h="274320">
                <a:tc>
                  <a:txBody>
                    <a:bodyPr/>
                    <a:lstStyle/>
                    <a:p>
                      <a:pPr marL="0" indent="0" algn="ctr">
                        <a:buNone/>
                      </a:pPr>
                      <a:r>
                        <a:rPr lang="en-US" sz="1000" b="1" dirty="0">
                          <a:solidFill>
                            <a:srgbClr val="000000"/>
                          </a:solidFill>
                          <a:latin typeface="맑은 고딕" pitchFamily="34" charset="0"/>
                          <a:ea typeface="맑은 고딕" pitchFamily="34" charset="-122"/>
                          <a:cs typeface="맑은 고딕" pitchFamily="34" charset="-120"/>
                        </a:rPr>
                        <a:t>연령</a:t>
                      </a:r>
                      <a:endParaRPr lang="en-US" sz="1000" dirty="0">
                        <a:latin typeface="맑은 고딕" charset="0"/>
                        <a:ea typeface="맑은 고딕" charset="0"/>
                        <a:cs typeface="맑은 고딕" charset="0"/>
                      </a:endParaRPr>
                    </a:p>
                  </a:txBody>
                  <a:tcPr marL="63500" marR="63500" marT="38100" marB="3810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만 26세</a:t>
                      </a:r>
                      <a:endParaRPr lang="en-US" sz="1000" dirty="0">
                        <a:latin typeface="맑은 고딕" charset="0"/>
                        <a:ea typeface="맑은 고딕" charset="0"/>
                        <a:cs typeface="맑은 고딕" charset="0"/>
                      </a:endParaRPr>
                    </a:p>
                  </a:txBody>
                  <a:tcPr marL="63500" marR="63500" marT="38100" marB="3810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ctr">
                        <a:buNone/>
                      </a:pPr>
                      <a:r>
                        <a:rPr lang="en-US" sz="1000" b="1" dirty="0">
                          <a:solidFill>
                            <a:srgbClr val="000000"/>
                          </a:solidFill>
                          <a:latin typeface="맑은 고딕" pitchFamily="34" charset="0"/>
                          <a:ea typeface="맑은 고딕" pitchFamily="34" charset="-122"/>
                          <a:cs typeface="맑은 고딕" pitchFamily="34" charset="-120"/>
                        </a:rPr>
                        <a:t>직업</a:t>
                      </a:r>
                      <a:endParaRPr lang="en-US" sz="1000" dirty="0">
                        <a:latin typeface="맑은 고딕" charset="0"/>
                        <a:ea typeface="맑은 고딕" charset="0"/>
                        <a:cs typeface="맑은 고딕" charset="0"/>
                      </a:endParaRPr>
                    </a:p>
                  </a:txBody>
                  <a:tcPr marL="63500" marR="63500" marT="38100" marB="3810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중소 마케팅 회사 사원 (입사 2년 차)</a:t>
                      </a:r>
                      <a:endParaRPr lang="en-US" sz="1000" dirty="0">
                        <a:latin typeface="맑은 고딕" charset="0"/>
                        <a:ea typeface="맑은 고딕" charset="0"/>
                        <a:cs typeface="맑은 고딕" charset="0"/>
                      </a:endParaRPr>
                    </a:p>
                  </a:txBody>
                  <a:tcPr marL="63500" marR="63500" marT="38100" marB="3810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extLst>
                  <a:ext uri="{0D108BD9-81ED-4DB2-BD59-A6C34878D82A}">
                    <a16:rowId xmlns:a16="http://schemas.microsoft.com/office/drawing/2014/main" val="10003"/>
                  </a:ext>
                </a:extLst>
              </a:tr>
              <a:tr h="274320">
                <a:tc>
                  <a:txBody>
                    <a:bodyPr/>
                    <a:lstStyle/>
                    <a:p>
                      <a:pPr marL="0" indent="0" algn="ctr">
                        <a:buNone/>
                      </a:pPr>
                      <a:r>
                        <a:rPr lang="en-US" sz="1000" b="1" dirty="0">
                          <a:solidFill>
                            <a:srgbClr val="000000"/>
                          </a:solidFill>
                          <a:latin typeface="맑은 고딕" pitchFamily="34" charset="0"/>
                          <a:ea typeface="맑은 고딕" pitchFamily="34" charset="-122"/>
                          <a:cs typeface="맑은 고딕" pitchFamily="34" charset="-120"/>
                        </a:rPr>
                        <a:t>가족 관계</a:t>
                      </a:r>
                      <a:endParaRPr lang="en-US" sz="1000" dirty="0">
                        <a:latin typeface="맑은 고딕" charset="0"/>
                        <a:ea typeface="맑은 고딕" charset="0"/>
                        <a:cs typeface="맑은 고딕" charset="0"/>
                      </a:endParaRPr>
                    </a:p>
                  </a:txBody>
                  <a:tcPr marL="63500" marR="63500" marT="38100" marB="3810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미혼, 부모님과 동거 중</a:t>
                      </a:r>
                      <a:endParaRPr lang="en-US" sz="1000" dirty="0">
                        <a:latin typeface="맑은 고딕" charset="0"/>
                        <a:ea typeface="맑은 고딕" charset="0"/>
                        <a:cs typeface="맑은 고딕" charset="0"/>
                      </a:endParaRPr>
                    </a:p>
                  </a:txBody>
                  <a:tcPr marL="63500" marR="63500" marT="38100" marB="3810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Text 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9" name="Text 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03</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 고객 프로필 및 재무상황 분석 (계속)</a:t>
            </a:r>
            <a:endParaRPr lang="en-US" sz="1600" dirty="0"/>
          </a:p>
        </p:txBody>
      </p:sp>
      <p:sp>
        <p:nvSpPr>
          <p:cNvPr id="5" name="Text 3"/>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1. 고객 프로필 (계속)</a:t>
            </a:r>
            <a:endParaRPr lang="en-US" sz="1400" dirty="0"/>
          </a:p>
        </p:txBody>
      </p:sp>
      <p:sp>
        <p:nvSpPr>
          <p:cNvPr id="6" name="Shape 4"/>
          <p:cNvSpPr/>
          <p:nvPr/>
        </p:nvSpPr>
        <p:spPr>
          <a:xfrm>
            <a:off x="548640" y="1069848"/>
            <a:ext cx="8046720" cy="13716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548640" y="1069848"/>
            <a:ext cx="54864" cy="1371600"/>
          </a:xfrm>
          <a:prstGeom prst="rect">
            <a:avLst/>
          </a:prstGeom>
          <a:solidFill>
            <a:srgbClr val="C8962E"/>
          </a:solidFill>
          <a:ln/>
        </p:spPr>
        <p:txBody>
          <a:bodyPr/>
          <a:lstStyle/>
          <a:p>
            <a:endParaRPr lang="ko-KR" altLang="en-US"/>
          </a:p>
        </p:txBody>
      </p:sp>
      <p:sp>
        <p:nvSpPr>
          <p:cNvPr id="8" name="Text 6"/>
          <p:cNvSpPr/>
          <p:nvPr/>
        </p:nvSpPr>
        <p:spPr>
          <a:xfrm>
            <a:off x="731520" y="1143000"/>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라이프스타일</a:t>
            </a:r>
            <a:endParaRPr lang="en-US" sz="1200" dirty="0"/>
          </a:p>
        </p:txBody>
      </p:sp>
      <p:sp>
        <p:nvSpPr>
          <p:cNvPr id="9" name="Text 7"/>
          <p:cNvSpPr/>
          <p:nvPr/>
        </p:nvSpPr>
        <p:spPr>
          <a:xfrm>
            <a:off x="868680" y="1499616"/>
            <a:ext cx="7543800" cy="960120"/>
          </a:xfrm>
          <a:prstGeom prst="rect">
            <a:avLst/>
          </a:prstGeom>
          <a:noFill/>
          <a:ln/>
        </p:spPr>
        <p:txBody>
          <a:bodyPr wrap="square" lIns="0" tIns="0" rIns="0" bIns="0" rtlCol="0" anchor="t"/>
          <a:lstStyle/>
          <a:p>
            <a:pPr marL="342900" indent="-342900">
              <a:lnSpc>
                <a:spcPct val="11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학자금 대출 상환과 월세 독립을 위해 절약하는 습관이 있으나, 주말에는 친구들과 어울리고 취미 생활(헬스, 자전거)을 즐기는 등 현재의 삶을 중시함(YOLO 성향).</a:t>
            </a:r>
            <a:endParaRPr lang="en-US" sz="1000" dirty="0"/>
          </a:p>
          <a:p>
            <a:pPr marL="342900" indent="-342900">
              <a:lnSpc>
                <a:spcPct val="11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재테크에 관심이 많아 소액으로 주식 투자를 하고 있으며, 보험은 '비용'이자 '고정지출'이라는 인식이 강함.</a:t>
            </a:r>
            <a:endParaRPr lang="en-US" sz="1000" dirty="0"/>
          </a:p>
          <a:p>
            <a:pPr marL="342900" indent="-342900">
              <a:lnSpc>
                <a:spcPct val="11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본인은 매우 건강하다고 생각하며, 아프거나 다칠 위험에 대해 크게 생각하지 않음.</a:t>
            </a:r>
            <a:endParaRPr lang="en-US" sz="1000" dirty="0"/>
          </a:p>
        </p:txBody>
      </p:sp>
      <p:sp>
        <p:nvSpPr>
          <p:cNvPr id="10" name="Shape 8"/>
          <p:cNvSpPr/>
          <p:nvPr/>
        </p:nvSpPr>
        <p:spPr>
          <a:xfrm>
            <a:off x="548640" y="2551176"/>
            <a:ext cx="8046720" cy="12801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548640" y="2551176"/>
            <a:ext cx="54864" cy="1280160"/>
          </a:xfrm>
          <a:prstGeom prst="rect">
            <a:avLst/>
          </a:prstGeom>
          <a:solidFill>
            <a:srgbClr val="C8962E"/>
          </a:solidFill>
          <a:ln/>
        </p:spPr>
        <p:txBody>
          <a:bodyPr/>
          <a:lstStyle/>
          <a:p>
            <a:endParaRPr lang="ko-KR" altLang="en-US"/>
          </a:p>
        </p:txBody>
      </p:sp>
      <p:sp>
        <p:nvSpPr>
          <p:cNvPr id="12" name="Text 10"/>
          <p:cNvSpPr/>
          <p:nvPr/>
        </p:nvSpPr>
        <p:spPr>
          <a:xfrm>
            <a:off x="731520" y="2624328"/>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핵심 고민</a:t>
            </a:r>
            <a:endParaRPr lang="en-US" sz="1200" dirty="0"/>
          </a:p>
        </p:txBody>
      </p:sp>
      <p:sp>
        <p:nvSpPr>
          <p:cNvPr id="13" name="Text 11"/>
          <p:cNvSpPr/>
          <p:nvPr/>
        </p:nvSpPr>
        <p:spPr>
          <a:xfrm>
            <a:off x="868680" y="2980944"/>
            <a:ext cx="7543800" cy="914400"/>
          </a:xfrm>
          <a:prstGeom prst="rect">
            <a:avLst/>
          </a:prstGeom>
          <a:noFill/>
          <a:ln/>
        </p:spPr>
        <p:txBody>
          <a:bodyPr wrap="square" lIns="0" tIns="0" rIns="0" bIns="0" rtlCol="0" anchor="t"/>
          <a:lstStyle/>
          <a:p>
            <a:pPr marL="342900" indent="-342900">
              <a:lnSpc>
                <a:spcPct val="11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월급은 한정적인데, 학자금 대출 상환, 저축, 생활비 등 돈 들어갈 곳이 너무 많음.</a:t>
            </a:r>
            <a:endParaRPr lang="en-US" sz="1000" dirty="0"/>
          </a:p>
          <a:p>
            <a:pPr marL="342900" indent="-342900">
              <a:lnSpc>
                <a:spcPct val="11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부모님께서 "보험 하나는 있어야 한다"고 말씀하시지만, 왜 필요한지, 무엇을 가입해야 하는지 전혀 모르겠음.</a:t>
            </a:r>
            <a:endParaRPr lang="en-US" sz="1000" dirty="0"/>
          </a:p>
          <a:p>
            <a:pPr marL="342900" indent="-342900">
              <a:lnSpc>
                <a:spcPct val="11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주변 친구들이 가입한 보험을 보면 월 10만 원이 넘어 부담스럽고, 한번 가입하면 20년 넘게 내야 한다는 사실이 막막하게 느껴짐.</a:t>
            </a:r>
            <a:endParaRPr lang="en-US" sz="1000" dirty="0"/>
          </a:p>
        </p:txBody>
      </p:sp>
      <p:sp>
        <p:nvSpPr>
          <p:cNvPr id="14" name="Text 12"/>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15" name="Text 13"/>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04</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 고객 프로필 및 재무상황 분석 (계속)</a:t>
            </a:r>
            <a:endParaRPr lang="en-US" sz="1600" dirty="0"/>
          </a:p>
        </p:txBody>
      </p:sp>
      <p:sp>
        <p:nvSpPr>
          <p:cNvPr id="5" name="Text 3"/>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2. 재무 현황 분석</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3823342173"/>
              </p:ext>
            </p:extLst>
          </p:nvPr>
        </p:nvGraphicFramePr>
        <p:xfrm>
          <a:off x="457200" y="1069848"/>
          <a:ext cx="8229600" cy="1938528"/>
        </p:xfrm>
        <a:graphic>
          <a:graphicData uri="http://schemas.openxmlformats.org/drawingml/2006/table">
            <a:tbl>
              <a:tblPr/>
              <a:tblGrid>
                <a:gridCol w="16459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292608">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구분</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내용</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비고</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274320">
                <a:tc>
                  <a:txBody>
                    <a:bodyPr/>
                    <a:lstStyle/>
                    <a:p>
                      <a:pPr marL="0" indent="0" algn="ctr">
                        <a:buNone/>
                      </a:pPr>
                      <a:r>
                        <a:rPr lang="en-US" sz="1000" b="1" dirty="0">
                          <a:solidFill>
                            <a:srgbClr val="000000"/>
                          </a:solidFill>
                          <a:latin typeface="맑은 고딕" pitchFamily="34" charset="0"/>
                          <a:ea typeface="맑은 고딕" pitchFamily="34" charset="-122"/>
                          <a:cs typeface="맑은 고딕" pitchFamily="34" charset="-120"/>
                        </a:rPr>
                        <a:t>월 평균 수입</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000000"/>
                          </a:solidFill>
                          <a:latin typeface="맑은 고딕" pitchFamily="34" charset="0"/>
                          <a:ea typeface="맑은 고딕" pitchFamily="34" charset="-122"/>
                          <a:cs typeface="맑은 고딕" pitchFamily="34" charset="-120"/>
                        </a:rPr>
                        <a:t>250만 원 (세후)</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extLst>
                  <a:ext uri="{0D108BD9-81ED-4DB2-BD59-A6C34878D82A}">
                    <a16:rowId xmlns:a16="http://schemas.microsoft.com/office/drawing/2014/main" val="10001"/>
                  </a:ext>
                </a:extLst>
              </a:tr>
              <a:tr h="457200">
                <a:tc>
                  <a:txBody>
                    <a:bodyPr/>
                    <a:lstStyle/>
                    <a:p>
                      <a:pPr marL="0" indent="0" algn="ctr">
                        <a:buNone/>
                      </a:pPr>
                      <a:r>
                        <a:rPr lang="en-US" sz="1000" b="1" dirty="0">
                          <a:solidFill>
                            <a:srgbClr val="000000"/>
                          </a:solidFill>
                          <a:latin typeface="맑은 고딕" pitchFamily="34" charset="0"/>
                          <a:ea typeface="맑은 고딕" pitchFamily="34" charset="-122"/>
                          <a:cs typeface="맑은 고딕" pitchFamily="34" charset="-120"/>
                        </a:rPr>
                        <a:t>월 평균 지출</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000" dirty="0">
                          <a:solidFill>
                            <a:srgbClr val="000000"/>
                          </a:solidFill>
                          <a:latin typeface="맑은 고딕" pitchFamily="34" charset="0"/>
                          <a:ea typeface="맑은 고딕" pitchFamily="34" charset="-122"/>
                          <a:cs typeface="맑은 고딕" pitchFamily="34" charset="-120"/>
                        </a:rPr>
                        <a:t>200만 원</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 고정비(학자금, 통신비 등): 50만 원</a:t>
                      </a:r>
                      <a:endParaRPr lang="en-US" sz="900" dirty="0">
                        <a:latin typeface="맑은 고딕" charset="0"/>
                        <a:ea typeface="맑은 고딕" charset="0"/>
                        <a:cs typeface="맑은 고딕" charset="0"/>
                      </a:endParaRPr>
                    </a:p>
                    <a:p>
                      <a:pPr marL="0" indent="0" algn="ctr">
                        <a:buNone/>
                      </a:pPr>
                      <a:r>
                        <a:rPr lang="en-US" sz="900" dirty="0">
                          <a:solidFill>
                            <a:srgbClr val="000000"/>
                          </a:solidFill>
                          <a:latin typeface="맑은 고딕" pitchFamily="34" charset="0"/>
                          <a:ea typeface="맑은 고딕" pitchFamily="34" charset="-122"/>
                          <a:cs typeface="맑은 고딕" pitchFamily="34" charset="-120"/>
                        </a:rPr>
                        <a:t>- 변동비(생활비, 용돈 등): 150만 원</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000" b="1" dirty="0">
                          <a:solidFill>
                            <a:srgbClr val="000000"/>
                          </a:solidFill>
                          <a:latin typeface="맑은 고딕" pitchFamily="34" charset="0"/>
                          <a:ea typeface="맑은 고딕" pitchFamily="34" charset="-122"/>
                          <a:cs typeface="맑은 고딕" pitchFamily="34" charset="-120"/>
                        </a:rPr>
                        <a:t>월 잉여 자금</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000000"/>
                          </a:solidFill>
                          <a:latin typeface="맑은 고딕" pitchFamily="34" charset="0"/>
                          <a:ea typeface="맑은 고딕" pitchFamily="34" charset="-122"/>
                          <a:cs typeface="맑은 고딕" pitchFamily="34" charset="-120"/>
                        </a:rPr>
                        <a:t>50만 원</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주택청약 10만 원, 주식 투자 20만 원, 예비비 20만 원</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extLst>
                  <a:ext uri="{0D108BD9-81ED-4DB2-BD59-A6C34878D82A}">
                    <a16:rowId xmlns:a16="http://schemas.microsoft.com/office/drawing/2014/main" val="10003"/>
                  </a:ext>
                </a:extLst>
              </a:tr>
              <a:tr h="274320">
                <a:tc>
                  <a:txBody>
                    <a:bodyPr/>
                    <a:lstStyle/>
                    <a:p>
                      <a:pPr marL="0" indent="0" algn="ctr">
                        <a:buNone/>
                      </a:pPr>
                      <a:r>
                        <a:rPr lang="en-US" sz="1000" b="1" dirty="0">
                          <a:solidFill>
                            <a:srgbClr val="000000"/>
                          </a:solidFill>
                          <a:latin typeface="맑은 고딕" pitchFamily="34" charset="0"/>
                          <a:ea typeface="맑은 고딕" pitchFamily="34" charset="-122"/>
                          <a:cs typeface="맑은 고딕" pitchFamily="34" charset="-120"/>
                        </a:rPr>
                        <a:t>주요 자산</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1000" dirty="0">
                          <a:solidFill>
                            <a:srgbClr val="000000"/>
                          </a:solidFill>
                          <a:latin typeface="맑은 고딕" pitchFamily="34" charset="0"/>
                          <a:ea typeface="맑은 고딕" pitchFamily="34" charset="-122"/>
                          <a:cs typeface="맑은 고딕" pitchFamily="34" charset="-120"/>
                        </a:rPr>
                        <a:t>주택청약 240만 원, 주식 평가액 300만 원</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lgn="ctr">
                        <a:buNone/>
                      </a:pPr>
                      <a:r>
                        <a:rPr lang="en-US" sz="1000" b="1" dirty="0">
                          <a:solidFill>
                            <a:srgbClr val="000000"/>
                          </a:solidFill>
                          <a:latin typeface="맑은 고딕" pitchFamily="34" charset="0"/>
                          <a:ea typeface="맑은 고딕" pitchFamily="34" charset="-122"/>
                          <a:cs typeface="맑은 고딕" pitchFamily="34" charset="-120"/>
                        </a:rPr>
                        <a:t>주요 부채</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000000"/>
                          </a:solidFill>
                          <a:latin typeface="맑은 고딕" pitchFamily="34" charset="0"/>
                          <a:ea typeface="맑은 고딕" pitchFamily="34" charset="-122"/>
                          <a:cs typeface="맑은 고딕" pitchFamily="34" charset="-120"/>
                        </a:rPr>
                        <a:t>학자금 대출 잔액 1,500만 원</a:t>
                      </a: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endParaRPr lang="en-US" sz="10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extLst>
                  <a:ext uri="{0D108BD9-81ED-4DB2-BD59-A6C34878D82A}">
                    <a16:rowId xmlns:a16="http://schemas.microsoft.com/office/drawing/2014/main" val="10005"/>
                  </a:ext>
                </a:extLst>
              </a:tr>
            </a:tbl>
          </a:graphicData>
        </a:graphic>
      </p:graphicFrame>
      <p:sp>
        <p:nvSpPr>
          <p:cNvPr id="7" name="Text 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8" name="Text 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05</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 고객 프로필 및 재무상황 분석 (계속)</a:t>
            </a:r>
            <a:endParaRPr lang="en-US" sz="1600" dirty="0"/>
          </a:p>
        </p:txBody>
      </p:sp>
      <p:sp>
        <p:nvSpPr>
          <p:cNvPr id="5" name="Text 3"/>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3. 인생 목표 및 리스크 분석</a:t>
            </a:r>
            <a:endParaRPr lang="en-US" sz="1400" dirty="0"/>
          </a:p>
        </p:txBody>
      </p:sp>
      <p:sp>
        <p:nvSpPr>
          <p:cNvPr id="6" name="Text 4"/>
          <p:cNvSpPr/>
          <p:nvPr/>
        </p:nvSpPr>
        <p:spPr>
          <a:xfrm>
            <a:off x="640080" y="1069848"/>
            <a:ext cx="7863840" cy="877824"/>
          </a:xfrm>
          <a:prstGeom prst="rect">
            <a:avLst/>
          </a:prstGeom>
          <a:noFill/>
          <a:ln/>
        </p:spPr>
        <p:txBody>
          <a:bodyPr wrap="square" lIns="0" tIns="0" rIns="0" bIns="0" rtlCol="0" anchor="t"/>
          <a:lstStyle/>
          <a:p>
            <a:pPr marL="342900" indent="-342900">
              <a:lnSpc>
                <a:spcPct val="115000"/>
              </a:lnSpc>
              <a:buSzPct val="100000"/>
              <a:buChar char="•"/>
            </a:pPr>
            <a:r>
              <a:rPr lang="en-US" sz="1100" dirty="0">
                <a:solidFill>
                  <a:srgbClr val="2B2B2B"/>
                </a:solidFill>
                <a:latin typeface="맑은 고딕" pitchFamily="34" charset="0"/>
                <a:ea typeface="맑은 고딕" pitchFamily="34" charset="-122"/>
                <a:cs typeface="맑은 고딕" pitchFamily="34" charset="-120"/>
              </a:rPr>
              <a:t>단기 목표: 3년 내 학자금 대출 전액 상환, 5년 내 5,000만 원 모아 독립하기</a:t>
            </a:r>
            <a:endParaRPr lang="en-US" sz="1100" dirty="0"/>
          </a:p>
          <a:p>
            <a:pPr marL="342900" indent="-342900">
              <a:lnSpc>
                <a:spcPct val="115000"/>
              </a:lnSpc>
              <a:buSzPct val="100000"/>
              <a:buChar char="•"/>
            </a:pPr>
            <a:r>
              <a:rPr lang="en-US" sz="1100" dirty="0">
                <a:solidFill>
                  <a:srgbClr val="2B2B2B"/>
                </a:solidFill>
                <a:latin typeface="맑은 고딕" pitchFamily="34" charset="0"/>
                <a:ea typeface="맑은 고딕" pitchFamily="34" charset="-122"/>
                <a:cs typeface="맑은 고딕" pitchFamily="34" charset="-120"/>
              </a:rPr>
              <a:t>중기 목표: 10년 후 결혼자금 마련 및 자가 마련의 기반 구축</a:t>
            </a:r>
            <a:endParaRPr lang="en-US" sz="1100" dirty="0"/>
          </a:p>
          <a:p>
            <a:pPr marL="342900" indent="-342900">
              <a:lnSpc>
                <a:spcPct val="115000"/>
              </a:lnSpc>
              <a:buSzPct val="100000"/>
              <a:buChar char="•"/>
            </a:pPr>
            <a:r>
              <a:rPr lang="en-US" sz="1100" dirty="0">
                <a:solidFill>
                  <a:srgbClr val="2B2B2B"/>
                </a:solidFill>
                <a:latin typeface="맑은 고딕" pitchFamily="34" charset="0"/>
                <a:ea typeface="맑은 고딕" pitchFamily="34" charset="-122"/>
                <a:cs typeface="맑은 고딕" pitchFamily="34" charset="-120"/>
              </a:rPr>
              <a:t>장기 목표: 안정적인 자산을 통한 경제적 자유</a:t>
            </a:r>
            <a:endParaRPr lang="en-US" sz="1100" dirty="0"/>
          </a:p>
        </p:txBody>
      </p:sp>
      <p:sp>
        <p:nvSpPr>
          <p:cNvPr id="7" name="Text 5"/>
          <p:cNvSpPr/>
          <p:nvPr/>
        </p:nvSpPr>
        <p:spPr>
          <a:xfrm>
            <a:off x="457200" y="2084832"/>
            <a:ext cx="8229600" cy="274320"/>
          </a:xfrm>
          <a:prstGeom prst="rect">
            <a:avLst/>
          </a:prstGeom>
          <a:noFill/>
          <a:ln/>
        </p:spPr>
        <p:txBody>
          <a:bodyPr wrap="square" lIns="0" tIns="0" rIns="0" bIns="0" rtlCol="0" anchor="ctr"/>
          <a:lstStyle/>
          <a:p>
            <a:pPr marL="0" indent="0" algn="l">
              <a:buNone/>
            </a:pPr>
            <a:r>
              <a:rPr lang="en-US" sz="1300" b="1" dirty="0">
                <a:solidFill>
                  <a:srgbClr val="D4382C"/>
                </a:solidFill>
                <a:latin typeface="맑은 고딕" pitchFamily="34" charset="0"/>
                <a:ea typeface="맑은 고딕" pitchFamily="34" charset="-122"/>
                <a:cs typeface="맑은 고딕" pitchFamily="34" charset="-120"/>
              </a:rPr>
              <a:t>핵심 리스크</a:t>
            </a:r>
            <a:endParaRPr lang="en-US" sz="1300" dirty="0"/>
          </a:p>
        </p:txBody>
      </p:sp>
      <p:sp>
        <p:nvSpPr>
          <p:cNvPr id="8" name="Text 6"/>
          <p:cNvSpPr/>
          <p:nvPr/>
        </p:nvSpPr>
        <p:spPr>
          <a:xfrm>
            <a:off x="640080" y="2404872"/>
            <a:ext cx="7863840" cy="1645920"/>
          </a:xfrm>
          <a:prstGeom prst="rect">
            <a:avLst/>
          </a:prstGeom>
          <a:noFill/>
          <a:ln/>
        </p:spPr>
        <p:txBody>
          <a:bodyPr wrap="square" lIns="0" tIns="0" rIns="0" bIns="0" rtlCol="0" anchor="t"/>
          <a:lstStyle/>
          <a:p>
            <a:pPr marL="342900" indent="-342900">
              <a:lnSpc>
                <a:spcPct val="110000"/>
              </a:lnSpc>
              <a:buSzPct val="100000"/>
              <a:buChar char="•"/>
            </a:pPr>
            <a:r>
              <a:rPr lang="en-US" sz="1000" dirty="0">
                <a:solidFill>
                  <a:srgbClr val="D4382C"/>
                </a:solidFill>
                <a:latin typeface="맑은 고딕" pitchFamily="34" charset="0"/>
                <a:ea typeface="맑은 고딕" pitchFamily="34" charset="-122"/>
                <a:cs typeface="맑은 고딕" pitchFamily="34" charset="-120"/>
              </a:rPr>
              <a:t>예측 불가능한 의료비 리스크: 갑작스러운 질병이나 사고(예: 자전거 사고로 인한 골절, 암 진단 등) 발생 시, 치료비 부담은 물론 소득 활동 중단으로 인해 단기 재무 목표(학자금 상환, 독립자금 마련)가 완전히 좌초될 위험.</a:t>
            </a:r>
            <a:endParaRPr lang="en-US" sz="1000" dirty="0"/>
          </a:p>
          <a:p>
            <a:pPr marL="342900" indent="-342900">
              <a:lnSpc>
                <a:spcPct val="110000"/>
              </a:lnSpc>
              <a:buSzPct val="100000"/>
              <a:buChar char="•"/>
            </a:pPr>
            <a:r>
              <a:rPr lang="en-US" sz="1000" dirty="0">
                <a:solidFill>
                  <a:srgbClr val="D4382C"/>
                </a:solidFill>
                <a:latin typeface="맑은 고딕" pitchFamily="34" charset="0"/>
                <a:ea typeface="맑은 고딕" pitchFamily="34" charset="-122"/>
                <a:cs typeface="맑은 고딕" pitchFamily="34" charset="-120"/>
              </a:rPr>
              <a:t>'가입 권리' 상실 리스크: 지금은 건강하지만, 향후 작은 병력이라도 생기면 보험 가입이 거절되거나 비싼 보험료를 내야 하는 등 정작 필요할 때 보험에 가입하지 못하게 될 위험.</a:t>
            </a:r>
            <a:endParaRPr lang="en-US" sz="1000" dirty="0"/>
          </a:p>
          <a:p>
            <a:pPr marL="342900" indent="-342900">
              <a:lnSpc>
                <a:spcPct val="110000"/>
              </a:lnSpc>
              <a:buSzPct val="100000"/>
              <a:buChar char="•"/>
            </a:pPr>
            <a:r>
              <a:rPr lang="en-US" sz="1000" dirty="0">
                <a:solidFill>
                  <a:srgbClr val="D4382C"/>
                </a:solidFill>
                <a:latin typeface="맑은 고딕" pitchFamily="34" charset="0"/>
                <a:ea typeface="맑은 고딕" pitchFamily="34" charset="-122"/>
                <a:cs typeface="맑은 고딕" pitchFamily="34" charset="-120"/>
              </a:rPr>
              <a:t>잘못된 금융 습관 리스크: 첫 보험을 비싸고 불필요한 보장으로 가입하여 중도에 해지할 경우, 금전적 손실과 함께 보험에 대한 부정적 인식이 고착화될 위험.</a:t>
            </a:r>
            <a:endParaRPr lang="en-US" sz="1000" dirty="0"/>
          </a:p>
        </p:txBody>
      </p:sp>
      <p:sp>
        <p:nvSpPr>
          <p:cNvPr id="9" name="Text 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10" name="Text 8"/>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06</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 고객 프로필 및 재무상황 분석 (계속)</a:t>
            </a:r>
            <a:endParaRPr lang="en-US" sz="1600" dirty="0"/>
          </a:p>
        </p:txBody>
      </p:sp>
      <p:sp>
        <p:nvSpPr>
          <p:cNvPr id="5" name="Shape 3"/>
          <p:cNvSpPr/>
          <p:nvPr/>
        </p:nvSpPr>
        <p:spPr>
          <a:xfrm>
            <a:off x="457200" y="685800"/>
            <a:ext cx="8229600" cy="1243584"/>
          </a:xfrm>
          <a:prstGeom prst="rect">
            <a:avLst/>
          </a:prstGeom>
          <a:solidFill>
            <a:srgbClr val="EEF2F7"/>
          </a:solidFill>
          <a:ln/>
        </p:spPr>
        <p:txBody>
          <a:bodyPr/>
          <a:lstStyle/>
          <a:p>
            <a:endParaRPr lang="ko-KR" altLang="en-US"/>
          </a:p>
        </p:txBody>
      </p:sp>
      <p:sp>
        <p:nvSpPr>
          <p:cNvPr id="6" name="Text 4"/>
          <p:cNvSpPr/>
          <p:nvPr/>
        </p:nvSpPr>
        <p:spPr>
          <a:xfrm>
            <a:off x="640080" y="758952"/>
            <a:ext cx="7863840" cy="228600"/>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[전문가 의견]</a:t>
            </a:r>
            <a:endParaRPr lang="en-US" sz="1200" dirty="0"/>
          </a:p>
        </p:txBody>
      </p:sp>
      <p:sp>
        <p:nvSpPr>
          <p:cNvPr id="7" name="Text 5"/>
          <p:cNvSpPr/>
          <p:nvPr/>
        </p:nvSpPr>
        <p:spPr>
          <a:xfrm>
            <a:off x="640080" y="1005840"/>
            <a:ext cx="7863840" cy="850392"/>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이로운 고객의 재무 계획은 '아프거나 다치지 않을 것'이라는 가정 위에 세워진 모래성과 같습니다. 단 한 번의 사고나 질병으로도 모든 계획이 물거품이 될 수 있습니다. 우리의 역할은 이 리스크를 겁주는 것이 아니라, 월 3만 원대라는 최소한의 비용으로 이 모래성을 '콘크리트'로 바꾸는 방법을 알려주는 것입니다. 핵심은 '부담 없는 유지'와 '핵심 리스크 방어'라는 두 마리 토끼를 잡는 '가성비' 설계입니다.</a:t>
            </a:r>
            <a:endParaRPr lang="en-US" sz="1050" dirty="0"/>
          </a:p>
        </p:txBody>
      </p:sp>
      <p:sp>
        <p:nvSpPr>
          <p:cNvPr id="8" name="Text 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9" name="Text 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07</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II. 제안서 요약 (Executive Summary) (1/2)</a:t>
            </a:r>
            <a:endParaRPr lang="en-US" sz="1600" dirty="0"/>
          </a:p>
        </p:txBody>
      </p:sp>
      <p:sp>
        <p:nvSpPr>
          <p:cNvPr id="5" name="Shape 3"/>
          <p:cNvSpPr/>
          <p:nvPr/>
        </p:nvSpPr>
        <p:spPr>
          <a:xfrm>
            <a:off x="548640" y="685800"/>
            <a:ext cx="8046720" cy="13716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548640" y="685800"/>
            <a:ext cx="54864" cy="1371600"/>
          </a:xfrm>
          <a:prstGeom prst="rect">
            <a:avLst/>
          </a:prstGeom>
          <a:solidFill>
            <a:srgbClr val="D4382C"/>
          </a:solidFill>
          <a:ln/>
        </p:spPr>
        <p:txBody>
          <a:bodyPr/>
          <a:lstStyle/>
          <a:p>
            <a:endParaRPr lang="ko-KR" altLang="en-US"/>
          </a:p>
        </p:txBody>
      </p:sp>
      <p:sp>
        <p:nvSpPr>
          <p:cNvPr id="7" name="Text 5"/>
          <p:cNvSpPr/>
          <p:nvPr/>
        </p:nvSpPr>
        <p:spPr>
          <a:xfrm>
            <a:off x="731520" y="758952"/>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핵심 재무과제</a:t>
            </a:r>
            <a:endParaRPr lang="en-US" sz="1200" dirty="0"/>
          </a:p>
        </p:txBody>
      </p:sp>
      <p:sp>
        <p:nvSpPr>
          <p:cNvPr id="8" name="Text 6"/>
          <p:cNvSpPr/>
          <p:nvPr/>
        </p:nvSpPr>
        <p:spPr>
          <a:xfrm>
            <a:off x="868680" y="1115568"/>
            <a:ext cx="7543800" cy="228600"/>
          </a:xfrm>
          <a:prstGeom prst="rect">
            <a:avLst/>
          </a:prstGeom>
          <a:noFill/>
          <a:ln/>
        </p:spPr>
        <p:txBody>
          <a:bodyPr wrap="square" lIns="0" tIns="0" rIns="0" bIns="0" rtlCol="0" anchor="ctr"/>
          <a:lstStyle/>
          <a:p>
            <a:pPr marL="0" indent="0" algn="l">
              <a:buNone/>
            </a:pPr>
            <a:r>
              <a:rPr lang="en-US" sz="1200" b="1" dirty="0">
                <a:solidFill>
                  <a:srgbClr val="D4382C"/>
                </a:solidFill>
                <a:latin typeface="맑은 고딕" pitchFamily="34" charset="0"/>
                <a:ea typeface="맑은 고딕" pitchFamily="34" charset="-122"/>
                <a:cs typeface="맑은 고딕" pitchFamily="34" charset="-120"/>
              </a:rPr>
              <a:t>재무적 방어 시스템의 '완전한 부재'</a:t>
            </a:r>
            <a:endParaRPr lang="en-US" sz="1200" dirty="0"/>
          </a:p>
        </p:txBody>
      </p:sp>
      <p:sp>
        <p:nvSpPr>
          <p:cNvPr id="9" name="Text 7"/>
          <p:cNvSpPr/>
          <p:nvPr/>
        </p:nvSpPr>
        <p:spPr>
          <a:xfrm>
            <a:off x="868680" y="1389888"/>
            <a:ext cx="7543800" cy="731520"/>
          </a:xfrm>
          <a:prstGeom prst="rect">
            <a:avLst/>
          </a:prstGeom>
          <a:noFill/>
          <a:ln/>
        </p:spPr>
        <p:txBody>
          <a:bodyPr wrap="square" lIns="0" tIns="0" rIns="0" bIns="0" rtlCol="0" anchor="t"/>
          <a:lstStyle/>
          <a:p>
            <a:pPr marL="342900" indent="-342900">
              <a:lnSpc>
                <a:spcPct val="11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예기치 못한 질병/사고 발생 시, 이를 방어할 최소한의 안전장치가 없어 모든 경제적 충격을 본인과 가족이 직접 감당해야 하는 상태.</a:t>
            </a:r>
            <a:endParaRPr lang="en-US" sz="1000" dirty="0"/>
          </a:p>
          <a:p>
            <a:pPr marL="342900" indent="-342900">
              <a:lnSpc>
                <a:spcPct val="11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이는 이제 막 시작된 사회생활과 재무 계획의 지속 가능성을 위협하는 가장 큰 잠재 리스크.</a:t>
            </a:r>
            <a:endParaRPr lang="en-US" sz="1000" dirty="0"/>
          </a:p>
        </p:txBody>
      </p:sp>
      <p:sp>
        <p:nvSpPr>
          <p:cNvPr id="10" name="Shape 8"/>
          <p:cNvSpPr/>
          <p:nvPr/>
        </p:nvSpPr>
        <p:spPr>
          <a:xfrm>
            <a:off x="548640" y="2167128"/>
            <a:ext cx="8046720" cy="15544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548640" y="2167128"/>
            <a:ext cx="54864" cy="1554480"/>
          </a:xfrm>
          <a:prstGeom prst="rect">
            <a:avLst/>
          </a:prstGeom>
          <a:solidFill>
            <a:srgbClr val="1A6B4A"/>
          </a:solidFill>
          <a:ln/>
        </p:spPr>
        <p:txBody>
          <a:bodyPr/>
          <a:lstStyle/>
          <a:p>
            <a:endParaRPr lang="ko-KR" altLang="en-US"/>
          </a:p>
        </p:txBody>
      </p:sp>
      <p:sp>
        <p:nvSpPr>
          <p:cNvPr id="12" name="Text 10"/>
          <p:cNvSpPr/>
          <p:nvPr/>
        </p:nvSpPr>
        <p:spPr>
          <a:xfrm>
            <a:off x="731520" y="2240280"/>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솔루션 요약</a:t>
            </a:r>
            <a:endParaRPr lang="en-US" sz="1200" dirty="0"/>
          </a:p>
        </p:txBody>
      </p:sp>
      <p:sp>
        <p:nvSpPr>
          <p:cNvPr id="13" name="Text 11"/>
          <p:cNvSpPr/>
          <p:nvPr/>
        </p:nvSpPr>
        <p:spPr>
          <a:xfrm>
            <a:off x="868680" y="2596896"/>
            <a:ext cx="7543800" cy="228600"/>
          </a:xfrm>
          <a:prstGeom prst="rect">
            <a:avLst/>
          </a:prstGeom>
          <a:noFill/>
          <a:ln/>
        </p:spPr>
        <p:txBody>
          <a:bodyPr wrap="square" lIns="0" tIns="0" rIns="0" bIns="0" rtlCol="0" anchor="ctr"/>
          <a:lstStyle/>
          <a:p>
            <a:pPr marL="0" indent="0" algn="l">
              <a:buNone/>
            </a:pPr>
            <a:r>
              <a:rPr lang="en-US" sz="1200" b="1" dirty="0">
                <a:solidFill>
                  <a:srgbClr val="1A6B4A"/>
                </a:solidFill>
                <a:latin typeface="맑은 고딕" pitchFamily="34" charset="0"/>
                <a:ea typeface="맑은 고딕" pitchFamily="34" charset="-122"/>
                <a:cs typeface="맑은 고딕" pitchFamily="34" charset="-120"/>
              </a:rPr>
              <a:t>월 3만 원대로 시작하는 '지속가능 기본보장형' 첫 보험 플랜</a:t>
            </a:r>
            <a:endParaRPr lang="en-US" sz="1200" dirty="0"/>
          </a:p>
        </p:txBody>
      </p:sp>
      <p:sp>
        <p:nvSpPr>
          <p:cNvPr id="14" name="Text 12"/>
          <p:cNvSpPr/>
          <p:nvPr/>
        </p:nvSpPr>
        <p:spPr>
          <a:xfrm>
            <a:off x="868680" y="2871216"/>
            <a:ext cx="7543800" cy="914400"/>
          </a:xfrm>
          <a:prstGeom prst="rect">
            <a:avLst/>
          </a:prstGeom>
          <a:noFill/>
          <a:ln/>
        </p:spPr>
        <p:txBody>
          <a:bodyPr wrap="square" lIns="0" tIns="0" rIns="0" bIns="0" rtlCol="0" anchor="t"/>
          <a:lstStyle/>
          <a:p>
            <a:pPr marL="0" indent="0">
              <a:lnSpc>
                <a:spcPct val="115000"/>
              </a:lnSpc>
              <a:buNone/>
            </a:pPr>
            <a:r>
              <a:rPr lang="en-US" sz="1000" dirty="0">
                <a:solidFill>
                  <a:srgbClr val="2B2B2B"/>
                </a:solidFill>
                <a:latin typeface="맑은 고딕" pitchFamily="34" charset="0"/>
                <a:ea typeface="맑은 고딕" pitchFamily="34" charset="-122"/>
                <a:cs typeface="맑은 고딕" pitchFamily="34" charset="-120"/>
              </a:rPr>
              <a:t>1. 핵심 3종 압축 설계: 군더더기를 모두 뺀 실손의료비 + 3대 진단비 + 상해후유장해 구성으로 보험의 뼈대만 구축.</a:t>
            </a:r>
            <a:endParaRPr lang="en-US" sz="1000" dirty="0"/>
          </a:p>
          <a:p>
            <a:pPr marL="0" indent="0">
              <a:lnSpc>
                <a:spcPct val="115000"/>
              </a:lnSpc>
              <a:buNone/>
            </a:pPr>
            <a:r>
              <a:rPr lang="en-US" sz="1000" dirty="0">
                <a:solidFill>
                  <a:srgbClr val="2B2B2B"/>
                </a:solidFill>
                <a:latin typeface="맑은 고딕" pitchFamily="34" charset="0"/>
                <a:ea typeface="맑은 고딕" pitchFamily="34" charset="-122"/>
                <a:cs typeface="맑은 고딕" pitchFamily="34" charset="-120"/>
              </a:rPr>
              <a:t>2. 부담 없는 보험료: 월 소득의 약 1.2%(3만 원/250만 원) 수준인 월 3만 원대로 보험료를 설정하여, 10년 이상 안정적인 유지가 가능하도록 설계.</a:t>
            </a:r>
            <a:endParaRPr lang="en-US" sz="1000" dirty="0"/>
          </a:p>
          <a:p>
            <a:pPr marL="0" indent="0">
              <a:lnSpc>
                <a:spcPct val="115000"/>
              </a:lnSpc>
              <a:buNone/>
            </a:pPr>
            <a:r>
              <a:rPr lang="en-US" sz="1000" dirty="0">
                <a:solidFill>
                  <a:srgbClr val="2B2B2B"/>
                </a:solidFill>
                <a:latin typeface="맑은 고딕" pitchFamily="34" charset="0"/>
                <a:ea typeface="맑은 고딕" pitchFamily="34" charset="-122"/>
                <a:cs typeface="맑은 고딕" pitchFamily="34" charset="-120"/>
              </a:rPr>
              <a:t>3. 지속가능성 확보: 20대의 재무 변동성과 중도 해지 리스크까지 고려한 합리적인 상품 구성으로 안정성을 더함.</a:t>
            </a:r>
            <a:endParaRPr lang="en-US" sz="1000" dirty="0"/>
          </a:p>
        </p:txBody>
      </p:sp>
      <p:sp>
        <p:nvSpPr>
          <p:cNvPr id="15" name="Text 1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16" name="Text 1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7</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08</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II. 제안서 요약 (Executive Summary) (2/2)</a:t>
            </a:r>
            <a:endParaRPr lang="en-US" sz="1600" dirty="0"/>
          </a:p>
        </p:txBody>
      </p:sp>
      <p:sp>
        <p:nvSpPr>
          <p:cNvPr id="5" name="Shape 3"/>
          <p:cNvSpPr/>
          <p:nvPr/>
        </p:nvSpPr>
        <p:spPr>
          <a:xfrm>
            <a:off x="548640" y="685800"/>
            <a:ext cx="8046720" cy="10515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548640" y="685800"/>
            <a:ext cx="54864" cy="1051560"/>
          </a:xfrm>
          <a:prstGeom prst="rect">
            <a:avLst/>
          </a:prstGeom>
          <a:solidFill>
            <a:srgbClr val="1A6B4A"/>
          </a:solidFill>
          <a:ln/>
        </p:spPr>
        <p:txBody>
          <a:bodyPr/>
          <a:lstStyle/>
          <a:p>
            <a:endParaRPr lang="ko-KR" altLang="en-US"/>
          </a:p>
        </p:txBody>
      </p:sp>
      <p:sp>
        <p:nvSpPr>
          <p:cNvPr id="7" name="Text 5"/>
          <p:cNvSpPr/>
          <p:nvPr/>
        </p:nvSpPr>
        <p:spPr>
          <a:xfrm>
            <a:off x="731520" y="758952"/>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기대 변화 — 재무적 변화</a:t>
            </a:r>
            <a:endParaRPr lang="en-US" sz="1200" dirty="0"/>
          </a:p>
        </p:txBody>
      </p:sp>
      <p:sp>
        <p:nvSpPr>
          <p:cNvPr id="8" name="Text 6"/>
          <p:cNvSpPr/>
          <p:nvPr/>
        </p:nvSpPr>
        <p:spPr>
          <a:xfrm>
            <a:off x="868680" y="1115568"/>
            <a:ext cx="7543800" cy="640080"/>
          </a:xfrm>
          <a:prstGeom prst="rect">
            <a:avLst/>
          </a:prstGeom>
          <a:noFill/>
          <a:ln/>
        </p:spPr>
        <p:txBody>
          <a:bodyPr wrap="square" lIns="0" tIns="0" rIns="0" bIns="0" rtlCol="0" anchor="t"/>
          <a:lstStyle/>
          <a:p>
            <a:pPr marL="342900" indent="-342900">
              <a:lnSpc>
                <a:spcPct val="11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최소 비용으로 질병/사고에 대한 기본적인 재무 방어막 구축.</a:t>
            </a:r>
            <a:endParaRPr lang="en-US" sz="1000" dirty="0"/>
          </a:p>
          <a:p>
            <a:pPr marL="342900" indent="-342900">
              <a:lnSpc>
                <a:spcPct val="11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가장 저렴한 시기에 가입하여 평생 납입할 총 보험료 절감.</a:t>
            </a:r>
            <a:endParaRPr lang="en-US" sz="1000" dirty="0"/>
          </a:p>
          <a:p>
            <a:pPr marL="342900" indent="-342900">
              <a:lnSpc>
                <a:spcPct val="11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'보험'이라는 금융자산을 통한 올바른 장기 재무 습관 형성.</a:t>
            </a:r>
            <a:endParaRPr lang="en-US" sz="1000" dirty="0"/>
          </a:p>
        </p:txBody>
      </p:sp>
      <p:sp>
        <p:nvSpPr>
          <p:cNvPr id="9" name="Shape 7"/>
          <p:cNvSpPr/>
          <p:nvPr/>
        </p:nvSpPr>
        <p:spPr>
          <a:xfrm>
            <a:off x="548640" y="1847088"/>
            <a:ext cx="8046720" cy="886968"/>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0" name="Shape 8"/>
          <p:cNvSpPr/>
          <p:nvPr/>
        </p:nvSpPr>
        <p:spPr>
          <a:xfrm>
            <a:off x="548640" y="1847088"/>
            <a:ext cx="45720" cy="886968"/>
          </a:xfrm>
          <a:prstGeom prst="rect">
            <a:avLst/>
          </a:prstGeom>
          <a:solidFill>
            <a:srgbClr val="C8962E"/>
          </a:solidFill>
          <a:ln/>
        </p:spPr>
        <p:txBody>
          <a:bodyPr/>
          <a:lstStyle/>
          <a:p>
            <a:endParaRPr lang="ko-KR" altLang="en-US"/>
          </a:p>
        </p:txBody>
      </p:sp>
      <p:sp>
        <p:nvSpPr>
          <p:cNvPr id="11" name="Text 9"/>
          <p:cNvSpPr/>
          <p:nvPr/>
        </p:nvSpPr>
        <p:spPr>
          <a:xfrm>
            <a:off x="731520" y="1920240"/>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기대 변화 — 심리적 변화</a:t>
            </a:r>
            <a:endParaRPr lang="en-US" sz="1200" dirty="0"/>
          </a:p>
        </p:txBody>
      </p:sp>
      <p:sp>
        <p:nvSpPr>
          <p:cNvPr id="12" name="Text 10"/>
          <p:cNvSpPr/>
          <p:nvPr/>
        </p:nvSpPr>
        <p:spPr>
          <a:xfrm>
            <a:off x="868680" y="2276856"/>
            <a:ext cx="7543800" cy="411480"/>
          </a:xfrm>
          <a:prstGeom prst="rect">
            <a:avLst/>
          </a:prstGeom>
          <a:noFill/>
          <a:ln/>
        </p:spPr>
        <p:txBody>
          <a:bodyPr wrap="square" lIns="0" tIns="0" rIns="0" bIns="0" rtlCol="0" anchor="t"/>
          <a:lstStyle/>
          <a:p>
            <a:pPr marL="342900" indent="-342900">
              <a:lnSpc>
                <a:spcPct val="11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미래를 스스로 준비했다는 성취감과 경제적 자신감 획득.</a:t>
            </a:r>
            <a:endParaRPr lang="en-US" sz="1000" dirty="0"/>
          </a:p>
          <a:p>
            <a:pPr marL="342900" indent="-342900">
              <a:lnSpc>
                <a:spcPct val="11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건강 리스크에 대한 막연한 불안감을 해소하고 현재의 삶과 목표에 더욱 집중.</a:t>
            </a:r>
            <a:endParaRPr lang="en-US" sz="1000" dirty="0"/>
          </a:p>
        </p:txBody>
      </p:sp>
      <p:sp>
        <p:nvSpPr>
          <p:cNvPr id="13" name="Text 11"/>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14" name="Text 12"/>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8</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09</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III. 재무·보장자산 정밀 진단 (In-depth Diagnosis) (1/2)</a:t>
            </a:r>
            <a:endParaRPr lang="en-US" sz="1600" dirty="0"/>
          </a:p>
        </p:txBody>
      </p:sp>
      <p:sp>
        <p:nvSpPr>
          <p:cNvPr id="5" name="Text 3"/>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1. 금융 포트폴리오 분석</a:t>
            </a:r>
            <a:endParaRPr lang="en-US" sz="1400" dirty="0"/>
          </a:p>
        </p:txBody>
      </p:sp>
      <p:sp>
        <p:nvSpPr>
          <p:cNvPr id="6" name="Text 4"/>
          <p:cNvSpPr/>
          <p:nvPr/>
        </p:nvSpPr>
        <p:spPr>
          <a:xfrm>
            <a:off x="640080" y="1069848"/>
            <a:ext cx="7863840" cy="585216"/>
          </a:xfrm>
          <a:prstGeom prst="rect">
            <a:avLst/>
          </a:prstGeom>
          <a:noFill/>
          <a:ln/>
        </p:spPr>
        <p:txBody>
          <a:bodyPr wrap="square" lIns="0" tIns="0" rIns="0" bIns="0" rtlCol="0" anchor="t"/>
          <a:lstStyle/>
          <a:p>
            <a:pPr marL="342900" indent="-342900">
              <a:lnSpc>
                <a:spcPct val="115000"/>
              </a:lnSpc>
              <a:buSzPct val="100000"/>
              <a:buChar char="•"/>
            </a:pPr>
            <a:r>
              <a:rPr lang="en-US" sz="1100" dirty="0">
                <a:solidFill>
                  <a:srgbClr val="2B2B2B"/>
                </a:solidFill>
                <a:latin typeface="맑은 고딕" pitchFamily="34" charset="0"/>
                <a:ea typeface="맑은 고딕" pitchFamily="34" charset="-122"/>
                <a:cs typeface="맑은 고딕" pitchFamily="34" charset="-120"/>
              </a:rPr>
              <a:t>수입의 20%를 저축/투자하는 것은 긍정적이나, 모든 자산이 단기적인 목표에 집중되어 있어 장기적인 위험 대비가 전혀 이루어지지 않고 있습니다.</a:t>
            </a:r>
            <a:endParaRPr lang="en-US" sz="1100" dirty="0"/>
          </a:p>
          <a:p>
            <a:pPr marL="342900" indent="-342900">
              <a:lnSpc>
                <a:spcPct val="115000"/>
              </a:lnSpc>
              <a:buSzPct val="100000"/>
              <a:buChar char="•"/>
            </a:pPr>
            <a:r>
              <a:rPr lang="en-US" sz="1100" dirty="0">
                <a:solidFill>
                  <a:srgbClr val="2B2B2B"/>
                </a:solidFill>
                <a:latin typeface="맑은 고딕" pitchFamily="34" charset="0"/>
                <a:ea typeface="맑은 고딕" pitchFamily="34" charset="-122"/>
                <a:cs typeface="맑은 고딕" pitchFamily="34" charset="-120"/>
              </a:rPr>
              <a:t>'보험료'라는 고정 지출에 대한 심리적 저항이 커, 리스크 관리의 필요성 자체를 인지하지 못하고 있는 상태입니다.</a:t>
            </a:r>
            <a:endParaRPr lang="en-US" sz="1100" dirty="0"/>
          </a:p>
        </p:txBody>
      </p:sp>
      <p:sp>
        <p:nvSpPr>
          <p:cNvPr id="7" name="Text 5"/>
          <p:cNvSpPr/>
          <p:nvPr/>
        </p:nvSpPr>
        <p:spPr>
          <a:xfrm>
            <a:off x="457200" y="1837944"/>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2. 기가입 보험 평가</a:t>
            </a:r>
            <a:endParaRPr lang="en-US" sz="1400" dirty="0"/>
          </a:p>
        </p:txBody>
      </p:sp>
      <p:sp>
        <p:nvSpPr>
          <p:cNvPr id="8" name="Shape 6"/>
          <p:cNvSpPr/>
          <p:nvPr/>
        </p:nvSpPr>
        <p:spPr>
          <a:xfrm>
            <a:off x="548640" y="2221992"/>
            <a:ext cx="8046720" cy="4114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548640" y="2221992"/>
            <a:ext cx="54864" cy="411480"/>
          </a:xfrm>
          <a:prstGeom prst="rect">
            <a:avLst/>
          </a:prstGeom>
          <a:solidFill>
            <a:srgbClr val="C8962E"/>
          </a:solidFill>
          <a:ln/>
        </p:spPr>
        <p:txBody>
          <a:bodyPr/>
          <a:lstStyle/>
          <a:p>
            <a:endParaRPr lang="ko-KR" altLang="en-US"/>
          </a:p>
        </p:txBody>
      </p:sp>
      <p:sp>
        <p:nvSpPr>
          <p:cNvPr id="10" name="Text 8"/>
          <p:cNvSpPr/>
          <p:nvPr/>
        </p:nvSpPr>
        <p:spPr>
          <a:xfrm>
            <a:off x="731520" y="2295144"/>
            <a:ext cx="7680960" cy="265176"/>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현재 가입된 보험 없음.</a:t>
            </a:r>
            <a:endParaRPr lang="en-US" sz="1050" dirty="0"/>
          </a:p>
        </p:txBody>
      </p:sp>
      <p:sp>
        <p:nvSpPr>
          <p:cNvPr id="11" name="Text 9"/>
          <p:cNvSpPr/>
          <p:nvPr/>
        </p:nvSpPr>
        <p:spPr>
          <a:xfrm>
            <a:off x="457200" y="283464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3. 보장 갭(Gap) 진단: 사회초년생 핵심 리스크 중심</a:t>
            </a:r>
            <a:endParaRPr lang="en-US" sz="1400" dirty="0"/>
          </a:p>
        </p:txBody>
      </p:sp>
      <p:sp>
        <p:nvSpPr>
          <p:cNvPr id="12" name="Text 10"/>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13" name="Text 11"/>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9</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10</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III. 재무·보장자산 정밀 진단 (계속) (2/2)</a:t>
            </a:r>
            <a:endParaRPr lang="en-US" sz="1600" dirty="0"/>
          </a:p>
        </p:txBody>
      </p:sp>
      <p:sp>
        <p:nvSpPr>
          <p:cNvPr id="5" name="Text 3"/>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3. 보장 갭(Gap) 진단 (계속)</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2891814976"/>
              </p:ext>
            </p:extLst>
          </p:nvPr>
        </p:nvGraphicFramePr>
        <p:xfrm>
          <a:off x="274320" y="1069848"/>
          <a:ext cx="7406640" cy="1755648"/>
        </p:xfrm>
        <a:graphic>
          <a:graphicData uri="http://schemas.openxmlformats.org/drawingml/2006/table">
            <a:tbl>
              <a:tblPr/>
              <a:tblGrid>
                <a:gridCol w="13716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384048">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보장 항목</a:t>
                      </a:r>
                      <a:endParaRPr lang="en-US" sz="900" dirty="0">
                        <a:latin typeface="맑은 고딕" charset="0"/>
                        <a:ea typeface="맑은 고딕" charset="0"/>
                        <a:cs typeface="맑은 고딕" charset="0"/>
                      </a:endParaRPr>
                    </a:p>
                  </a:txBody>
                  <a:tcPr marL="63500" marR="63500" marT="38100" marB="3810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리스크 발생 시 예상 비용/손실 (A)</a:t>
                      </a:r>
                      <a:endParaRPr lang="en-US" sz="900" dirty="0">
                        <a:latin typeface="맑은 고딕" charset="0"/>
                        <a:ea typeface="맑은 고딕" charset="0"/>
                        <a:cs typeface="맑은 고딕" charset="0"/>
                      </a:endParaRPr>
                    </a:p>
                  </a:txBody>
                  <a:tcPr marL="63500" marR="63500" marT="38100" marB="3810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현재 준비액 (B)</a:t>
                      </a:r>
                      <a:endParaRPr lang="en-US" sz="900" dirty="0">
                        <a:latin typeface="맑은 고딕" charset="0"/>
                        <a:ea typeface="맑은 고딕" charset="0"/>
                        <a:cs typeface="맑은 고딕" charset="0"/>
                      </a:endParaRPr>
                    </a:p>
                  </a:txBody>
                  <a:tcPr marL="63500" marR="63500" marT="38100" marB="3810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보장 갭 (A-B)</a:t>
                      </a:r>
                      <a:endParaRPr lang="en-US" sz="900" dirty="0">
                        <a:latin typeface="맑은 고딕" charset="0"/>
                        <a:ea typeface="맑은 고딕" charset="0"/>
                        <a:cs typeface="맑은 고딕" charset="0"/>
                      </a:endParaRPr>
                    </a:p>
                  </a:txBody>
                  <a:tcPr marL="63500" marR="63500" marT="38100" marB="3810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20040">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실손 의료비</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급성 맹장 수술 시 약 200~300만 원</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0 원</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900" b="1" dirty="0">
                          <a:solidFill>
                            <a:srgbClr val="D4382C"/>
                          </a:solidFill>
                          <a:latin typeface="맑은 고딕" pitchFamily="34" charset="0"/>
                          <a:ea typeface="맑은 고딕" pitchFamily="34" charset="-122"/>
                          <a:cs typeface="맑은 고딕" pitchFamily="34" charset="-120"/>
                        </a:rPr>
                        <a:t>- 200~300만 원</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extLst>
                  <a:ext uri="{0D108BD9-81ED-4DB2-BD59-A6C34878D82A}">
                    <a16:rowId xmlns:a16="http://schemas.microsoft.com/office/drawing/2014/main" val="10001"/>
                  </a:ext>
                </a:extLst>
              </a:tr>
              <a:tr h="320040">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암 진단비</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일반암 진단 시 약 1,000~3,000만 원 수준</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0 원</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900" b="1" dirty="0">
                          <a:solidFill>
                            <a:srgbClr val="D4382C"/>
                          </a:solidFill>
                          <a:latin typeface="맑은 고딕" pitchFamily="34" charset="0"/>
                          <a:ea typeface="맑은 고딕" pitchFamily="34" charset="-122"/>
                          <a:cs typeface="맑은 고딕" pitchFamily="34" charset="-120"/>
                        </a:rPr>
                        <a:t>- 1,000~3,000만 원</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뇌/심장 진단비</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급성심근경색 발생 시 약 3,000만 원 이상</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0 원</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900" b="1" dirty="0">
                          <a:solidFill>
                            <a:srgbClr val="D4382C"/>
                          </a:solidFill>
                          <a:latin typeface="맑은 고딕" pitchFamily="34" charset="0"/>
                          <a:ea typeface="맑은 고딕" pitchFamily="34" charset="-122"/>
                          <a:cs typeface="맑은 고딕" pitchFamily="34" charset="-120"/>
                        </a:rPr>
                        <a:t>- 3,000만 원 이상</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extLst>
                  <a:ext uri="{0D108BD9-81ED-4DB2-BD59-A6C34878D82A}">
                    <a16:rowId xmlns:a16="http://schemas.microsoft.com/office/drawing/2014/main" val="10003"/>
                  </a:ext>
                </a:extLst>
              </a:tr>
              <a:tr h="411480">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상해 후유장해</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자전거 사고로 무릎 십자인대 파열</a:t>
                      </a:r>
                      <a:endParaRPr lang="en-US" sz="900" dirty="0">
                        <a:latin typeface="맑은 고딕" charset="0"/>
                        <a:ea typeface="맑은 고딕" charset="0"/>
                        <a:cs typeface="맑은 고딕" charset="0"/>
                      </a:endParaRPr>
                    </a:p>
                    <a:p>
                      <a:pPr marL="0" indent="0" algn="ctr">
                        <a:buNone/>
                      </a:pPr>
                      <a:r>
                        <a:rPr lang="en-US" sz="900" dirty="0">
                          <a:solidFill>
                            <a:srgbClr val="000000"/>
                          </a:solidFill>
                          <a:latin typeface="맑은 고딕" pitchFamily="34" charset="0"/>
                          <a:ea typeface="맑은 고딕" pitchFamily="34" charset="-122"/>
                          <a:cs typeface="맑은 고딕" pitchFamily="34" charset="-120"/>
                        </a:rPr>
                        <a:t>(장해율 10%) 시, 1억 기준 1,000만 원</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0 원</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900" b="1" dirty="0">
                          <a:solidFill>
                            <a:srgbClr val="D4382C"/>
                          </a:solidFill>
                          <a:latin typeface="맑은 고딕" pitchFamily="34" charset="0"/>
                          <a:ea typeface="맑은 고딕" pitchFamily="34" charset="-122"/>
                          <a:cs typeface="맑은 고딕" pitchFamily="34" charset="-120"/>
                        </a:rPr>
                        <a:t>- 1,000만 원</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548640" y="2944368"/>
            <a:ext cx="8046720" cy="228600"/>
          </a:xfrm>
          <a:prstGeom prst="rect">
            <a:avLst/>
          </a:prstGeom>
          <a:noFill/>
          <a:ln/>
        </p:spPr>
        <p:txBody>
          <a:bodyPr wrap="square" lIns="0" tIns="0" rIns="0" bIns="0" rtlCol="0" anchor="ctr"/>
          <a:lstStyle/>
          <a:p>
            <a:pPr marL="0" indent="0" algn="l">
              <a:buNone/>
            </a:pPr>
            <a:r>
              <a:rPr lang="en-US" sz="800" i="1" dirty="0">
                <a:solidFill>
                  <a:srgbClr val="6B7280"/>
                </a:solidFill>
                <a:latin typeface="맑은 고딕" pitchFamily="34" charset="0"/>
                <a:ea typeface="맑은 고딕" pitchFamily="34" charset="-122"/>
                <a:cs typeface="맑은 고딕" pitchFamily="34" charset="-120"/>
              </a:rPr>
              <a:t>※ 리스크 비용 산출액은 통계자료와 일반적인 치료비 수준을 근거로 작성된 참고치이며, 실제 발생 비용은 개인 상황 및 제도 변화에 따라 달라질 수 있습니다.</a:t>
            </a:r>
            <a:endParaRPr lang="en-US" sz="800" dirty="0"/>
          </a:p>
        </p:txBody>
      </p:sp>
      <p:sp>
        <p:nvSpPr>
          <p:cNvPr id="8" name="Shape 5"/>
          <p:cNvSpPr/>
          <p:nvPr/>
        </p:nvSpPr>
        <p:spPr>
          <a:xfrm>
            <a:off x="457200" y="3218688"/>
            <a:ext cx="8229600" cy="1243584"/>
          </a:xfrm>
          <a:prstGeom prst="rect">
            <a:avLst/>
          </a:prstGeom>
          <a:solidFill>
            <a:srgbClr val="EEF2F7"/>
          </a:solidFill>
          <a:ln/>
        </p:spPr>
        <p:txBody>
          <a:bodyPr/>
          <a:lstStyle/>
          <a:p>
            <a:endParaRPr lang="ko-KR" altLang="en-US"/>
          </a:p>
        </p:txBody>
      </p:sp>
      <p:sp>
        <p:nvSpPr>
          <p:cNvPr id="9" name="Text 6"/>
          <p:cNvSpPr/>
          <p:nvPr/>
        </p:nvSpPr>
        <p:spPr>
          <a:xfrm>
            <a:off x="640080" y="3291840"/>
            <a:ext cx="7863840" cy="228600"/>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[전문가 의견]</a:t>
            </a:r>
            <a:endParaRPr lang="en-US" sz="1200" dirty="0"/>
          </a:p>
        </p:txBody>
      </p:sp>
      <p:sp>
        <p:nvSpPr>
          <p:cNvPr id="10" name="Text 7"/>
          <p:cNvSpPr/>
          <p:nvPr/>
        </p:nvSpPr>
        <p:spPr>
          <a:xfrm>
            <a:off x="640080" y="3538728"/>
            <a:ext cx="7863840" cy="850392"/>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보장 자산이 '0'이라는 것은, 재무적으로 '무방비 상태'임을 의미합니다. 20대에게 암이나 뇌질환은 먼 이야기처럼 들릴 수 있지만, 통계는 젊은 층의 발병률이 꾸준히 증가하고 있음을 보여줍니다. 지금 월 3만 원을 아끼는 것이 합리적인 선택이 아니라, 미래에 닥칠 수천만 원의 손실을 방치하는 '위험한 선택'임을 객관적인 데이터로 인지시켜야 합니다.</a:t>
            </a:r>
            <a:endParaRPr lang="en-US" sz="1050" dirty="0"/>
          </a:p>
        </p:txBody>
      </p:sp>
      <p:sp>
        <p:nvSpPr>
          <p:cNvPr id="11" name="Text 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6" name="Text 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10</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11</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IV. 맞춤형 솔루션 제안 (Customized Solution) (1/4)</a:t>
            </a:r>
            <a:endParaRPr lang="en-US" sz="1600" dirty="0"/>
          </a:p>
        </p:txBody>
      </p:sp>
      <p:sp>
        <p:nvSpPr>
          <p:cNvPr id="5" name="Text 3"/>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1. 설계 방향 및 원칙</a:t>
            </a:r>
            <a:endParaRPr lang="en-US" sz="1400" dirty="0"/>
          </a:p>
        </p:txBody>
      </p:sp>
      <p:sp>
        <p:nvSpPr>
          <p:cNvPr id="6" name="Text 4"/>
          <p:cNvSpPr/>
          <p:nvPr/>
        </p:nvSpPr>
        <p:spPr>
          <a:xfrm>
            <a:off x="640080" y="1069848"/>
            <a:ext cx="7863840" cy="1463040"/>
          </a:xfrm>
          <a:prstGeom prst="rect">
            <a:avLst/>
          </a:prstGeom>
          <a:noFill/>
          <a:ln/>
        </p:spPr>
        <p:txBody>
          <a:bodyPr wrap="square" lIns="0" tIns="0" rIns="0" bIns="0" rtlCol="0" anchor="t"/>
          <a:lstStyle/>
          <a:p>
            <a:pPr marL="342900" indent="-342900">
              <a:lnSpc>
                <a:spcPct val="120000"/>
              </a:lnSpc>
              <a:buSzPct val="100000"/>
              <a:buFont typeface="+mj-lt"/>
              <a:buAutoNum type="arabicPeriod"/>
            </a:pPr>
            <a:r>
              <a:rPr lang="en-US" sz="1050" dirty="0">
                <a:solidFill>
                  <a:srgbClr val="2B2B2B"/>
                </a:solidFill>
                <a:latin typeface="맑은 고딕" pitchFamily="34" charset="0"/>
                <a:ea typeface="맑은 고딕" pitchFamily="34" charset="-122"/>
                <a:cs typeface="맑은 고딕" pitchFamily="34" charset="-120"/>
              </a:rPr>
              <a:t>원칙 1 (미니멀리즘): 지금 당장 필요 없는 보장(사망, 입원일당 등)은 과감히 버리고, 발생 시 재무적으로 가장 큰 타격을 주는 핵심 위험 3가지에만 집중한다.</a:t>
            </a:r>
            <a:endParaRPr lang="en-US" sz="1050" dirty="0"/>
          </a:p>
          <a:p>
            <a:pPr marL="342900" indent="-342900">
              <a:lnSpc>
                <a:spcPct val="120000"/>
              </a:lnSpc>
              <a:buSzPct val="100000"/>
              <a:buFont typeface="+mj-lt"/>
              <a:buAutoNum type="arabicPeriod"/>
            </a:pPr>
            <a:r>
              <a:rPr lang="en-US" sz="1050" dirty="0">
                <a:solidFill>
                  <a:srgbClr val="2B2B2B"/>
                </a:solidFill>
                <a:latin typeface="맑은 고딕" pitchFamily="34" charset="0"/>
                <a:ea typeface="맑은 고딕" pitchFamily="34" charset="-122"/>
                <a:cs typeface="맑은 고딕" pitchFamily="34" charset="-120"/>
              </a:rPr>
              <a:t>원칙 2 (지속 가능성): 고객의 현재 소득과 미래의 소득 상승 가능성을 고려하여, 절대 부담되지 않는 수준에서 10년 이상 유지 가능한 보험료를 책정한다.</a:t>
            </a:r>
            <a:endParaRPr lang="en-US" sz="1050" dirty="0"/>
          </a:p>
          <a:p>
            <a:pPr marL="342900" indent="-342900">
              <a:lnSpc>
                <a:spcPct val="120000"/>
              </a:lnSpc>
              <a:buSzPct val="100000"/>
              <a:buFont typeface="+mj-lt"/>
              <a:buAutoNum type="arabicPeriod"/>
            </a:pPr>
            <a:r>
              <a:rPr lang="en-US" sz="1050" dirty="0">
                <a:solidFill>
                  <a:srgbClr val="2B2B2B"/>
                </a:solidFill>
                <a:latin typeface="맑은 고딕" pitchFamily="34" charset="0"/>
                <a:ea typeface="맑은 고딕" pitchFamily="34" charset="-122"/>
                <a:cs typeface="맑은 고딕" pitchFamily="34" charset="-120"/>
              </a:rPr>
              <a:t>원칙 3 (합리성): 20대의 재무 변동성을 고려하여, 보험료와 장기 유지 가능성의 균형을 맞춘 합리적인 상품을 선택한다.</a:t>
            </a:r>
            <a:endParaRPr lang="en-US" sz="1050" dirty="0"/>
          </a:p>
        </p:txBody>
      </p:sp>
      <p:sp>
        <p:nvSpPr>
          <p:cNvPr id="7" name="Text 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8" name="Text 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11</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12</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IV. 맞춤형 솔루션 제안 (계속) (2/4)</a:t>
            </a:r>
            <a:endParaRPr lang="en-US" sz="1600" dirty="0"/>
          </a:p>
        </p:txBody>
      </p:sp>
      <p:sp>
        <p:nvSpPr>
          <p:cNvPr id="5" name="Text 3"/>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2. 포트폴리오 리모델링 전략</a:t>
            </a:r>
            <a:endParaRPr lang="en-US" sz="1400" dirty="0"/>
          </a:p>
        </p:txBody>
      </p:sp>
      <p:sp>
        <p:nvSpPr>
          <p:cNvPr id="6" name="Shape 4"/>
          <p:cNvSpPr/>
          <p:nvPr/>
        </p:nvSpPr>
        <p:spPr>
          <a:xfrm>
            <a:off x="548640" y="1069848"/>
            <a:ext cx="8046720" cy="2551176"/>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548640" y="1069848"/>
            <a:ext cx="54864" cy="2551176"/>
          </a:xfrm>
          <a:prstGeom prst="rect">
            <a:avLst/>
          </a:prstGeom>
          <a:solidFill>
            <a:srgbClr val="C8962E"/>
          </a:solidFill>
          <a:ln/>
        </p:spPr>
        <p:txBody>
          <a:bodyPr/>
          <a:lstStyle/>
          <a:p>
            <a:endParaRPr lang="ko-KR" altLang="en-US"/>
          </a:p>
        </p:txBody>
      </p:sp>
      <p:sp>
        <p:nvSpPr>
          <p:cNvPr id="8" name="Text 6"/>
          <p:cNvSpPr/>
          <p:nvPr/>
        </p:nvSpPr>
        <p:spPr>
          <a:xfrm>
            <a:off x="731520" y="1143000"/>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1) 실손의료보험 (4세대)</a:t>
            </a:r>
            <a:endParaRPr lang="en-US" sz="1200" dirty="0"/>
          </a:p>
        </p:txBody>
      </p:sp>
      <p:sp>
        <p:nvSpPr>
          <p:cNvPr id="9" name="Text 7"/>
          <p:cNvSpPr/>
          <p:nvPr/>
        </p:nvSpPr>
        <p:spPr>
          <a:xfrm>
            <a:off x="868680" y="1527048"/>
            <a:ext cx="7543800" cy="502920"/>
          </a:xfrm>
          <a:prstGeom prst="rect">
            <a:avLst/>
          </a:prstGeom>
          <a:noFill/>
          <a:ln/>
        </p:spPr>
        <p:txBody>
          <a:bodyPr wrap="square" lIns="0" tIns="0" rIns="0" bIns="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솔루션: 병원비, 약제비 등 실제로 지출한 의료비를 자기부담금을 제외하고 돌려받는 가장 기본적이고 필수적인 보험. (월 보험료 약 1만 원 (26세 남성 기준 예시, 실제 개인별 차이 있음))</a:t>
            </a:r>
            <a:endParaRPr lang="en-US" sz="1000" dirty="0"/>
          </a:p>
        </p:txBody>
      </p:sp>
      <p:sp>
        <p:nvSpPr>
          <p:cNvPr id="10" name="Text 8"/>
          <p:cNvSpPr/>
          <p:nvPr/>
        </p:nvSpPr>
        <p:spPr>
          <a:xfrm>
            <a:off x="868680" y="2075688"/>
            <a:ext cx="7543800" cy="228600"/>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[원칙 → 예외 → 주의사항]</a:t>
            </a:r>
            <a:endParaRPr lang="en-US" sz="1050" dirty="0"/>
          </a:p>
        </p:txBody>
      </p:sp>
      <p:sp>
        <p:nvSpPr>
          <p:cNvPr id="11" name="Text 9"/>
          <p:cNvSpPr/>
          <p:nvPr/>
        </p:nvSpPr>
        <p:spPr>
          <a:xfrm>
            <a:off x="868680" y="2331720"/>
            <a:ext cx="7543800" cy="1188720"/>
          </a:xfrm>
          <a:prstGeom prst="rect">
            <a:avLst/>
          </a:prstGeom>
          <a:noFill/>
          <a:ln/>
        </p:spPr>
        <p:txBody>
          <a:bodyPr wrap="square" lIns="0" tIns="0" rIns="0" bIns="0" rtlCol="0" anchor="t"/>
          <a:lstStyle/>
          <a:p>
            <a:pPr marL="342900" indent="-342900">
              <a:lnSpc>
                <a:spcPct val="11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원칙: 실손의료보험은 국민건강보험이 보장하지 않는 비급여 항목까지 보장하여, 의료비 부담을 획기적으로 줄여주는 역할을 합니다.</a:t>
            </a:r>
            <a:endParaRPr lang="en-US" sz="950" dirty="0"/>
          </a:p>
          <a:p>
            <a:pPr marL="342900" indent="-342900">
              <a:lnSpc>
                <a:spcPct val="11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예외: 모든 의료비를 보장하는 것은 아니며, 미용 목적의 시술, 예방 접종, 건강검진 등 일부 항목은 보장에서 제외됩니다.</a:t>
            </a:r>
            <a:endParaRPr lang="en-US" sz="950" dirty="0"/>
          </a:p>
          <a:p>
            <a:pPr marL="342900" indent="-342900">
              <a:lnSpc>
                <a:spcPct val="11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주의사항: 1년마다 갱신되며 연령 및 손해율에 따라 보험료가 인상될 수 있습니다. 또한, 비급여 진료 이용량에 따라 보험료가 할인 또는 할증될 수 있습니다. (출처: 보험업감독규정 제4-44조 등 (2025.09.02 개정 기준))</a:t>
            </a:r>
            <a:endParaRPr lang="en-US" sz="950" dirty="0"/>
          </a:p>
        </p:txBody>
      </p:sp>
      <p:sp>
        <p:nvSpPr>
          <p:cNvPr id="12" name="Text 10"/>
          <p:cNvSpPr/>
          <p:nvPr/>
        </p:nvSpPr>
        <p:spPr>
          <a:xfrm>
            <a:off x="868680" y="3227832"/>
            <a:ext cx="7543800" cy="201168"/>
          </a:xfrm>
          <a:prstGeom prst="rect">
            <a:avLst/>
          </a:prstGeom>
          <a:noFill/>
          <a:ln/>
        </p:spPr>
        <p:txBody>
          <a:bodyPr wrap="square" lIns="0" tIns="0" rIns="0" bIns="0" rtlCol="0" anchor="ctr"/>
          <a:lstStyle/>
          <a:p>
            <a:pPr marL="0" indent="0" algn="l">
              <a:buNone/>
            </a:pPr>
            <a:r>
              <a:rPr lang="en-US" sz="800" i="1" dirty="0">
                <a:solidFill>
                  <a:srgbClr val="6B7280"/>
                </a:solidFill>
                <a:latin typeface="맑은 고딕" pitchFamily="34" charset="0"/>
                <a:ea typeface="맑은 고딕" pitchFamily="34" charset="-122"/>
                <a:cs typeface="맑은 고딕" pitchFamily="34" charset="-120"/>
              </a:rPr>
              <a:t>※ 실손의료보험은 1년 단위 갱신 상품으로, 연령·손해율·제도 변화 등에 따라 보험료와 보장 조건이 달라질 수 있습니다.</a:t>
            </a:r>
            <a:endParaRPr lang="en-US" sz="800" dirty="0"/>
          </a:p>
        </p:txBody>
      </p:sp>
      <p:sp>
        <p:nvSpPr>
          <p:cNvPr id="13" name="Text 11"/>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14" name="Text 12"/>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12</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13</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IV. 맞춤형 솔루션 제안 (계속) (3/4)</a:t>
            </a:r>
            <a:endParaRPr lang="en-US" sz="1600" dirty="0"/>
          </a:p>
        </p:txBody>
      </p:sp>
      <p:sp>
        <p:nvSpPr>
          <p:cNvPr id="5" name="Shape 3"/>
          <p:cNvSpPr/>
          <p:nvPr/>
        </p:nvSpPr>
        <p:spPr>
          <a:xfrm>
            <a:off x="548640" y="685800"/>
            <a:ext cx="8046720" cy="34290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548640" y="685800"/>
            <a:ext cx="54864" cy="3429000"/>
          </a:xfrm>
          <a:prstGeom prst="rect">
            <a:avLst/>
          </a:prstGeom>
          <a:solidFill>
            <a:srgbClr val="C8962E"/>
          </a:solidFill>
          <a:ln/>
        </p:spPr>
        <p:txBody>
          <a:bodyPr/>
          <a:lstStyle/>
          <a:p>
            <a:endParaRPr lang="ko-KR" altLang="en-US"/>
          </a:p>
        </p:txBody>
      </p:sp>
      <p:sp>
        <p:nvSpPr>
          <p:cNvPr id="7" name="Text 5"/>
          <p:cNvSpPr/>
          <p:nvPr/>
        </p:nvSpPr>
        <p:spPr>
          <a:xfrm>
            <a:off x="731520" y="758952"/>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2) 3대 진단비 + 상해후유장해</a:t>
            </a:r>
            <a:endParaRPr lang="en-US" sz="1200" dirty="0"/>
          </a:p>
        </p:txBody>
      </p:sp>
      <p:sp>
        <p:nvSpPr>
          <p:cNvPr id="8" name="Text 6"/>
          <p:cNvSpPr/>
          <p:nvPr/>
        </p:nvSpPr>
        <p:spPr>
          <a:xfrm>
            <a:off x="868680" y="1143000"/>
            <a:ext cx="7543800" cy="411480"/>
          </a:xfrm>
          <a:prstGeom prst="rect">
            <a:avLst/>
          </a:prstGeom>
          <a:noFill/>
          <a:ln/>
        </p:spPr>
        <p:txBody>
          <a:bodyPr wrap="square" lIns="0" tIns="0" rIns="0" bIns="0" rtlCol="0" anchor="t"/>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솔루션: 핵심 보장을 위해, 보험료 부담이 적고 장기 유지를 고려한 표준적인 '일반형' 상품으로 20년납 90세 만기를 제안합니다. (월 보험료 약 2만 원 예상)</a:t>
            </a:r>
            <a:endParaRPr lang="en-US" sz="1000" dirty="0"/>
          </a:p>
        </p:txBody>
      </p:sp>
      <p:sp>
        <p:nvSpPr>
          <p:cNvPr id="9" name="Text 7"/>
          <p:cNvSpPr/>
          <p:nvPr/>
        </p:nvSpPr>
        <p:spPr>
          <a:xfrm>
            <a:off x="868680" y="1600200"/>
            <a:ext cx="7543800" cy="228600"/>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 핵심 보장 구성</a:t>
            </a:r>
            <a:endParaRPr lang="en-US" sz="1050" dirty="0"/>
          </a:p>
        </p:txBody>
      </p:sp>
      <p:sp>
        <p:nvSpPr>
          <p:cNvPr id="10" name="Text 8"/>
          <p:cNvSpPr/>
          <p:nvPr/>
        </p:nvSpPr>
        <p:spPr>
          <a:xfrm>
            <a:off x="868680" y="1856232"/>
            <a:ext cx="7543800" cy="640080"/>
          </a:xfrm>
          <a:prstGeom prst="rect">
            <a:avLst/>
          </a:prstGeom>
          <a:noFill/>
          <a:ln/>
        </p:spPr>
        <p:txBody>
          <a:bodyPr wrap="square" lIns="0" tIns="0" rIns="0" bIns="0" rtlCol="0" anchor="t"/>
          <a:lstStyle/>
          <a:p>
            <a:pPr marL="342900" indent="-342900">
              <a:lnSpc>
                <a:spcPct val="11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일반암 진단비: 2,000만 원</a:t>
            </a:r>
            <a:endParaRPr lang="en-US" sz="1000" dirty="0"/>
          </a:p>
          <a:p>
            <a:pPr marL="342900" indent="-342900">
              <a:lnSpc>
                <a:spcPct val="11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뇌혈관질환 진단비: 1,000만 원</a:t>
            </a:r>
            <a:endParaRPr lang="en-US" sz="1000" dirty="0"/>
          </a:p>
          <a:p>
            <a:pPr marL="342900" indent="-342900">
              <a:lnSpc>
                <a:spcPct val="11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허혈성심장질환 진단비: 1,000만 원</a:t>
            </a:r>
            <a:endParaRPr lang="en-US" sz="1000" dirty="0"/>
          </a:p>
          <a:p>
            <a:pPr marL="342900" indent="-342900">
              <a:lnSpc>
                <a:spcPct val="110000"/>
              </a:lnSpc>
              <a:buSzPct val="100000"/>
              <a:buChar char="•"/>
            </a:pPr>
            <a:r>
              <a:rPr lang="en-US" sz="1000" dirty="0">
                <a:solidFill>
                  <a:srgbClr val="2B2B2B"/>
                </a:solidFill>
                <a:latin typeface="맑은 고딕" pitchFamily="34" charset="0"/>
                <a:ea typeface="맑은 고딕" pitchFamily="34" charset="-122"/>
                <a:cs typeface="맑은 고딕" pitchFamily="34" charset="-120"/>
              </a:rPr>
              <a:t>상해후유장해(3~100%): 5,000만 원</a:t>
            </a:r>
            <a:endParaRPr lang="en-US" sz="1000" dirty="0"/>
          </a:p>
        </p:txBody>
      </p:sp>
      <p:sp>
        <p:nvSpPr>
          <p:cNvPr id="11" name="Text 9"/>
          <p:cNvSpPr/>
          <p:nvPr/>
        </p:nvSpPr>
        <p:spPr>
          <a:xfrm>
            <a:off x="868680" y="2514600"/>
            <a:ext cx="8046720" cy="228600"/>
          </a:xfrm>
          <a:prstGeom prst="rect">
            <a:avLst/>
          </a:prstGeom>
          <a:noFill/>
          <a:ln/>
        </p:spPr>
        <p:txBody>
          <a:bodyPr wrap="square" lIns="0" tIns="0" rIns="0" bIns="0" rtlCol="0" anchor="ctr"/>
          <a:lstStyle/>
          <a:p>
            <a:pPr marL="0" indent="0" algn="l">
              <a:buNone/>
            </a:pPr>
            <a:r>
              <a:rPr lang="en-US" sz="800" i="1" dirty="0">
                <a:solidFill>
                  <a:srgbClr val="6B7280"/>
                </a:solidFill>
                <a:latin typeface="맑은 고딕" pitchFamily="34" charset="0"/>
                <a:ea typeface="맑은 고딕" pitchFamily="34" charset="-122"/>
                <a:cs typeface="맑은 고딕" pitchFamily="34" charset="-120"/>
              </a:rPr>
              <a:t>※ 상해후유장해 보장은 장해율 산정 기준 및 약관 규정에 따라 지급 금액이 달라질 수 있으므로, 세부 조건을 반드시 확인해야 합니다.</a:t>
            </a:r>
            <a:endParaRPr lang="en-US" sz="800" dirty="0"/>
          </a:p>
        </p:txBody>
      </p:sp>
      <p:sp>
        <p:nvSpPr>
          <p:cNvPr id="12" name="Text 10"/>
          <p:cNvSpPr/>
          <p:nvPr/>
        </p:nvSpPr>
        <p:spPr>
          <a:xfrm>
            <a:off x="868680" y="2883748"/>
            <a:ext cx="7543800" cy="228600"/>
          </a:xfrm>
          <a:prstGeom prst="rect">
            <a:avLst/>
          </a:prstGeom>
          <a:noFill/>
          <a:ln/>
        </p:spPr>
        <p:txBody>
          <a:bodyPr wrap="square" lIns="0" tIns="0" rIns="0" bIns="0" rtlCol="0" anchor="ctr"/>
          <a:lstStyle/>
          <a:p>
            <a:pPr marL="0" indent="0" algn="l">
              <a:buNone/>
            </a:pPr>
            <a:r>
              <a:rPr lang="en-US" sz="1050" b="1" dirty="0">
                <a:solidFill>
                  <a:srgbClr val="1B2A4A"/>
                </a:solidFill>
                <a:latin typeface="맑은 고딕" pitchFamily="34" charset="0"/>
                <a:ea typeface="맑은 고딕" pitchFamily="34" charset="-122"/>
                <a:cs typeface="맑은 고딕" pitchFamily="34" charset="-120"/>
              </a:rPr>
              <a:t>[원칙 → 예외 → 주의사항]</a:t>
            </a:r>
            <a:endParaRPr lang="en-US" sz="1050" dirty="0"/>
          </a:p>
        </p:txBody>
      </p:sp>
      <p:sp>
        <p:nvSpPr>
          <p:cNvPr id="13" name="Text 11"/>
          <p:cNvSpPr/>
          <p:nvPr/>
        </p:nvSpPr>
        <p:spPr>
          <a:xfrm>
            <a:off x="868680" y="3139780"/>
            <a:ext cx="7543800" cy="1005840"/>
          </a:xfrm>
          <a:prstGeom prst="rect">
            <a:avLst/>
          </a:prstGeom>
          <a:noFill/>
          <a:ln/>
        </p:spPr>
        <p:txBody>
          <a:bodyPr wrap="square" lIns="0" tIns="0" rIns="0" bIns="0" rtlCol="0" anchor="t"/>
          <a:lstStyle/>
          <a:p>
            <a:pPr marL="342900" indent="-342900">
              <a:lnSpc>
                <a:spcPct val="11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원칙: 표준적인 '일반형' 보험은 예측 불가능한 상황으로 계약을 유지하기 어려울 때, 해지환급금을 통해 금전적 손실을 최소화하는 선택지를 제공합니다.</a:t>
            </a:r>
            <a:endParaRPr lang="en-US" sz="950" dirty="0"/>
          </a:p>
          <a:p>
            <a:pPr marL="342900" indent="-342900">
              <a:lnSpc>
                <a:spcPct val="11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예외: 은행 예적금과 달리, 사업비 등이 차감되므로 납입 초기에 해지할 경우 원금보다 적은 금액을 환급받을 수 있습니다.</a:t>
            </a:r>
            <a:endParaRPr lang="en-US" sz="950" dirty="0"/>
          </a:p>
          <a:p>
            <a:pPr marL="342900" indent="-342900">
              <a:lnSpc>
                <a:spcPct val="110000"/>
              </a:lnSpc>
              <a:buSzPct val="100000"/>
              <a:buChar char="•"/>
            </a:pPr>
            <a:r>
              <a:rPr lang="en-US" sz="950" dirty="0">
                <a:solidFill>
                  <a:srgbClr val="2B2B2B"/>
                </a:solidFill>
                <a:latin typeface="맑은 고딕" pitchFamily="34" charset="0"/>
                <a:ea typeface="맑은 고딕" pitchFamily="34" charset="-122"/>
                <a:cs typeface="맑은 고딕" pitchFamily="34" charset="-120"/>
              </a:rPr>
              <a:t>주의사항: 따라서 이 상품은 장기적인 위험 보장을 목적으로 가입해야 하며, 단기적인 저축 목적으로는 적합하지 않습니다. (출처: 금융소비자 보호에 관한 법률에 따른 상품설명서)</a:t>
            </a:r>
            <a:endParaRPr lang="en-US" sz="950" dirty="0"/>
          </a:p>
        </p:txBody>
      </p:sp>
      <p:sp>
        <p:nvSpPr>
          <p:cNvPr id="14" name="Text 12"/>
          <p:cNvSpPr/>
          <p:nvPr/>
        </p:nvSpPr>
        <p:spPr>
          <a:xfrm>
            <a:off x="548640" y="4096512"/>
            <a:ext cx="8046720" cy="228600"/>
          </a:xfrm>
          <a:prstGeom prst="rect">
            <a:avLst/>
          </a:prstGeom>
          <a:noFill/>
          <a:ln/>
        </p:spPr>
        <p:txBody>
          <a:bodyPr wrap="square" lIns="0" tIns="0" rIns="0" bIns="0" rtlCol="0" anchor="ctr"/>
          <a:lstStyle/>
          <a:p>
            <a:pPr marL="0" indent="0" algn="l">
              <a:buNone/>
            </a:pPr>
            <a:r>
              <a:rPr lang="en-US" sz="800" i="1" dirty="0">
                <a:solidFill>
                  <a:srgbClr val="6B7280"/>
                </a:solidFill>
                <a:latin typeface="맑은 고딕" pitchFamily="34" charset="0"/>
                <a:ea typeface="맑은 고딕" pitchFamily="34" charset="-122"/>
                <a:cs typeface="맑은 고딕" pitchFamily="34" charset="-120"/>
              </a:rPr>
              <a:t>※ 암·뇌혈관·심장 질환 진단비는 보험사별 세부 보장 범위 및 정의(예: 뇌혈관질환 vs 뇌졸중)에 따라 달라질 수 있으며, 가입 시 약관 확인이 필요합니다.</a:t>
            </a:r>
            <a:endParaRPr lang="en-US" sz="800" dirty="0"/>
          </a:p>
        </p:txBody>
      </p:sp>
      <p:sp>
        <p:nvSpPr>
          <p:cNvPr id="15" name="Text 1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16" name="Text 1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13</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14</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IV. 맞춤형 솔루션 제안 (계속) (4/4)</a:t>
            </a:r>
            <a:endParaRPr lang="en-US" sz="1600" dirty="0"/>
          </a:p>
        </p:txBody>
      </p:sp>
      <p:sp>
        <p:nvSpPr>
          <p:cNvPr id="5" name="Text 3"/>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3. 최종 제안 설계안 (요약표)</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8133951"/>
              </p:ext>
            </p:extLst>
          </p:nvPr>
        </p:nvGraphicFramePr>
        <p:xfrm>
          <a:off x="274320" y="1069848"/>
          <a:ext cx="7406640" cy="1621536"/>
        </p:xfrm>
        <a:graphic>
          <a:graphicData uri="http://schemas.openxmlformats.org/drawingml/2006/table">
            <a:tbl>
              <a:tblPr/>
              <a:tblGrid>
                <a:gridCol w="8229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84048">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구분</a:t>
                      </a:r>
                      <a:endParaRPr lang="en-US" sz="900" dirty="0">
                        <a:latin typeface="맑은 고딕" charset="0"/>
                        <a:ea typeface="맑은 고딕" charset="0"/>
                        <a:cs typeface="맑은 고딕" charset="0"/>
                      </a:endParaRPr>
                    </a:p>
                  </a:txBody>
                  <a:tcPr marL="50800" marR="508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보장 내용</a:t>
                      </a:r>
                      <a:endParaRPr lang="en-US" sz="900" dirty="0">
                        <a:latin typeface="맑은 고딕" charset="0"/>
                        <a:ea typeface="맑은 고딕" charset="0"/>
                        <a:cs typeface="맑은 고딕" charset="0"/>
                      </a:endParaRPr>
                    </a:p>
                  </a:txBody>
                  <a:tcPr marL="50800" marR="508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보험 기간</a:t>
                      </a:r>
                      <a:endParaRPr lang="en-US" sz="900" dirty="0">
                        <a:latin typeface="맑은 고딕" charset="0"/>
                        <a:ea typeface="맑은 고딕" charset="0"/>
                        <a:cs typeface="맑은 고딕" charset="0"/>
                      </a:endParaRPr>
                    </a:p>
                  </a:txBody>
                  <a:tcPr marL="50800" marR="508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월 보험료(예상)</a:t>
                      </a:r>
                      <a:endParaRPr lang="en-US" sz="900" dirty="0">
                        <a:latin typeface="맑은 고딕" charset="0"/>
                        <a:ea typeface="맑은 고딕" charset="0"/>
                        <a:cs typeface="맑은 고딕" charset="0"/>
                      </a:endParaRPr>
                    </a:p>
                  </a:txBody>
                  <a:tcPr marL="50800" marR="508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상품 유형</a:t>
                      </a:r>
                      <a:endParaRPr lang="en-US" sz="900" dirty="0">
                        <a:latin typeface="맑은 고딕" charset="0"/>
                        <a:ea typeface="맑은 고딕" charset="0"/>
                        <a:cs typeface="맑은 고딕" charset="0"/>
                      </a:endParaRPr>
                    </a:p>
                  </a:txBody>
                  <a:tcPr marL="50800" marR="508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20040">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플랜 1</a:t>
                      </a:r>
                      <a:endParaRPr lang="en-US" sz="900" dirty="0">
                        <a:latin typeface="맑은 고딕" charset="0"/>
                        <a:ea typeface="맑은 고딕" charset="0"/>
                        <a:cs typeface="맑은 고딕" charset="0"/>
                      </a:endParaRPr>
                    </a:p>
                  </a:txBody>
                  <a:tcPr marL="50800" marR="508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실손의료비 (실제 병원비 보장)</a:t>
                      </a:r>
                      <a:endParaRPr lang="en-US" sz="900" dirty="0">
                        <a:latin typeface="맑은 고딕" charset="0"/>
                        <a:ea typeface="맑은 고딕" charset="0"/>
                        <a:cs typeface="맑은 고딕" charset="0"/>
                      </a:endParaRPr>
                    </a:p>
                  </a:txBody>
                  <a:tcPr marL="50800" marR="508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1년 갱신 /</a:t>
                      </a:r>
                      <a:endParaRPr lang="en-US" sz="900" dirty="0">
                        <a:latin typeface="맑은 고딕" charset="0"/>
                        <a:ea typeface="맑은 고딕" charset="0"/>
                        <a:cs typeface="맑은 고딕" charset="0"/>
                      </a:endParaRPr>
                    </a:p>
                    <a:p>
                      <a:pPr marL="0" indent="0" algn="ctr">
                        <a:buNone/>
                      </a:pPr>
                      <a:r>
                        <a:rPr lang="en-US" sz="900" dirty="0">
                          <a:solidFill>
                            <a:srgbClr val="000000"/>
                          </a:solidFill>
                          <a:latin typeface="맑은 고딕" pitchFamily="34" charset="0"/>
                          <a:ea typeface="맑은 고딕" pitchFamily="34" charset="-122"/>
                          <a:cs typeface="맑은 고딕" pitchFamily="34" charset="-120"/>
                        </a:rPr>
                        <a:t>100세 만기</a:t>
                      </a:r>
                      <a:endParaRPr lang="en-US" sz="900" dirty="0">
                        <a:latin typeface="맑은 고딕" charset="0"/>
                        <a:ea typeface="맑은 고딕" charset="0"/>
                        <a:cs typeface="맑은 고딕" charset="0"/>
                      </a:endParaRPr>
                    </a:p>
                  </a:txBody>
                  <a:tcPr marL="50800" marR="508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약 10,000 원</a:t>
                      </a:r>
                      <a:endParaRPr lang="en-US" sz="900" dirty="0">
                        <a:latin typeface="맑은 고딕" charset="0"/>
                        <a:ea typeface="맑은 고딕" charset="0"/>
                        <a:cs typeface="맑은 고딕" charset="0"/>
                      </a:endParaRPr>
                    </a:p>
                  </a:txBody>
                  <a:tcPr marL="50800" marR="508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갱신형,</a:t>
                      </a:r>
                      <a:endParaRPr lang="en-US" sz="900" dirty="0">
                        <a:latin typeface="맑은 고딕" charset="0"/>
                        <a:ea typeface="맑은 고딕" charset="0"/>
                        <a:cs typeface="맑은 고딕" charset="0"/>
                      </a:endParaRPr>
                    </a:p>
                    <a:p>
                      <a:pPr marL="0" indent="0" algn="ctr">
                        <a:buNone/>
                      </a:pPr>
                      <a:r>
                        <a:rPr lang="en-US" sz="900" dirty="0">
                          <a:solidFill>
                            <a:srgbClr val="000000"/>
                          </a:solidFill>
                          <a:latin typeface="맑은 고딕" pitchFamily="34" charset="0"/>
                          <a:ea typeface="맑은 고딕" pitchFamily="34" charset="-122"/>
                          <a:cs typeface="맑은 고딕" pitchFamily="34" charset="-120"/>
                        </a:rPr>
                        <a:t>단독 실손</a:t>
                      </a:r>
                      <a:endParaRPr lang="en-US" sz="900" dirty="0">
                        <a:latin typeface="맑은 고딕" charset="0"/>
                        <a:ea typeface="맑은 고딕" charset="0"/>
                        <a:cs typeface="맑은 고딕" charset="0"/>
                      </a:endParaRPr>
                    </a:p>
                  </a:txBody>
                  <a:tcPr marL="50800" marR="508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extLst>
                  <a:ext uri="{0D108BD9-81ED-4DB2-BD59-A6C34878D82A}">
                    <a16:rowId xmlns:a16="http://schemas.microsoft.com/office/drawing/2014/main" val="10001"/>
                  </a:ext>
                </a:extLst>
              </a:tr>
              <a:tr h="502920">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플랜 2</a:t>
                      </a:r>
                      <a:endParaRPr lang="en-US" sz="900" dirty="0">
                        <a:latin typeface="맑은 고딕" charset="0"/>
                        <a:ea typeface="맑은 고딕" charset="0"/>
                        <a:cs typeface="맑은 고딕" charset="0"/>
                      </a:endParaRPr>
                    </a:p>
                  </a:txBody>
                  <a:tcPr marL="50800" marR="508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 암 진단비 2천만 원</a:t>
                      </a:r>
                      <a:endParaRPr lang="en-US" sz="900" dirty="0">
                        <a:latin typeface="맑은 고딕" charset="0"/>
                        <a:ea typeface="맑은 고딕" charset="0"/>
                        <a:cs typeface="맑은 고딕" charset="0"/>
                      </a:endParaRPr>
                    </a:p>
                    <a:p>
                      <a:pPr marL="0" indent="0" algn="ctr">
                        <a:buNone/>
                      </a:pPr>
                      <a:r>
                        <a:rPr lang="en-US" sz="900" dirty="0">
                          <a:solidFill>
                            <a:srgbClr val="000000"/>
                          </a:solidFill>
                          <a:latin typeface="맑은 고딕" pitchFamily="34" charset="0"/>
                          <a:ea typeface="맑은 고딕" pitchFamily="34" charset="-122"/>
                          <a:cs typeface="맑은 고딕" pitchFamily="34" charset="-120"/>
                        </a:rPr>
                        <a:t>- 뇌/심장 진단비 각 1천만 원</a:t>
                      </a:r>
                      <a:endParaRPr lang="en-US" sz="900" dirty="0">
                        <a:latin typeface="맑은 고딕" charset="0"/>
                        <a:ea typeface="맑은 고딕" charset="0"/>
                        <a:cs typeface="맑은 고딕" charset="0"/>
                      </a:endParaRPr>
                    </a:p>
                    <a:p>
                      <a:pPr marL="0" indent="0" algn="ctr">
                        <a:buNone/>
                      </a:pPr>
                      <a:r>
                        <a:rPr lang="en-US" sz="900" dirty="0">
                          <a:solidFill>
                            <a:srgbClr val="000000"/>
                          </a:solidFill>
                          <a:latin typeface="맑은 고딕" pitchFamily="34" charset="0"/>
                          <a:ea typeface="맑은 고딕" pitchFamily="34" charset="-122"/>
                          <a:cs typeface="맑은 고딕" pitchFamily="34" charset="-120"/>
                        </a:rPr>
                        <a:t>- 상해후유장해 5천만 원</a:t>
                      </a:r>
                      <a:endParaRPr lang="en-US" sz="900" dirty="0">
                        <a:latin typeface="맑은 고딕" charset="0"/>
                        <a:ea typeface="맑은 고딕" charset="0"/>
                        <a:cs typeface="맑은 고딕" charset="0"/>
                      </a:endParaRPr>
                    </a:p>
                  </a:txBody>
                  <a:tcPr marL="50800" marR="508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20년납 /</a:t>
                      </a:r>
                      <a:endParaRPr lang="en-US" sz="900" dirty="0">
                        <a:latin typeface="맑은 고딕" charset="0"/>
                        <a:ea typeface="맑은 고딕" charset="0"/>
                        <a:cs typeface="맑은 고딕" charset="0"/>
                      </a:endParaRPr>
                    </a:p>
                    <a:p>
                      <a:pPr marL="0" indent="0" algn="ctr">
                        <a:buNone/>
                      </a:pPr>
                      <a:r>
                        <a:rPr lang="en-US" sz="900" dirty="0">
                          <a:solidFill>
                            <a:srgbClr val="000000"/>
                          </a:solidFill>
                          <a:latin typeface="맑은 고딕" pitchFamily="34" charset="0"/>
                          <a:ea typeface="맑은 고딕" pitchFamily="34" charset="-122"/>
                          <a:cs typeface="맑은 고딕" pitchFamily="34" charset="-120"/>
                        </a:rPr>
                        <a:t>90세 만기</a:t>
                      </a:r>
                      <a:endParaRPr lang="en-US" sz="900" dirty="0">
                        <a:latin typeface="맑은 고딕" charset="0"/>
                        <a:ea typeface="맑은 고딕" charset="0"/>
                        <a:cs typeface="맑은 고딕" charset="0"/>
                      </a:endParaRPr>
                    </a:p>
                  </a:txBody>
                  <a:tcPr marL="50800" marR="508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약 20,000 원</a:t>
                      </a:r>
                      <a:endParaRPr lang="en-US" sz="900" dirty="0">
                        <a:latin typeface="맑은 고딕" charset="0"/>
                        <a:ea typeface="맑은 고딕" charset="0"/>
                        <a:cs typeface="맑은 고딕" charset="0"/>
                      </a:endParaRPr>
                    </a:p>
                  </a:txBody>
                  <a:tcPr marL="50800" marR="508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비갱신형,</a:t>
                      </a:r>
                      <a:endParaRPr lang="en-US" sz="900" dirty="0">
                        <a:latin typeface="맑은 고딕" charset="0"/>
                        <a:ea typeface="맑은 고딕" charset="0"/>
                        <a:cs typeface="맑은 고딕" charset="0"/>
                      </a:endParaRPr>
                    </a:p>
                    <a:p>
                      <a:pPr marL="0" indent="0" algn="ctr">
                        <a:buNone/>
                      </a:pPr>
                      <a:r>
                        <a:rPr lang="en-US" sz="900" dirty="0">
                          <a:solidFill>
                            <a:srgbClr val="000000"/>
                          </a:solidFill>
                          <a:latin typeface="맑은 고딕" pitchFamily="34" charset="0"/>
                          <a:ea typeface="맑은 고딕" pitchFamily="34" charset="-122"/>
                          <a:cs typeface="맑은 고딕" pitchFamily="34" charset="-120"/>
                        </a:rPr>
                        <a:t>일반형</a:t>
                      </a:r>
                      <a:endParaRPr lang="en-US" sz="900" dirty="0">
                        <a:latin typeface="맑은 고딕" charset="0"/>
                        <a:ea typeface="맑은 고딕" charset="0"/>
                        <a:cs typeface="맑은 고딕" charset="0"/>
                      </a:endParaRPr>
                    </a:p>
                  </a:txBody>
                  <a:tcPr marL="50800" marR="508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384048">
                <a:tc gridSpan="3">
                  <a:txBody>
                    <a:bodyPr/>
                    <a:lstStyle/>
                    <a:p>
                      <a:pPr marL="0" indent="0" algn="ctr">
                        <a:buNone/>
                      </a:pPr>
                      <a:r>
                        <a:rPr lang="en-US" sz="1000" b="1" dirty="0">
                          <a:solidFill>
                            <a:srgbClr val="1A6B4A"/>
                          </a:solidFill>
                          <a:latin typeface="맑은 고딕" pitchFamily="34" charset="0"/>
                          <a:ea typeface="맑은 고딕" pitchFamily="34" charset="-122"/>
                          <a:cs typeface="맑은 고딕" pitchFamily="34" charset="-120"/>
                        </a:rPr>
                        <a:t>월 보험료 합계</a:t>
                      </a:r>
                      <a:endParaRPr lang="en-US" sz="1000" dirty="0">
                        <a:latin typeface="맑은 고딕" charset="0"/>
                        <a:ea typeface="맑은 고딕" charset="0"/>
                        <a:cs typeface="맑은 고딕" charset="0"/>
                      </a:endParaRPr>
                    </a:p>
                  </a:txBody>
                  <a:tcPr marL="50800" marR="508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AF2FF"/>
                    </a:solidFill>
                  </a:tcPr>
                </a:tc>
                <a:tc hMerge="1">
                  <a:txBody>
                    <a:bodyPr/>
                    <a:lstStyle/>
                    <a:p>
                      <a:endParaRPr lang="ko-KR"/>
                    </a:p>
                  </a:txBody>
                  <a:tcPr/>
                </a:tc>
                <a:tc hMerge="1">
                  <a:txBody>
                    <a:bodyPr/>
                    <a:lstStyle/>
                    <a:p>
                      <a:endParaRPr lang="ko-KR"/>
                    </a:p>
                  </a:txBody>
                  <a:tcPr/>
                </a:tc>
                <a:tc>
                  <a:txBody>
                    <a:bodyPr/>
                    <a:lstStyle/>
                    <a:p>
                      <a:pPr marL="0" indent="0" algn="ctr">
                        <a:buNone/>
                      </a:pPr>
                      <a:r>
                        <a:rPr lang="en-US" sz="1400" b="1" dirty="0">
                          <a:solidFill>
                            <a:srgbClr val="1A6B4A"/>
                          </a:solidFill>
                          <a:latin typeface="Georgia" pitchFamily="34" charset="0"/>
                          <a:ea typeface="Georgia" pitchFamily="34" charset="-122"/>
                          <a:cs typeface="Georgia" pitchFamily="34" charset="-120"/>
                        </a:rPr>
                        <a:t>약 30,000 원</a:t>
                      </a:r>
                      <a:endParaRPr lang="en-US" sz="1400" dirty="0">
                        <a:latin typeface="Georgia" charset="0"/>
                        <a:ea typeface="Georgia" charset="0"/>
                        <a:cs typeface="Georgia" charset="0"/>
                      </a:endParaRPr>
                    </a:p>
                  </a:txBody>
                  <a:tcPr marL="50800" marR="508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AF2FF"/>
                    </a:solidFill>
                  </a:tcPr>
                </a:tc>
                <a:tc>
                  <a:txBody>
                    <a:bodyPr/>
                    <a:lstStyle/>
                    <a:p>
                      <a:pPr marL="0" indent="0" algn="ctr">
                        <a:buNone/>
                      </a:pPr>
                      <a:r>
                        <a:rPr lang="en-US" sz="900" dirty="0">
                          <a:solidFill>
                            <a:srgbClr val="1A6B4A"/>
                          </a:solidFill>
                          <a:latin typeface="맑은 고딕" pitchFamily="34" charset="0"/>
                          <a:ea typeface="맑은 고딕" pitchFamily="34" charset="-122"/>
                          <a:cs typeface="맑은 고딕" pitchFamily="34" charset="-120"/>
                        </a:rPr>
                        <a:t>월 소득의</a:t>
                      </a:r>
                      <a:endParaRPr lang="en-US" sz="900" dirty="0">
                        <a:latin typeface="맑은 고딕" charset="0"/>
                        <a:ea typeface="맑은 고딕" charset="0"/>
                        <a:cs typeface="맑은 고딕" charset="0"/>
                      </a:endParaRPr>
                    </a:p>
                    <a:p>
                      <a:pPr marL="0" indent="0" algn="ctr">
                        <a:buNone/>
                      </a:pPr>
                      <a:r>
                        <a:rPr lang="en-US" sz="900" dirty="0">
                          <a:solidFill>
                            <a:srgbClr val="1A6B4A"/>
                          </a:solidFill>
                          <a:latin typeface="맑은 고딕" pitchFamily="34" charset="0"/>
                          <a:ea typeface="맑은 고딕" pitchFamily="34" charset="-122"/>
                          <a:cs typeface="맑은 고딕" pitchFamily="34" charset="-120"/>
                        </a:rPr>
                        <a:t>1.2% 수준</a:t>
                      </a:r>
                      <a:endParaRPr lang="en-US" sz="900" dirty="0">
                        <a:latin typeface="맑은 고딕" charset="0"/>
                        <a:ea typeface="맑은 고딕" charset="0"/>
                        <a:cs typeface="맑은 고딕" charset="0"/>
                      </a:endParaRPr>
                    </a:p>
                  </a:txBody>
                  <a:tcPr marL="50800" marR="508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AF2FF"/>
                    </a:solidFill>
                  </a:tcPr>
                </a:tc>
                <a:extLst>
                  <a:ext uri="{0D108BD9-81ED-4DB2-BD59-A6C34878D82A}">
                    <a16:rowId xmlns:a16="http://schemas.microsoft.com/office/drawing/2014/main" val="10003"/>
                  </a:ext>
                </a:extLst>
              </a:tr>
            </a:tbl>
          </a:graphicData>
        </a:graphic>
      </p:graphicFrame>
      <p:sp>
        <p:nvSpPr>
          <p:cNvPr id="7" name="Text 4"/>
          <p:cNvSpPr/>
          <p:nvPr/>
        </p:nvSpPr>
        <p:spPr>
          <a:xfrm>
            <a:off x="548640" y="2807208"/>
            <a:ext cx="8046720" cy="228600"/>
          </a:xfrm>
          <a:prstGeom prst="rect">
            <a:avLst/>
          </a:prstGeom>
          <a:noFill/>
          <a:ln/>
        </p:spPr>
        <p:txBody>
          <a:bodyPr wrap="square" lIns="0" tIns="0" rIns="0" bIns="0" rtlCol="0" anchor="ctr"/>
          <a:lstStyle/>
          <a:p>
            <a:pPr marL="0" indent="0" algn="l">
              <a:buNone/>
            </a:pPr>
            <a:r>
              <a:rPr lang="en-US" sz="800" i="1" dirty="0">
                <a:solidFill>
                  <a:srgbClr val="6B7280"/>
                </a:solidFill>
                <a:latin typeface="맑은 고딕" pitchFamily="34" charset="0"/>
                <a:ea typeface="맑은 고딕" pitchFamily="34" charset="-122"/>
                <a:cs typeface="맑은 고딕" pitchFamily="34" charset="-120"/>
              </a:rPr>
              <a:t>※ 위 보험료 및 보장 내용은 예시이며, 실제 조건은 고객의 연령, 성별, 건강 상태, 손해율 및 제도 변화 등에 따라 달라질 수 있습니다. 최종 가입 조건은 보험사 심사 및 약관에 따릅니다.</a:t>
            </a:r>
            <a:endParaRPr lang="en-US" sz="800" dirty="0"/>
          </a:p>
        </p:txBody>
      </p:sp>
      <p:sp>
        <p:nvSpPr>
          <p:cNvPr id="8" name="Text 5"/>
          <p:cNvSpPr/>
          <p:nvPr/>
        </p:nvSpPr>
        <p:spPr>
          <a:xfrm>
            <a:off x="457200" y="3081528"/>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4. 제안 이유 (Rationale)</a:t>
            </a:r>
            <a:endParaRPr lang="en-US" sz="1400" dirty="0"/>
          </a:p>
        </p:txBody>
      </p:sp>
      <p:sp>
        <p:nvSpPr>
          <p:cNvPr id="9" name="Text 6"/>
          <p:cNvSpPr/>
          <p:nvPr/>
        </p:nvSpPr>
        <p:spPr>
          <a:xfrm>
            <a:off x="548640" y="3465576"/>
            <a:ext cx="8046720" cy="1097280"/>
          </a:xfrm>
          <a:prstGeom prst="rect">
            <a:avLst/>
          </a:prstGeom>
          <a:noFill/>
          <a:ln/>
        </p:spPr>
        <p:txBody>
          <a:bodyPr wrap="square" lIns="0" tIns="0" rIns="0" bIns="0" rtlCol="0" anchor="t"/>
          <a:lstStyle/>
          <a:p>
            <a:pPr marL="0" indent="0" algn="l">
              <a:lnSpc>
                <a:spcPct val="125000"/>
              </a:lnSpc>
              <a:buNone/>
            </a:pPr>
            <a:r>
              <a:rPr lang="en-US" sz="1000" dirty="0">
                <a:solidFill>
                  <a:srgbClr val="2B2B2B"/>
                </a:solidFill>
                <a:latin typeface="맑은 고딕" pitchFamily="34" charset="0"/>
                <a:ea typeface="맑은 고딕" pitchFamily="34" charset="-122"/>
                <a:cs typeface="맑은 고딕" pitchFamily="34" charset="-120"/>
              </a:rPr>
              <a:t>20대에 가입한 보험의 중도 해지율이 높은 이유는 처음부터 너무 비싸고 복잡하게 가입했기 때문입니다. 이 플랜은 그 실패를 반복하지 않기 위해 철저히 '지속 가능성'에 초점을 맞췄습니다. 월 3만 원이라는 부담 없는 비용으로 미래에 발생할 수 있는 수천만 원의 위험을 막는 가장 효율적인 위험 대비 수단입니다. 특히, 지금 월 2만 원으로 가입한 이 암 진단비 2천만 원은, 10년 뒤 작은 병력이라도 생기면 수억을 줘도 못 사는 보물이 될 수 있습니다. 이것은 단순한 지출이 아니라, 가장 건강하고 가장 저렴할 때 미래의 '가입할 권리'를 선점하는 가장 현명한 준비입니다.</a:t>
            </a:r>
            <a:endParaRPr lang="en-US" sz="1000" dirty="0"/>
          </a:p>
        </p:txBody>
      </p:sp>
      <p:sp>
        <p:nvSpPr>
          <p:cNvPr id="10" name="Text 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11" name="Text 8"/>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14</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15</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 기대 효과 (Expected Effects) (1/2)</a:t>
            </a:r>
            <a:endParaRPr lang="en-US" sz="1600" dirty="0"/>
          </a:p>
        </p:txBody>
      </p:sp>
      <p:sp>
        <p:nvSpPr>
          <p:cNvPr id="5" name="Text 3"/>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1. Before &amp; After 시뮬레이션</a:t>
            </a:r>
            <a:endParaRPr lang="en-US" sz="1400" dirty="0"/>
          </a:p>
        </p:txBody>
      </p:sp>
      <p:sp>
        <p:nvSpPr>
          <p:cNvPr id="6" name="Text 4"/>
          <p:cNvSpPr/>
          <p:nvPr/>
        </p:nvSpPr>
        <p:spPr>
          <a:xfrm>
            <a:off x="548640" y="1069848"/>
            <a:ext cx="8046720" cy="274320"/>
          </a:xfrm>
          <a:prstGeom prst="rect">
            <a:avLst/>
          </a:prstGeom>
          <a:noFill/>
          <a:ln/>
        </p:spPr>
        <p:txBody>
          <a:bodyPr wrap="square" lIns="0" tIns="0" rIns="0" bIns="0" rtlCol="0" anchor="ctr"/>
          <a:lstStyle/>
          <a:p>
            <a:pPr marL="0" indent="0" algn="l">
              <a:buNone/>
            </a:pPr>
            <a:r>
              <a:rPr lang="en-US" sz="1000" dirty="0">
                <a:solidFill>
                  <a:srgbClr val="4A5568"/>
                </a:solidFill>
                <a:latin typeface="맑은 고딕" pitchFamily="34" charset="0"/>
                <a:ea typeface="맑은 고딕" pitchFamily="34" charset="-122"/>
                <a:cs typeface="맑은 고딕" pitchFamily="34" charset="-120"/>
              </a:rPr>
              <a:t>[상황 가정: 29세에 취미인 자전거를 타다 넘어져 후방 십자인대 파열 진단 (상해후유장해 10% 가정)]</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3603995318"/>
              </p:ext>
            </p:extLst>
          </p:nvPr>
        </p:nvGraphicFramePr>
        <p:xfrm>
          <a:off x="274320" y="1417320"/>
          <a:ext cx="8595360" cy="1463040"/>
        </p:xfrm>
        <a:graphic>
          <a:graphicData uri="http://schemas.openxmlformats.org/drawingml/2006/table">
            <a:tbl>
              <a:tblPr/>
              <a:tblGrid>
                <a:gridCol w="11887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320040">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구분</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Before (솔루션 실행 전)</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After (솔루션 실행 후)</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94360">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의료비/재활비</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병원비 약 500만 원 + 재활치료비</a:t>
                      </a:r>
                      <a:endParaRPr lang="en-US" sz="900" dirty="0">
                        <a:latin typeface="맑은 고딕" charset="0"/>
                        <a:ea typeface="맑은 고딕" charset="0"/>
                        <a:cs typeface="맑은 고딕" charset="0"/>
                      </a:endParaRPr>
                    </a:p>
                    <a:p>
                      <a:pPr marL="0" indent="0" algn="ctr">
                        <a:buNone/>
                      </a:pPr>
                      <a:r>
                        <a:rPr lang="en-US" sz="900" dirty="0">
                          <a:solidFill>
                            <a:srgbClr val="000000"/>
                          </a:solidFill>
                          <a:latin typeface="맑은 고딕" pitchFamily="34" charset="0"/>
                          <a:ea typeface="맑은 고딕" pitchFamily="34" charset="-122"/>
                          <a:cs typeface="맑은 고딕" pitchFamily="34" charset="-120"/>
                        </a:rPr>
                        <a:t>전액 개인 저축(독립자금)에서 인출.</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실손보험에서 병원비 300~400만 원 보장.</a:t>
                      </a:r>
                      <a:endParaRPr lang="en-US" sz="900" dirty="0">
                        <a:latin typeface="맑은 고딕" charset="0"/>
                        <a:ea typeface="맑은 고딕" charset="0"/>
                        <a:cs typeface="맑은 고딕" charset="0"/>
                      </a:endParaRPr>
                    </a:p>
                    <a:p>
                      <a:pPr marL="0" indent="0" algn="ctr">
                        <a:buNone/>
                      </a:pPr>
                      <a:r>
                        <a:rPr lang="en-US" sz="900" dirty="0">
                          <a:solidFill>
                            <a:srgbClr val="000000"/>
                          </a:solidFill>
                          <a:latin typeface="맑은 고딕" pitchFamily="34" charset="0"/>
                          <a:ea typeface="맑은 고딕" pitchFamily="34" charset="-122"/>
                          <a:cs typeface="맑은 고딕" pitchFamily="34" charset="-120"/>
                        </a:rPr>
                        <a:t>상해후유장해 보험금 500만 원</a:t>
                      </a:r>
                      <a:endParaRPr lang="en-US" sz="900" dirty="0">
                        <a:latin typeface="맑은 고딕" charset="0"/>
                        <a:ea typeface="맑은 고딕" charset="0"/>
                        <a:cs typeface="맑은 고딕" charset="0"/>
                      </a:endParaRPr>
                    </a:p>
                    <a:p>
                      <a:pPr marL="0" indent="0" algn="ctr">
                        <a:buNone/>
                      </a:pPr>
                      <a:r>
                        <a:rPr lang="en-US" sz="900" dirty="0">
                          <a:solidFill>
                            <a:srgbClr val="000000"/>
                          </a:solidFill>
                          <a:latin typeface="맑은 고딕" pitchFamily="34" charset="0"/>
                          <a:ea typeface="맑은 고딕" pitchFamily="34" charset="-122"/>
                          <a:cs typeface="맑은 고딕" pitchFamily="34" charset="-120"/>
                        </a:rPr>
                        <a:t>(5천만 원 X 10%) 수령.</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extLst>
                  <a:ext uri="{0D108BD9-81ED-4DB2-BD59-A6C34878D82A}">
                    <a16:rowId xmlns:a16="http://schemas.microsoft.com/office/drawing/2014/main" val="10001"/>
                  </a:ext>
                </a:extLst>
              </a:tr>
              <a:tr h="548640">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재무적 결과</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900" dirty="0">
                          <a:solidFill>
                            <a:srgbClr val="D4382C"/>
                          </a:solidFill>
                          <a:latin typeface="맑은 고딕" pitchFamily="34" charset="0"/>
                          <a:ea typeface="맑은 고딕" pitchFamily="34" charset="-122"/>
                          <a:cs typeface="맑은 고딕" pitchFamily="34" charset="-120"/>
                        </a:rPr>
                        <a:t>독립자금 마련 계획에 심각한 차질 발생.</a:t>
                      </a:r>
                      <a:endParaRPr lang="en-US" sz="900" dirty="0">
                        <a:latin typeface="맑은 고딕" charset="0"/>
                        <a:ea typeface="맑은 고딕" charset="0"/>
                        <a:cs typeface="맑은 고딕" charset="0"/>
                      </a:endParaRPr>
                    </a:p>
                    <a:p>
                      <a:pPr marL="0" indent="0" algn="ctr">
                        <a:buNone/>
                      </a:pPr>
                      <a:r>
                        <a:rPr lang="en-US" sz="900" dirty="0">
                          <a:solidFill>
                            <a:srgbClr val="D4382C"/>
                          </a:solidFill>
                          <a:latin typeface="맑은 고딕" pitchFamily="34" charset="0"/>
                          <a:ea typeface="맑은 고딕" pitchFamily="34" charset="-122"/>
                          <a:cs typeface="맑은 고딕" pitchFamily="34" charset="-120"/>
                        </a:rPr>
                        <a:t>재무 목표 달성 시기 1~2년 지연.</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ctr">
                        <a:buNone/>
                      </a:pPr>
                      <a:r>
                        <a:rPr lang="en-US" sz="900" dirty="0">
                          <a:solidFill>
                            <a:srgbClr val="1A6B4A"/>
                          </a:solidFill>
                          <a:latin typeface="맑은 고딕" pitchFamily="34" charset="0"/>
                          <a:ea typeface="맑은 고딕" pitchFamily="34" charset="-122"/>
                          <a:cs typeface="맑은 고딕" pitchFamily="34" charset="-120"/>
                        </a:rPr>
                        <a:t>개인 저축 손실 없이 치료 및 재활 가능.</a:t>
                      </a:r>
                      <a:endParaRPr lang="en-US" sz="900" dirty="0">
                        <a:latin typeface="맑은 고딕" charset="0"/>
                        <a:ea typeface="맑은 고딕" charset="0"/>
                        <a:cs typeface="맑은 고딕" charset="0"/>
                      </a:endParaRPr>
                    </a:p>
                    <a:p>
                      <a:pPr marL="0" indent="0" algn="ctr">
                        <a:buNone/>
                      </a:pPr>
                      <a:r>
                        <a:rPr lang="en-US" sz="900" dirty="0">
                          <a:solidFill>
                            <a:srgbClr val="1A6B4A"/>
                          </a:solidFill>
                          <a:latin typeface="맑은 고딕" pitchFamily="34" charset="0"/>
                          <a:ea typeface="맑은 고딕" pitchFamily="34" charset="-122"/>
                          <a:cs typeface="맑은 고딕" pitchFamily="34" charset="-120"/>
                        </a:rPr>
                        <a:t>보험금으로 재무적 공백을 메우고,</a:t>
                      </a:r>
                      <a:endParaRPr lang="en-US" sz="900" dirty="0">
                        <a:latin typeface="맑은 고딕" charset="0"/>
                        <a:ea typeface="맑은 고딕" charset="0"/>
                        <a:cs typeface="맑은 고딕" charset="0"/>
                      </a:endParaRPr>
                    </a:p>
                    <a:p>
                      <a:pPr marL="0" indent="0" algn="ctr">
                        <a:buNone/>
                      </a:pPr>
                      <a:r>
                        <a:rPr lang="en-US" sz="900" dirty="0">
                          <a:solidFill>
                            <a:srgbClr val="1A6B4A"/>
                          </a:solidFill>
                          <a:latin typeface="맑은 고딕" pitchFamily="34" charset="0"/>
                          <a:ea typeface="맑은 고딕" pitchFamily="34" charset="-122"/>
                          <a:cs typeface="맑은 고딕" pitchFamily="34" charset="-120"/>
                        </a:rPr>
                        <a:t>기존 재무 계획 유지.</a:t>
                      </a:r>
                      <a:endParaRPr lang="en-US" sz="90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8" name="Text 5"/>
          <p:cNvSpPr/>
          <p:nvPr/>
        </p:nvSpPr>
        <p:spPr>
          <a:xfrm>
            <a:off x="548640" y="3017520"/>
            <a:ext cx="8046720" cy="228600"/>
          </a:xfrm>
          <a:prstGeom prst="rect">
            <a:avLst/>
          </a:prstGeom>
          <a:noFill/>
          <a:ln/>
        </p:spPr>
        <p:txBody>
          <a:bodyPr wrap="square" lIns="0" tIns="0" rIns="0" bIns="0" rtlCol="0" anchor="ctr"/>
          <a:lstStyle/>
          <a:p>
            <a:pPr marL="0" indent="0" algn="l">
              <a:buNone/>
            </a:pPr>
            <a:r>
              <a:rPr lang="en-US" sz="800" i="1" dirty="0">
                <a:solidFill>
                  <a:srgbClr val="6B7280"/>
                </a:solidFill>
                <a:latin typeface="맑은 고딕" pitchFamily="34" charset="0"/>
                <a:ea typeface="맑은 고딕" pitchFamily="34" charset="-122"/>
                <a:cs typeface="맑은 고딕" pitchFamily="34" charset="-120"/>
              </a:rPr>
              <a:t>※ 본 시뮬레이션은 가상의 예시로 작성되었으며, 실제 상황에서는 보험 가입 시점, 의료비 수준, 제도 변화 등에 따라 달라질 수 있습니다.</a:t>
            </a:r>
            <a:endParaRPr lang="en-US" sz="800" dirty="0"/>
          </a:p>
        </p:txBody>
      </p:sp>
      <p:sp>
        <p:nvSpPr>
          <p:cNvPr id="9" name="Text 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10" name="Text 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15</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16</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 기대 효과 (Expected Effects) (2/2)</a:t>
            </a:r>
            <a:endParaRPr lang="en-US" sz="1600" dirty="0"/>
          </a:p>
        </p:txBody>
      </p:sp>
      <p:sp>
        <p:nvSpPr>
          <p:cNvPr id="5" name="Text 3"/>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2. 가족·심리적 변화</a:t>
            </a:r>
            <a:endParaRPr lang="en-US" sz="1400" dirty="0"/>
          </a:p>
        </p:txBody>
      </p:sp>
      <p:sp>
        <p:nvSpPr>
          <p:cNvPr id="6" name="Text 4"/>
          <p:cNvSpPr/>
          <p:nvPr/>
        </p:nvSpPr>
        <p:spPr>
          <a:xfrm>
            <a:off x="640080" y="1069848"/>
            <a:ext cx="7863840" cy="585216"/>
          </a:xfrm>
          <a:prstGeom prst="rect">
            <a:avLst/>
          </a:prstGeom>
          <a:noFill/>
          <a:ln/>
        </p:spPr>
        <p:txBody>
          <a:bodyPr wrap="square" lIns="0" tIns="0" rIns="0" bIns="0" rtlCol="0" anchor="t"/>
          <a:lstStyle/>
          <a:p>
            <a:pPr marL="342900" indent="-342900">
              <a:lnSpc>
                <a:spcPct val="115000"/>
              </a:lnSpc>
              <a:buSzPct val="100000"/>
              <a:buChar char="•"/>
            </a:pPr>
            <a:r>
              <a:rPr lang="en-US" sz="1100" dirty="0">
                <a:solidFill>
                  <a:srgbClr val="2B2B2B"/>
                </a:solidFill>
                <a:latin typeface="맑은 고딕" pitchFamily="34" charset="0"/>
                <a:ea typeface="맑은 고딕" pitchFamily="34" charset="-122"/>
                <a:cs typeface="맑은 고딕" pitchFamily="34" charset="-120"/>
              </a:rPr>
              <a:t>스스로의 힘으로 미래를 준비했다는 '경제적 독립'에 대한 성취감과 자신감을 느끼게 됩니다.</a:t>
            </a:r>
            <a:endParaRPr lang="en-US" sz="1100" dirty="0"/>
          </a:p>
          <a:p>
            <a:pPr marL="342900" indent="-342900">
              <a:lnSpc>
                <a:spcPct val="115000"/>
              </a:lnSpc>
              <a:buSzPct val="100000"/>
              <a:buChar char="•"/>
            </a:pPr>
            <a:r>
              <a:rPr lang="en-US" sz="1100" dirty="0">
                <a:solidFill>
                  <a:srgbClr val="2B2B2B"/>
                </a:solidFill>
                <a:latin typeface="맑은 고딕" pitchFamily="34" charset="0"/>
                <a:ea typeface="맑은 고딕" pitchFamily="34" charset="-122"/>
                <a:cs typeface="맑은 고딕" pitchFamily="34" charset="-120"/>
              </a:rPr>
              <a:t>"혹시 아프거나 다치면 어떡하지?"라는 막연한 불안감에서 벗어나, 현재의 삶과 커리어에 더욱 집중하고 도전할 수 있는 심리적 안정감을 얻게 됩니다.</a:t>
            </a:r>
            <a:endParaRPr lang="en-US" sz="1100" dirty="0"/>
          </a:p>
        </p:txBody>
      </p:sp>
      <p:sp>
        <p:nvSpPr>
          <p:cNvPr id="7" name="Text 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8" name="Text 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16</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17</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 종합 제언 및 다음 단계 (Final Recommendation)</a:t>
            </a:r>
            <a:endParaRPr lang="en-US" sz="1600" dirty="0"/>
          </a:p>
        </p:txBody>
      </p:sp>
      <p:sp>
        <p:nvSpPr>
          <p:cNvPr id="5" name="Text 3"/>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1. 전문가 최종 의견</a:t>
            </a:r>
            <a:endParaRPr lang="en-US" sz="1400" dirty="0"/>
          </a:p>
        </p:txBody>
      </p:sp>
      <p:sp>
        <p:nvSpPr>
          <p:cNvPr id="6" name="Shape 4"/>
          <p:cNvSpPr/>
          <p:nvPr/>
        </p:nvSpPr>
        <p:spPr>
          <a:xfrm>
            <a:off x="457200" y="1069848"/>
            <a:ext cx="8229600" cy="1024128"/>
          </a:xfrm>
          <a:prstGeom prst="rect">
            <a:avLst/>
          </a:prstGeom>
          <a:solidFill>
            <a:srgbClr val="EEF2F7"/>
          </a:solidFill>
          <a:ln/>
        </p:spPr>
        <p:txBody>
          <a:bodyPr/>
          <a:lstStyle/>
          <a:p>
            <a:endParaRPr lang="ko-KR" altLang="en-US"/>
          </a:p>
        </p:txBody>
      </p:sp>
      <p:sp>
        <p:nvSpPr>
          <p:cNvPr id="7" name="Text 5"/>
          <p:cNvSpPr/>
          <p:nvPr/>
        </p:nvSpPr>
        <p:spPr>
          <a:xfrm>
            <a:off x="640080" y="1161288"/>
            <a:ext cx="7863840" cy="1280160"/>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"이로운 님, 오늘 제가 제안 드린 플랜은 '보험'이라는 이름의 '현명한 금융 습관'입니다. 매일 마시는 커피 한 잔 값을 아껴, 10년, 20년 뒤의 나에게 수천만 원짜리 비상금을 만들어주는 것과 같습니다. 많은 사람들이 20대에 잘못된 첫 단추를 끼워 보험에 대한 나쁜 기억을 갖습니다. 하지만 이 플랜은 10년 뒤 결혼을 하고, 내 집 마련을 꿈꿀 때에도 절대 후회하지 않을, 가장 가볍고 가장 핵심적인 첫 단추가 될 것입니다. 미래의 나를 위한 효과적인 위험 대비 방법을, 가장 좋은 시기인 바로 오늘 시작하시길 바랍니다."</a:t>
            </a:r>
            <a:endParaRPr lang="en-US" sz="1050" dirty="0"/>
          </a:p>
        </p:txBody>
      </p:sp>
      <p:sp>
        <p:nvSpPr>
          <p:cNvPr id="8" name="Text 6"/>
          <p:cNvSpPr/>
          <p:nvPr/>
        </p:nvSpPr>
        <p:spPr>
          <a:xfrm>
            <a:off x="457200" y="2304288"/>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2. 실행 플랜 (Action Plan)</a:t>
            </a:r>
            <a:endParaRPr lang="en-US" sz="1400" dirty="0"/>
          </a:p>
        </p:txBody>
      </p:sp>
      <p:sp>
        <p:nvSpPr>
          <p:cNvPr id="9" name="Text 7"/>
          <p:cNvSpPr/>
          <p:nvPr/>
        </p:nvSpPr>
        <p:spPr>
          <a:xfrm>
            <a:off x="640080" y="2688336"/>
            <a:ext cx="7863840" cy="1188720"/>
          </a:xfrm>
          <a:prstGeom prst="rect">
            <a:avLst/>
          </a:prstGeom>
          <a:noFill/>
          <a:ln/>
        </p:spPr>
        <p:txBody>
          <a:bodyPr wrap="square" lIns="0" tIns="0" rIns="0" bIns="0" rtlCol="0" anchor="t"/>
          <a:lstStyle/>
          <a:p>
            <a:pPr marL="342900" indent="-342900">
              <a:lnSpc>
                <a:spcPct val="115000"/>
              </a:lnSpc>
              <a:buSzPct val="100000"/>
              <a:buFont typeface="+mj-lt"/>
              <a:buAutoNum type="arabicPeriod"/>
            </a:pPr>
            <a:r>
              <a:rPr lang="en-US" sz="1050" dirty="0">
                <a:solidFill>
                  <a:srgbClr val="2B2B2B"/>
                </a:solidFill>
                <a:latin typeface="맑은 고딕" pitchFamily="34" charset="0"/>
                <a:ea typeface="맑은 고딕" pitchFamily="34" charset="-122"/>
                <a:cs typeface="맑은 고딕" pitchFamily="34" charset="-120"/>
              </a:rPr>
              <a:t>1단계 (플랜 확정): 제안 드린 월 3만 원대 플랜의 보장 내용과 금액을 최종 확정합니다.</a:t>
            </a:r>
            <a:endParaRPr lang="en-US" sz="1050" dirty="0"/>
          </a:p>
          <a:p>
            <a:pPr marL="342900" indent="-342900">
              <a:lnSpc>
                <a:spcPct val="115000"/>
              </a:lnSpc>
              <a:buSzPct val="100000"/>
              <a:buFont typeface="+mj-lt"/>
              <a:buAutoNum type="arabicPeriod"/>
            </a:pPr>
            <a:r>
              <a:rPr lang="en-US" sz="1050" dirty="0">
                <a:solidFill>
                  <a:srgbClr val="2B2B2B"/>
                </a:solidFill>
                <a:latin typeface="맑은 고딕" pitchFamily="34" charset="0"/>
                <a:ea typeface="맑은 고딕" pitchFamily="34" charset="-122"/>
                <a:cs typeface="맑은 고딕" pitchFamily="34" charset="-120"/>
              </a:rPr>
              <a:t>2단계 (계약 진행): 온라인을 통해 간편하게 가입 심사 및 청약 절차를 진행합니다.</a:t>
            </a:r>
            <a:endParaRPr lang="en-US" sz="1050" dirty="0"/>
          </a:p>
          <a:p>
            <a:pPr marL="342900" indent="-342900">
              <a:lnSpc>
                <a:spcPct val="115000"/>
              </a:lnSpc>
              <a:buSzPct val="100000"/>
              <a:buFont typeface="+mj-lt"/>
              <a:buAutoNum type="arabicPeriod"/>
            </a:pPr>
            <a:r>
              <a:rPr lang="en-US" sz="1050" dirty="0">
                <a:solidFill>
                  <a:srgbClr val="2B2B2B"/>
                </a:solidFill>
                <a:latin typeface="맑은 고딕" pitchFamily="34" charset="0"/>
                <a:ea typeface="맑은 고딕" pitchFamily="34" charset="-122"/>
                <a:cs typeface="맑은 고딕" pitchFamily="34" charset="-120"/>
              </a:rPr>
              <a:t>3단계 (증권 전달 및 관리): 계약 체결 후 증권을 전달하고, 향후 재무 상황 변동 시 보장을 추가(Upgrade)하는 방법에 대해 안내합니다.</a:t>
            </a:r>
            <a:endParaRPr lang="en-US" sz="1050" dirty="0"/>
          </a:p>
          <a:p>
            <a:pPr marL="342900" indent="-342900">
              <a:lnSpc>
                <a:spcPct val="115000"/>
              </a:lnSpc>
              <a:buSzPct val="100000"/>
              <a:buFont typeface="+mj-lt"/>
              <a:buAutoNum type="arabicPeriod"/>
            </a:pPr>
            <a:r>
              <a:rPr lang="en-US" sz="1050" dirty="0">
                <a:solidFill>
                  <a:srgbClr val="2B2B2B"/>
                </a:solidFill>
                <a:latin typeface="맑은 고딕" pitchFamily="34" charset="0"/>
                <a:ea typeface="맑은 고딕" pitchFamily="34" charset="-122"/>
                <a:cs typeface="맑은 고딕" pitchFamily="34" charset="-120"/>
              </a:rPr>
              <a:t>4단계 (정기 리뷰 약속): 1~2년 주기로 정기적인 리뷰를 통해 불필요한 보험료가 새지 않도록 평생 관리해 드릴 것을 약속합니다.</a:t>
            </a:r>
            <a:endParaRPr lang="en-US" sz="1050" dirty="0"/>
          </a:p>
        </p:txBody>
      </p:sp>
      <p:sp>
        <p:nvSpPr>
          <p:cNvPr id="10" name="Text 8"/>
          <p:cNvSpPr/>
          <p:nvPr/>
        </p:nvSpPr>
        <p:spPr>
          <a:xfrm>
            <a:off x="457200" y="3968496"/>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3. 평생 파트너 약속</a:t>
            </a:r>
            <a:endParaRPr lang="en-US" sz="1400" dirty="0"/>
          </a:p>
        </p:txBody>
      </p:sp>
      <p:sp>
        <p:nvSpPr>
          <p:cNvPr id="11" name="Text 9"/>
          <p:cNvSpPr/>
          <p:nvPr/>
        </p:nvSpPr>
        <p:spPr>
          <a:xfrm>
            <a:off x="548640" y="4352544"/>
            <a:ext cx="8229600" cy="438912"/>
          </a:xfrm>
          <a:prstGeom prst="rect">
            <a:avLst/>
          </a:prstGeom>
          <a:noFill/>
          <a:ln/>
        </p:spPr>
        <p:txBody>
          <a:bodyPr wrap="square" lIns="0" tIns="0" rIns="0" bIns="0" rtlCol="0" anchor="t"/>
          <a:lstStyle/>
          <a:p>
            <a:pPr marL="0" indent="0" algn="l">
              <a:lnSpc>
                <a:spcPct val="125000"/>
              </a:lnSpc>
              <a:buNone/>
            </a:pPr>
            <a:r>
              <a:rPr lang="en-US" sz="1100" dirty="0">
                <a:solidFill>
                  <a:srgbClr val="2B2B2B"/>
                </a:solidFill>
                <a:latin typeface="맑은 고딕" pitchFamily="34" charset="0"/>
                <a:ea typeface="맑은 고딕" pitchFamily="34" charset="-122"/>
                <a:cs typeface="맑은 고딕" pitchFamily="34" charset="-120"/>
              </a:rPr>
              <a:t>이 계약은 끝이 아니라, 이로운 님의 인생 전체 재무 계획을 함께 고민하고 만들어가는 장기적 재무 파트너십 구축의 첫 단계입니다.</a:t>
            </a:r>
            <a:endParaRPr lang="en-US" sz="1100" dirty="0"/>
          </a:p>
        </p:txBody>
      </p:sp>
      <p:sp>
        <p:nvSpPr>
          <p:cNvPr id="12" name="Text 10"/>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13" name="Text 11"/>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17</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18</a:t>
            </a:r>
            <a:endParaRPr lang="en-US" sz="900" dirty="0"/>
          </a:p>
        </p:txBody>
      </p:sp>
      <p:sp>
        <p:nvSpPr>
          <p:cNvPr id="6" name="Text 4"/>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 컨설팅 시나리오 — 상담주제 1 (1/2)</a:t>
            </a:r>
            <a:endParaRPr lang="en-US" sz="1600" dirty="0"/>
          </a:p>
        </p:txBody>
      </p:sp>
      <p:sp>
        <p:nvSpPr>
          <p:cNvPr id="7" name="Text 5"/>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 상담주제 1: 논리적 접근 - '자산 방어' 전략으로서의 첫 보험</a:t>
            </a:r>
            <a:endParaRPr lang="en-US" sz="1400" dirty="0"/>
          </a:p>
        </p:txBody>
      </p:sp>
      <p:sp>
        <p:nvSpPr>
          <p:cNvPr id="8" name="Shape 6"/>
          <p:cNvSpPr/>
          <p:nvPr/>
        </p:nvSpPr>
        <p:spPr>
          <a:xfrm>
            <a:off x="548640" y="1069848"/>
            <a:ext cx="8046720" cy="9144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548640" y="1069848"/>
            <a:ext cx="54864" cy="914400"/>
          </a:xfrm>
          <a:prstGeom prst="rect">
            <a:avLst/>
          </a:prstGeom>
          <a:solidFill>
            <a:srgbClr val="C8962E"/>
          </a:solidFill>
          <a:ln/>
        </p:spPr>
        <p:txBody>
          <a:bodyPr/>
          <a:lstStyle/>
          <a:p>
            <a:endParaRPr lang="ko-KR" altLang="en-US"/>
          </a:p>
        </p:txBody>
      </p:sp>
      <p:sp>
        <p:nvSpPr>
          <p:cNvPr id="10" name="Text 8"/>
          <p:cNvSpPr/>
          <p:nvPr/>
        </p:nvSpPr>
        <p:spPr>
          <a:xfrm>
            <a:off x="731520" y="1143000"/>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리스크 진단 (As-Is 파악):</a:t>
            </a:r>
            <a:endParaRPr lang="en-US" sz="1200" dirty="0"/>
          </a:p>
        </p:txBody>
      </p:sp>
      <p:sp>
        <p:nvSpPr>
          <p:cNvPr id="11" name="Text 9"/>
          <p:cNvSpPr/>
          <p:nvPr/>
        </p:nvSpPr>
        <p:spPr>
          <a:xfrm>
            <a:off x="731520" y="1362456"/>
            <a:ext cx="7680960" cy="548640"/>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"로운님, 지금 하시는 주식 투자도 훌륭한 '공격' 전략입니다. 하지만 갑자기 아파서 병원비로 1,000만 원이 필요하다면, 애써 모은 공격 자산(투자금)을 방어에 써야 합니다. 모든 재테크의 기본은 '잃지 않는 것', 즉 탄탄한 '방어'에서 시작합니다."</a:t>
            </a:r>
            <a:endParaRPr lang="en-US" sz="1050" dirty="0"/>
          </a:p>
        </p:txBody>
      </p:sp>
      <p:sp>
        <p:nvSpPr>
          <p:cNvPr id="12" name="Shape 10"/>
          <p:cNvSpPr/>
          <p:nvPr/>
        </p:nvSpPr>
        <p:spPr>
          <a:xfrm>
            <a:off x="548640" y="2093976"/>
            <a:ext cx="8046720" cy="9144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548640" y="2093976"/>
            <a:ext cx="54864" cy="914400"/>
          </a:xfrm>
          <a:prstGeom prst="rect">
            <a:avLst/>
          </a:prstGeom>
          <a:solidFill>
            <a:srgbClr val="C8962E"/>
          </a:solidFill>
          <a:ln/>
        </p:spPr>
        <p:txBody>
          <a:bodyPr/>
          <a:lstStyle/>
          <a:p>
            <a:endParaRPr lang="ko-KR" altLang="en-US"/>
          </a:p>
        </p:txBody>
      </p:sp>
      <p:sp>
        <p:nvSpPr>
          <p:cNvPr id="14" name="Text 12"/>
          <p:cNvSpPr/>
          <p:nvPr/>
        </p:nvSpPr>
        <p:spPr>
          <a:xfrm>
            <a:off x="731520" y="2167128"/>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전략 제안 (To-Be 플랜):</a:t>
            </a:r>
            <a:endParaRPr lang="en-US" sz="1200" dirty="0"/>
          </a:p>
        </p:txBody>
      </p:sp>
      <p:sp>
        <p:nvSpPr>
          <p:cNvPr id="15" name="Text 13"/>
          <p:cNvSpPr/>
          <p:nvPr/>
        </p:nvSpPr>
        <p:spPr>
          <a:xfrm>
            <a:off x="731520" y="2386584"/>
            <a:ext cx="7680960" cy="548640"/>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보험을 '내 자산을 지키는 가장 가성비 높은 방패'로 재정의합니다. "월 3만 원, 1년에 36만 원이라는 최소 비용으로 수천만 원의 재무적 위험을 막을 수 있습니다. 이는 적은 비용으로 큰 위험을 막는 '보장의 레버리지 효과'입니다. 가장 효율적인 방어 전략이죠."</a:t>
            </a:r>
            <a:endParaRPr lang="en-US" sz="1050" dirty="0"/>
          </a:p>
        </p:txBody>
      </p:sp>
      <p:sp>
        <p:nvSpPr>
          <p:cNvPr id="16" name="Shape 14"/>
          <p:cNvSpPr/>
          <p:nvPr/>
        </p:nvSpPr>
        <p:spPr>
          <a:xfrm>
            <a:off x="548640" y="3118104"/>
            <a:ext cx="8046720" cy="786384"/>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7" name="Shape 15"/>
          <p:cNvSpPr/>
          <p:nvPr/>
        </p:nvSpPr>
        <p:spPr>
          <a:xfrm>
            <a:off x="548640" y="3118104"/>
            <a:ext cx="54864" cy="786384"/>
          </a:xfrm>
          <a:prstGeom prst="rect">
            <a:avLst/>
          </a:prstGeom>
          <a:solidFill>
            <a:srgbClr val="C8962E"/>
          </a:solidFill>
          <a:ln/>
        </p:spPr>
        <p:txBody>
          <a:bodyPr/>
          <a:lstStyle/>
          <a:p>
            <a:endParaRPr lang="ko-KR" altLang="en-US"/>
          </a:p>
        </p:txBody>
      </p:sp>
      <p:sp>
        <p:nvSpPr>
          <p:cNvPr id="18" name="Text 16"/>
          <p:cNvSpPr/>
          <p:nvPr/>
        </p:nvSpPr>
        <p:spPr>
          <a:xfrm>
            <a:off x="731520" y="3191256"/>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레버리지 효과 구체화:</a:t>
            </a:r>
            <a:endParaRPr lang="en-US" sz="1200" dirty="0"/>
          </a:p>
        </p:txBody>
      </p:sp>
      <p:sp>
        <p:nvSpPr>
          <p:cNvPr id="19" name="Text 17"/>
          <p:cNvSpPr/>
          <p:nvPr/>
        </p:nvSpPr>
        <p:spPr>
          <a:xfrm>
            <a:off x="731520" y="3410712"/>
            <a:ext cx="7680960" cy="420624"/>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"조금 더 직설적으로 말씀드리면, 월 3만 원씩 1년을 납입하면 36만 원입니다. 만약 암 진단을 받으면 2,000만 원의 진단비를 받게 됩니다. 투입 비용 대비 50배가 넘는 효과입니다. 세상에 이처럼 확실한 '방어용' 금융상품은 없습니다."</a:t>
            </a:r>
            <a:endParaRPr lang="en-US" sz="1050" dirty="0"/>
          </a:p>
        </p:txBody>
      </p:sp>
      <p:sp>
        <p:nvSpPr>
          <p:cNvPr id="20" name="Text 1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21" name="Text 1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18</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19</a:t>
            </a:r>
            <a:endParaRPr lang="en-US" sz="900" dirty="0"/>
          </a:p>
        </p:txBody>
      </p:sp>
      <p:sp>
        <p:nvSpPr>
          <p:cNvPr id="6" name="Text 4"/>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 컨설팅 시나리오 — 상담주제 1 (2/2)</a:t>
            </a:r>
            <a:endParaRPr lang="en-US" sz="1600" dirty="0"/>
          </a:p>
        </p:txBody>
      </p:sp>
      <p:sp>
        <p:nvSpPr>
          <p:cNvPr id="7" name="Text 5"/>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 상담주제 1 (계속)</a:t>
            </a:r>
            <a:endParaRPr lang="en-US" sz="1400" dirty="0"/>
          </a:p>
        </p:txBody>
      </p:sp>
      <p:sp>
        <p:nvSpPr>
          <p:cNvPr id="8" name="Shape 6"/>
          <p:cNvSpPr/>
          <p:nvPr/>
        </p:nvSpPr>
        <p:spPr>
          <a:xfrm>
            <a:off x="548640" y="1069848"/>
            <a:ext cx="8046720" cy="786384"/>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548640" y="1069848"/>
            <a:ext cx="54864" cy="786384"/>
          </a:xfrm>
          <a:prstGeom prst="rect">
            <a:avLst/>
          </a:prstGeom>
          <a:solidFill>
            <a:srgbClr val="C8962E"/>
          </a:solidFill>
          <a:ln/>
        </p:spPr>
        <p:txBody>
          <a:bodyPr/>
          <a:lstStyle/>
          <a:p>
            <a:endParaRPr lang="ko-KR" altLang="en-US"/>
          </a:p>
        </p:txBody>
      </p:sp>
      <p:sp>
        <p:nvSpPr>
          <p:cNvPr id="10" name="Text 8"/>
          <p:cNvSpPr/>
          <p:nvPr/>
        </p:nvSpPr>
        <p:spPr>
          <a:xfrm>
            <a:off x="731520" y="1143000"/>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기대 효과 요약 (ROI 설명):</a:t>
            </a:r>
            <a:endParaRPr lang="en-US" sz="1200" dirty="0"/>
          </a:p>
        </p:txBody>
      </p:sp>
      <p:sp>
        <p:nvSpPr>
          <p:cNvPr id="11" name="Text 9"/>
          <p:cNvSpPr/>
          <p:nvPr/>
        </p:nvSpPr>
        <p:spPr>
          <a:xfrm>
            <a:off x="731520" y="1362456"/>
            <a:ext cx="7680960" cy="420624"/>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최소한의 비용으로 최악의 리스크를 방어함으로써, 나머지 자산을 안심하고 더 자유롭게 운용할 수 있는 '심리적 안정감'과 '재무적 기반'을 얻는 것임을 강조합니다.</a:t>
            </a:r>
            <a:endParaRPr lang="en-US" sz="1050" dirty="0"/>
          </a:p>
        </p:txBody>
      </p:sp>
      <p:sp>
        <p:nvSpPr>
          <p:cNvPr id="12" name="Shape 10"/>
          <p:cNvSpPr/>
          <p:nvPr/>
        </p:nvSpPr>
        <p:spPr>
          <a:xfrm>
            <a:off x="548640" y="1965960"/>
            <a:ext cx="8046720" cy="6400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548640" y="1965960"/>
            <a:ext cx="54864" cy="640080"/>
          </a:xfrm>
          <a:prstGeom prst="rect">
            <a:avLst/>
          </a:prstGeom>
          <a:solidFill>
            <a:srgbClr val="C8962E"/>
          </a:solidFill>
          <a:ln/>
        </p:spPr>
        <p:txBody>
          <a:bodyPr/>
          <a:lstStyle/>
          <a:p>
            <a:endParaRPr lang="ko-KR" altLang="en-US"/>
          </a:p>
        </p:txBody>
      </p:sp>
      <p:sp>
        <p:nvSpPr>
          <p:cNvPr id="14" name="Text 12"/>
          <p:cNvSpPr/>
          <p:nvPr/>
        </p:nvSpPr>
        <p:spPr>
          <a:xfrm>
            <a:off x="731520" y="2039112"/>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결론:</a:t>
            </a:r>
            <a:endParaRPr lang="en-US" sz="1200" dirty="0"/>
          </a:p>
        </p:txBody>
      </p:sp>
      <p:sp>
        <p:nvSpPr>
          <p:cNvPr id="15" name="Text 13"/>
          <p:cNvSpPr/>
          <p:nvPr/>
        </p:nvSpPr>
        <p:spPr>
          <a:xfrm>
            <a:off x="731520" y="2258568"/>
            <a:ext cx="7680960" cy="274320"/>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보험 가입이 단순한 소비가 아닌, 미래 자산을 지키는 가장 근본적이고 현명한 재무 활동임을 논리적으로 확신시킵니다.</a:t>
            </a:r>
            <a:endParaRPr lang="en-US" sz="1050" dirty="0"/>
          </a:p>
        </p:txBody>
      </p:sp>
      <p:sp>
        <p:nvSpPr>
          <p:cNvPr id="16" name="Text 1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17" name="Text 1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19</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20</a:t>
            </a:r>
            <a:endParaRPr lang="en-US" sz="900" dirty="0"/>
          </a:p>
        </p:txBody>
      </p:sp>
      <p:sp>
        <p:nvSpPr>
          <p:cNvPr id="6" name="Text 4"/>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 컨설팅 시나리오 — 상담주제 1 심화</a:t>
            </a:r>
            <a:endParaRPr lang="en-US" sz="1600" dirty="0"/>
          </a:p>
        </p:txBody>
      </p:sp>
      <p:sp>
        <p:nvSpPr>
          <p:cNvPr id="7" name="Text 5"/>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 심화 응대 스킬 (논리 강화 화법)</a:t>
            </a:r>
            <a:endParaRPr lang="en-US" sz="1400" dirty="0"/>
          </a:p>
        </p:txBody>
      </p:sp>
      <p:sp>
        <p:nvSpPr>
          <p:cNvPr id="8" name="Text 6"/>
          <p:cNvSpPr/>
          <p:nvPr/>
        </p:nvSpPr>
        <p:spPr>
          <a:xfrm>
            <a:off x="548640" y="1069848"/>
            <a:ext cx="8046720" cy="914400"/>
          </a:xfrm>
          <a:prstGeom prst="rect">
            <a:avLst/>
          </a:prstGeom>
          <a:noFill/>
          <a:ln/>
        </p:spPr>
        <p:txBody>
          <a:bodyPr wrap="square" lIns="0" tIns="0" rIns="0" bIns="0" rtlCol="0" anchor="t"/>
          <a:lstStyle/>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[상황: 저축과 비교하며 필요성을 느끼지 못할 때]</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"훌륭한 지적이십니다. 저축과 보험의 역할을 정확히 구분하는 것이 스마트한 재무 관리의 시작이죠. 우리가 함께 고민할 지점은 이것입니다. 저축은 '예상 가능한 미래(목돈 마련)'를 위한 플러스(+) 전략이고, 보험은 '예측 불가능한 미래(위험 대비)'를 위한 마이너스(-) 방어 전략입니다. 축구팀에 공격수만 있고 골키퍼가 없을 순 없겠죠? 월 3만 원은 우리 팀의 든든한 골키퍼를 영입하는 비용입니다."</a:t>
            </a:r>
            <a:endParaRPr lang="en-US" sz="900" dirty="0"/>
          </a:p>
        </p:txBody>
      </p:sp>
      <p:sp>
        <p:nvSpPr>
          <p:cNvPr id="9" name="Text 7"/>
          <p:cNvSpPr/>
          <p:nvPr/>
        </p:nvSpPr>
        <p:spPr>
          <a:xfrm>
            <a:off x="548640" y="2029968"/>
            <a:ext cx="8046720" cy="914400"/>
          </a:xfrm>
          <a:prstGeom prst="rect">
            <a:avLst/>
          </a:prstGeom>
          <a:noFill/>
          <a:ln/>
        </p:spPr>
        <p:txBody>
          <a:bodyPr wrap="square" lIns="0" tIns="0" rIns="0" bIns="0" rtlCol="0" anchor="t"/>
          <a:lstStyle/>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[상황: 확률적으로 희박한 일이라고 생각할 때]</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"맞습니다. 젊고 건강한 지금 암이나 뇌질환을 걱정하는 건 확률적으로 먼 이야기처럼 들릴 수 있습니다. 그런데 로운님, 우리는 자동차 사고 확률이 매우 낮다는 걸 알면서도 매년 수십만 원의 자동차 보험료를 냅니다. 왜일까요? '만약'이라는 1%의 확률이 현실이 됐을 때, 내 인생 전체가 흔들리는 것을 막기 위해서입니다. 월 3만 원은 내 인생이라는 가장 소중한 자산을 지키는, 가장 저렴한 '안전벨트'인 셈입니다."</a:t>
            </a:r>
            <a:endParaRPr lang="en-US" sz="900" dirty="0"/>
          </a:p>
        </p:txBody>
      </p:sp>
      <p:sp>
        <p:nvSpPr>
          <p:cNvPr id="10" name="Text 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11" name="Text 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20</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21</a:t>
            </a:r>
            <a:endParaRPr lang="en-US" sz="900" dirty="0"/>
          </a:p>
        </p:txBody>
      </p:sp>
      <p:sp>
        <p:nvSpPr>
          <p:cNvPr id="6" name="Text 4"/>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 컨설팅 시나리오 — 상담주제 2 (1/2)</a:t>
            </a:r>
            <a:endParaRPr lang="en-US" sz="1600" dirty="0"/>
          </a:p>
        </p:txBody>
      </p:sp>
      <p:sp>
        <p:nvSpPr>
          <p:cNvPr id="7" name="Text 5"/>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 상담주제 2: 감성적 접근 - 재무 건전성을 위한 '인생 PT'</a:t>
            </a:r>
            <a:endParaRPr lang="en-US" sz="1400" dirty="0"/>
          </a:p>
        </p:txBody>
      </p:sp>
      <p:sp>
        <p:nvSpPr>
          <p:cNvPr id="8" name="Shape 6"/>
          <p:cNvSpPr/>
          <p:nvPr/>
        </p:nvSpPr>
        <p:spPr>
          <a:xfrm>
            <a:off x="548640" y="1069848"/>
            <a:ext cx="8046720" cy="786384"/>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548640" y="1069848"/>
            <a:ext cx="54864" cy="786384"/>
          </a:xfrm>
          <a:prstGeom prst="rect">
            <a:avLst/>
          </a:prstGeom>
          <a:solidFill>
            <a:srgbClr val="C8962E"/>
          </a:solidFill>
          <a:ln/>
        </p:spPr>
        <p:txBody>
          <a:bodyPr/>
          <a:lstStyle/>
          <a:p>
            <a:endParaRPr lang="ko-KR" altLang="en-US"/>
          </a:p>
        </p:txBody>
      </p:sp>
      <p:sp>
        <p:nvSpPr>
          <p:cNvPr id="10" name="Text 8"/>
          <p:cNvSpPr/>
          <p:nvPr/>
        </p:nvSpPr>
        <p:spPr>
          <a:xfrm>
            <a:off x="731520" y="1143000"/>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리스크 진단 (As-Is 파악):</a:t>
            </a:r>
            <a:endParaRPr lang="en-US" sz="1200" dirty="0"/>
          </a:p>
        </p:txBody>
      </p:sp>
      <p:sp>
        <p:nvSpPr>
          <p:cNvPr id="11" name="Text 9"/>
          <p:cNvSpPr/>
          <p:nvPr/>
        </p:nvSpPr>
        <p:spPr>
          <a:xfrm>
            <a:off x="731520" y="1362456"/>
            <a:ext cx="7680960" cy="420624"/>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"로운님, 건강을 위해 매달 헬스장에 투자하시는 것 정말 멋집니다. 그런데 열심히 만든 몸이 운동하다 다치거나, 예측 못한 병에 걸렸을 때를 대비한 '의료비 근육'은 준비되어 있으신가요?"</a:t>
            </a:r>
            <a:endParaRPr lang="en-US" sz="1050" dirty="0"/>
          </a:p>
        </p:txBody>
      </p:sp>
      <p:sp>
        <p:nvSpPr>
          <p:cNvPr id="12" name="Shape 10"/>
          <p:cNvSpPr/>
          <p:nvPr/>
        </p:nvSpPr>
        <p:spPr>
          <a:xfrm>
            <a:off x="548640" y="1965960"/>
            <a:ext cx="8046720" cy="786384"/>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548640" y="1965960"/>
            <a:ext cx="54864" cy="786384"/>
          </a:xfrm>
          <a:prstGeom prst="rect">
            <a:avLst/>
          </a:prstGeom>
          <a:solidFill>
            <a:srgbClr val="C8962E"/>
          </a:solidFill>
          <a:ln/>
        </p:spPr>
        <p:txBody>
          <a:bodyPr/>
          <a:lstStyle/>
          <a:p>
            <a:endParaRPr lang="ko-KR" altLang="en-US"/>
          </a:p>
        </p:txBody>
      </p:sp>
      <p:sp>
        <p:nvSpPr>
          <p:cNvPr id="14" name="Text 12"/>
          <p:cNvSpPr/>
          <p:nvPr/>
        </p:nvSpPr>
        <p:spPr>
          <a:xfrm>
            <a:off x="731520" y="2039112"/>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전략 제안 (To-Be 플랜):</a:t>
            </a:r>
            <a:endParaRPr lang="en-US" sz="1200" dirty="0"/>
          </a:p>
        </p:txBody>
      </p:sp>
      <p:sp>
        <p:nvSpPr>
          <p:cNvPr id="15" name="Text 13"/>
          <p:cNvSpPr/>
          <p:nvPr/>
        </p:nvSpPr>
        <p:spPr>
          <a:xfrm>
            <a:off x="731520" y="2258568"/>
            <a:ext cx="7680960" cy="420624"/>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보험을 '재무 건강을 위한 PT'에 비유합니다. 실손보험은 '기초 체력', 3대 진단비는 '코어 근육'에 해당한다고 설명하며, 월 3만 원으로 인생 전체의 재무적 체력을 키우는 것임을 강조합니다.</a:t>
            </a:r>
            <a:endParaRPr lang="en-US" sz="1050" dirty="0"/>
          </a:p>
        </p:txBody>
      </p:sp>
      <p:sp>
        <p:nvSpPr>
          <p:cNvPr id="16" name="Shape 14"/>
          <p:cNvSpPr/>
          <p:nvPr/>
        </p:nvSpPr>
        <p:spPr>
          <a:xfrm>
            <a:off x="548640" y="2862072"/>
            <a:ext cx="8046720" cy="786384"/>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7" name="Shape 15"/>
          <p:cNvSpPr/>
          <p:nvPr/>
        </p:nvSpPr>
        <p:spPr>
          <a:xfrm>
            <a:off x="548640" y="2862072"/>
            <a:ext cx="54864" cy="786384"/>
          </a:xfrm>
          <a:prstGeom prst="rect">
            <a:avLst/>
          </a:prstGeom>
          <a:solidFill>
            <a:srgbClr val="C8962E"/>
          </a:solidFill>
          <a:ln/>
        </p:spPr>
        <p:txBody>
          <a:bodyPr/>
          <a:lstStyle/>
          <a:p>
            <a:endParaRPr lang="ko-KR" altLang="en-US"/>
          </a:p>
        </p:txBody>
      </p:sp>
      <p:sp>
        <p:nvSpPr>
          <p:cNvPr id="18" name="Text 16"/>
          <p:cNvSpPr/>
          <p:nvPr/>
        </p:nvSpPr>
        <p:spPr>
          <a:xfrm>
            <a:off x="731520" y="2935224"/>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'인생 PT' 프로그램 상세 설계:</a:t>
            </a:r>
            <a:endParaRPr lang="en-US" sz="1200" dirty="0"/>
          </a:p>
        </p:txBody>
      </p:sp>
      <p:sp>
        <p:nvSpPr>
          <p:cNvPr id="19" name="Text 17"/>
          <p:cNvSpPr/>
          <p:nvPr/>
        </p:nvSpPr>
        <p:spPr>
          <a:xfrm>
            <a:off x="731520" y="3154680"/>
            <a:ext cx="7680960" cy="420624"/>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"마치 트레이너가 운동 프로그램을 설계하듯, 로운님의 재무 건강을 설계해 드리는 겁니다. '실손보험'은 일상의 작은 부상과 질병을 케어하는 기본 관리이고, '3대 진단비'는 인생의 큰 충격에도 흔들리지 않는 든든한 버팀목 역할을 합니다."</a:t>
            </a:r>
            <a:endParaRPr lang="en-US" sz="1050" dirty="0"/>
          </a:p>
        </p:txBody>
      </p:sp>
      <p:sp>
        <p:nvSpPr>
          <p:cNvPr id="20" name="Text 1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21" name="Text 1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21</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22</a:t>
            </a:r>
            <a:endParaRPr lang="en-US" sz="900" dirty="0"/>
          </a:p>
        </p:txBody>
      </p:sp>
      <p:sp>
        <p:nvSpPr>
          <p:cNvPr id="6" name="Text 4"/>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 컨설팅 시나리오 — 상담주제 2 (2/2)</a:t>
            </a:r>
            <a:endParaRPr lang="en-US" sz="1600" dirty="0"/>
          </a:p>
        </p:txBody>
      </p:sp>
      <p:sp>
        <p:nvSpPr>
          <p:cNvPr id="7" name="Text 5"/>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 상담주제 2 (계속)</a:t>
            </a:r>
            <a:endParaRPr lang="en-US" sz="1400" dirty="0"/>
          </a:p>
        </p:txBody>
      </p:sp>
      <p:sp>
        <p:nvSpPr>
          <p:cNvPr id="8" name="Shape 6"/>
          <p:cNvSpPr/>
          <p:nvPr/>
        </p:nvSpPr>
        <p:spPr>
          <a:xfrm>
            <a:off x="548640" y="1069848"/>
            <a:ext cx="8046720" cy="786384"/>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548640" y="1069848"/>
            <a:ext cx="54864" cy="786384"/>
          </a:xfrm>
          <a:prstGeom prst="rect">
            <a:avLst/>
          </a:prstGeom>
          <a:solidFill>
            <a:srgbClr val="C8962E"/>
          </a:solidFill>
          <a:ln/>
        </p:spPr>
        <p:txBody>
          <a:bodyPr/>
          <a:lstStyle/>
          <a:p>
            <a:endParaRPr lang="ko-KR" altLang="en-US"/>
          </a:p>
        </p:txBody>
      </p:sp>
      <p:sp>
        <p:nvSpPr>
          <p:cNvPr id="10" name="Text 8"/>
          <p:cNvSpPr/>
          <p:nvPr/>
        </p:nvSpPr>
        <p:spPr>
          <a:xfrm>
            <a:off x="731520" y="1143000"/>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기대 효과 요약 (ROI 설명):</a:t>
            </a:r>
            <a:endParaRPr lang="en-US" sz="1200" dirty="0"/>
          </a:p>
        </p:txBody>
      </p:sp>
      <p:sp>
        <p:nvSpPr>
          <p:cNvPr id="11" name="Text 9"/>
          <p:cNvSpPr/>
          <p:nvPr/>
        </p:nvSpPr>
        <p:spPr>
          <a:xfrm>
            <a:off x="731520" y="1362456"/>
            <a:ext cx="7680960" cy="420624"/>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"몸 건강을 위한 투자는 꾸준히 해야 효과가 있듯, 재무 건강을 위한 준비도 가장 젊고 건강할 때 시작해야 가장 효과가 큽니다. 지금 시작하면 평생 든든한 '재무 근육'을 갖게 되는 겁니다."</a:t>
            </a:r>
            <a:endParaRPr lang="en-US" sz="1050" dirty="0"/>
          </a:p>
        </p:txBody>
      </p:sp>
      <p:sp>
        <p:nvSpPr>
          <p:cNvPr id="12" name="Shape 10"/>
          <p:cNvSpPr/>
          <p:nvPr/>
        </p:nvSpPr>
        <p:spPr>
          <a:xfrm>
            <a:off x="548640" y="1965960"/>
            <a:ext cx="8046720" cy="786384"/>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548640" y="1965960"/>
            <a:ext cx="54864" cy="786384"/>
          </a:xfrm>
          <a:prstGeom prst="rect">
            <a:avLst/>
          </a:prstGeom>
          <a:solidFill>
            <a:srgbClr val="C8962E"/>
          </a:solidFill>
          <a:ln/>
        </p:spPr>
        <p:txBody>
          <a:bodyPr/>
          <a:lstStyle/>
          <a:p>
            <a:endParaRPr lang="ko-KR" altLang="en-US"/>
          </a:p>
        </p:txBody>
      </p:sp>
      <p:sp>
        <p:nvSpPr>
          <p:cNvPr id="14" name="Text 12"/>
          <p:cNvSpPr/>
          <p:nvPr/>
        </p:nvSpPr>
        <p:spPr>
          <a:xfrm>
            <a:off x="731520" y="2039112"/>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결론:</a:t>
            </a:r>
            <a:endParaRPr lang="en-US" sz="1200" dirty="0"/>
          </a:p>
        </p:txBody>
      </p:sp>
      <p:sp>
        <p:nvSpPr>
          <p:cNvPr id="15" name="Text 13"/>
          <p:cNvSpPr/>
          <p:nvPr/>
        </p:nvSpPr>
        <p:spPr>
          <a:xfrm>
            <a:off x="731520" y="2258568"/>
            <a:ext cx="7680960" cy="420624"/>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신체적 건강 관리와 재무적 건강 관리의 중요성을 연결하여, 보험 가입을 합리적이고 당연한 자기 관리의 일환으로 받아들이게 합니다.</a:t>
            </a:r>
            <a:endParaRPr lang="en-US" sz="1050" dirty="0"/>
          </a:p>
        </p:txBody>
      </p:sp>
      <p:sp>
        <p:nvSpPr>
          <p:cNvPr id="16" name="Text 1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17" name="Text 1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22</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23</a:t>
            </a:r>
            <a:endParaRPr lang="en-US" sz="900" dirty="0"/>
          </a:p>
        </p:txBody>
      </p:sp>
      <p:sp>
        <p:nvSpPr>
          <p:cNvPr id="6" name="Text 4"/>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 컨설팅 시나리오 — 상담주제 2 심화</a:t>
            </a:r>
            <a:endParaRPr lang="en-US" sz="1600" dirty="0"/>
          </a:p>
        </p:txBody>
      </p:sp>
      <p:sp>
        <p:nvSpPr>
          <p:cNvPr id="7" name="Text 5"/>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 심화 응대 스킬 (공감대 형성 화법)</a:t>
            </a:r>
            <a:endParaRPr lang="en-US" sz="1400" dirty="0"/>
          </a:p>
        </p:txBody>
      </p:sp>
      <p:sp>
        <p:nvSpPr>
          <p:cNvPr id="8" name="Text 6"/>
          <p:cNvSpPr/>
          <p:nvPr/>
        </p:nvSpPr>
        <p:spPr>
          <a:xfrm>
            <a:off x="548640" y="1069848"/>
            <a:ext cx="8046720" cy="914400"/>
          </a:xfrm>
          <a:prstGeom prst="rect">
            <a:avLst/>
          </a:prstGeom>
          <a:noFill/>
          <a:ln/>
        </p:spPr>
        <p:txBody>
          <a:bodyPr wrap="square" lIns="0" tIns="0" rIns="0" bIns="0" rtlCol="0" anchor="t"/>
          <a:lstStyle/>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[상황: '나는 건강해서 괜찮다'고 반응할 때]</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"그럼요! 로운님처럼 건강하고 활기찬 분께 질병은 정말 먼 이야기죠. 헬스 PT도 아플 때 받는 게 아니라, 건강할 때 더 멋진 몸을 만들려고 받는 거잖아요? 이 '인생 PT'도 마찬가지입니다. 아프면 받고 싶어도 못 받습니다. 건강이라는 가장 좋은 조건일 때 시작해서, 평생의 '경제적 건강 자신감'을 얻는 것이 핵심입니다."</a:t>
            </a:r>
            <a:endParaRPr lang="en-US" sz="900" dirty="0"/>
          </a:p>
        </p:txBody>
      </p:sp>
      <p:sp>
        <p:nvSpPr>
          <p:cNvPr id="9" name="Text 7"/>
          <p:cNvSpPr/>
          <p:nvPr/>
        </p:nvSpPr>
        <p:spPr>
          <a:xfrm>
            <a:off x="548640" y="2029968"/>
            <a:ext cx="8046720" cy="914400"/>
          </a:xfrm>
          <a:prstGeom prst="rect">
            <a:avLst/>
          </a:prstGeom>
          <a:noFill/>
          <a:ln/>
        </p:spPr>
        <p:txBody>
          <a:bodyPr wrap="square" lIns="0" tIns="0" rIns="0" bIns="0" rtlCol="0" anchor="t"/>
          <a:lstStyle/>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[상황: 다른 우선순위(취미, 여행 등)를 언급할 때]</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"물론입니다. 현재의 즐거움을 위한 투자도 정말 중요하죠. 그런데 생각해보면, 우리가 운동복이나 프로틴에는 기꺼이 투자하면서, 정작 다쳤을 때 가장 필요한 병원비는 준비가 안 되어 있다면 조금 이상하지 않을까요? 운동으로 만든 멋진 몸과 즐거운 라이프스타일을 앞으로도 계속 지켜나가기 위해, 최소한의 '의료비 방패'를 함께 준비하시는 게 진짜 스마트한 자기 관리라고 생각합니다."</a:t>
            </a:r>
            <a:endParaRPr lang="en-US" sz="900" dirty="0"/>
          </a:p>
        </p:txBody>
      </p:sp>
      <p:sp>
        <p:nvSpPr>
          <p:cNvPr id="10" name="Text 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11" name="Text 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23</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24</a:t>
            </a:r>
            <a:endParaRPr lang="en-US" sz="900" dirty="0"/>
          </a:p>
        </p:txBody>
      </p:sp>
      <p:sp>
        <p:nvSpPr>
          <p:cNvPr id="6" name="Text 4"/>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 컨설팅 시나리오 — 상담주제 3 (1/2)</a:t>
            </a:r>
            <a:endParaRPr lang="en-US" sz="1600" dirty="0"/>
          </a:p>
        </p:txBody>
      </p:sp>
      <p:sp>
        <p:nvSpPr>
          <p:cNvPr id="7" name="Text 5"/>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 상담주제 3: 현실적 문제 해결 - '재무 여유 없음' 극복하기</a:t>
            </a:r>
            <a:endParaRPr lang="en-US" sz="1400" dirty="0"/>
          </a:p>
        </p:txBody>
      </p:sp>
      <p:sp>
        <p:nvSpPr>
          <p:cNvPr id="8" name="Shape 6"/>
          <p:cNvSpPr/>
          <p:nvPr/>
        </p:nvSpPr>
        <p:spPr>
          <a:xfrm>
            <a:off x="548640" y="1069848"/>
            <a:ext cx="8046720" cy="786384"/>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548640" y="1069848"/>
            <a:ext cx="54864" cy="786384"/>
          </a:xfrm>
          <a:prstGeom prst="rect">
            <a:avLst/>
          </a:prstGeom>
          <a:solidFill>
            <a:srgbClr val="C8962E"/>
          </a:solidFill>
          <a:ln/>
        </p:spPr>
        <p:txBody>
          <a:bodyPr/>
          <a:lstStyle/>
          <a:p>
            <a:endParaRPr lang="ko-KR" altLang="en-US"/>
          </a:p>
        </p:txBody>
      </p:sp>
      <p:sp>
        <p:nvSpPr>
          <p:cNvPr id="10" name="Text 8"/>
          <p:cNvSpPr/>
          <p:nvPr/>
        </p:nvSpPr>
        <p:spPr>
          <a:xfrm>
            <a:off x="731520" y="1143000"/>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현실 공감 (As-Is 파악):</a:t>
            </a:r>
            <a:endParaRPr lang="en-US" sz="1200" dirty="0"/>
          </a:p>
        </p:txBody>
      </p:sp>
      <p:sp>
        <p:nvSpPr>
          <p:cNvPr id="11" name="Text 9"/>
          <p:cNvSpPr/>
          <p:nvPr/>
        </p:nvSpPr>
        <p:spPr>
          <a:xfrm>
            <a:off x="731520" y="1362456"/>
            <a:ext cx="7680960" cy="420624"/>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"로운님, 솔직하게 말씀해주셔서 감사합니다. 20대에 학자금, 월세, 생활비까지… 돈이 빠듯한 건 너무나 당연한 일입니다. 보험료 3만 원이 결코 작은 돈이 아니라는 것, 저도 충분히 이해합니다."</a:t>
            </a:r>
            <a:endParaRPr lang="en-US" sz="1050" dirty="0"/>
          </a:p>
        </p:txBody>
      </p:sp>
      <p:sp>
        <p:nvSpPr>
          <p:cNvPr id="12" name="Shape 10"/>
          <p:cNvSpPr/>
          <p:nvPr/>
        </p:nvSpPr>
        <p:spPr>
          <a:xfrm>
            <a:off x="548640" y="1965960"/>
            <a:ext cx="8046720" cy="9144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548640" y="1965960"/>
            <a:ext cx="54864" cy="914400"/>
          </a:xfrm>
          <a:prstGeom prst="rect">
            <a:avLst/>
          </a:prstGeom>
          <a:solidFill>
            <a:srgbClr val="C8962E"/>
          </a:solidFill>
          <a:ln/>
        </p:spPr>
        <p:txBody>
          <a:bodyPr/>
          <a:lstStyle/>
          <a:p>
            <a:endParaRPr lang="ko-KR" altLang="en-US"/>
          </a:p>
        </p:txBody>
      </p:sp>
      <p:sp>
        <p:nvSpPr>
          <p:cNvPr id="14" name="Text 12"/>
          <p:cNvSpPr/>
          <p:nvPr/>
        </p:nvSpPr>
        <p:spPr>
          <a:xfrm>
            <a:off x="731520" y="2039112"/>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우선순위 재정립:</a:t>
            </a:r>
            <a:endParaRPr lang="en-US" sz="1200" dirty="0"/>
          </a:p>
        </p:txBody>
      </p:sp>
      <p:sp>
        <p:nvSpPr>
          <p:cNvPr id="15" name="Text 13"/>
          <p:cNvSpPr/>
          <p:nvPr/>
        </p:nvSpPr>
        <p:spPr>
          <a:xfrm>
            <a:off x="731520" y="2258568"/>
            <a:ext cx="7680960" cy="548640"/>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"우리가 함께 고민할 지점은 이것입니다. '매월 예측 가능한 3만 원'의 부담과, '어느 날 갑자기 닥칠 수 있는 예측 불가능한 500만 원'의 충격 중, 어떤 리스크를 먼저 관리하는 것이 더 현명한가 하는 점입니다. 후자의 경우, 독립 계획이 미뤄지는 것은 물론, 더 큰 어려움에 처할 수 있습니다."</a:t>
            </a:r>
            <a:endParaRPr lang="en-US" sz="1050" dirty="0"/>
          </a:p>
        </p:txBody>
      </p:sp>
      <p:sp>
        <p:nvSpPr>
          <p:cNvPr id="16" name="Shape 14"/>
          <p:cNvSpPr/>
          <p:nvPr/>
        </p:nvSpPr>
        <p:spPr>
          <a:xfrm>
            <a:off x="548640" y="2990088"/>
            <a:ext cx="8046720" cy="9144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7" name="Shape 15"/>
          <p:cNvSpPr/>
          <p:nvPr/>
        </p:nvSpPr>
        <p:spPr>
          <a:xfrm>
            <a:off x="548640" y="2990088"/>
            <a:ext cx="54864" cy="914400"/>
          </a:xfrm>
          <a:prstGeom prst="rect">
            <a:avLst/>
          </a:prstGeom>
          <a:solidFill>
            <a:srgbClr val="C8962E"/>
          </a:solidFill>
          <a:ln/>
        </p:spPr>
        <p:txBody>
          <a:bodyPr/>
          <a:lstStyle/>
          <a:p>
            <a:endParaRPr lang="ko-KR" altLang="en-US"/>
          </a:p>
        </p:txBody>
      </p:sp>
      <p:sp>
        <p:nvSpPr>
          <p:cNvPr id="18" name="Text 16"/>
          <p:cNvSpPr/>
          <p:nvPr/>
        </p:nvSpPr>
        <p:spPr>
          <a:xfrm>
            <a:off x="731520" y="3063240"/>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단계적 접근 제안 (To-Be 플랜):</a:t>
            </a:r>
            <a:endParaRPr lang="en-US" sz="1200" dirty="0"/>
          </a:p>
        </p:txBody>
      </p:sp>
      <p:sp>
        <p:nvSpPr>
          <p:cNvPr id="19" name="Text 17"/>
          <p:cNvSpPr/>
          <p:nvPr/>
        </p:nvSpPr>
        <p:spPr>
          <a:xfrm>
            <a:off x="731520" y="3282696"/>
            <a:ext cx="7680960" cy="548640"/>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"부담을 최소화하면서 시작하는 방법이 있습니다. 일단 가장 필수적인 '실손보험'만 월 1만 원으로 시작해서 '기본 안전망'을 확보하고, 6개월 뒤 첫 보너스를 받거나 월급이 올랐을 때 '암 진단비' 같은 핵심 보장을 추가하는 '성장형 플랜'은 어떠신가요? 로운님의 재무 상황에 맞춰 유연하게 조절할 수 있습니다."</a:t>
            </a:r>
            <a:endParaRPr lang="en-US" sz="1050" dirty="0"/>
          </a:p>
        </p:txBody>
      </p:sp>
      <p:sp>
        <p:nvSpPr>
          <p:cNvPr id="20" name="Text 1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21" name="Text 1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24</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25</a:t>
            </a:r>
            <a:endParaRPr lang="en-US" sz="900" dirty="0"/>
          </a:p>
        </p:txBody>
      </p:sp>
      <p:sp>
        <p:nvSpPr>
          <p:cNvPr id="6" name="Text 4"/>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 컨설팅 시나리오 — 상담주제 3 (2/2)</a:t>
            </a:r>
            <a:endParaRPr lang="en-US" sz="1600" dirty="0"/>
          </a:p>
        </p:txBody>
      </p:sp>
      <p:sp>
        <p:nvSpPr>
          <p:cNvPr id="7" name="Text 5"/>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 상담주제 3 (계속)</a:t>
            </a:r>
            <a:endParaRPr lang="en-US" sz="1400" dirty="0"/>
          </a:p>
        </p:txBody>
      </p:sp>
      <p:sp>
        <p:nvSpPr>
          <p:cNvPr id="8" name="Shape 6"/>
          <p:cNvSpPr/>
          <p:nvPr/>
        </p:nvSpPr>
        <p:spPr>
          <a:xfrm>
            <a:off x="548640" y="1069848"/>
            <a:ext cx="8046720" cy="786384"/>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548640" y="1069848"/>
            <a:ext cx="54864" cy="786384"/>
          </a:xfrm>
          <a:prstGeom prst="rect">
            <a:avLst/>
          </a:prstGeom>
          <a:solidFill>
            <a:srgbClr val="C8962E"/>
          </a:solidFill>
          <a:ln/>
        </p:spPr>
        <p:txBody>
          <a:bodyPr/>
          <a:lstStyle/>
          <a:p>
            <a:endParaRPr lang="ko-KR" altLang="en-US"/>
          </a:p>
        </p:txBody>
      </p:sp>
      <p:sp>
        <p:nvSpPr>
          <p:cNvPr id="10" name="Text 8"/>
          <p:cNvSpPr/>
          <p:nvPr/>
        </p:nvSpPr>
        <p:spPr>
          <a:xfrm>
            <a:off x="731520" y="1143000"/>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미래 가치 강조:</a:t>
            </a:r>
            <a:endParaRPr lang="en-US" sz="1200" dirty="0"/>
          </a:p>
        </p:txBody>
      </p:sp>
      <p:sp>
        <p:nvSpPr>
          <p:cNvPr id="11" name="Text 9"/>
          <p:cNvSpPr/>
          <p:nvPr/>
        </p:nvSpPr>
        <p:spPr>
          <a:xfrm>
            <a:off x="731520" y="1362456"/>
            <a:ext cx="7680960" cy="420624"/>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"지금 당장의 3만 원이 부담스러울 수 있지만, 이것은 미래를 위한 가장 확실한 투자입니다. 건강할 때 가입할 수 있는 '권리' 그 자체가 시간이 지나면 돈으로 살 수 없는 귀한 자산이 되기 때문입니다."</a:t>
            </a:r>
            <a:endParaRPr lang="en-US" sz="1050" dirty="0"/>
          </a:p>
        </p:txBody>
      </p:sp>
      <p:sp>
        <p:nvSpPr>
          <p:cNvPr id="12" name="Shape 10"/>
          <p:cNvSpPr/>
          <p:nvPr/>
        </p:nvSpPr>
        <p:spPr>
          <a:xfrm>
            <a:off x="548640" y="1965960"/>
            <a:ext cx="8046720" cy="7366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548640" y="1965960"/>
            <a:ext cx="54864" cy="736600"/>
          </a:xfrm>
          <a:prstGeom prst="rect">
            <a:avLst/>
          </a:prstGeom>
          <a:solidFill>
            <a:srgbClr val="C8962E"/>
          </a:solidFill>
          <a:ln/>
        </p:spPr>
        <p:txBody>
          <a:bodyPr/>
          <a:lstStyle/>
          <a:p>
            <a:endParaRPr lang="ko-KR" altLang="en-US"/>
          </a:p>
        </p:txBody>
      </p:sp>
      <p:sp>
        <p:nvSpPr>
          <p:cNvPr id="14" name="Text 12"/>
          <p:cNvSpPr/>
          <p:nvPr/>
        </p:nvSpPr>
        <p:spPr>
          <a:xfrm>
            <a:off x="731520" y="2039112"/>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결론:</a:t>
            </a:r>
            <a:endParaRPr lang="en-US" sz="1200" dirty="0"/>
          </a:p>
        </p:txBody>
      </p:sp>
      <p:sp>
        <p:nvSpPr>
          <p:cNvPr id="15" name="Text 13"/>
          <p:cNvSpPr/>
          <p:nvPr/>
        </p:nvSpPr>
        <p:spPr>
          <a:xfrm>
            <a:off x="731520" y="2258568"/>
            <a:ext cx="7680960" cy="274320"/>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고객의 재정적 어려움에 공감하고 실질적인 해결책을 함께 모색함으로써, 신뢰를 기반으로 최소한의 안전망부터 시작하도록 이끕니다.</a:t>
            </a:r>
            <a:endParaRPr lang="en-US" sz="1050" dirty="0"/>
          </a:p>
        </p:txBody>
      </p:sp>
      <p:sp>
        <p:nvSpPr>
          <p:cNvPr id="16" name="Text 1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17" name="Text 1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25</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26</a:t>
            </a:r>
            <a:endParaRPr lang="en-US" sz="900" dirty="0"/>
          </a:p>
        </p:txBody>
      </p:sp>
      <p:sp>
        <p:nvSpPr>
          <p:cNvPr id="6" name="Text 4"/>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 컨설팅 시나리오 — 상담주제 3 심화</a:t>
            </a:r>
            <a:endParaRPr lang="en-US" sz="1600" dirty="0"/>
          </a:p>
        </p:txBody>
      </p:sp>
      <p:sp>
        <p:nvSpPr>
          <p:cNvPr id="7" name="Text 5"/>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 심화 응대 스킬 (실행 가능한 대안 제시)</a:t>
            </a:r>
            <a:endParaRPr lang="en-US" sz="1400" dirty="0"/>
          </a:p>
        </p:txBody>
      </p:sp>
      <p:sp>
        <p:nvSpPr>
          <p:cNvPr id="8" name="Text 6"/>
          <p:cNvSpPr/>
          <p:nvPr/>
        </p:nvSpPr>
        <p:spPr>
          <a:xfrm>
            <a:off x="548640" y="1069848"/>
            <a:ext cx="8046720" cy="914400"/>
          </a:xfrm>
          <a:prstGeom prst="rect">
            <a:avLst/>
          </a:prstGeom>
          <a:noFill/>
          <a:ln/>
        </p:spPr>
        <p:txBody>
          <a:bodyPr wrap="square" lIns="0" tIns="0" rIns="0" bIns="0" rtlCol="0" anchor="t"/>
          <a:lstStyle/>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[상황: '월 1만 원도 부담된다'는 반응이 나올 때]</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"알겠습니다. 그렇다면 로운님의 지출 항목을 함께 보면서, 숨어있는 1만 원을 찾아보는 '재무 숨은그림찾기'를 해볼까요? 예를 들어, 거의 안 쓰는 OTT 구독 서비스 하나를 정리하거나, 일주일에 커피 두 잔만 텀블러로 마셔도 충분히 만들 수 있는 돈입니다. 제가 로운님의 금융 습관을 코칭하는 멘토로서, 가장 부담 없는 방법을 함께 찾아드리겠습니다."</a:t>
            </a:r>
            <a:endParaRPr lang="en-US" sz="900" dirty="0"/>
          </a:p>
        </p:txBody>
      </p:sp>
      <p:sp>
        <p:nvSpPr>
          <p:cNvPr id="9" name="Text 7"/>
          <p:cNvSpPr/>
          <p:nvPr/>
        </p:nvSpPr>
        <p:spPr>
          <a:xfrm>
            <a:off x="548640" y="2029968"/>
            <a:ext cx="8046720" cy="914400"/>
          </a:xfrm>
          <a:prstGeom prst="rect">
            <a:avLst/>
          </a:prstGeom>
          <a:noFill/>
          <a:ln/>
        </p:spPr>
        <p:txBody>
          <a:bodyPr wrap="square" lIns="0" tIns="0" rIns="0" bIns="0" rtlCol="0" anchor="t"/>
          <a:lstStyle/>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[상황: '나중에 월급 오르면 한 번에 하겠다'고 할 때]</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"네, 소득이 여유로워질 때 제대로 준비하시려는 계획도 좋은 생각입니다. 다만, 보험은 '능력(돈)'이 될 때 가입하는 게 아니라, '자격(건강)'이 될 때만 가입할 수 있는 유일한 금융상품입니다. 지금은 월 1만 원으로라도 이 '자격'을 확보해두는 것이, 나중에 월 10만 원을 내고도 가입하지 못하는 최악의 상황을 막는 가장 현명한 선택일 수 있습니다."</a:t>
            </a:r>
            <a:endParaRPr lang="en-US" sz="900" dirty="0"/>
          </a:p>
        </p:txBody>
      </p:sp>
      <p:sp>
        <p:nvSpPr>
          <p:cNvPr id="10" name="Text 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11" name="Text 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26</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27</a:t>
            </a:r>
            <a:endParaRPr lang="en-US" sz="900" dirty="0"/>
          </a:p>
        </p:txBody>
      </p:sp>
      <p:sp>
        <p:nvSpPr>
          <p:cNvPr id="6" name="Text 4"/>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 컨설팅 시나리오 — 상담주제 4 (1/2)</a:t>
            </a:r>
            <a:endParaRPr lang="en-US" sz="1600" dirty="0"/>
          </a:p>
        </p:txBody>
      </p:sp>
      <p:sp>
        <p:nvSpPr>
          <p:cNvPr id="7" name="Text 5"/>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 상담주제 4: 신뢰 구축 - '경쟁사 비교'에 정면으로 대응하기</a:t>
            </a:r>
            <a:endParaRPr lang="en-US" sz="1400" dirty="0"/>
          </a:p>
        </p:txBody>
      </p:sp>
      <p:sp>
        <p:nvSpPr>
          <p:cNvPr id="8" name="Shape 6"/>
          <p:cNvSpPr/>
          <p:nvPr/>
        </p:nvSpPr>
        <p:spPr>
          <a:xfrm>
            <a:off x="548640" y="1069848"/>
            <a:ext cx="8046720" cy="786384"/>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548640" y="1069848"/>
            <a:ext cx="54864" cy="786384"/>
          </a:xfrm>
          <a:prstGeom prst="rect">
            <a:avLst/>
          </a:prstGeom>
          <a:solidFill>
            <a:srgbClr val="C8962E"/>
          </a:solidFill>
          <a:ln/>
        </p:spPr>
        <p:txBody>
          <a:bodyPr/>
          <a:lstStyle/>
          <a:p>
            <a:endParaRPr lang="ko-KR" altLang="en-US"/>
          </a:p>
        </p:txBody>
      </p:sp>
      <p:sp>
        <p:nvSpPr>
          <p:cNvPr id="10" name="Text 8"/>
          <p:cNvSpPr/>
          <p:nvPr/>
        </p:nvSpPr>
        <p:spPr>
          <a:xfrm>
            <a:off x="731520" y="1143000"/>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리스크 진단 (As-Is 파악):</a:t>
            </a:r>
            <a:endParaRPr lang="en-US" sz="1200" dirty="0"/>
          </a:p>
        </p:txBody>
      </p:sp>
      <p:sp>
        <p:nvSpPr>
          <p:cNvPr id="11" name="Text 9"/>
          <p:cNvSpPr/>
          <p:nvPr/>
        </p:nvSpPr>
        <p:spPr>
          <a:xfrm>
            <a:off x="731520" y="1382775"/>
            <a:ext cx="7680960" cy="420624"/>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"로운님, 여러 회사를 비교해보시는 것은 고객의 당연한 권리이자 매우 현명한 태도입니다. 다만 보험은 휴대폰 요금제처럼 단순 비교가 어려워, 가격만 보고 선택했다가 정작 중요한 보장을 놓치는 '함정'에 빠지기 쉽습니다."</a:t>
            </a:r>
            <a:endParaRPr lang="en-US" sz="1050" dirty="0"/>
          </a:p>
        </p:txBody>
      </p:sp>
      <p:sp>
        <p:nvSpPr>
          <p:cNvPr id="12" name="Shape 10"/>
          <p:cNvSpPr/>
          <p:nvPr/>
        </p:nvSpPr>
        <p:spPr>
          <a:xfrm>
            <a:off x="548640" y="1965960"/>
            <a:ext cx="8046720" cy="1175004"/>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548640" y="1965960"/>
            <a:ext cx="54864" cy="1175004"/>
          </a:xfrm>
          <a:prstGeom prst="rect">
            <a:avLst/>
          </a:prstGeom>
          <a:solidFill>
            <a:srgbClr val="C8962E"/>
          </a:solidFill>
          <a:ln/>
        </p:spPr>
        <p:txBody>
          <a:bodyPr/>
          <a:lstStyle/>
          <a:p>
            <a:endParaRPr lang="ko-KR" altLang="en-US"/>
          </a:p>
        </p:txBody>
      </p:sp>
      <p:sp>
        <p:nvSpPr>
          <p:cNvPr id="14" name="Text 12"/>
          <p:cNvSpPr/>
          <p:nvPr/>
        </p:nvSpPr>
        <p:spPr>
          <a:xfrm>
            <a:off x="731520" y="2039112"/>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전략 제안 (To-Be 플랜):</a:t>
            </a:r>
            <a:endParaRPr lang="en-US" sz="1200" dirty="0"/>
          </a:p>
        </p:txBody>
      </p:sp>
      <p:sp>
        <p:nvSpPr>
          <p:cNvPr id="15" name="Text 13"/>
          <p:cNvSpPr/>
          <p:nvPr/>
        </p:nvSpPr>
        <p:spPr>
          <a:xfrm>
            <a:off x="731520" y="2278887"/>
            <a:ext cx="7680960" cy="548640"/>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'판매자'가 아닌 '객관적인 분석가'로서 접근합니다. "A사 상품과 저희 제안을 단순히 비교하는 것을 넘어, 제가 로운님의 입장에서 두 상품을 '해부'해 드리겠습니다. 첫째, 암 진단비에서 '소액암/유사암'의 범위와 지급액이 어떻게 다른지, 둘째, 뇌/심장질환 보장에서 가장 넓은 범위인 '뇌혈관/허혈성' 진단비가 포함되는지 등을 함께 확인해보시죠. '저렴한 이유'와 '비싼 이유'를 명확히 아셔야 후회 없는 선택을 할 수 있습니다."</a:t>
            </a:r>
            <a:endParaRPr lang="en-US" sz="1050" dirty="0"/>
          </a:p>
        </p:txBody>
      </p:sp>
      <p:sp>
        <p:nvSpPr>
          <p:cNvPr id="16" name="Shape 14"/>
          <p:cNvSpPr/>
          <p:nvPr/>
        </p:nvSpPr>
        <p:spPr>
          <a:xfrm>
            <a:off x="548640" y="3241208"/>
            <a:ext cx="8046720" cy="786384"/>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7" name="Shape 15"/>
          <p:cNvSpPr/>
          <p:nvPr/>
        </p:nvSpPr>
        <p:spPr>
          <a:xfrm>
            <a:off x="548640" y="3241208"/>
            <a:ext cx="54864" cy="786384"/>
          </a:xfrm>
          <a:prstGeom prst="rect">
            <a:avLst/>
          </a:prstGeom>
          <a:solidFill>
            <a:srgbClr val="C8962E"/>
          </a:solidFill>
          <a:ln/>
        </p:spPr>
        <p:txBody>
          <a:bodyPr/>
          <a:lstStyle/>
          <a:p>
            <a:endParaRPr lang="ko-KR" altLang="en-US"/>
          </a:p>
        </p:txBody>
      </p:sp>
      <p:sp>
        <p:nvSpPr>
          <p:cNvPr id="18" name="Text 16"/>
          <p:cNvSpPr/>
          <p:nvPr/>
        </p:nvSpPr>
        <p:spPr>
          <a:xfrm>
            <a:off x="731520" y="3314360"/>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객관적 비교 도구 제시:</a:t>
            </a:r>
            <a:endParaRPr lang="en-US" sz="1200" dirty="0"/>
          </a:p>
        </p:txBody>
      </p:sp>
      <p:sp>
        <p:nvSpPr>
          <p:cNvPr id="19" name="Text 17"/>
          <p:cNvSpPr/>
          <p:nvPr/>
        </p:nvSpPr>
        <p:spPr>
          <a:xfrm>
            <a:off x="731520" y="3554135"/>
            <a:ext cx="7680960" cy="420624"/>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"제가 '핵심 보장 비교표'를 바로 만들어드릴게요. 월 보험료, 보장 범위, 면책 조건을 정리해서 어떤 상품이 로운님께 진짜 유리한지 객관적으로 보실 수 있도록 돕겠습니다."</a:t>
            </a:r>
            <a:endParaRPr lang="en-US" sz="1050" dirty="0"/>
          </a:p>
        </p:txBody>
      </p:sp>
      <p:sp>
        <p:nvSpPr>
          <p:cNvPr id="20" name="Text 1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21" name="Text 1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27</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28</a:t>
            </a:r>
            <a:endParaRPr lang="en-US" sz="900" dirty="0"/>
          </a:p>
        </p:txBody>
      </p:sp>
      <p:sp>
        <p:nvSpPr>
          <p:cNvPr id="6" name="Text 4"/>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 컨설팅 시나리오 — 상담주제 4 (2/2)</a:t>
            </a:r>
            <a:endParaRPr lang="en-US" sz="1600" dirty="0"/>
          </a:p>
        </p:txBody>
      </p:sp>
      <p:sp>
        <p:nvSpPr>
          <p:cNvPr id="7" name="Text 5"/>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 상담주제 4 (계속)</a:t>
            </a:r>
            <a:endParaRPr lang="en-US" sz="1400" dirty="0"/>
          </a:p>
        </p:txBody>
      </p:sp>
      <p:sp>
        <p:nvSpPr>
          <p:cNvPr id="8" name="Shape 6"/>
          <p:cNvSpPr/>
          <p:nvPr/>
        </p:nvSpPr>
        <p:spPr>
          <a:xfrm>
            <a:off x="548640" y="1069848"/>
            <a:ext cx="8046720" cy="786384"/>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548640" y="1069848"/>
            <a:ext cx="54864" cy="786384"/>
          </a:xfrm>
          <a:prstGeom prst="rect">
            <a:avLst/>
          </a:prstGeom>
          <a:solidFill>
            <a:srgbClr val="C8962E"/>
          </a:solidFill>
          <a:ln/>
        </p:spPr>
        <p:txBody>
          <a:bodyPr/>
          <a:lstStyle/>
          <a:p>
            <a:endParaRPr lang="ko-KR" altLang="en-US"/>
          </a:p>
        </p:txBody>
      </p:sp>
      <p:sp>
        <p:nvSpPr>
          <p:cNvPr id="10" name="Text 8"/>
          <p:cNvSpPr/>
          <p:nvPr/>
        </p:nvSpPr>
        <p:spPr>
          <a:xfrm>
            <a:off x="731520" y="1143000"/>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장기적 관점 제시:</a:t>
            </a:r>
            <a:endParaRPr lang="en-US" sz="1200" dirty="0"/>
          </a:p>
        </p:txBody>
      </p:sp>
      <p:sp>
        <p:nvSpPr>
          <p:cNvPr id="11" name="Text 9"/>
          <p:cNvSpPr/>
          <p:nvPr/>
        </p:nvSpPr>
        <p:spPr>
          <a:xfrm>
            <a:off x="731520" y="1362456"/>
            <a:ext cx="7680960" cy="420624"/>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"더 중요한 건 '10년 후'입니다. 지금 월 1만 원이 저렴해도, 보험금 지급이 까다롭거나 회사의 재무 건전성이 불안하다면 과연 좋은 선택일까요? 지금 조금 더 내더라도 '안정성과 신뢰성'을 택하는 것이 현명할 수 있습니다."</a:t>
            </a:r>
            <a:endParaRPr lang="en-US" sz="1050" dirty="0"/>
          </a:p>
        </p:txBody>
      </p:sp>
      <p:sp>
        <p:nvSpPr>
          <p:cNvPr id="12" name="Shape 10"/>
          <p:cNvSpPr/>
          <p:nvPr/>
        </p:nvSpPr>
        <p:spPr>
          <a:xfrm>
            <a:off x="548640" y="1965960"/>
            <a:ext cx="8046720" cy="786384"/>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548640" y="1965960"/>
            <a:ext cx="54864" cy="786384"/>
          </a:xfrm>
          <a:prstGeom prst="rect">
            <a:avLst/>
          </a:prstGeom>
          <a:solidFill>
            <a:srgbClr val="C8962E"/>
          </a:solidFill>
          <a:ln/>
        </p:spPr>
        <p:txBody>
          <a:bodyPr/>
          <a:lstStyle/>
          <a:p>
            <a:endParaRPr lang="ko-KR" altLang="en-US"/>
          </a:p>
        </p:txBody>
      </p:sp>
      <p:sp>
        <p:nvSpPr>
          <p:cNvPr id="14" name="Text 12"/>
          <p:cNvSpPr/>
          <p:nvPr/>
        </p:nvSpPr>
        <p:spPr>
          <a:xfrm>
            <a:off x="731520" y="2039112"/>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고객 우려 해소:</a:t>
            </a:r>
            <a:endParaRPr lang="en-US" sz="1200" dirty="0"/>
          </a:p>
        </p:txBody>
      </p:sp>
      <p:sp>
        <p:nvSpPr>
          <p:cNvPr id="15" name="Text 13"/>
          <p:cNvSpPr/>
          <p:nvPr/>
        </p:nvSpPr>
        <p:spPr>
          <a:xfrm>
            <a:off x="731520" y="2258568"/>
            <a:ext cx="7680960" cy="420624"/>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"모든 내용을 투명하게 비교하고, 스스로 확신을 갖고 결정하시는 것이 가장 좋습니다. 저는 로운님께서 최선의 선택을 하실 수 있도록 옆에서 돕는 조력자일 뿐입니다."</a:t>
            </a:r>
            <a:endParaRPr lang="en-US" sz="1050" dirty="0"/>
          </a:p>
        </p:txBody>
      </p:sp>
      <p:sp>
        <p:nvSpPr>
          <p:cNvPr id="16" name="Shape 14"/>
          <p:cNvSpPr/>
          <p:nvPr/>
        </p:nvSpPr>
        <p:spPr>
          <a:xfrm>
            <a:off x="548640" y="2862072"/>
            <a:ext cx="8046720" cy="786384"/>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7" name="Shape 15"/>
          <p:cNvSpPr/>
          <p:nvPr/>
        </p:nvSpPr>
        <p:spPr>
          <a:xfrm>
            <a:off x="548640" y="2862072"/>
            <a:ext cx="54864" cy="786384"/>
          </a:xfrm>
          <a:prstGeom prst="rect">
            <a:avLst/>
          </a:prstGeom>
          <a:solidFill>
            <a:srgbClr val="C8962E"/>
          </a:solidFill>
          <a:ln/>
        </p:spPr>
        <p:txBody>
          <a:bodyPr/>
          <a:lstStyle/>
          <a:p>
            <a:endParaRPr lang="ko-KR" altLang="en-US"/>
          </a:p>
        </p:txBody>
      </p:sp>
      <p:sp>
        <p:nvSpPr>
          <p:cNvPr id="18" name="Text 16"/>
          <p:cNvSpPr/>
          <p:nvPr/>
        </p:nvSpPr>
        <p:spPr>
          <a:xfrm>
            <a:off x="731520" y="2935224"/>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결론:</a:t>
            </a:r>
            <a:endParaRPr lang="en-US" sz="1200" dirty="0"/>
          </a:p>
        </p:txBody>
      </p:sp>
      <p:sp>
        <p:nvSpPr>
          <p:cNvPr id="19" name="Text 17"/>
          <p:cNvSpPr/>
          <p:nvPr/>
        </p:nvSpPr>
        <p:spPr>
          <a:xfrm>
            <a:off x="731520" y="3154680"/>
            <a:ext cx="7680960" cy="420624"/>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판매자가 아닌 객관적인 분석가로서의 역할을 수행하여, 투명한 정보 제공을 통해 고객의 최종 신뢰를 확보하고 장기적인 파트너십의 기반을 마련합니다.</a:t>
            </a:r>
            <a:endParaRPr lang="en-US" sz="1050" dirty="0"/>
          </a:p>
        </p:txBody>
      </p:sp>
      <p:sp>
        <p:nvSpPr>
          <p:cNvPr id="20" name="Text 1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21" name="Text 1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28</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29</a:t>
            </a:r>
            <a:endParaRPr lang="en-US" sz="900" dirty="0"/>
          </a:p>
        </p:txBody>
      </p:sp>
      <p:sp>
        <p:nvSpPr>
          <p:cNvPr id="6" name="Text 4"/>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 컨설팅 시나리오 — 상담주제 4 심화</a:t>
            </a:r>
            <a:endParaRPr lang="en-US" sz="1600" dirty="0"/>
          </a:p>
        </p:txBody>
      </p:sp>
      <p:sp>
        <p:nvSpPr>
          <p:cNvPr id="7" name="Text 5"/>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 심화 응대 스킬 (투명성과 전문성으로 신뢰 구축)</a:t>
            </a:r>
            <a:endParaRPr lang="en-US" sz="1400" dirty="0"/>
          </a:p>
        </p:txBody>
      </p:sp>
      <p:sp>
        <p:nvSpPr>
          <p:cNvPr id="8" name="Text 6"/>
          <p:cNvSpPr/>
          <p:nvPr/>
        </p:nvSpPr>
        <p:spPr>
          <a:xfrm>
            <a:off x="548640" y="1069848"/>
            <a:ext cx="8046720" cy="914400"/>
          </a:xfrm>
          <a:prstGeom prst="rect">
            <a:avLst/>
          </a:prstGeom>
          <a:noFill/>
          <a:ln/>
        </p:spPr>
        <p:txBody>
          <a:bodyPr wrap="square" lIns="0" tIns="0" rIns="0" bIns="0" rtlCol="0" anchor="t"/>
          <a:lstStyle/>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[상황: '어차피 자기 회사 상품이 좋다고 말하는 것 아니냐'는 의심을 보일 때]</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"그렇게 생각하시는 게 당연합니다. 그래서 저는 로운님께 '제 상품이 무조건 좋습니다'라고 말씀드리지 않겠습니다. 대신, '좋은 보험을 고르는 기준'을 알려드리겠습니다. 이 기준에 맞춰 A사 상품과 제 상품을 로운님께서 직접 평가해보세요. 저는 그 과정을 돕는 조력자 역할을 하겠습니다. 모든 내용을 문서화해서 드리고, 궁금한 점은 보험사 고객센터에 직접 확인해보시라고 권해드립니다. 투명하게 비교하고 스스로 결정하시는 것이 가장 좋습니다."</a:t>
            </a:r>
            <a:endParaRPr lang="en-US" sz="900" dirty="0"/>
          </a:p>
        </p:txBody>
      </p:sp>
      <p:sp>
        <p:nvSpPr>
          <p:cNvPr id="9" name="Text 7"/>
          <p:cNvSpPr/>
          <p:nvPr/>
        </p:nvSpPr>
        <p:spPr>
          <a:xfrm>
            <a:off x="548640" y="2029968"/>
            <a:ext cx="8046720" cy="914400"/>
          </a:xfrm>
          <a:prstGeom prst="rect">
            <a:avLst/>
          </a:prstGeom>
          <a:noFill/>
          <a:ln/>
        </p:spPr>
        <p:txBody>
          <a:bodyPr wrap="square" lIns="0" tIns="0" rIns="0" bIns="0" rtlCol="0" anchor="t"/>
          <a:lstStyle/>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[상황: 결정을 계속 유보하며 고민할 때]</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"그럼요, 인생의 중요한 첫 금융상품인데 당연히 신중해야죠. 충분히 고민해보세요. 저는 로운님께서 어떤 선택을 하시든 그 결정을 존중할 겁니다. 다만, 금융 전문가로서 한 가지만 기억해주셨으면 합니다. 오늘과 내일 사이에 건강 상태가 달라질 리스크는 누구도 예측할 수 없죠. 건강할 때 가장 좋은 조건으로 가입할 수 있는 '권리'는 돈으로 살 수 없는 가장 중요한 부분입니다. 편하게 고민해보시고, 제 도움이 필요하시면 언제든 다시 찾아주세요."</a:t>
            </a:r>
            <a:endParaRPr lang="en-US" sz="900" dirty="0"/>
          </a:p>
        </p:txBody>
      </p:sp>
      <p:sp>
        <p:nvSpPr>
          <p:cNvPr id="10" name="Text 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11" name="Text 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29</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30</a:t>
            </a:r>
            <a:endParaRPr lang="en-US" sz="900" dirty="0"/>
          </a:p>
        </p:txBody>
      </p:sp>
      <p:sp>
        <p:nvSpPr>
          <p:cNvPr id="6" name="Text 4"/>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 컨설팅 시나리오 — 상담주제 5 (1/2)</a:t>
            </a:r>
            <a:endParaRPr lang="en-US" sz="1600" dirty="0"/>
          </a:p>
        </p:txBody>
      </p:sp>
      <p:sp>
        <p:nvSpPr>
          <p:cNvPr id="7" name="Text 5"/>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 상담주제 5: 평생 파트너십 구축 - '재무 PT, 2라운드' 정기 리뷰</a:t>
            </a:r>
            <a:endParaRPr lang="en-US" sz="1400" dirty="0"/>
          </a:p>
        </p:txBody>
      </p:sp>
      <p:sp>
        <p:nvSpPr>
          <p:cNvPr id="8" name="Shape 6"/>
          <p:cNvSpPr/>
          <p:nvPr/>
        </p:nvSpPr>
        <p:spPr>
          <a:xfrm>
            <a:off x="548640" y="1069848"/>
            <a:ext cx="8046720" cy="9144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548640" y="1069848"/>
            <a:ext cx="54864" cy="914400"/>
          </a:xfrm>
          <a:prstGeom prst="rect">
            <a:avLst/>
          </a:prstGeom>
          <a:solidFill>
            <a:srgbClr val="C8962E"/>
          </a:solidFill>
          <a:ln/>
        </p:spPr>
        <p:txBody>
          <a:bodyPr/>
          <a:lstStyle/>
          <a:p>
            <a:endParaRPr lang="ko-KR" altLang="en-US"/>
          </a:p>
        </p:txBody>
      </p:sp>
      <p:sp>
        <p:nvSpPr>
          <p:cNvPr id="10" name="Text 8"/>
          <p:cNvSpPr/>
          <p:nvPr/>
        </p:nvSpPr>
        <p:spPr>
          <a:xfrm>
            <a:off x="731520" y="1143000"/>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상황 가정 (As-Is 파악):</a:t>
            </a:r>
            <a:endParaRPr lang="en-US" sz="1200" dirty="0"/>
          </a:p>
        </p:txBody>
      </p:sp>
      <p:sp>
        <p:nvSpPr>
          <p:cNvPr id="11" name="Text 9"/>
          <p:cNvSpPr/>
          <p:nvPr/>
        </p:nvSpPr>
        <p:spPr>
          <a:xfrm>
            <a:off x="731520" y="1362456"/>
            <a:ext cx="7680960" cy="548640"/>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"로운님, 2년 전에 저와 함께 '인생 PT'를 시작하셨죠. 덕분에 '재무 기초 체력'은 아주 튼튼해지셨습니다. 그 사이 승진도 하시고 월급도 오르셨다고 들었습니다. 축하드립니다! 그런데 이제는 더 큰 목표(결혼, 내 집 마련)가 생기셨을 겁니다. 지금의 재무 계획은 마라톤 풀코스를 뛰기에는 아직 '목표 달성 근력'이 부족한 상태입니다."</a:t>
            </a:r>
            <a:endParaRPr lang="en-US" sz="1050" dirty="0"/>
          </a:p>
        </p:txBody>
      </p:sp>
      <p:sp>
        <p:nvSpPr>
          <p:cNvPr id="12" name="Shape 10"/>
          <p:cNvSpPr/>
          <p:nvPr/>
        </p:nvSpPr>
        <p:spPr>
          <a:xfrm>
            <a:off x="548640" y="2093976"/>
            <a:ext cx="8046720" cy="9144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548640" y="2093976"/>
            <a:ext cx="54864" cy="914400"/>
          </a:xfrm>
          <a:prstGeom prst="rect">
            <a:avLst/>
          </a:prstGeom>
          <a:solidFill>
            <a:srgbClr val="C8962E"/>
          </a:solidFill>
          <a:ln/>
        </p:spPr>
        <p:txBody>
          <a:bodyPr/>
          <a:lstStyle/>
          <a:p>
            <a:endParaRPr lang="ko-KR" altLang="en-US"/>
          </a:p>
        </p:txBody>
      </p:sp>
      <p:sp>
        <p:nvSpPr>
          <p:cNvPr id="14" name="Text 12"/>
          <p:cNvSpPr/>
          <p:nvPr/>
        </p:nvSpPr>
        <p:spPr>
          <a:xfrm>
            <a:off x="731520" y="2167128"/>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전략 제안 (To-Be 플랜):</a:t>
            </a:r>
            <a:endParaRPr lang="en-US" sz="1200" dirty="0"/>
          </a:p>
        </p:txBody>
      </p:sp>
      <p:sp>
        <p:nvSpPr>
          <p:cNvPr id="15" name="Text 13"/>
          <p:cNvSpPr/>
          <p:nvPr/>
        </p:nvSpPr>
        <p:spPr>
          <a:xfrm>
            <a:off x="731520" y="2386584"/>
            <a:ext cx="7680960" cy="548640"/>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'부상 방지'를 넘어 '경기력 향상'을 위한 플랜을 제안합니다. "기존의 안전망(보장성 보험)은 든든한 보호대처럼 유지하면서, 이제는 '목돈 만들기' 근육을 키우는 저축/투자 플랜을 추가할 때입니다. 로운님의 새로운 인생 목표에 맞춰 공격과 수비의 균형을 갖춘 완벽한 포트폴리오를 설계해 드리겠습니다."</a:t>
            </a:r>
            <a:endParaRPr lang="en-US" sz="1050" dirty="0"/>
          </a:p>
        </p:txBody>
      </p:sp>
      <p:sp>
        <p:nvSpPr>
          <p:cNvPr id="16" name="Shape 14"/>
          <p:cNvSpPr/>
          <p:nvPr/>
        </p:nvSpPr>
        <p:spPr>
          <a:xfrm>
            <a:off x="548640" y="3118104"/>
            <a:ext cx="8046720" cy="9144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7" name="Shape 15"/>
          <p:cNvSpPr/>
          <p:nvPr/>
        </p:nvSpPr>
        <p:spPr>
          <a:xfrm>
            <a:off x="548640" y="3118104"/>
            <a:ext cx="54864" cy="914400"/>
          </a:xfrm>
          <a:prstGeom prst="rect">
            <a:avLst/>
          </a:prstGeom>
          <a:solidFill>
            <a:srgbClr val="C8962E"/>
          </a:solidFill>
          <a:ln/>
        </p:spPr>
        <p:txBody>
          <a:bodyPr/>
          <a:lstStyle/>
          <a:p>
            <a:endParaRPr lang="ko-KR" altLang="en-US"/>
          </a:p>
        </p:txBody>
      </p:sp>
      <p:sp>
        <p:nvSpPr>
          <p:cNvPr id="18" name="Text 16"/>
          <p:cNvSpPr/>
          <p:nvPr/>
        </p:nvSpPr>
        <p:spPr>
          <a:xfrm>
            <a:off x="731520" y="3191256"/>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목표 재설정 및 포트폴리오 확장:</a:t>
            </a:r>
            <a:endParaRPr lang="en-US" sz="1200" dirty="0"/>
          </a:p>
        </p:txBody>
      </p:sp>
      <p:sp>
        <p:nvSpPr>
          <p:cNvPr id="19" name="Text 17"/>
          <p:cNvSpPr/>
          <p:nvPr/>
        </p:nvSpPr>
        <p:spPr>
          <a:xfrm>
            <a:off x="731520" y="3410712"/>
            <a:ext cx="7680960" cy="548640"/>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"기존의 월 3만 원(방어)에, 월 10~20만 원의 '공격(저축/투자)' 플랜을 추가하여 포트폴리오를 완성하는 것입니다. 이는 로운님의 구체적인 목표(예: 5년 내 결혼자금 5천만 원)와 투자 성향에 맞춰 가장 안정적이면서도 효율적인 상품으로 설계됩니다."</a:t>
            </a:r>
            <a:endParaRPr lang="en-US" sz="1050" dirty="0"/>
          </a:p>
        </p:txBody>
      </p:sp>
      <p:sp>
        <p:nvSpPr>
          <p:cNvPr id="20" name="Text 1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21" name="Text 1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30</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31</a:t>
            </a:r>
            <a:endParaRPr lang="en-US" sz="900" dirty="0"/>
          </a:p>
        </p:txBody>
      </p:sp>
      <p:sp>
        <p:nvSpPr>
          <p:cNvPr id="6" name="Text 4"/>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 컨설팅 시나리오 — 상담주제 5 (2/2)</a:t>
            </a:r>
            <a:endParaRPr lang="en-US" sz="1600" dirty="0"/>
          </a:p>
        </p:txBody>
      </p:sp>
      <p:sp>
        <p:nvSpPr>
          <p:cNvPr id="7" name="Text 5"/>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 상담주제 5 (계속)</a:t>
            </a:r>
            <a:endParaRPr lang="en-US" sz="1400" dirty="0"/>
          </a:p>
        </p:txBody>
      </p:sp>
      <p:sp>
        <p:nvSpPr>
          <p:cNvPr id="8" name="Shape 6"/>
          <p:cNvSpPr/>
          <p:nvPr/>
        </p:nvSpPr>
        <p:spPr>
          <a:xfrm>
            <a:off x="548640" y="1069848"/>
            <a:ext cx="8046720" cy="786384"/>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548640" y="1069848"/>
            <a:ext cx="54864" cy="786384"/>
          </a:xfrm>
          <a:prstGeom prst="rect">
            <a:avLst/>
          </a:prstGeom>
          <a:solidFill>
            <a:srgbClr val="C8962E"/>
          </a:solidFill>
          <a:ln/>
        </p:spPr>
        <p:txBody>
          <a:bodyPr/>
          <a:lstStyle/>
          <a:p>
            <a:endParaRPr lang="ko-KR" altLang="en-US"/>
          </a:p>
        </p:txBody>
      </p:sp>
      <p:sp>
        <p:nvSpPr>
          <p:cNvPr id="10" name="Text 8"/>
          <p:cNvSpPr/>
          <p:nvPr/>
        </p:nvSpPr>
        <p:spPr>
          <a:xfrm>
            <a:off x="731520" y="1143000"/>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기대 효과 요약:</a:t>
            </a:r>
            <a:endParaRPr lang="en-US" sz="1200" dirty="0"/>
          </a:p>
        </p:txBody>
      </p:sp>
      <p:sp>
        <p:nvSpPr>
          <p:cNvPr id="11" name="Text 9"/>
          <p:cNvSpPr/>
          <p:nvPr/>
        </p:nvSpPr>
        <p:spPr>
          <a:xfrm>
            <a:off x="731520" y="1362456"/>
            <a:ext cx="7680960" cy="420624"/>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단순히 위험을 막는 것을 넘어, 적극적으로 미래의 목표를 '달성'하고 자산을 '증식'시키는 단계로 나아가게 됩니다. '재무적 생존'에서 '재무적 성장'으로의 전환을 경험하시게 될 겁니다.</a:t>
            </a:r>
            <a:endParaRPr lang="en-US" sz="1050" dirty="0"/>
          </a:p>
        </p:txBody>
      </p:sp>
      <p:sp>
        <p:nvSpPr>
          <p:cNvPr id="12" name="Shape 10"/>
          <p:cNvSpPr/>
          <p:nvPr/>
        </p:nvSpPr>
        <p:spPr>
          <a:xfrm>
            <a:off x="548640" y="1965960"/>
            <a:ext cx="8046720" cy="786384"/>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548640" y="1965960"/>
            <a:ext cx="54864" cy="786384"/>
          </a:xfrm>
          <a:prstGeom prst="rect">
            <a:avLst/>
          </a:prstGeom>
          <a:solidFill>
            <a:srgbClr val="C8962E"/>
          </a:solidFill>
          <a:ln/>
        </p:spPr>
        <p:txBody>
          <a:bodyPr/>
          <a:lstStyle/>
          <a:p>
            <a:endParaRPr lang="ko-KR" altLang="en-US"/>
          </a:p>
        </p:txBody>
      </p:sp>
      <p:sp>
        <p:nvSpPr>
          <p:cNvPr id="14" name="Text 12"/>
          <p:cNvSpPr/>
          <p:nvPr/>
        </p:nvSpPr>
        <p:spPr>
          <a:xfrm>
            <a:off x="731520" y="2039112"/>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결론:</a:t>
            </a:r>
            <a:endParaRPr lang="en-US" sz="1200" dirty="0"/>
          </a:p>
        </p:txBody>
      </p:sp>
      <p:sp>
        <p:nvSpPr>
          <p:cNvPr id="15" name="Text 13"/>
          <p:cNvSpPr/>
          <p:nvPr/>
        </p:nvSpPr>
        <p:spPr>
          <a:xfrm>
            <a:off x="731520" y="2258568"/>
            <a:ext cx="7680960" cy="420624"/>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첫 상담이 '평생 파트너십의 시작'이었다면, 오늘의 정기 리뷰는 그 파트너십을 통해 고객의 인생과 함께 성장해나가는 '과정'을 보여주며, 컨설턴트의 가치를 증명합니다.</a:t>
            </a:r>
            <a:endParaRPr lang="en-US" sz="1050" dirty="0"/>
          </a:p>
        </p:txBody>
      </p:sp>
      <p:sp>
        <p:nvSpPr>
          <p:cNvPr id="16" name="Text 1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17" name="Text 1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31</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32</a:t>
            </a:r>
            <a:endParaRPr lang="en-US" sz="900" dirty="0"/>
          </a:p>
        </p:txBody>
      </p:sp>
      <p:sp>
        <p:nvSpPr>
          <p:cNvPr id="6" name="Text 4"/>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 컨설팅 시나리오 — 상담주제 5 심화</a:t>
            </a:r>
            <a:endParaRPr lang="en-US" sz="1600" dirty="0"/>
          </a:p>
        </p:txBody>
      </p:sp>
      <p:sp>
        <p:nvSpPr>
          <p:cNvPr id="7" name="Text 5"/>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 심화 응대 스킬 (장기 관계 강화 화법)</a:t>
            </a:r>
            <a:endParaRPr lang="en-US" sz="1400" dirty="0"/>
          </a:p>
        </p:txBody>
      </p:sp>
      <p:sp>
        <p:nvSpPr>
          <p:cNvPr id="8" name="Text 6"/>
          <p:cNvSpPr/>
          <p:nvPr/>
        </p:nvSpPr>
        <p:spPr>
          <a:xfrm>
            <a:off x="548640" y="1069848"/>
            <a:ext cx="8046720" cy="914400"/>
          </a:xfrm>
          <a:prstGeom prst="rect">
            <a:avLst/>
          </a:prstGeom>
          <a:noFill/>
          <a:ln/>
        </p:spPr>
        <p:txBody>
          <a:bodyPr wrap="square" lIns="0" tIns="0" rIns="0" bIns="0" rtlCol="0" anchor="t"/>
          <a:lstStyle/>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[상황: "보험 말고 주식/코인으로 돈 더 빨리 불릴 수 있다"고 할 때]</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"맞습니다, 로운님. 주식이나 코인은 높은 수익을 기대할 수 있는 훌륭한 '공격수'죠. 지난 2년간 투자도 잘해오셨고요. 그런데 모든 공격수를 지키는 든든한 '골키퍼(기존 보험)'와 '수비수'가 필요합니다. 제가 오늘 제안하는 추가 플랜은 무조건적인 고수익이 아니라, '안정적인 골 결정력'을 갖춘 미드필더와 같습니다. 공격(주식)과 수비(기존 보험), 그리고 허리(안정적 성장 플랜)의 균형을 맞출 때 가장 강력한 팀이 완성됩니다."</a:t>
            </a:r>
            <a:endParaRPr lang="en-US" sz="900" dirty="0"/>
          </a:p>
        </p:txBody>
      </p:sp>
      <p:sp>
        <p:nvSpPr>
          <p:cNvPr id="9" name="Text 7"/>
          <p:cNvSpPr/>
          <p:nvPr/>
        </p:nvSpPr>
        <p:spPr>
          <a:xfrm>
            <a:off x="548640" y="2029968"/>
            <a:ext cx="8046720" cy="914400"/>
          </a:xfrm>
          <a:prstGeom prst="rect">
            <a:avLst/>
          </a:prstGeom>
          <a:noFill/>
          <a:ln/>
        </p:spPr>
        <p:txBody>
          <a:bodyPr wrap="square" lIns="0" tIns="0" rIns="0" bIns="0" rtlCol="0" anchor="t"/>
          <a:lstStyle/>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[상황: "월 납입액이 갑자기 늘어나는 것이 부담스럽다"고 할 때]</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"그럼요, 갑자기 10만 원 이상 늘어나는 건 부담될 수 있습니다. 헬스장에서도 갑자기 무거운 무게를 들면 다치죠. 그렇다면 월 5만 원으로 시작해서, 6개월마다 1~2만 원씩 점진적으로 무게를 늘려가는 '점진적 과부하' 방식은 어떠신가요? 로운님의 소득 증가 속도에 맞춰 가장 편안하고 안전한 속도로 '재무 근육'을 키워드리겠습니다. 제가 옆에서 페이스메이커가 되어 드릴게요."</a:t>
            </a:r>
            <a:endParaRPr lang="en-US" sz="900" dirty="0"/>
          </a:p>
        </p:txBody>
      </p:sp>
      <p:sp>
        <p:nvSpPr>
          <p:cNvPr id="10" name="Text 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11" name="Text 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32</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33</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VIII. 부록 (Appendix) (1/3)</a:t>
            </a:r>
            <a:endParaRPr lang="en-US" sz="1600" dirty="0"/>
          </a:p>
        </p:txBody>
      </p:sp>
      <p:sp>
        <p:nvSpPr>
          <p:cNvPr id="5" name="Text 3"/>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1. 전문용어 설명</a:t>
            </a:r>
            <a:endParaRPr lang="en-US" sz="1400" dirty="0"/>
          </a:p>
        </p:txBody>
      </p:sp>
      <p:sp>
        <p:nvSpPr>
          <p:cNvPr id="6" name="Shape 4"/>
          <p:cNvSpPr/>
          <p:nvPr/>
        </p:nvSpPr>
        <p:spPr>
          <a:xfrm>
            <a:off x="548640" y="1069847"/>
            <a:ext cx="8046720" cy="728811"/>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548640" y="1069847"/>
            <a:ext cx="54864" cy="728811"/>
          </a:xfrm>
          <a:prstGeom prst="rect">
            <a:avLst/>
          </a:prstGeom>
          <a:solidFill>
            <a:srgbClr val="C8962E"/>
          </a:solidFill>
          <a:ln/>
        </p:spPr>
        <p:txBody>
          <a:bodyPr/>
          <a:lstStyle/>
          <a:p>
            <a:endParaRPr lang="ko-KR" altLang="en-US"/>
          </a:p>
        </p:txBody>
      </p:sp>
      <p:sp>
        <p:nvSpPr>
          <p:cNvPr id="8" name="Text 6"/>
          <p:cNvSpPr/>
          <p:nvPr/>
        </p:nvSpPr>
        <p:spPr>
          <a:xfrm>
            <a:off x="731520" y="1143000"/>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실손의료보험</a:t>
            </a:r>
            <a:endParaRPr lang="en-US" sz="1200" dirty="0"/>
          </a:p>
        </p:txBody>
      </p:sp>
      <p:sp>
        <p:nvSpPr>
          <p:cNvPr id="9" name="Text 7"/>
          <p:cNvSpPr/>
          <p:nvPr/>
        </p:nvSpPr>
        <p:spPr>
          <a:xfrm>
            <a:off x="731520" y="1362456"/>
            <a:ext cx="7680960" cy="292608"/>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질병이나 상해로 병원에 입원하거나 통원 치료를 받을 경우, 실제로 부담한 의료비를 보험사가 정해진 한도 내에서 보장해주는 보험. 모든 보험의 가장 기본입니다.</a:t>
            </a:r>
            <a:endParaRPr lang="en-US" sz="1050" dirty="0"/>
          </a:p>
        </p:txBody>
      </p:sp>
      <p:sp>
        <p:nvSpPr>
          <p:cNvPr id="10" name="Shape 8"/>
          <p:cNvSpPr/>
          <p:nvPr/>
        </p:nvSpPr>
        <p:spPr>
          <a:xfrm>
            <a:off x="548640" y="1875873"/>
            <a:ext cx="8046720" cy="728811"/>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548640" y="1875873"/>
            <a:ext cx="54864" cy="728811"/>
          </a:xfrm>
          <a:prstGeom prst="rect">
            <a:avLst/>
          </a:prstGeom>
          <a:solidFill>
            <a:srgbClr val="C8962E"/>
          </a:solidFill>
          <a:ln/>
        </p:spPr>
        <p:txBody>
          <a:bodyPr/>
          <a:lstStyle/>
          <a:p>
            <a:endParaRPr lang="ko-KR" altLang="en-US"/>
          </a:p>
        </p:txBody>
      </p:sp>
      <p:sp>
        <p:nvSpPr>
          <p:cNvPr id="12" name="Text 10"/>
          <p:cNvSpPr/>
          <p:nvPr/>
        </p:nvSpPr>
        <p:spPr>
          <a:xfrm>
            <a:off x="731520" y="1949026"/>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3대 질병</a:t>
            </a:r>
            <a:endParaRPr lang="en-US" sz="1200" dirty="0"/>
          </a:p>
        </p:txBody>
      </p:sp>
      <p:sp>
        <p:nvSpPr>
          <p:cNvPr id="13" name="Text 11"/>
          <p:cNvSpPr/>
          <p:nvPr/>
        </p:nvSpPr>
        <p:spPr>
          <a:xfrm>
            <a:off x="731520" y="2168482"/>
            <a:ext cx="7680960" cy="292608"/>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한국인의 사망원인 1~3위를 다투는 암, 뇌혈관질환, 심장질환을 통칭하는 말입니다. 발생 시 고액의 치료비와 긴 치료 기간이 필요해 경제적으로 큰 타격을 줄 수 있습니다.</a:t>
            </a:r>
            <a:endParaRPr lang="en-US" sz="1050" dirty="0"/>
          </a:p>
        </p:txBody>
      </p:sp>
      <p:sp>
        <p:nvSpPr>
          <p:cNvPr id="14" name="Shape 12"/>
          <p:cNvSpPr/>
          <p:nvPr/>
        </p:nvSpPr>
        <p:spPr>
          <a:xfrm>
            <a:off x="548640" y="2685627"/>
            <a:ext cx="8046720" cy="722376"/>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5" name="Shape 13"/>
          <p:cNvSpPr/>
          <p:nvPr/>
        </p:nvSpPr>
        <p:spPr>
          <a:xfrm>
            <a:off x="548640" y="2685627"/>
            <a:ext cx="54864" cy="722376"/>
          </a:xfrm>
          <a:prstGeom prst="rect">
            <a:avLst/>
          </a:prstGeom>
          <a:solidFill>
            <a:srgbClr val="C8962E"/>
          </a:solidFill>
          <a:ln/>
        </p:spPr>
        <p:txBody>
          <a:bodyPr/>
          <a:lstStyle/>
          <a:p>
            <a:endParaRPr lang="ko-KR" altLang="en-US"/>
          </a:p>
        </p:txBody>
      </p:sp>
      <p:sp>
        <p:nvSpPr>
          <p:cNvPr id="16" name="Text 14"/>
          <p:cNvSpPr/>
          <p:nvPr/>
        </p:nvSpPr>
        <p:spPr>
          <a:xfrm>
            <a:off x="731520" y="2758779"/>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상해후유장해</a:t>
            </a:r>
            <a:endParaRPr lang="en-US" sz="1200" dirty="0"/>
          </a:p>
        </p:txBody>
      </p:sp>
      <p:sp>
        <p:nvSpPr>
          <p:cNvPr id="17" name="Text 15"/>
          <p:cNvSpPr/>
          <p:nvPr/>
        </p:nvSpPr>
        <p:spPr>
          <a:xfrm>
            <a:off x="731520" y="2978235"/>
            <a:ext cx="7680960" cy="228600"/>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사고(상해)로 인해 신체에 영구적인 장해가 남았을 경우, 장해율에 따라 가입금액 X 장해율에 해당하는 보험금을 지급하는 보장입니다.</a:t>
            </a:r>
            <a:endParaRPr lang="en-US" sz="1050" dirty="0"/>
          </a:p>
        </p:txBody>
      </p:sp>
      <p:sp>
        <p:nvSpPr>
          <p:cNvPr id="18" name="Shape 16"/>
          <p:cNvSpPr/>
          <p:nvPr/>
        </p:nvSpPr>
        <p:spPr>
          <a:xfrm>
            <a:off x="548640" y="3501474"/>
            <a:ext cx="8046720" cy="763524"/>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9" name="Shape 17"/>
          <p:cNvSpPr/>
          <p:nvPr/>
        </p:nvSpPr>
        <p:spPr>
          <a:xfrm>
            <a:off x="548640" y="3501474"/>
            <a:ext cx="54864" cy="763524"/>
          </a:xfrm>
          <a:prstGeom prst="rect">
            <a:avLst/>
          </a:prstGeom>
          <a:solidFill>
            <a:srgbClr val="C8962E"/>
          </a:solidFill>
          <a:ln/>
        </p:spPr>
        <p:txBody>
          <a:bodyPr/>
          <a:lstStyle/>
          <a:p>
            <a:endParaRPr lang="ko-KR" altLang="en-US"/>
          </a:p>
        </p:txBody>
      </p:sp>
      <p:sp>
        <p:nvSpPr>
          <p:cNvPr id="20" name="Text 18"/>
          <p:cNvSpPr/>
          <p:nvPr/>
        </p:nvSpPr>
        <p:spPr>
          <a:xfrm>
            <a:off x="731520" y="3574626"/>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일반형 보험</a:t>
            </a:r>
            <a:endParaRPr lang="en-US" sz="1200" dirty="0"/>
          </a:p>
        </p:txBody>
      </p:sp>
      <p:sp>
        <p:nvSpPr>
          <p:cNvPr id="21" name="Text 19"/>
          <p:cNvSpPr/>
          <p:nvPr/>
        </p:nvSpPr>
        <p:spPr>
          <a:xfrm>
            <a:off x="731520" y="3794082"/>
            <a:ext cx="7680960" cy="228600"/>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보험료 납입기간 중에 계약을 해지하더라도 상품 구조에 따라 일정 수준의 해지환급금이 발생하는 표준적인 형태의 보험 상품입니다.</a:t>
            </a:r>
            <a:endParaRPr lang="en-US" sz="1050" dirty="0"/>
          </a:p>
        </p:txBody>
      </p:sp>
      <p:sp>
        <p:nvSpPr>
          <p:cNvPr id="22" name="Text 20"/>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23" name="Text 21"/>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33</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34</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VIII. 부록 (Appendix) (2/3)</a:t>
            </a:r>
            <a:endParaRPr lang="en-US" sz="1600" dirty="0"/>
          </a:p>
        </p:txBody>
      </p:sp>
      <p:sp>
        <p:nvSpPr>
          <p:cNvPr id="5" name="Text 3"/>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2. FAQ</a:t>
            </a:r>
            <a:endParaRPr lang="en-US" sz="1400" dirty="0"/>
          </a:p>
        </p:txBody>
      </p:sp>
      <p:sp>
        <p:nvSpPr>
          <p:cNvPr id="6" name="Shape 4"/>
          <p:cNvSpPr/>
          <p:nvPr/>
        </p:nvSpPr>
        <p:spPr>
          <a:xfrm>
            <a:off x="548640" y="1069848"/>
            <a:ext cx="8046720" cy="10058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548640" y="1069848"/>
            <a:ext cx="54864" cy="1005840"/>
          </a:xfrm>
          <a:prstGeom prst="rect">
            <a:avLst/>
          </a:prstGeom>
          <a:solidFill>
            <a:srgbClr val="C8962E"/>
          </a:solidFill>
          <a:ln/>
        </p:spPr>
        <p:txBody>
          <a:bodyPr/>
          <a:lstStyle/>
          <a:p>
            <a:endParaRPr lang="ko-KR" altLang="en-US"/>
          </a:p>
        </p:txBody>
      </p:sp>
      <p:sp>
        <p:nvSpPr>
          <p:cNvPr id="8" name="Text 6"/>
          <p:cNvSpPr/>
          <p:nvPr/>
        </p:nvSpPr>
        <p:spPr>
          <a:xfrm>
            <a:off x="731520" y="1143000"/>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Q1. 지금 가입하면 20년 동안 똑같은 보험료를 내나요?</a:t>
            </a:r>
            <a:endParaRPr lang="en-US" sz="1200" dirty="0"/>
          </a:p>
        </p:txBody>
      </p:sp>
      <p:sp>
        <p:nvSpPr>
          <p:cNvPr id="9" name="Text 7"/>
          <p:cNvSpPr/>
          <p:nvPr/>
        </p:nvSpPr>
        <p:spPr>
          <a:xfrm>
            <a:off x="731520" y="1389548"/>
            <a:ext cx="7680960" cy="640080"/>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A: 오늘 제안 드린 플랜은 두 부분으로 나뉩니다. '실손의료보험'은 1년마다 갱신되면서 보험료가 변동될 수 있습니다. 반면, '3대 진단비와 상해후유장해'는 20년간 보험료 인상 없이 동일한 금액을 내는 '비갱신형'입니다. 20년 납입이 끝나면 90세까지 추가 납입 없이 보장만 받으시면 됩니다.</a:t>
            </a:r>
            <a:endParaRPr lang="en-US" sz="1050" dirty="0"/>
          </a:p>
        </p:txBody>
      </p:sp>
      <p:sp>
        <p:nvSpPr>
          <p:cNvPr id="10" name="Shape 8"/>
          <p:cNvSpPr/>
          <p:nvPr/>
        </p:nvSpPr>
        <p:spPr>
          <a:xfrm>
            <a:off x="548640" y="2185416"/>
            <a:ext cx="8046720" cy="11887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548640" y="2185416"/>
            <a:ext cx="54864" cy="1188720"/>
          </a:xfrm>
          <a:prstGeom prst="rect">
            <a:avLst/>
          </a:prstGeom>
          <a:solidFill>
            <a:srgbClr val="C8962E"/>
          </a:solidFill>
          <a:ln/>
        </p:spPr>
        <p:txBody>
          <a:bodyPr/>
          <a:lstStyle/>
          <a:p>
            <a:endParaRPr lang="ko-KR" altLang="en-US"/>
          </a:p>
        </p:txBody>
      </p:sp>
      <p:sp>
        <p:nvSpPr>
          <p:cNvPr id="12" name="Text 10"/>
          <p:cNvSpPr/>
          <p:nvPr/>
        </p:nvSpPr>
        <p:spPr>
          <a:xfrm>
            <a:off x="731520" y="2258568"/>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Q2. 중간에 해지하면 원금을 모두 돌려받을 수 있나요?</a:t>
            </a:r>
            <a:endParaRPr lang="en-US" sz="1200" dirty="0"/>
          </a:p>
        </p:txBody>
      </p:sp>
      <p:sp>
        <p:nvSpPr>
          <p:cNvPr id="13" name="Text 11"/>
          <p:cNvSpPr/>
          <p:nvPr/>
        </p:nvSpPr>
        <p:spPr>
          <a:xfrm>
            <a:off x="731520" y="2505116"/>
            <a:ext cx="7680960" cy="822960"/>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A: 아니요, 그렇지는 않습니다. 보험은 은행의 적금과 달리 위험 보장에 대한 비용(위험보험료)과 회사의 운영 경비(사업비)가 포함되어 있습니다. 따라서 납입 초기에 해지할 경우, 납입한 원금보다 적은 해지환급금을 받거나 없을 수도 있습니다. 하지만 납입 기간이 길어질수록 환급률은 점차 높아집니다. 그래서 처음부터 절대 해지하지 않을, 부담 없는 금액으로 가입하는 것이 가장 중요합니다.</a:t>
            </a:r>
            <a:endParaRPr lang="en-US" sz="1050" dirty="0"/>
          </a:p>
        </p:txBody>
      </p:sp>
      <p:sp>
        <p:nvSpPr>
          <p:cNvPr id="14" name="Shape 12"/>
          <p:cNvSpPr/>
          <p:nvPr/>
        </p:nvSpPr>
        <p:spPr>
          <a:xfrm>
            <a:off x="548640" y="3483864"/>
            <a:ext cx="8046720" cy="10515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5" name="Shape 13"/>
          <p:cNvSpPr/>
          <p:nvPr/>
        </p:nvSpPr>
        <p:spPr>
          <a:xfrm>
            <a:off x="548640" y="3483864"/>
            <a:ext cx="54864" cy="1051560"/>
          </a:xfrm>
          <a:prstGeom prst="rect">
            <a:avLst/>
          </a:prstGeom>
          <a:solidFill>
            <a:srgbClr val="C8962E"/>
          </a:solidFill>
          <a:ln/>
        </p:spPr>
        <p:txBody>
          <a:bodyPr/>
          <a:lstStyle/>
          <a:p>
            <a:endParaRPr lang="ko-KR" altLang="en-US"/>
          </a:p>
        </p:txBody>
      </p:sp>
      <p:sp>
        <p:nvSpPr>
          <p:cNvPr id="16" name="Text 14"/>
          <p:cNvSpPr/>
          <p:nvPr/>
        </p:nvSpPr>
        <p:spPr>
          <a:xfrm>
            <a:off x="731520" y="3557016"/>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Q3. 나중에 더 좋은 보험이 나오면 어떡하죠?</a:t>
            </a:r>
            <a:endParaRPr lang="en-US" sz="1200" dirty="0"/>
          </a:p>
        </p:txBody>
      </p:sp>
      <p:sp>
        <p:nvSpPr>
          <p:cNvPr id="17" name="Text 15"/>
          <p:cNvSpPr/>
          <p:nvPr/>
        </p:nvSpPr>
        <p:spPr>
          <a:xfrm>
            <a:off x="731520" y="3803564"/>
            <a:ext cx="7680960" cy="685800"/>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A: 좋은 질문입니다. 보험은 나이가 들고 병력이 생기면 가입 조건이 나빠지거나 보험료가 비싸집니다. 이 플랜은 가장 기본이 되는 '뼈대'입니다. 나중에 소득이 오르고 필요가 커지면, 이 기본 뼈대 위에 새로운 보장을 추가(업그레이드)하는 것이 가장 현명한 방법입니다. 지금 가입하는 것은 미래에 더 좋은 조건으로 업그레이드할 수 있는 '기본 권리'를 확보하는 것입니다.</a:t>
            </a:r>
            <a:endParaRPr lang="en-US" sz="1050" dirty="0"/>
          </a:p>
        </p:txBody>
      </p:sp>
      <p:sp>
        <p:nvSpPr>
          <p:cNvPr id="18" name="Text 1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19" name="Text 1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34</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35</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VIII. 부록 (Appendix) (3/3)</a:t>
            </a:r>
            <a:endParaRPr lang="en-US" sz="1600" dirty="0"/>
          </a:p>
        </p:txBody>
      </p:sp>
      <p:sp>
        <p:nvSpPr>
          <p:cNvPr id="5" name="Text 3"/>
          <p:cNvSpPr/>
          <p:nvPr/>
        </p:nvSpPr>
        <p:spPr>
          <a:xfrm>
            <a:off x="457200" y="685800"/>
            <a:ext cx="8229600" cy="320040"/>
          </a:xfrm>
          <a:prstGeom prst="rect">
            <a:avLst/>
          </a:prstGeom>
          <a:noFill/>
          <a:ln/>
        </p:spPr>
        <p:txBody>
          <a:bodyPr wrap="square" lIns="0" tIns="0" rIns="0" bIns="0" rtlCol="0" anchor="ctr"/>
          <a:lstStyle/>
          <a:p>
            <a:pPr marL="0" indent="0" algn="l">
              <a:buNone/>
            </a:pPr>
            <a:r>
              <a:rPr lang="en-US" sz="1400" b="1" dirty="0">
                <a:solidFill>
                  <a:srgbClr val="1B2A4A"/>
                </a:solidFill>
                <a:latin typeface="맑은 고딕" pitchFamily="34" charset="0"/>
                <a:ea typeface="맑은 고딕" pitchFamily="34" charset="-122"/>
                <a:cs typeface="맑은 고딕" pitchFamily="34" charset="-120"/>
              </a:rPr>
              <a:t>3. 관련 법규·출처</a:t>
            </a:r>
            <a:endParaRPr lang="en-US" sz="1400" dirty="0"/>
          </a:p>
        </p:txBody>
      </p:sp>
      <p:sp>
        <p:nvSpPr>
          <p:cNvPr id="6" name="Shape 4"/>
          <p:cNvSpPr/>
          <p:nvPr/>
        </p:nvSpPr>
        <p:spPr>
          <a:xfrm>
            <a:off x="548640" y="1069848"/>
            <a:ext cx="8046720" cy="11887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548640" y="1069848"/>
            <a:ext cx="54864" cy="1188720"/>
          </a:xfrm>
          <a:prstGeom prst="rect">
            <a:avLst/>
          </a:prstGeom>
          <a:solidFill>
            <a:srgbClr val="C8962E"/>
          </a:solidFill>
          <a:ln/>
        </p:spPr>
        <p:txBody>
          <a:bodyPr/>
          <a:lstStyle/>
          <a:p>
            <a:endParaRPr lang="ko-KR" altLang="en-US"/>
          </a:p>
        </p:txBody>
      </p:sp>
      <p:sp>
        <p:nvSpPr>
          <p:cNvPr id="8" name="Text 6"/>
          <p:cNvSpPr/>
          <p:nvPr/>
        </p:nvSpPr>
        <p:spPr>
          <a:xfrm>
            <a:off x="731520" y="1143000"/>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상법 제651조 (고지의무위반으로 인한 계약해지):</a:t>
            </a:r>
            <a:endParaRPr lang="en-US" sz="1200" dirty="0"/>
          </a:p>
        </p:txBody>
      </p:sp>
      <p:sp>
        <p:nvSpPr>
          <p:cNvPr id="9" name="Text 7"/>
          <p:cNvSpPr/>
          <p:nvPr/>
        </p:nvSpPr>
        <p:spPr>
          <a:xfrm>
            <a:off x="868680" y="1499616"/>
            <a:ext cx="7543800" cy="822960"/>
          </a:xfrm>
          <a:prstGeom prst="rect">
            <a:avLst/>
          </a:prstGeom>
          <a:noFill/>
          <a:ln/>
        </p:spPr>
        <p:txBody>
          <a:bodyPr wrap="square" lIns="0" tIns="0" rIns="0" bIns="0" rtlCol="0" anchor="t"/>
          <a:lstStyle/>
          <a:p>
            <a:pPr marL="0" indent="0">
              <a:lnSpc>
                <a:spcPct val="110000"/>
              </a:lnSpc>
              <a:buNone/>
            </a:pPr>
            <a:r>
              <a:rPr lang="en-US" sz="950" dirty="0">
                <a:solidFill>
                  <a:srgbClr val="2B2B2B"/>
                </a:solidFill>
                <a:latin typeface="맑은 고딕" pitchFamily="34" charset="0"/>
                <a:ea typeface="맑은 고딕" pitchFamily="34" charset="-122"/>
                <a:cs typeface="맑은 고딕" pitchFamily="34" charset="-120"/>
              </a:rPr>
              <a:t>내용: 보험계약자 또는 피보험자가 고의 또는 중대한 과실로 중요한 사항을 고지하지 않거나 부실 고지한 경우, 보험자는 그 사실을 안 날로부터 1월 내, 계약 체결일로부터 3년 내 계약 해지 가능 (2025.09.02 기준)</a:t>
            </a:r>
            <a:endParaRPr lang="en-US" sz="950" dirty="0"/>
          </a:p>
          <a:p>
            <a:pPr marL="0" indent="0">
              <a:lnSpc>
                <a:spcPct val="110000"/>
              </a:lnSpc>
              <a:buNone/>
            </a:pPr>
            <a:r>
              <a:rPr lang="en-US" sz="950" dirty="0">
                <a:solidFill>
                  <a:srgbClr val="2B2B2B"/>
                </a:solidFill>
                <a:latin typeface="맑은 고딕" pitchFamily="34" charset="0"/>
                <a:ea typeface="맑은 고딕" pitchFamily="34" charset="-122"/>
                <a:cs typeface="맑은 고딕" pitchFamily="34" charset="-120"/>
              </a:rPr>
              <a:t>근거: 첫 보험 가입 시 가장 중요한 부분입니다. 20대는 건강에 자신 있어 사소한 치료 이력 등을 간과하기 쉬우나, 반드시 아는 내용을 사실대로 알려야 향후 보험금 수령 시 불이익을 받지 않음을 설명하는 법적 근거입니다.</a:t>
            </a:r>
            <a:endParaRPr lang="en-US" sz="950" dirty="0"/>
          </a:p>
        </p:txBody>
      </p:sp>
      <p:sp>
        <p:nvSpPr>
          <p:cNvPr id="10" name="Shape 8"/>
          <p:cNvSpPr/>
          <p:nvPr/>
        </p:nvSpPr>
        <p:spPr>
          <a:xfrm>
            <a:off x="548640" y="2368296"/>
            <a:ext cx="8046720" cy="11887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548640" y="2368296"/>
            <a:ext cx="54864" cy="1188720"/>
          </a:xfrm>
          <a:prstGeom prst="rect">
            <a:avLst/>
          </a:prstGeom>
          <a:solidFill>
            <a:srgbClr val="C8962E"/>
          </a:solidFill>
          <a:ln/>
        </p:spPr>
        <p:txBody>
          <a:bodyPr/>
          <a:lstStyle/>
          <a:p>
            <a:endParaRPr lang="ko-KR" altLang="en-US"/>
          </a:p>
        </p:txBody>
      </p:sp>
      <p:sp>
        <p:nvSpPr>
          <p:cNvPr id="12" name="Text 10"/>
          <p:cNvSpPr/>
          <p:nvPr/>
        </p:nvSpPr>
        <p:spPr>
          <a:xfrm>
            <a:off x="731520" y="2441448"/>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금융소비자 보호에 관한 법률 제19조 (설명의무):</a:t>
            </a:r>
            <a:endParaRPr lang="en-US" sz="1200" dirty="0"/>
          </a:p>
        </p:txBody>
      </p:sp>
      <p:sp>
        <p:nvSpPr>
          <p:cNvPr id="13" name="Text 11"/>
          <p:cNvSpPr/>
          <p:nvPr/>
        </p:nvSpPr>
        <p:spPr>
          <a:xfrm>
            <a:off x="868680" y="2798064"/>
            <a:ext cx="7543800" cy="685800"/>
          </a:xfrm>
          <a:prstGeom prst="rect">
            <a:avLst/>
          </a:prstGeom>
          <a:noFill/>
          <a:ln/>
        </p:spPr>
        <p:txBody>
          <a:bodyPr wrap="square" lIns="0" tIns="0" rIns="0" bIns="0" rtlCol="0" anchor="t"/>
          <a:lstStyle/>
          <a:p>
            <a:pPr marL="0" indent="0">
              <a:lnSpc>
                <a:spcPct val="110000"/>
              </a:lnSpc>
              <a:buNone/>
            </a:pPr>
            <a:r>
              <a:rPr lang="en-US" sz="950" dirty="0">
                <a:solidFill>
                  <a:srgbClr val="2B2B2B"/>
                </a:solidFill>
                <a:latin typeface="맑은 고딕" pitchFamily="34" charset="0"/>
                <a:ea typeface="맑은 고딕" pitchFamily="34" charset="-122"/>
                <a:cs typeface="맑은 고딕" pitchFamily="34" charset="-120"/>
              </a:rPr>
              <a:t>내용: 금융상품판매업자는 일반금융소비자에게 금융상품에 관한 중요한 사항(상품 내용, 위험 등)을 소비자가 이해할 수 있도록 설명해야 한다.</a:t>
            </a:r>
            <a:endParaRPr lang="en-US" sz="950" dirty="0"/>
          </a:p>
          <a:p>
            <a:pPr marL="0" indent="0">
              <a:lnSpc>
                <a:spcPct val="110000"/>
              </a:lnSpc>
              <a:buNone/>
            </a:pPr>
            <a:r>
              <a:rPr lang="en-US" sz="950" dirty="0">
                <a:solidFill>
                  <a:srgbClr val="2B2B2B"/>
                </a:solidFill>
                <a:latin typeface="맑은 고딕" pitchFamily="34" charset="0"/>
                <a:ea typeface="맑은 고딕" pitchFamily="34" charset="-122"/>
                <a:cs typeface="맑은 고딕" pitchFamily="34" charset="-120"/>
              </a:rPr>
              <a:t>근거: 본 보고서에서 '일반형' 상품이라도 '중도 해지 시 원금 손실 가능성'이 있음을 명확히 설명하는 것은 판매자인 컨설턴트의 법적 의무임을 강조하는 근거입니다.</a:t>
            </a:r>
            <a:endParaRPr lang="en-US" sz="950" dirty="0"/>
          </a:p>
        </p:txBody>
      </p:sp>
      <p:sp>
        <p:nvSpPr>
          <p:cNvPr id="14" name="Text 12"/>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15" name="Text 13"/>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35</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36</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컨설턴트 주의사항 및 보고서 안내</a:t>
            </a:r>
            <a:endParaRPr lang="en-US" sz="1600" dirty="0"/>
          </a:p>
        </p:txBody>
      </p:sp>
      <p:sp>
        <p:nvSpPr>
          <p:cNvPr id="5" name="Shape 3"/>
          <p:cNvSpPr/>
          <p:nvPr/>
        </p:nvSpPr>
        <p:spPr>
          <a:xfrm>
            <a:off x="548640" y="685800"/>
            <a:ext cx="8046720" cy="10972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548640" y="685800"/>
            <a:ext cx="54864" cy="1097280"/>
          </a:xfrm>
          <a:prstGeom prst="rect">
            <a:avLst/>
          </a:prstGeom>
          <a:solidFill>
            <a:srgbClr val="C8962E"/>
          </a:solidFill>
          <a:ln/>
        </p:spPr>
        <p:txBody>
          <a:bodyPr/>
          <a:lstStyle/>
          <a:p>
            <a:endParaRPr lang="ko-KR" altLang="en-US"/>
          </a:p>
        </p:txBody>
      </p:sp>
      <p:sp>
        <p:nvSpPr>
          <p:cNvPr id="7" name="Text 5"/>
          <p:cNvSpPr/>
          <p:nvPr/>
        </p:nvSpPr>
        <p:spPr>
          <a:xfrm>
            <a:off x="731520" y="758952"/>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컨설턴트 주의사항</a:t>
            </a:r>
            <a:endParaRPr lang="en-US" sz="1200" dirty="0"/>
          </a:p>
        </p:txBody>
      </p:sp>
      <p:sp>
        <p:nvSpPr>
          <p:cNvPr id="8" name="Text 6"/>
          <p:cNvSpPr/>
          <p:nvPr/>
        </p:nvSpPr>
        <p:spPr>
          <a:xfrm>
            <a:off x="731520" y="978408"/>
            <a:ext cx="7680960" cy="731520"/>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본 보고서에 제시된 보험료, 보장 내용, 효과 분석 등은 가상의 사례를 기반으로 한 시뮬레이션입니다. 실제 계약 시에는 개별 고객의 조건과 보험사 심사, 제도 변화 등에 따라 모든 내용이 달라질 수 있습니다. 따라서 실제 상담 시에는 반드시 최신 약관과 상품설명서를 기준으로 정확한 내용을 안내하시기 바랍니다.</a:t>
            </a:r>
            <a:endParaRPr lang="en-US" sz="1050" dirty="0"/>
          </a:p>
        </p:txBody>
      </p:sp>
      <p:sp>
        <p:nvSpPr>
          <p:cNvPr id="9" name="Shape 7"/>
          <p:cNvSpPr/>
          <p:nvPr/>
        </p:nvSpPr>
        <p:spPr>
          <a:xfrm>
            <a:off x="548640" y="1892808"/>
            <a:ext cx="8046720" cy="12801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0" name="Shape 8"/>
          <p:cNvSpPr/>
          <p:nvPr/>
        </p:nvSpPr>
        <p:spPr>
          <a:xfrm>
            <a:off x="548640" y="1892808"/>
            <a:ext cx="54864" cy="1280160"/>
          </a:xfrm>
          <a:prstGeom prst="rect">
            <a:avLst/>
          </a:prstGeom>
          <a:solidFill>
            <a:srgbClr val="D4382C"/>
          </a:solidFill>
          <a:ln/>
        </p:spPr>
        <p:txBody>
          <a:bodyPr/>
          <a:lstStyle/>
          <a:p>
            <a:endParaRPr lang="ko-KR" altLang="en-US"/>
          </a:p>
        </p:txBody>
      </p:sp>
      <p:sp>
        <p:nvSpPr>
          <p:cNvPr id="11" name="Text 9"/>
          <p:cNvSpPr/>
          <p:nvPr/>
        </p:nvSpPr>
        <p:spPr>
          <a:xfrm>
            <a:off x="731520" y="1965960"/>
            <a:ext cx="7680960" cy="256032"/>
          </a:xfrm>
          <a:prstGeom prst="rect">
            <a:avLst/>
          </a:prstGeom>
          <a:noFill/>
          <a:ln/>
        </p:spPr>
        <p:txBody>
          <a:bodyPr wrap="square" lIns="0" tIns="0" rIns="0" bIns="0" rtlCol="0" anchor="ctr"/>
          <a:lstStyle/>
          <a:p>
            <a:pPr marL="0" indent="0" algn="l">
              <a:buNone/>
            </a:pPr>
            <a:r>
              <a:rPr lang="en-US" sz="1200" b="1" dirty="0">
                <a:solidFill>
                  <a:srgbClr val="1B2A4A"/>
                </a:solidFill>
                <a:latin typeface="맑은 고딕" pitchFamily="34" charset="0"/>
                <a:ea typeface="맑은 고딕" pitchFamily="34" charset="-122"/>
                <a:cs typeface="맑은 고딕" pitchFamily="34" charset="-120"/>
              </a:rPr>
              <a:t>보고서 안내</a:t>
            </a:r>
            <a:endParaRPr lang="en-US" sz="1200" dirty="0"/>
          </a:p>
        </p:txBody>
      </p:sp>
      <p:sp>
        <p:nvSpPr>
          <p:cNvPr id="12" name="Text 10"/>
          <p:cNvSpPr/>
          <p:nvPr/>
        </p:nvSpPr>
        <p:spPr>
          <a:xfrm>
            <a:off x="731520" y="2185416"/>
            <a:ext cx="7680960" cy="914400"/>
          </a:xfrm>
          <a:prstGeom prst="rect">
            <a:avLst/>
          </a:prstGeom>
          <a:noFill/>
          <a:ln/>
        </p:spPr>
        <p:txBody>
          <a:bodyPr wrap="square" lIns="0" tIns="0" rIns="0" bIns="0" rtlCol="0" anchor="t"/>
          <a:lstStyle/>
          <a:p>
            <a:pPr marL="0" indent="0" algn="l">
              <a:lnSpc>
                <a:spcPct val="120000"/>
              </a:lnSpc>
              <a:buNone/>
            </a:pPr>
            <a:r>
              <a:rPr lang="en-US" sz="1050" dirty="0">
                <a:solidFill>
                  <a:srgbClr val="2B2B2B"/>
                </a:solidFill>
                <a:latin typeface="맑은 고딕" pitchFamily="34" charset="0"/>
                <a:ea typeface="맑은 고딕" pitchFamily="34" charset="-122"/>
                <a:cs typeface="맑은 고딕" pitchFamily="34" charset="-120"/>
              </a:rPr>
              <a:t>본 보고서는 '이너서클 멤버십'과 '컨설턴트 홈페이지' 이용회원의 원활한 영업활동을 돕기 위해서 가상의 사례를 설정하여 '인공지능'을 통해 제작되었습니다. AI는 언제든지 오류가 있을 수 있으므로 참고용으로 사용하여 주시고, 실무 사용시 세법을 포함한 모든 규정, 제도들은 반드시 분야별 전문가와 충분히 상담을 하신 후 진행하시기 바랍니다. 사용에 따라 발생되는 문제에 대하여 제작처는 책임이 없음을 알려드립니다.</a:t>
            </a:r>
            <a:endParaRPr lang="en-US" sz="1050" dirty="0"/>
          </a:p>
        </p:txBody>
      </p:sp>
      <p:sp>
        <p:nvSpPr>
          <p:cNvPr id="13" name="Text 11"/>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[20대 첫 보험] 10년 후에도 해지하지 않을 실속설계</a:t>
            </a:r>
            <a:endParaRPr lang="en-US" sz="800" dirty="0"/>
          </a:p>
        </p:txBody>
      </p:sp>
      <p:sp>
        <p:nvSpPr>
          <p:cNvPr id="14" name="Text 12"/>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36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6016</Words>
  <Application>Microsoft Office PowerPoint</Application>
  <PresentationFormat>화면 슬라이드 쇼(16:9)</PresentationFormat>
  <Paragraphs>496</Paragraphs>
  <Slides>37</Slides>
  <Notes>37</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37</vt:i4>
      </vt:variant>
    </vt:vector>
  </HeadingPairs>
  <TitlesOfParts>
    <vt:vector size="41" baseType="lpstr">
      <vt:lpstr>맑은 고딕</vt:lpstr>
      <vt:lpstr>Arial</vt:lpstr>
      <vt:lpstr>Georgia</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컨설팅 특급보고서 - 20대 첫 보험 실속설계</dc:title>
  <dc:subject>PptxGenJS Presentation</dc:subject>
  <dc:creator>KFPC</dc:creator>
  <cp:lastModifiedBy>에프피센터 한국</cp:lastModifiedBy>
  <cp:revision>2</cp:revision>
  <dcterms:created xsi:type="dcterms:W3CDTF">2026-02-20T02:34:43Z</dcterms:created>
  <dcterms:modified xsi:type="dcterms:W3CDTF">2026-02-20T02:54:35Z</dcterms:modified>
</cp:coreProperties>
</file>