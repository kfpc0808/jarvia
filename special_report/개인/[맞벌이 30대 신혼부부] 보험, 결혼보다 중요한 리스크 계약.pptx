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551924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4389120"/>
            <a:ext cx="9144000" cy="754380"/>
          </a:xfrm>
          <a:prstGeom prst="rect">
            <a:avLst/>
          </a:prstGeom>
          <a:solidFill>
            <a:srgbClr val="C8962E"/>
          </a:solidFill>
          <a:ln w="12700">
            <a:solidFill>
              <a:srgbClr val="C8962E"/>
            </a:solidFill>
            <a:prstDash val="solid"/>
          </a:ln>
        </p:spPr>
        <p:txBody>
          <a:bodyPr/>
          <a:lstStyle/>
          <a:p>
            <a:endParaRPr lang="ko-KR" altLang="en-US"/>
          </a:p>
        </p:txBody>
      </p:sp>
      <p:sp>
        <p:nvSpPr>
          <p:cNvPr id="3" name="Text 1"/>
          <p:cNvSpPr/>
          <p:nvPr/>
        </p:nvSpPr>
        <p:spPr>
          <a:xfrm>
            <a:off x="731520" y="1097280"/>
            <a:ext cx="7680960" cy="731520"/>
          </a:xfrm>
          <a:prstGeom prst="rect">
            <a:avLst/>
          </a:prstGeom>
          <a:noFill/>
          <a:ln/>
        </p:spPr>
        <p:txBody>
          <a:bodyPr wrap="square" rtlCol="0" anchor="ctr"/>
          <a:lstStyle/>
          <a:p>
            <a:pPr marL="0" indent="0" algn="ctr">
              <a:buNone/>
            </a:pPr>
            <a:r>
              <a:rPr lang="en-US" sz="2200" b="1" dirty="0">
                <a:solidFill>
                  <a:srgbClr val="CBD5E1"/>
                </a:solidFill>
                <a:latin typeface="맑은 고딕" pitchFamily="34" charset="0"/>
                <a:ea typeface="맑은 고딕" pitchFamily="34" charset="-122"/>
                <a:cs typeface="맑은 고딕" pitchFamily="34" charset="-120"/>
              </a:rPr>
              <a:t>고객의 안정된 미래를 위한 재무안전망 구축</a:t>
            </a:r>
            <a:endParaRPr lang="en-US" sz="2200" dirty="0"/>
          </a:p>
        </p:txBody>
      </p:sp>
      <p:sp>
        <p:nvSpPr>
          <p:cNvPr id="4" name="Text 2"/>
          <p:cNvSpPr/>
          <p:nvPr/>
        </p:nvSpPr>
        <p:spPr>
          <a:xfrm>
            <a:off x="731520" y="1920240"/>
            <a:ext cx="7680960" cy="914400"/>
          </a:xfrm>
          <a:prstGeom prst="rect">
            <a:avLst/>
          </a:prstGeom>
          <a:noFill/>
          <a:ln/>
        </p:spPr>
        <p:txBody>
          <a:bodyPr wrap="square" rtlCol="0" anchor="ctr"/>
          <a:lstStyle/>
          <a:p>
            <a:pPr marL="0" indent="0" algn="ctr">
              <a:buNone/>
            </a:pPr>
            <a:r>
              <a:rPr lang="en-US" sz="3600" b="1" dirty="0">
                <a:solidFill>
                  <a:srgbClr val="C8962E"/>
                </a:solidFill>
                <a:latin typeface="맑은 고딕" pitchFamily="34" charset="0"/>
                <a:ea typeface="맑은 고딕" pitchFamily="34" charset="-122"/>
                <a:cs typeface="맑은 고딕" pitchFamily="34" charset="-120"/>
              </a:rPr>
              <a:t>『컨설팅 특급보고서』</a:t>
            </a:r>
            <a:endParaRPr lang="en-US" sz="3600" dirty="0"/>
          </a:p>
        </p:txBody>
      </p:sp>
      <p:sp>
        <p:nvSpPr>
          <p:cNvPr id="5" name="Text 3"/>
          <p:cNvSpPr/>
          <p:nvPr/>
        </p:nvSpPr>
        <p:spPr>
          <a:xfrm>
            <a:off x="731520" y="3017520"/>
            <a:ext cx="7680960" cy="548640"/>
          </a:xfrm>
          <a:prstGeom prst="rect">
            <a:avLst/>
          </a:prstGeom>
          <a:noFill/>
          <a:ln/>
        </p:spPr>
        <p:txBody>
          <a:bodyPr wrap="square" rtlCol="0" anchor="ctr"/>
          <a:lstStyle/>
          <a:p>
            <a:pPr marL="0" indent="0" algn="ctr">
              <a:buNone/>
            </a:pPr>
            <a:r>
              <a:rPr lang="en-US" sz="1600" dirty="0">
                <a:solidFill>
                  <a:srgbClr val="CBD5E1"/>
                </a:solidFill>
                <a:latin typeface="맑은 고딕" pitchFamily="34" charset="0"/>
                <a:ea typeface="맑은 고딕" pitchFamily="34" charset="-122"/>
                <a:cs typeface="맑은 고딕" pitchFamily="34" charset="-120"/>
              </a:rPr>
              <a:t>컨설팅 주제: [맞벌이 30대 신혼부부] 보험, 결혼보다 중요한 리스크 계약</a:t>
            </a:r>
            <a:endParaRPr lang="en-US" sz="1600" dirty="0"/>
          </a:p>
        </p:txBody>
      </p:sp>
      <p:sp>
        <p:nvSpPr>
          <p:cNvPr id="6" name="Text 4"/>
          <p:cNvSpPr/>
          <p:nvPr/>
        </p:nvSpPr>
        <p:spPr>
          <a:xfrm>
            <a:off x="731520" y="4434840"/>
            <a:ext cx="7680960" cy="274320"/>
          </a:xfrm>
          <a:prstGeom prst="rect">
            <a:avLst/>
          </a:prstGeom>
          <a:noFill/>
          <a:ln/>
        </p:spPr>
        <p:txBody>
          <a:bodyPr wrap="square" lIns="0" tIns="0" rIns="0" bIns="0" rtlCol="0" anchor="ctr"/>
          <a:lstStyle/>
          <a:p>
            <a:pPr marL="0" indent="0" algn="ctr">
              <a:buNone/>
            </a:pPr>
            <a:r>
              <a:rPr lang="en-US" sz="750" i="1" dirty="0">
                <a:solidFill>
                  <a:srgbClr val="1B2A4A"/>
                </a:solidFill>
                <a:latin typeface="맑은 고딕" pitchFamily="34" charset="0"/>
                <a:ea typeface="맑은 고딕" pitchFamily="34" charset="-122"/>
                <a:cs typeface="맑은 고딕" pitchFamily="34" charset="-120"/>
              </a:rPr>
              <a:t>본 자료는 AI를 활용하여 생성되었으며, 검증과정을 거쳤으나 참고용으로 사용하시기 바라며, 실무적용 시에는 분야별 전문가와 협의 후 사용하시기 바랍니다.</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01</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도입부</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맞춤형 컨설팅 특급보고서 — [맞벌이 30대 신혼부부] 보험, 결혼보다 중요한 리스크 계약</a:t>
            </a:r>
            <a:endParaRPr lang="en-US" sz="7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 / 21</a:t>
            </a:r>
            <a:endParaRPr lang="en-US" sz="800" dirty="0"/>
          </a:p>
        </p:txBody>
      </p:sp>
      <p:sp>
        <p:nvSpPr>
          <p:cNvPr id="7" name="Text 5"/>
          <p:cNvSpPr/>
          <p:nvPr/>
        </p:nvSpPr>
        <p:spPr>
          <a:xfrm>
            <a:off x="548640" y="777240"/>
            <a:ext cx="8046720" cy="3474720"/>
          </a:xfrm>
          <a:prstGeom prst="rect">
            <a:avLst/>
          </a:prstGeom>
          <a:noFill/>
          <a:ln/>
        </p:spPr>
        <p:txBody>
          <a:bodyPr wrap="square" lIns="25400" tIns="50800" rIns="50800" bIns="25400" rtlCol="0" anchor="t"/>
          <a:lstStyle/>
          <a:p>
            <a:pPr marL="0" indent="0" algn="l">
              <a:lnSpc>
                <a:spcPct val="150000"/>
              </a:lnSpc>
              <a:buNone/>
            </a:pPr>
            <a:r>
              <a:rPr lang="en-US" sz="1200" dirty="0">
                <a:solidFill>
                  <a:srgbClr val="4A5568"/>
                </a:solidFill>
                <a:latin typeface="맑은 고딕" pitchFamily="34" charset="0"/>
                <a:ea typeface="맑은 고딕" pitchFamily="34" charset="-122"/>
                <a:cs typeface="맑은 고딕" pitchFamily="34" charset="-120"/>
              </a:rPr>
              <a:t>안녕하십니까, 오늘 우리는 이제 막 새로운 시작을 알린 '30대 맞벌이 신혼부부'라는 가장 희망차면서도 동시에 가장 많은 불확실성에 노출된 고객층을 어떻게 컨설팅해야 할지에 대한 심도 있는 전략을 논의하고자 합니다. 결혼은 '사랑'이라는 감성적 계약이지만, 보험은 '리스크'라는 현실적 위협에 맞서는 '재무적 계약'입니다. 이 두 계약이 조화를 이룰 때, 비로소 가정은 안정이라는 반석 위에 설 수 있습니다. 오늘 이 보고서는 여러분이 고객의 단순한 보험 설계사를 넘어, 한 가정의 미래를 설계하는 '재무 아키텍트'로 거듭나는 데 필요한 특급 지도서가 될 것입니다.</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02</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 고객설정 및 고객의 재무상황 (1/3)</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맞춤형 컨설팅 특급보고서 — [맞벌이 30대 신혼부부] 보험, 결혼보다 중요한 리스크 계약</a:t>
            </a:r>
            <a:endParaRPr lang="en-US" sz="7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 / 21</a:t>
            </a:r>
            <a:endParaRPr lang="en-US" sz="800" dirty="0"/>
          </a:p>
        </p:txBody>
      </p:sp>
      <p:sp>
        <p:nvSpPr>
          <p:cNvPr id="7" name="Text 5"/>
          <p:cNvSpPr/>
          <p:nvPr/>
        </p:nvSpPr>
        <p:spPr>
          <a:xfrm>
            <a:off x="548640" y="685800"/>
            <a:ext cx="8046720" cy="457200"/>
          </a:xfrm>
          <a:prstGeom prst="rect">
            <a:avLst/>
          </a:prstGeom>
          <a:noFill/>
          <a:ln/>
        </p:spPr>
        <p:txBody>
          <a:bodyPr wrap="square" lIns="25400" tIns="50800" rIns="50800" bIns="25400" rtlCol="0" anchor="t"/>
          <a:lstStyle/>
          <a:p>
            <a:pPr marL="0" indent="0" algn="l">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컨설팅의 시작은 상품 설명이 아닌, 고객의 삶을 깊이 이해하는 것에서 출발해야 합니다. 고객의 서사를 이해할 때, 우리의 제안은 비로소 생명력을 얻습니다.</a:t>
            </a:r>
            <a:endParaRPr lang="en-US" sz="1000" dirty="0"/>
          </a:p>
        </p:txBody>
      </p:sp>
      <p:sp>
        <p:nvSpPr>
          <p:cNvPr id="8" name="Text 6"/>
          <p:cNvSpPr/>
          <p:nvPr/>
        </p:nvSpPr>
        <p:spPr>
          <a:xfrm>
            <a:off x="548640" y="1234440"/>
            <a:ext cx="8046720" cy="274320"/>
          </a:xfrm>
          <a:prstGeom prst="rect">
            <a:avLst/>
          </a:prstGeom>
          <a:noFill/>
          <a:ln/>
        </p:spPr>
        <p:txBody>
          <a:bodyPr wrap="square" lIns="25400" tIns="50800" rIns="50800" bIns="25400" rtlCol="0" anchor="t"/>
          <a:lstStyle/>
          <a:p>
            <a:pPr marL="0" indent="0" algn="l">
              <a:lnSpc>
                <a:spcPct val="115000"/>
              </a:lnSpc>
              <a:buNone/>
            </a:pPr>
            <a:r>
              <a:rPr lang="en-US" sz="1300" b="1" dirty="0">
                <a:solidFill>
                  <a:srgbClr val="1B2A4A"/>
                </a:solidFill>
                <a:latin typeface="맑은 고딕" pitchFamily="34" charset="0"/>
                <a:ea typeface="맑은 고딕" pitchFamily="34" charset="-122"/>
                <a:cs typeface="맑은 고딕" pitchFamily="34" charset="-120"/>
              </a:rPr>
              <a:t>1.1. 고객 프로파일 (Client Profile)</a:t>
            </a:r>
            <a:endParaRPr lang="en-US" sz="1300" dirty="0"/>
          </a:p>
        </p:txBody>
      </p:sp>
      <p:sp>
        <p:nvSpPr>
          <p:cNvPr id="9" name="Shape 7"/>
          <p:cNvSpPr/>
          <p:nvPr/>
        </p:nvSpPr>
        <p:spPr>
          <a:xfrm>
            <a:off x="548640" y="1600200"/>
            <a:ext cx="8046720" cy="123444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0" name="Shape 8"/>
          <p:cNvSpPr/>
          <p:nvPr/>
        </p:nvSpPr>
        <p:spPr>
          <a:xfrm>
            <a:off x="548640" y="1600200"/>
            <a:ext cx="54864" cy="1234440"/>
          </a:xfrm>
          <a:prstGeom prst="rect">
            <a:avLst/>
          </a:prstGeom>
          <a:solidFill>
            <a:srgbClr val="C8962E"/>
          </a:solidFill>
          <a:ln w="12700">
            <a:solidFill>
              <a:srgbClr val="C8962E"/>
            </a:solidFill>
            <a:prstDash val="solid"/>
          </a:ln>
        </p:spPr>
        <p:txBody>
          <a:bodyPr/>
          <a:lstStyle/>
          <a:p>
            <a:endParaRPr lang="ko-KR" altLang="en-US"/>
          </a:p>
        </p:txBody>
      </p:sp>
      <p:sp>
        <p:nvSpPr>
          <p:cNvPr id="11" name="Text 9"/>
          <p:cNvSpPr/>
          <p:nvPr/>
        </p:nvSpPr>
        <p:spPr>
          <a:xfrm>
            <a:off x="685800" y="1645920"/>
            <a:ext cx="7772400" cy="228600"/>
          </a:xfrm>
          <a:prstGeom prst="rect">
            <a:avLst/>
          </a:prstGeom>
          <a:noFill/>
          <a:ln/>
        </p:spPr>
        <p:txBody>
          <a:bodyPr wrap="square" lIns="25400" tIns="50800" rIns="50800" bIns="25400" rtlCol="0" anchor="t"/>
          <a:lstStyle/>
          <a:p>
            <a:pPr marL="0" indent="0" algn="l">
              <a:lnSpc>
                <a:spcPct val="115000"/>
              </a:lnSpc>
              <a:buNone/>
            </a:pPr>
            <a:r>
              <a:rPr lang="en-US" sz="1050" b="1" dirty="0">
                <a:solidFill>
                  <a:srgbClr val="2B2B2B"/>
                </a:solidFill>
                <a:latin typeface="맑은 고딕" pitchFamily="34" charset="0"/>
                <a:ea typeface="맑은 고딕" pitchFamily="34" charset="-122"/>
                <a:cs typeface="맑은 고딕" pitchFamily="34" charset="-120"/>
              </a:rPr>
              <a:t>1.1.1. 기본 정보</a:t>
            </a:r>
            <a:endParaRPr lang="en-US" sz="1050" dirty="0"/>
          </a:p>
        </p:txBody>
      </p:sp>
      <p:sp>
        <p:nvSpPr>
          <p:cNvPr id="12" name="Text 10"/>
          <p:cNvSpPr/>
          <p:nvPr/>
        </p:nvSpPr>
        <p:spPr>
          <a:xfrm>
            <a:off x="685800" y="1874520"/>
            <a:ext cx="7772400" cy="411480"/>
          </a:xfrm>
          <a:prstGeom prst="rect">
            <a:avLst/>
          </a:prstGeom>
          <a:noFill/>
          <a:ln/>
        </p:spPr>
        <p:txBody>
          <a:bodyPr wrap="square" lIns="25400" tIns="50800" rIns="50800" bIns="25400" rtlCol="0" anchor="t"/>
          <a:lstStyle/>
          <a:p>
            <a:pPr marL="0" indent="0" algn="l">
              <a:lnSpc>
                <a:spcPct val="115000"/>
              </a:lnSpc>
              <a:buNone/>
            </a:pPr>
            <a:r>
              <a:rPr lang="en-US" sz="950" b="1" dirty="0">
                <a:solidFill>
                  <a:srgbClr val="2B2B2B"/>
                </a:solidFill>
                <a:latin typeface="맑은 고딕" pitchFamily="34" charset="0"/>
                <a:ea typeface="맑은 고딕" pitchFamily="34" charset="-122"/>
                <a:cs typeface="맑은 고딕" pitchFamily="34" charset="-120"/>
              </a:rPr>
              <a:t>• 남편: </a:t>
            </a:r>
            <a:r>
              <a:rPr lang="en-US" sz="950" dirty="0">
                <a:solidFill>
                  <a:srgbClr val="2B2B2B"/>
                </a:solidFill>
                <a:latin typeface="맑은 고딕" pitchFamily="34" charset="0"/>
                <a:ea typeface="맑은 고딕" pitchFamily="34" charset="-122"/>
                <a:cs typeface="맑은 고딕" pitchFamily="34" charset="-120"/>
              </a:rPr>
              <a:t>김민준 (만 34세), IT 대기업 8년차 개발자. 논리적이고 데이터 기반의 의사결정을 선호. 주중에는 업무 강도가 높아 주말에는 주로 집에서 휴식하거나 아내와 근교 드라이브를 즐김.</a:t>
            </a:r>
            <a:endParaRPr lang="en-US" sz="950" dirty="0"/>
          </a:p>
        </p:txBody>
      </p:sp>
      <p:sp>
        <p:nvSpPr>
          <p:cNvPr id="13" name="Text 11"/>
          <p:cNvSpPr/>
          <p:nvPr/>
        </p:nvSpPr>
        <p:spPr>
          <a:xfrm>
            <a:off x="685800" y="2286000"/>
            <a:ext cx="7772400" cy="411480"/>
          </a:xfrm>
          <a:prstGeom prst="rect">
            <a:avLst/>
          </a:prstGeom>
          <a:noFill/>
          <a:ln/>
        </p:spPr>
        <p:txBody>
          <a:bodyPr wrap="square" lIns="25400" tIns="50800" rIns="50800" bIns="25400" rtlCol="0" anchor="t"/>
          <a:lstStyle/>
          <a:p>
            <a:pPr marL="0" indent="0" algn="l">
              <a:lnSpc>
                <a:spcPct val="115000"/>
              </a:lnSpc>
              <a:buNone/>
            </a:pPr>
            <a:r>
              <a:rPr lang="en-US" sz="950" b="1" dirty="0">
                <a:solidFill>
                  <a:srgbClr val="2B2B2B"/>
                </a:solidFill>
                <a:latin typeface="맑은 고딕" pitchFamily="34" charset="0"/>
                <a:ea typeface="맑은 고딕" pitchFamily="34" charset="-122"/>
                <a:cs typeface="맑은 고딕" pitchFamily="34" charset="-120"/>
              </a:rPr>
              <a:t>• 아내: </a:t>
            </a:r>
            <a:r>
              <a:rPr lang="en-US" sz="950" dirty="0">
                <a:solidFill>
                  <a:srgbClr val="2B2B2B"/>
                </a:solidFill>
                <a:latin typeface="맑은 고딕" pitchFamily="34" charset="0"/>
                <a:ea typeface="맑은 고딕" pitchFamily="34" charset="-122"/>
                <a:cs typeface="맑은 고딕" pitchFamily="34" charset="-120"/>
              </a:rPr>
              <a:t>이지은 (만 32세), 소비재 대기업 6년차 마케팅 매니저. 트렌드에 민감하고 장기적인 관점의 계획 수립을 즐김. 재테크와 자기계발에 관심이 많음.</a:t>
            </a:r>
            <a:endParaRPr lang="en-US" sz="950" dirty="0"/>
          </a:p>
        </p:txBody>
      </p:sp>
      <p:sp>
        <p:nvSpPr>
          <p:cNvPr id="14" name="Shape 12"/>
          <p:cNvSpPr/>
          <p:nvPr/>
        </p:nvSpPr>
        <p:spPr>
          <a:xfrm>
            <a:off x="548640" y="2971800"/>
            <a:ext cx="8046720" cy="987552"/>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5" name="Shape 13"/>
          <p:cNvSpPr/>
          <p:nvPr/>
        </p:nvSpPr>
        <p:spPr>
          <a:xfrm>
            <a:off x="548640" y="2971800"/>
            <a:ext cx="54864" cy="987552"/>
          </a:xfrm>
          <a:prstGeom prst="rect">
            <a:avLst/>
          </a:prstGeom>
          <a:solidFill>
            <a:srgbClr val="C8962E"/>
          </a:solidFill>
          <a:ln w="12700">
            <a:solidFill>
              <a:srgbClr val="C8962E"/>
            </a:solidFill>
            <a:prstDash val="solid"/>
          </a:ln>
        </p:spPr>
        <p:txBody>
          <a:bodyPr/>
          <a:lstStyle/>
          <a:p>
            <a:endParaRPr lang="ko-KR" altLang="en-US"/>
          </a:p>
        </p:txBody>
      </p:sp>
      <p:sp>
        <p:nvSpPr>
          <p:cNvPr id="16" name="Text 14"/>
          <p:cNvSpPr/>
          <p:nvPr/>
        </p:nvSpPr>
        <p:spPr>
          <a:xfrm>
            <a:off x="685800" y="3017520"/>
            <a:ext cx="7772400" cy="228600"/>
          </a:xfrm>
          <a:prstGeom prst="rect">
            <a:avLst/>
          </a:prstGeom>
          <a:noFill/>
          <a:ln/>
        </p:spPr>
        <p:txBody>
          <a:bodyPr wrap="square" lIns="25400" tIns="50800" rIns="50800" bIns="25400" rtlCol="0" anchor="t"/>
          <a:lstStyle/>
          <a:p>
            <a:pPr marL="0" indent="0" algn="l">
              <a:lnSpc>
                <a:spcPct val="115000"/>
              </a:lnSpc>
              <a:buNone/>
            </a:pPr>
            <a:r>
              <a:rPr lang="en-US" sz="1050" b="1" dirty="0">
                <a:solidFill>
                  <a:srgbClr val="2B2B2B"/>
                </a:solidFill>
                <a:latin typeface="맑은 고딕" pitchFamily="34" charset="0"/>
                <a:ea typeface="맑은 고딕" pitchFamily="34" charset="-122"/>
                <a:cs typeface="맑은 고딕" pitchFamily="34" charset="-120"/>
              </a:rPr>
              <a:t>1.1.2. 가족 구성 및 관계</a:t>
            </a:r>
            <a:endParaRPr lang="en-US" sz="1050" dirty="0"/>
          </a:p>
        </p:txBody>
      </p:sp>
      <p:sp>
        <p:nvSpPr>
          <p:cNvPr id="17" name="Text 15"/>
          <p:cNvSpPr/>
          <p:nvPr/>
        </p:nvSpPr>
        <p:spPr>
          <a:xfrm>
            <a:off x="685800" y="3246120"/>
            <a:ext cx="7772400" cy="548640"/>
          </a:xfrm>
          <a:prstGeom prst="rect">
            <a:avLst/>
          </a:prstGeom>
          <a:noFill/>
          <a:ln/>
        </p:spPr>
        <p:txBody>
          <a:bodyPr wrap="square" lIns="25400" tIns="50800" rIns="50800" bIns="25400" rtlCol="0" anchor="t"/>
          <a:lstStyle/>
          <a:p>
            <a:pPr marL="0" indent="0" algn="l">
              <a:lnSpc>
                <a:spcPct val="115000"/>
              </a:lnSpc>
              <a:buNone/>
            </a:pPr>
            <a:r>
              <a:rPr lang="en-US" sz="950" dirty="0">
                <a:solidFill>
                  <a:srgbClr val="2B2B2B"/>
                </a:solidFill>
                <a:latin typeface="맑은 고딕" pitchFamily="34" charset="0"/>
                <a:ea typeface="맑은 고딕" pitchFamily="34" charset="-122"/>
                <a:cs typeface="맑은 고딕" pitchFamily="34" charset="-120"/>
              </a:rPr>
              <a:t>• 결혼 6개월 차 신혼부부.</a:t>
            </a:r>
            <a:endParaRPr lang="en-US" sz="950" dirty="0"/>
          </a:p>
          <a:p>
            <a:pPr marL="0" indent="0" algn="l">
              <a:lnSpc>
                <a:spcPct val="115000"/>
              </a:lnSpc>
              <a:buNone/>
            </a:pPr>
            <a:r>
              <a:rPr lang="en-US" sz="950" dirty="0">
                <a:solidFill>
                  <a:srgbClr val="2B2B2B"/>
                </a:solidFill>
                <a:latin typeface="맑은 고딕" pitchFamily="34" charset="0"/>
                <a:ea typeface="맑은 고딕" pitchFamily="34" charset="-122"/>
                <a:cs typeface="맑은 고딕" pitchFamily="34" charset="-120"/>
              </a:rPr>
              <a:t>• 양가 부모님은 모두 경제적으로 독립된 상태.</a:t>
            </a:r>
            <a:endParaRPr lang="en-US" sz="950" dirty="0"/>
          </a:p>
          <a:p>
            <a:pPr marL="0" indent="0" algn="l">
              <a:lnSpc>
                <a:spcPct val="115000"/>
              </a:lnSpc>
              <a:buNone/>
            </a:pPr>
            <a:r>
              <a:rPr lang="en-US" sz="950" dirty="0">
                <a:solidFill>
                  <a:srgbClr val="2B2B2B"/>
                </a:solidFill>
                <a:latin typeface="맑은 고딕" pitchFamily="34" charset="0"/>
                <a:ea typeface="맑은 고딕" pitchFamily="34" charset="-122"/>
                <a:cs typeface="맑은 고딕" pitchFamily="34" charset="-120"/>
              </a:rPr>
              <a:t>• 1~2년 내 자녀 출산 계획을 가지고 있음.</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03</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 고객설정 및 고객의 재무상황 (2/3)</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맞춤형 컨설팅 특급보고서 — [맞벌이 30대 신혼부부] 보험, 결혼보다 중요한 리스크 계약</a:t>
            </a:r>
            <a:endParaRPr lang="en-US" sz="7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3 / 21</a:t>
            </a:r>
            <a:endParaRPr lang="en-US" sz="800" dirty="0"/>
          </a:p>
        </p:txBody>
      </p:sp>
      <p:sp>
        <p:nvSpPr>
          <p:cNvPr id="7" name="Text 5"/>
          <p:cNvSpPr/>
          <p:nvPr/>
        </p:nvSpPr>
        <p:spPr>
          <a:xfrm>
            <a:off x="548640" y="685800"/>
            <a:ext cx="8046720" cy="274320"/>
          </a:xfrm>
          <a:prstGeom prst="rect">
            <a:avLst/>
          </a:prstGeom>
          <a:noFill/>
          <a:ln/>
        </p:spPr>
        <p:txBody>
          <a:bodyPr wrap="square" lIns="25400" tIns="50800" rIns="50800" bIns="25400" rtlCol="0" anchor="t"/>
          <a:lstStyle/>
          <a:p>
            <a:pPr marL="0" indent="0" algn="l">
              <a:lnSpc>
                <a:spcPct val="115000"/>
              </a:lnSpc>
              <a:buNone/>
            </a:pPr>
            <a:r>
              <a:rPr lang="en-US" sz="1300" b="1" dirty="0">
                <a:solidFill>
                  <a:srgbClr val="1B2A4A"/>
                </a:solidFill>
                <a:latin typeface="맑은 고딕" pitchFamily="34" charset="0"/>
                <a:ea typeface="맑은 고딕" pitchFamily="34" charset="-122"/>
                <a:cs typeface="맑은 고딕" pitchFamily="34" charset="-120"/>
              </a:rPr>
              <a:t>1.2. 현재의 재무 흐름 분석 (Financial Flow Analysis)</a:t>
            </a:r>
            <a:endParaRPr lang="en-US" sz="1300" dirty="0"/>
          </a:p>
        </p:txBody>
      </p:sp>
      <p:sp>
        <p:nvSpPr>
          <p:cNvPr id="8" name="Shape 6"/>
          <p:cNvSpPr/>
          <p:nvPr/>
        </p:nvSpPr>
        <p:spPr>
          <a:xfrm>
            <a:off x="548640" y="1051560"/>
            <a:ext cx="3794760" cy="10972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548640" y="1051560"/>
            <a:ext cx="54864" cy="1097280"/>
          </a:xfrm>
          <a:prstGeom prst="rect">
            <a:avLst/>
          </a:prstGeom>
          <a:solidFill>
            <a:srgbClr val="C8962E"/>
          </a:solidFill>
          <a:ln w="12700">
            <a:solidFill>
              <a:srgbClr val="C8962E"/>
            </a:solidFill>
            <a:prstDash val="solid"/>
          </a:ln>
        </p:spPr>
        <p:txBody>
          <a:bodyPr/>
          <a:lstStyle/>
          <a:p>
            <a:endParaRPr lang="ko-KR" altLang="en-US"/>
          </a:p>
        </p:txBody>
      </p:sp>
      <p:sp>
        <p:nvSpPr>
          <p:cNvPr id="10" name="Text 8"/>
          <p:cNvSpPr/>
          <p:nvPr/>
        </p:nvSpPr>
        <p:spPr>
          <a:xfrm>
            <a:off x="685800" y="1097280"/>
            <a:ext cx="3566160" cy="201168"/>
          </a:xfrm>
          <a:prstGeom prst="rect">
            <a:avLst/>
          </a:prstGeom>
          <a:noFill/>
          <a:ln/>
        </p:spPr>
        <p:txBody>
          <a:bodyPr wrap="square" lIns="25400" tIns="50800" rIns="50800" bIns="25400" rtlCol="0" anchor="t"/>
          <a:lstStyle/>
          <a:p>
            <a:pPr marL="0" indent="0" algn="l">
              <a:lnSpc>
                <a:spcPct val="115000"/>
              </a:lnSpc>
              <a:buNone/>
            </a:pPr>
            <a:r>
              <a:rPr lang="en-US" sz="1000" b="1" dirty="0">
                <a:solidFill>
                  <a:srgbClr val="2B2B2B"/>
                </a:solidFill>
                <a:latin typeface="맑은 고딕" pitchFamily="34" charset="0"/>
                <a:ea typeface="맑은 고딕" pitchFamily="34" charset="-122"/>
                <a:cs typeface="맑은 고딕" pitchFamily="34" charset="-120"/>
              </a:rPr>
              <a:t>1.2.1. 월/연간 수입 구조</a:t>
            </a:r>
            <a:endParaRPr lang="en-US" sz="1050" dirty="0"/>
          </a:p>
        </p:txBody>
      </p:sp>
      <p:sp>
        <p:nvSpPr>
          <p:cNvPr id="11" name="Text 9"/>
          <p:cNvSpPr/>
          <p:nvPr/>
        </p:nvSpPr>
        <p:spPr>
          <a:xfrm>
            <a:off x="685800" y="1325880"/>
            <a:ext cx="3566160" cy="777240"/>
          </a:xfrm>
          <a:prstGeom prst="rect">
            <a:avLst/>
          </a:prstGeom>
          <a:noFill/>
          <a:ln/>
        </p:spPr>
        <p:txBody>
          <a:bodyPr wrap="square" lIns="25400" tIns="50800" rIns="50800" bIns="25400" rtlCol="0" anchor="t"/>
          <a:lstStyle/>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 남편(김민준): 세후 월 500만원 (연 6,000만원)</a:t>
            </a:r>
            <a:endParaRPr lang="en-US" sz="900" dirty="0"/>
          </a:p>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 아내(이지은): 세후 월 420만원 (연 5,040만원)</a:t>
            </a:r>
            <a:endParaRPr lang="en-US" sz="900" dirty="0"/>
          </a:p>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 합산 소득: 세후 월 920만원 (연 1억 1,040만원)</a:t>
            </a:r>
            <a:endParaRPr lang="en-US" sz="900" dirty="0"/>
          </a:p>
        </p:txBody>
      </p:sp>
      <p:sp>
        <p:nvSpPr>
          <p:cNvPr id="12" name="Shape 10"/>
          <p:cNvSpPr/>
          <p:nvPr/>
        </p:nvSpPr>
        <p:spPr>
          <a:xfrm>
            <a:off x="4800600" y="1051560"/>
            <a:ext cx="3794760" cy="10972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4800600" y="1051560"/>
            <a:ext cx="54864" cy="1097280"/>
          </a:xfrm>
          <a:prstGeom prst="rect">
            <a:avLst/>
          </a:prstGeom>
          <a:solidFill>
            <a:srgbClr val="C8962E"/>
          </a:solidFill>
          <a:ln w="12700">
            <a:solidFill>
              <a:srgbClr val="C8962E"/>
            </a:solidFill>
            <a:prstDash val="solid"/>
          </a:ln>
        </p:spPr>
        <p:txBody>
          <a:bodyPr/>
          <a:lstStyle/>
          <a:p>
            <a:endParaRPr lang="ko-KR" altLang="en-US"/>
          </a:p>
        </p:txBody>
      </p:sp>
      <p:sp>
        <p:nvSpPr>
          <p:cNvPr id="14" name="Text 12"/>
          <p:cNvSpPr/>
          <p:nvPr/>
        </p:nvSpPr>
        <p:spPr>
          <a:xfrm>
            <a:off x="4937760" y="1097280"/>
            <a:ext cx="3566160" cy="201168"/>
          </a:xfrm>
          <a:prstGeom prst="rect">
            <a:avLst/>
          </a:prstGeom>
          <a:noFill/>
          <a:ln/>
        </p:spPr>
        <p:txBody>
          <a:bodyPr wrap="square" lIns="25400" tIns="50800" rIns="50800" bIns="25400" rtlCol="0" anchor="t"/>
          <a:lstStyle/>
          <a:p>
            <a:pPr marL="0" indent="0" algn="l">
              <a:lnSpc>
                <a:spcPct val="115000"/>
              </a:lnSpc>
              <a:buNone/>
            </a:pPr>
            <a:r>
              <a:rPr lang="en-US" sz="1000" b="1" dirty="0">
                <a:solidFill>
                  <a:srgbClr val="2B2B2B"/>
                </a:solidFill>
                <a:latin typeface="맑은 고딕" pitchFamily="34" charset="0"/>
                <a:ea typeface="맑은 고딕" pitchFamily="34" charset="-122"/>
                <a:cs typeface="맑은 고딕" pitchFamily="34" charset="-120"/>
              </a:rPr>
              <a:t>1.2.3. 순자산 현황</a:t>
            </a:r>
            <a:endParaRPr lang="en-US" sz="1050" dirty="0"/>
          </a:p>
        </p:txBody>
      </p:sp>
      <p:sp>
        <p:nvSpPr>
          <p:cNvPr id="15" name="Text 13"/>
          <p:cNvSpPr/>
          <p:nvPr/>
        </p:nvSpPr>
        <p:spPr>
          <a:xfrm>
            <a:off x="4937760" y="1325880"/>
            <a:ext cx="3566160" cy="777240"/>
          </a:xfrm>
          <a:prstGeom prst="rect">
            <a:avLst/>
          </a:prstGeom>
          <a:noFill/>
          <a:ln/>
        </p:spPr>
        <p:txBody>
          <a:bodyPr wrap="square" lIns="25400" tIns="50800" rIns="50800" bIns="25400" rtlCol="0" anchor="t"/>
          <a:lstStyle/>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 총자산 (약 4.5억원): 전세보증금 3.5억원, 예적금 6,000만원, 주식/펀드 4,000만원</a:t>
            </a:r>
            <a:endParaRPr lang="en-US" sz="900" dirty="0"/>
          </a:p>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 총부채 (약 1.8억원): 전세자금대출 1.8억원</a:t>
            </a:r>
            <a:endParaRPr lang="en-US" sz="900" dirty="0"/>
          </a:p>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 순자산: 약 2.7억원</a:t>
            </a:r>
            <a:endParaRPr lang="en-US" sz="900" dirty="0"/>
          </a:p>
        </p:txBody>
      </p:sp>
      <p:sp>
        <p:nvSpPr>
          <p:cNvPr id="16" name="Shape 14"/>
          <p:cNvSpPr/>
          <p:nvPr/>
        </p:nvSpPr>
        <p:spPr>
          <a:xfrm>
            <a:off x="548640" y="2286000"/>
            <a:ext cx="8046720" cy="146304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7" name="Shape 15"/>
          <p:cNvSpPr/>
          <p:nvPr/>
        </p:nvSpPr>
        <p:spPr>
          <a:xfrm>
            <a:off x="548640" y="2286000"/>
            <a:ext cx="54864" cy="1463040"/>
          </a:xfrm>
          <a:prstGeom prst="rect">
            <a:avLst/>
          </a:prstGeom>
          <a:solidFill>
            <a:srgbClr val="C8962E"/>
          </a:solidFill>
          <a:ln w="12700">
            <a:solidFill>
              <a:srgbClr val="C8962E"/>
            </a:solidFill>
            <a:prstDash val="solid"/>
          </a:ln>
        </p:spPr>
        <p:txBody>
          <a:bodyPr/>
          <a:lstStyle/>
          <a:p>
            <a:endParaRPr lang="ko-KR" altLang="en-US"/>
          </a:p>
        </p:txBody>
      </p:sp>
      <p:sp>
        <p:nvSpPr>
          <p:cNvPr id="18" name="Text 16"/>
          <p:cNvSpPr/>
          <p:nvPr/>
        </p:nvSpPr>
        <p:spPr>
          <a:xfrm>
            <a:off x="685800" y="2331720"/>
            <a:ext cx="7772400" cy="201168"/>
          </a:xfrm>
          <a:prstGeom prst="rect">
            <a:avLst/>
          </a:prstGeom>
          <a:noFill/>
          <a:ln/>
        </p:spPr>
        <p:txBody>
          <a:bodyPr wrap="square" lIns="25400" tIns="50800" rIns="50800" bIns="25400" rtlCol="0" anchor="t"/>
          <a:lstStyle/>
          <a:p>
            <a:pPr marL="0" indent="0" algn="l">
              <a:lnSpc>
                <a:spcPct val="115000"/>
              </a:lnSpc>
              <a:buNone/>
            </a:pPr>
            <a:r>
              <a:rPr lang="en-US" sz="1000" b="1" dirty="0">
                <a:solidFill>
                  <a:srgbClr val="2B2B2B"/>
                </a:solidFill>
                <a:latin typeface="맑은 고딕" pitchFamily="34" charset="0"/>
                <a:ea typeface="맑은 고딕" pitchFamily="34" charset="-122"/>
                <a:cs typeface="맑은 고딕" pitchFamily="34" charset="-120"/>
              </a:rPr>
              <a:t>1.2.2. 월/연간 지출 구조</a:t>
            </a:r>
            <a:endParaRPr lang="en-US" sz="1050" dirty="0"/>
          </a:p>
        </p:txBody>
      </p:sp>
      <p:sp>
        <p:nvSpPr>
          <p:cNvPr id="19" name="Text 17"/>
          <p:cNvSpPr/>
          <p:nvPr/>
        </p:nvSpPr>
        <p:spPr>
          <a:xfrm>
            <a:off x="685800" y="2560320"/>
            <a:ext cx="7772400" cy="457200"/>
          </a:xfrm>
          <a:prstGeom prst="rect">
            <a:avLst/>
          </a:prstGeom>
          <a:noFill/>
          <a:ln/>
        </p:spPr>
        <p:txBody>
          <a:bodyPr wrap="square" lIns="25400" tIns="50800" rIns="50800" bIns="25400" rtlCol="0" anchor="t"/>
          <a:lstStyle/>
          <a:p>
            <a:pPr marL="0" indent="0" algn="l">
              <a:lnSpc>
                <a:spcPct val="115000"/>
              </a:lnSpc>
              <a:buNone/>
            </a:pPr>
            <a:r>
              <a:rPr lang="en-US" sz="900" b="1" dirty="0">
                <a:solidFill>
                  <a:srgbClr val="2B2B2B"/>
                </a:solidFill>
                <a:latin typeface="맑은 고딕" pitchFamily="34" charset="0"/>
                <a:ea typeface="맑은 고딕" pitchFamily="34" charset="-122"/>
                <a:cs typeface="맑은 고딕" pitchFamily="34" charset="-120"/>
              </a:rPr>
              <a:t>• 고정지출 (월 450만원): </a:t>
            </a:r>
            <a:r>
              <a:rPr lang="en-US" sz="900" dirty="0">
                <a:solidFill>
                  <a:srgbClr val="2B2B2B"/>
                </a:solidFill>
                <a:latin typeface="맑은 고딕" pitchFamily="34" charset="0"/>
                <a:ea typeface="맑은 고딕" pitchFamily="34" charset="-122"/>
                <a:cs typeface="맑은 고딕" pitchFamily="34" charset="-120"/>
              </a:rPr>
              <a:t>전세자금대출 원리금 120만원, 관리비 및 공과금 40만원, 통신비 15만원, 교통/유류비 40만원, 보험료(부부 합산) 55만원, 양가 용돈 80만원, 모임/경조사비 100만원</a:t>
            </a:r>
            <a:endParaRPr lang="en-US" sz="900" dirty="0"/>
          </a:p>
        </p:txBody>
      </p:sp>
      <p:sp>
        <p:nvSpPr>
          <p:cNvPr id="20" name="Text 18"/>
          <p:cNvSpPr/>
          <p:nvPr/>
        </p:nvSpPr>
        <p:spPr>
          <a:xfrm>
            <a:off x="685800" y="3017520"/>
            <a:ext cx="7772400" cy="228600"/>
          </a:xfrm>
          <a:prstGeom prst="rect">
            <a:avLst/>
          </a:prstGeom>
          <a:noFill/>
          <a:ln/>
        </p:spPr>
        <p:txBody>
          <a:bodyPr wrap="square" lIns="25400" tIns="50800" rIns="50800" bIns="25400" rtlCol="0" anchor="t"/>
          <a:lstStyle/>
          <a:p>
            <a:pPr marL="0" indent="0" algn="l">
              <a:lnSpc>
                <a:spcPct val="115000"/>
              </a:lnSpc>
              <a:buNone/>
            </a:pPr>
            <a:r>
              <a:rPr lang="en-US" sz="900" b="1" dirty="0">
                <a:solidFill>
                  <a:srgbClr val="2B2B2B"/>
                </a:solidFill>
                <a:latin typeface="맑은 고딕" pitchFamily="34" charset="0"/>
                <a:ea typeface="맑은 고딕" pitchFamily="34" charset="-122"/>
                <a:cs typeface="맑은 고딕" pitchFamily="34" charset="-120"/>
              </a:rPr>
              <a:t>• 변동지출 (월 250만원): </a:t>
            </a:r>
            <a:r>
              <a:rPr lang="en-US" sz="900" dirty="0">
                <a:solidFill>
                  <a:srgbClr val="2B2B2B"/>
                </a:solidFill>
                <a:latin typeface="맑은 고딕" pitchFamily="34" charset="0"/>
                <a:ea typeface="맑은 고딕" pitchFamily="34" charset="-122"/>
                <a:cs typeface="맑은 고딕" pitchFamily="34" charset="-120"/>
              </a:rPr>
              <a:t>식비, 외식비, 쇼핑, 문화생활 등</a:t>
            </a:r>
            <a:endParaRPr lang="en-US" sz="900" dirty="0"/>
          </a:p>
        </p:txBody>
      </p:sp>
      <p:sp>
        <p:nvSpPr>
          <p:cNvPr id="21" name="Text 19"/>
          <p:cNvSpPr/>
          <p:nvPr/>
        </p:nvSpPr>
        <p:spPr>
          <a:xfrm>
            <a:off x="685800" y="3246120"/>
            <a:ext cx="7772400" cy="228600"/>
          </a:xfrm>
          <a:prstGeom prst="rect">
            <a:avLst/>
          </a:prstGeom>
          <a:noFill/>
          <a:ln/>
        </p:spPr>
        <p:txBody>
          <a:bodyPr wrap="square" lIns="25400" tIns="50800" rIns="50800" bIns="25400" rtlCol="0" anchor="t"/>
          <a:lstStyle/>
          <a:p>
            <a:pPr marL="0" indent="0" algn="l">
              <a:lnSpc>
                <a:spcPct val="115000"/>
              </a:lnSpc>
              <a:buNone/>
            </a:pPr>
            <a:r>
              <a:rPr lang="en-US" sz="900" b="1" dirty="0">
                <a:solidFill>
                  <a:srgbClr val="2B2B2B"/>
                </a:solidFill>
                <a:latin typeface="맑은 고딕" pitchFamily="34" charset="0"/>
                <a:ea typeface="맑은 고딕" pitchFamily="34" charset="-122"/>
                <a:cs typeface="맑은 고딕" pitchFamily="34" charset="-120"/>
              </a:rPr>
              <a:t>• 월 저축/투자 (220만원): </a:t>
            </a:r>
            <a:r>
              <a:rPr lang="en-US" sz="900" dirty="0">
                <a:solidFill>
                  <a:srgbClr val="2B2B2B"/>
                </a:solidFill>
                <a:latin typeface="맑은 고딕" pitchFamily="34" charset="0"/>
                <a:ea typeface="맑은 고딕" pitchFamily="34" charset="-122"/>
                <a:cs typeface="맑은 고딕" pitchFamily="34" charset="-120"/>
              </a:rPr>
              <a:t>주택청약, 예적금, 주식 투자 등</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04</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 고객설정 및 고객의 재무상황 (3/3)</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맞춤형 컨설팅 특급보고서 — [맞벌이 30대 신혼부부] 보험, 결혼보다 중요한 리스크 계약</a:t>
            </a:r>
            <a:endParaRPr lang="en-US" sz="7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4 / 21</a:t>
            </a:r>
            <a:endParaRPr lang="en-US" sz="800" dirty="0"/>
          </a:p>
        </p:txBody>
      </p:sp>
      <p:sp>
        <p:nvSpPr>
          <p:cNvPr id="7" name="Text 5"/>
          <p:cNvSpPr/>
          <p:nvPr/>
        </p:nvSpPr>
        <p:spPr>
          <a:xfrm>
            <a:off x="548640" y="685800"/>
            <a:ext cx="8046720" cy="274320"/>
          </a:xfrm>
          <a:prstGeom prst="rect">
            <a:avLst/>
          </a:prstGeom>
          <a:noFill/>
          <a:ln/>
        </p:spPr>
        <p:txBody>
          <a:bodyPr wrap="square" lIns="25400" tIns="50800" rIns="50800" bIns="25400" rtlCol="0" anchor="t"/>
          <a:lstStyle/>
          <a:p>
            <a:pPr marL="0" indent="0" algn="l">
              <a:lnSpc>
                <a:spcPct val="115000"/>
              </a:lnSpc>
              <a:buNone/>
            </a:pPr>
            <a:r>
              <a:rPr lang="en-US" sz="1300" b="1" dirty="0">
                <a:solidFill>
                  <a:srgbClr val="1B2A4A"/>
                </a:solidFill>
                <a:latin typeface="맑은 고딕" pitchFamily="34" charset="0"/>
                <a:ea typeface="맑은 고딕" pitchFamily="34" charset="-122"/>
                <a:cs typeface="맑은 고딕" pitchFamily="34" charset="-120"/>
              </a:rPr>
              <a:t>1.3. 고객님의 인생 목표 및 소망 (Life &amp; Financial Goals)</a:t>
            </a:r>
            <a:endParaRPr lang="en-US" sz="1300" dirty="0"/>
          </a:p>
        </p:txBody>
      </p:sp>
      <p:sp>
        <p:nvSpPr>
          <p:cNvPr id="8" name="Shape 6"/>
          <p:cNvSpPr/>
          <p:nvPr/>
        </p:nvSpPr>
        <p:spPr>
          <a:xfrm>
            <a:off x="548640" y="1051560"/>
            <a:ext cx="8046720" cy="8229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548640" y="1051560"/>
            <a:ext cx="54864" cy="822960"/>
          </a:xfrm>
          <a:prstGeom prst="rect">
            <a:avLst/>
          </a:prstGeom>
          <a:solidFill>
            <a:srgbClr val="C8962E"/>
          </a:solidFill>
          <a:ln w="12700">
            <a:solidFill>
              <a:srgbClr val="C8962E"/>
            </a:solidFill>
            <a:prstDash val="solid"/>
          </a:ln>
        </p:spPr>
        <p:txBody>
          <a:bodyPr/>
          <a:lstStyle/>
          <a:p>
            <a:endParaRPr lang="ko-KR" altLang="en-US"/>
          </a:p>
        </p:txBody>
      </p:sp>
      <p:sp>
        <p:nvSpPr>
          <p:cNvPr id="10" name="Text 8"/>
          <p:cNvSpPr/>
          <p:nvPr/>
        </p:nvSpPr>
        <p:spPr>
          <a:xfrm>
            <a:off x="685800" y="1139081"/>
            <a:ext cx="7772400" cy="822960"/>
          </a:xfrm>
          <a:prstGeom prst="rect">
            <a:avLst/>
          </a:prstGeom>
          <a:noFill/>
          <a:ln/>
        </p:spPr>
        <p:txBody>
          <a:bodyPr wrap="square" lIns="25400" tIns="50800" rIns="50800" bIns="25400" rtlCol="0" anchor="t"/>
          <a:lstStyle/>
          <a:p>
            <a:pPr marL="0" indent="0" algn="l">
              <a:lnSpc>
                <a:spcPct val="115000"/>
              </a:lnSpc>
              <a:buNone/>
            </a:pPr>
            <a:r>
              <a:rPr lang="en-US" sz="950" b="1" dirty="0">
                <a:solidFill>
                  <a:srgbClr val="2B2B2B"/>
                </a:solidFill>
                <a:latin typeface="맑은 고딕" pitchFamily="34" charset="0"/>
                <a:ea typeface="맑은 고딕" pitchFamily="34" charset="-122"/>
                <a:cs typeface="맑은 고딕" pitchFamily="34" charset="-120"/>
              </a:rPr>
              <a:t>단기 목표 (1~3년): </a:t>
            </a:r>
            <a:r>
              <a:rPr lang="en-US" sz="950" dirty="0">
                <a:solidFill>
                  <a:srgbClr val="2B2B2B"/>
                </a:solidFill>
                <a:latin typeface="맑은 고딕" pitchFamily="34" charset="0"/>
                <a:ea typeface="맑은 고딕" pitchFamily="34" charset="-122"/>
                <a:cs typeface="맑은 고딕" pitchFamily="34" charset="-120"/>
              </a:rPr>
              <a:t>자녀 출산 및 양육 준비, 2년 후 현재 전셋집 계약 만료 시 대출을 활용한 '내 집 마련'.
</a:t>
            </a:r>
            <a:r>
              <a:rPr lang="en-US" sz="950" b="1" dirty="0">
                <a:solidFill>
                  <a:srgbClr val="2B2B2B"/>
                </a:solidFill>
                <a:latin typeface="맑은 고딕" pitchFamily="34" charset="0"/>
                <a:ea typeface="맑은 고딕" pitchFamily="34" charset="-122"/>
                <a:cs typeface="맑은 고딕" pitchFamily="34" charset="-120"/>
              </a:rPr>
              <a:t>중기 목표 (3~10년): </a:t>
            </a:r>
            <a:r>
              <a:rPr lang="en-US" sz="950" dirty="0">
                <a:solidFill>
                  <a:srgbClr val="2B2B2B"/>
                </a:solidFill>
                <a:latin typeface="맑은 고딕" pitchFamily="34" charset="0"/>
                <a:ea typeface="맑은 고딕" pitchFamily="34" charset="-122"/>
                <a:cs typeface="맑은 고딕" pitchFamily="34" charset="-120"/>
              </a:rPr>
              <a:t>자녀 교육자금 마련 기반 구축, 차량 교체.
</a:t>
            </a:r>
            <a:r>
              <a:rPr lang="en-US" sz="950" b="1" dirty="0">
                <a:solidFill>
                  <a:srgbClr val="2B2B2B"/>
                </a:solidFill>
                <a:latin typeface="맑은 고딕" pitchFamily="34" charset="0"/>
                <a:ea typeface="맑은 고딕" pitchFamily="34" charset="-122"/>
                <a:cs typeface="맑은 고딕" pitchFamily="34" charset="-120"/>
              </a:rPr>
              <a:t>장기 목표 (10년 이상): </a:t>
            </a:r>
            <a:r>
              <a:rPr lang="en-US" sz="950" dirty="0">
                <a:solidFill>
                  <a:srgbClr val="2B2B2B"/>
                </a:solidFill>
                <a:latin typeface="맑은 고딕" pitchFamily="34" charset="0"/>
                <a:ea typeface="맑은 고딕" pitchFamily="34" charset="-122"/>
                <a:cs typeface="맑은 고딕" pitchFamily="34" charset="-120"/>
              </a:rPr>
              <a:t>안정적인 자산 증식을 통한 경제적 자유, 여유로운 노후 생활.</a:t>
            </a:r>
            <a:endParaRPr lang="en-US" sz="950" dirty="0"/>
          </a:p>
        </p:txBody>
      </p:sp>
      <p:sp>
        <p:nvSpPr>
          <p:cNvPr id="11" name="Text 9"/>
          <p:cNvSpPr/>
          <p:nvPr/>
        </p:nvSpPr>
        <p:spPr>
          <a:xfrm>
            <a:off x="548640" y="2103120"/>
            <a:ext cx="8046720" cy="274320"/>
          </a:xfrm>
          <a:prstGeom prst="rect">
            <a:avLst/>
          </a:prstGeom>
          <a:noFill/>
          <a:ln/>
        </p:spPr>
        <p:txBody>
          <a:bodyPr wrap="square" lIns="25400" tIns="50800" rIns="50800" bIns="25400" rtlCol="0" anchor="t"/>
          <a:lstStyle/>
          <a:p>
            <a:pPr marL="0" indent="0" algn="l">
              <a:lnSpc>
                <a:spcPct val="115000"/>
              </a:lnSpc>
              <a:buNone/>
            </a:pPr>
            <a:r>
              <a:rPr lang="en-US" sz="1300" b="1" dirty="0">
                <a:solidFill>
                  <a:srgbClr val="1B2A4A"/>
                </a:solidFill>
                <a:latin typeface="맑은 고딕" pitchFamily="34" charset="0"/>
                <a:ea typeface="맑은 고딕" pitchFamily="34" charset="-122"/>
                <a:cs typeface="맑은 고딕" pitchFamily="34" charset="-120"/>
              </a:rPr>
              <a:t>1.4. 생애 리스크 및 기회 요인 분석 (Life-cycle Risk &amp; Opportunity)</a:t>
            </a:r>
            <a:endParaRPr lang="en-US" sz="1300" dirty="0"/>
          </a:p>
        </p:txBody>
      </p:sp>
      <p:sp>
        <p:nvSpPr>
          <p:cNvPr id="12" name="Shape 10"/>
          <p:cNvSpPr/>
          <p:nvPr/>
        </p:nvSpPr>
        <p:spPr>
          <a:xfrm>
            <a:off x="548640" y="2468880"/>
            <a:ext cx="8046720" cy="2035193"/>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548640" y="2468880"/>
            <a:ext cx="54864" cy="2035193"/>
          </a:xfrm>
          <a:prstGeom prst="rect">
            <a:avLst/>
          </a:prstGeom>
          <a:solidFill>
            <a:srgbClr val="C8962E"/>
          </a:solidFill>
          <a:ln w="12700">
            <a:solidFill>
              <a:srgbClr val="C8962E"/>
            </a:solidFill>
            <a:prstDash val="solid"/>
          </a:ln>
        </p:spPr>
        <p:txBody>
          <a:bodyPr/>
          <a:lstStyle/>
          <a:p>
            <a:endParaRPr lang="ko-KR" altLang="en-US"/>
          </a:p>
        </p:txBody>
      </p:sp>
      <p:sp>
        <p:nvSpPr>
          <p:cNvPr id="14" name="Text 12"/>
          <p:cNvSpPr/>
          <p:nvPr/>
        </p:nvSpPr>
        <p:spPr>
          <a:xfrm>
            <a:off x="685800" y="2587099"/>
            <a:ext cx="7772400" cy="201168"/>
          </a:xfrm>
          <a:prstGeom prst="rect">
            <a:avLst/>
          </a:prstGeom>
          <a:noFill/>
          <a:ln/>
        </p:spPr>
        <p:txBody>
          <a:bodyPr wrap="square" lIns="25400" tIns="50800" rIns="50800" bIns="25400" rtlCol="0" anchor="t"/>
          <a:lstStyle/>
          <a:p>
            <a:pPr marL="0" indent="0" algn="l">
              <a:lnSpc>
                <a:spcPct val="115000"/>
              </a:lnSpc>
              <a:buNone/>
            </a:pPr>
            <a:r>
              <a:rPr lang="en-US" sz="1000" b="1" dirty="0">
                <a:solidFill>
                  <a:srgbClr val="2B2B2B"/>
                </a:solidFill>
                <a:latin typeface="맑은 고딕" pitchFamily="34" charset="0"/>
                <a:ea typeface="맑은 고딕" pitchFamily="34" charset="-122"/>
                <a:cs typeface="맑은 고딕" pitchFamily="34" charset="-120"/>
              </a:rPr>
              <a:t>현재 연령대의 핵심 리스크:</a:t>
            </a:r>
            <a:endParaRPr lang="en-US" sz="1000" dirty="0"/>
          </a:p>
        </p:txBody>
      </p:sp>
      <p:sp>
        <p:nvSpPr>
          <p:cNvPr id="15" name="Text 13"/>
          <p:cNvSpPr/>
          <p:nvPr/>
        </p:nvSpPr>
        <p:spPr>
          <a:xfrm>
            <a:off x="685800" y="2797411"/>
            <a:ext cx="7772400" cy="457200"/>
          </a:xfrm>
          <a:prstGeom prst="rect">
            <a:avLst/>
          </a:prstGeom>
          <a:noFill/>
          <a:ln/>
        </p:spPr>
        <p:txBody>
          <a:bodyPr wrap="square" lIns="25400" tIns="50800" rIns="50800" bIns="25400" rtlCol="0" anchor="t"/>
          <a:lstStyle/>
          <a:p>
            <a:pPr marL="0" indent="0" algn="l">
              <a:lnSpc>
                <a:spcPct val="115000"/>
              </a:lnSpc>
              <a:buNone/>
            </a:pPr>
            <a:r>
              <a:rPr lang="en-US" sz="900" b="1" dirty="0">
                <a:solidFill>
                  <a:srgbClr val="2B2B2B"/>
                </a:solidFill>
                <a:latin typeface="맑은 고딕" pitchFamily="34" charset="0"/>
                <a:ea typeface="맑은 고딕" pitchFamily="34" charset="-122"/>
                <a:cs typeface="맑은 고딕" pitchFamily="34" charset="-120"/>
              </a:rPr>
              <a:t>  • 소득 상실: </a:t>
            </a:r>
            <a:r>
              <a:rPr lang="en-US" sz="900" dirty="0">
                <a:solidFill>
                  <a:srgbClr val="2B2B2B"/>
                </a:solidFill>
                <a:latin typeface="맑은 고딕" pitchFamily="34" charset="0"/>
                <a:ea typeface="맑은 고딕" pitchFamily="34" charset="-122"/>
                <a:cs typeface="맑은 고딕" pitchFamily="34" charset="-120"/>
              </a:rPr>
              <a:t>부부 중 한 명이라도 질병(암, 뇌/심장 질환)이나 상해로 경제 활동이 중단될 경우, 대출 상환 및 생활비 유지에 치명타. 현재 소득 수준이 높아 리스크 발생 시 타격이 더욱 큼.</a:t>
            </a:r>
            <a:endParaRPr lang="en-US" sz="900" dirty="0"/>
          </a:p>
        </p:txBody>
      </p:sp>
      <p:sp>
        <p:nvSpPr>
          <p:cNvPr id="16" name="Text 14"/>
          <p:cNvSpPr/>
          <p:nvPr/>
        </p:nvSpPr>
        <p:spPr>
          <a:xfrm>
            <a:off x="685800" y="3254611"/>
            <a:ext cx="7772400" cy="320040"/>
          </a:xfrm>
          <a:prstGeom prst="rect">
            <a:avLst/>
          </a:prstGeom>
          <a:noFill/>
          <a:ln/>
        </p:spPr>
        <p:txBody>
          <a:bodyPr wrap="square" lIns="25400" tIns="50800" rIns="50800" bIns="25400" rtlCol="0" anchor="t"/>
          <a:lstStyle/>
          <a:p>
            <a:pPr marL="0" indent="0" algn="l">
              <a:lnSpc>
                <a:spcPct val="115000"/>
              </a:lnSpc>
              <a:buNone/>
            </a:pPr>
            <a:r>
              <a:rPr lang="en-US" sz="900" b="1" dirty="0">
                <a:solidFill>
                  <a:srgbClr val="2B2B2B"/>
                </a:solidFill>
                <a:latin typeface="맑은 고딕" pitchFamily="34" charset="0"/>
                <a:ea typeface="맑은 고딕" pitchFamily="34" charset="-122"/>
                <a:cs typeface="맑은 고딕" pitchFamily="34" charset="-120"/>
              </a:rPr>
              <a:t>  • 출산 관련 리스크: </a:t>
            </a:r>
            <a:r>
              <a:rPr lang="en-US" sz="900" dirty="0">
                <a:solidFill>
                  <a:srgbClr val="2B2B2B"/>
                </a:solidFill>
                <a:latin typeface="맑은 고딕" pitchFamily="34" charset="0"/>
                <a:ea typeface="맑은 고딕" pitchFamily="34" charset="-122"/>
                <a:cs typeface="맑은 고딕" pitchFamily="34" charset="-120"/>
              </a:rPr>
              <a:t>임신/출산 과정에서의 의료비 증가, 인큐베이터 이용 등 예상치 못한 지출.</a:t>
            </a:r>
            <a:endParaRPr lang="en-US" sz="900" dirty="0"/>
          </a:p>
        </p:txBody>
      </p:sp>
      <p:sp>
        <p:nvSpPr>
          <p:cNvPr id="17" name="Text 15"/>
          <p:cNvSpPr/>
          <p:nvPr/>
        </p:nvSpPr>
        <p:spPr>
          <a:xfrm>
            <a:off x="685800" y="3638659"/>
            <a:ext cx="7772400" cy="320040"/>
          </a:xfrm>
          <a:prstGeom prst="rect">
            <a:avLst/>
          </a:prstGeom>
          <a:noFill/>
          <a:ln/>
        </p:spPr>
        <p:txBody>
          <a:bodyPr wrap="square" lIns="25400" tIns="50800" rIns="50800" bIns="25400" rtlCol="0" anchor="t"/>
          <a:lstStyle/>
          <a:p>
            <a:pPr marL="0" indent="0" algn="l">
              <a:lnSpc>
                <a:spcPct val="115000"/>
              </a:lnSpc>
              <a:buNone/>
            </a:pPr>
            <a:r>
              <a:rPr lang="en-US" sz="900" b="1" dirty="0">
                <a:solidFill>
                  <a:srgbClr val="2B2B2B"/>
                </a:solidFill>
                <a:latin typeface="맑은 고딕" pitchFamily="34" charset="0"/>
                <a:ea typeface="맑은 고딕" pitchFamily="34" charset="-122"/>
                <a:cs typeface="맑은 고딕" pitchFamily="34" charset="-120"/>
              </a:rPr>
              <a:t>미래에 닥쳐올 예상 리스크: </a:t>
            </a:r>
            <a:r>
              <a:rPr lang="en-US" sz="900" dirty="0">
                <a:solidFill>
                  <a:srgbClr val="2B2B2B"/>
                </a:solidFill>
                <a:latin typeface="맑은 고딕" pitchFamily="34" charset="0"/>
                <a:ea typeface="맑은 고딕" pitchFamily="34" charset="-122"/>
                <a:cs typeface="맑은 고딕" pitchFamily="34" charset="-120"/>
              </a:rPr>
              <a:t>40~50대 암, 뇌/심장질환 발병률 급증, 60대 이후 간병비 및 노후 의료비 부담.</a:t>
            </a:r>
            <a:endParaRPr lang="en-US" sz="900" dirty="0"/>
          </a:p>
        </p:txBody>
      </p:sp>
      <p:sp>
        <p:nvSpPr>
          <p:cNvPr id="18" name="Text 16"/>
          <p:cNvSpPr/>
          <p:nvPr/>
        </p:nvSpPr>
        <p:spPr>
          <a:xfrm>
            <a:off x="685800" y="4004419"/>
            <a:ext cx="7772400" cy="365760"/>
          </a:xfrm>
          <a:prstGeom prst="rect">
            <a:avLst/>
          </a:prstGeom>
          <a:noFill/>
          <a:ln/>
        </p:spPr>
        <p:txBody>
          <a:bodyPr wrap="square" lIns="25400" tIns="50800" rIns="50800" bIns="25400" rtlCol="0" anchor="t"/>
          <a:lstStyle/>
          <a:p>
            <a:pPr marL="0" indent="0" algn="l">
              <a:lnSpc>
                <a:spcPct val="115000"/>
              </a:lnSpc>
              <a:buNone/>
            </a:pPr>
            <a:r>
              <a:rPr lang="en-US" sz="900" b="1" dirty="0">
                <a:solidFill>
                  <a:srgbClr val="2B2B2B"/>
                </a:solidFill>
                <a:latin typeface="맑은 고딕" pitchFamily="34" charset="0"/>
                <a:ea typeface="맑은 고딕" pitchFamily="34" charset="-122"/>
                <a:cs typeface="맑은 고딕" pitchFamily="34" charset="-120"/>
              </a:rPr>
              <a:t>자산 증식의 기회 요인: </a:t>
            </a:r>
            <a:r>
              <a:rPr lang="en-US" sz="900" dirty="0">
                <a:solidFill>
                  <a:srgbClr val="2B2B2B"/>
                </a:solidFill>
                <a:latin typeface="맑은 고딕" pitchFamily="34" charset="0"/>
                <a:ea typeface="맑은 고딕" pitchFamily="34" charset="-122"/>
                <a:cs typeface="맑은 고딕" pitchFamily="34" charset="-120"/>
              </a:rPr>
              <a:t>맞벌이로 인한 높은 저축 여력. 적극적인 재무 계획 수립 시 '내 집 마련' 및 '자녀 교육' 목표 조기 달성 가능.</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05</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II. 제안서 요약 (1/2)</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맞춤형 컨설팅 특급보고서 — [맞벌이 30대 신혼부부] 보험, 결혼보다 중요한 리스크 계약</a:t>
            </a:r>
            <a:endParaRPr lang="en-US" sz="7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5 / 21</a:t>
            </a:r>
            <a:endParaRPr lang="en-US" sz="800" dirty="0"/>
          </a:p>
        </p:txBody>
      </p:sp>
      <p:sp>
        <p:nvSpPr>
          <p:cNvPr id="7" name="Shape 5"/>
          <p:cNvSpPr/>
          <p:nvPr/>
        </p:nvSpPr>
        <p:spPr>
          <a:xfrm>
            <a:off x="548640" y="685800"/>
            <a:ext cx="8046720" cy="1559052"/>
          </a:xfrm>
          <a:prstGeom prst="rect">
            <a:avLst/>
          </a:prstGeom>
          <a:solidFill>
            <a:srgbClr val="EEF2F7"/>
          </a:solidFill>
          <a:ln/>
          <a:effectLst>
            <a:outerShdw blurRad="50800" dist="25400" dir="8100000" algn="bl" rotWithShape="0">
              <a:srgbClr val="000000">
                <a:alpha val="10000"/>
              </a:srgbClr>
            </a:outerShdw>
          </a:effectLst>
        </p:spPr>
        <p:txBody>
          <a:bodyPr/>
          <a:lstStyle/>
          <a:p>
            <a:endParaRPr lang="ko-KR" altLang="en-US"/>
          </a:p>
        </p:txBody>
      </p:sp>
      <p:sp>
        <p:nvSpPr>
          <p:cNvPr id="8" name="Shape 6"/>
          <p:cNvSpPr/>
          <p:nvPr/>
        </p:nvSpPr>
        <p:spPr>
          <a:xfrm>
            <a:off x="548640" y="685800"/>
            <a:ext cx="54864" cy="1559052"/>
          </a:xfrm>
          <a:prstGeom prst="rect">
            <a:avLst/>
          </a:prstGeom>
          <a:solidFill>
            <a:srgbClr val="C8962E"/>
          </a:solidFill>
          <a:ln w="12700">
            <a:solidFill>
              <a:srgbClr val="C8962E"/>
            </a:solidFill>
            <a:prstDash val="solid"/>
          </a:ln>
        </p:spPr>
        <p:txBody>
          <a:bodyPr/>
          <a:lstStyle/>
          <a:p>
            <a:endParaRPr lang="ko-KR" altLang="en-US"/>
          </a:p>
        </p:txBody>
      </p:sp>
      <p:sp>
        <p:nvSpPr>
          <p:cNvPr id="9" name="Text 7"/>
          <p:cNvSpPr/>
          <p:nvPr/>
        </p:nvSpPr>
        <p:spPr>
          <a:xfrm>
            <a:off x="685800" y="731520"/>
            <a:ext cx="7772400" cy="228600"/>
          </a:xfrm>
          <a:prstGeom prst="rect">
            <a:avLst/>
          </a:prstGeom>
          <a:noFill/>
          <a:ln/>
        </p:spPr>
        <p:txBody>
          <a:bodyPr wrap="square" lIns="25400" tIns="50800" rIns="50800" bIns="25400" rtlCol="0" anchor="t"/>
          <a:lstStyle/>
          <a:p>
            <a:pPr marL="0" indent="0" algn="l">
              <a:lnSpc>
                <a:spcPct val="115000"/>
              </a:lnSpc>
              <a:buNone/>
            </a:pPr>
            <a:r>
              <a:rPr lang="en-US" sz="1050" b="1" dirty="0">
                <a:solidFill>
                  <a:srgbClr val="1B2A4A"/>
                </a:solidFill>
                <a:latin typeface="맑은 고딕" pitchFamily="34" charset="0"/>
                <a:ea typeface="맑은 고딕" pitchFamily="34" charset="-122"/>
                <a:cs typeface="맑은 고딕" pitchFamily="34" charset="-120"/>
              </a:rPr>
              <a:t>고객님의 현재 상황과 미래의 기회:</a:t>
            </a:r>
            <a:endParaRPr lang="en-US" sz="1050" dirty="0"/>
          </a:p>
        </p:txBody>
      </p:sp>
      <p:sp>
        <p:nvSpPr>
          <p:cNvPr id="10" name="Text 8"/>
          <p:cNvSpPr/>
          <p:nvPr/>
        </p:nvSpPr>
        <p:spPr>
          <a:xfrm>
            <a:off x="685800" y="960120"/>
            <a:ext cx="7772400" cy="457200"/>
          </a:xfrm>
          <a:prstGeom prst="rect">
            <a:avLst/>
          </a:prstGeom>
          <a:noFill/>
          <a:ln/>
        </p:spPr>
        <p:txBody>
          <a:bodyPr wrap="square" lIns="25400" tIns="50800" rIns="50800" bIns="2540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두 분은 연 1억원이 넘는 안정적인 소득과 명확한 미래 계획을 가진, 높은 잠재력의 가정입니다. 하지만 현재의 재무 구조는 얘기치 못한 질병이나 사고 발생 시, 그 기반이 송두리째 흔들릴 수 있는 '보장 공백' 상태에 놓여 있습니다.</a:t>
            </a:r>
            <a:endParaRPr lang="en-US" sz="1000" dirty="0"/>
          </a:p>
        </p:txBody>
      </p:sp>
      <p:sp>
        <p:nvSpPr>
          <p:cNvPr id="11" name="Text 9"/>
          <p:cNvSpPr/>
          <p:nvPr/>
        </p:nvSpPr>
        <p:spPr>
          <a:xfrm>
            <a:off x="685800" y="1463040"/>
            <a:ext cx="7772400" cy="228600"/>
          </a:xfrm>
          <a:prstGeom prst="rect">
            <a:avLst/>
          </a:prstGeom>
          <a:noFill/>
          <a:ln/>
        </p:spPr>
        <p:txBody>
          <a:bodyPr wrap="square" lIns="25400" tIns="50800" rIns="50800" bIns="25400" rtlCol="0" anchor="t"/>
          <a:lstStyle/>
          <a:p>
            <a:pPr marL="0" indent="0" algn="l">
              <a:lnSpc>
                <a:spcPct val="115000"/>
              </a:lnSpc>
              <a:buNone/>
            </a:pPr>
            <a:r>
              <a:rPr lang="en-US" sz="1050" b="1" dirty="0">
                <a:solidFill>
                  <a:srgbClr val="1B2A4A"/>
                </a:solidFill>
                <a:latin typeface="맑은 고딕" pitchFamily="34" charset="0"/>
                <a:ea typeface="맑은 고딕" pitchFamily="34" charset="-122"/>
                <a:cs typeface="맑은 고딕" pitchFamily="34" charset="-120"/>
              </a:rPr>
              <a:t>우리가 발견한 핵심 재무과제 (Financial Key-Issue):</a:t>
            </a:r>
            <a:endParaRPr lang="en-US" sz="1050" dirty="0"/>
          </a:p>
        </p:txBody>
      </p:sp>
      <p:sp>
        <p:nvSpPr>
          <p:cNvPr id="12" name="Text 10"/>
          <p:cNvSpPr/>
          <p:nvPr/>
        </p:nvSpPr>
        <p:spPr>
          <a:xfrm>
            <a:off x="685800" y="1691640"/>
            <a:ext cx="7772400" cy="411480"/>
          </a:xfrm>
          <a:prstGeom prst="rect">
            <a:avLst/>
          </a:prstGeom>
          <a:noFill/>
          <a:ln/>
        </p:spPr>
        <p:txBody>
          <a:bodyPr wrap="square" lIns="25400" tIns="50800" rIns="50800" bIns="2540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각자 가입한 보험은 '하나의 가정'이라는 관점에서 시너지를 내지 못하고 있습니다. 불필요한 보장에 보험료가 새고 있으며, 정작 두 분의 소득을 지켜줄 핵심적인 3대 질병 진단금과 후유장해 보장은 턱없이 부족합니다.</a:t>
            </a:r>
            <a:endParaRPr lang="en-US" sz="1000" dirty="0"/>
          </a:p>
        </p:txBody>
      </p:sp>
      <p:sp>
        <p:nvSpPr>
          <p:cNvPr id="13" name="Shape 11"/>
          <p:cNvSpPr/>
          <p:nvPr/>
        </p:nvSpPr>
        <p:spPr>
          <a:xfrm>
            <a:off x="548640" y="2434262"/>
            <a:ext cx="8046720" cy="1749117"/>
          </a:xfrm>
          <a:prstGeom prst="rect">
            <a:avLst/>
          </a:prstGeom>
          <a:solidFill>
            <a:srgbClr val="EEF2F7"/>
          </a:solidFill>
          <a:ln/>
          <a:effectLst>
            <a:outerShdw blurRad="50800" dist="25400" dir="8100000" algn="bl" rotWithShape="0">
              <a:srgbClr val="000000">
                <a:alpha val="10000"/>
              </a:srgbClr>
            </a:outerShdw>
          </a:effectLst>
        </p:spPr>
        <p:txBody>
          <a:bodyPr/>
          <a:lstStyle/>
          <a:p>
            <a:endParaRPr lang="ko-KR" altLang="en-US"/>
          </a:p>
        </p:txBody>
      </p:sp>
      <p:sp>
        <p:nvSpPr>
          <p:cNvPr id="14" name="Shape 12"/>
          <p:cNvSpPr/>
          <p:nvPr/>
        </p:nvSpPr>
        <p:spPr>
          <a:xfrm>
            <a:off x="548640" y="2434262"/>
            <a:ext cx="54864" cy="1749117"/>
          </a:xfrm>
          <a:prstGeom prst="rect">
            <a:avLst/>
          </a:prstGeom>
          <a:solidFill>
            <a:srgbClr val="C8962E"/>
          </a:solidFill>
          <a:ln w="12700">
            <a:solidFill>
              <a:srgbClr val="C8962E"/>
            </a:solidFill>
            <a:prstDash val="solid"/>
          </a:ln>
        </p:spPr>
        <p:txBody>
          <a:bodyPr/>
          <a:lstStyle/>
          <a:p>
            <a:endParaRPr lang="ko-KR" altLang="en-US"/>
          </a:p>
        </p:txBody>
      </p:sp>
      <p:sp>
        <p:nvSpPr>
          <p:cNvPr id="15" name="Text 13"/>
          <p:cNvSpPr/>
          <p:nvPr/>
        </p:nvSpPr>
        <p:spPr>
          <a:xfrm>
            <a:off x="685800" y="2479983"/>
            <a:ext cx="7772400" cy="228600"/>
          </a:xfrm>
          <a:prstGeom prst="rect">
            <a:avLst/>
          </a:prstGeom>
          <a:noFill/>
          <a:ln/>
        </p:spPr>
        <p:txBody>
          <a:bodyPr wrap="square" lIns="25400" tIns="50800" rIns="50800" bIns="25400" rtlCol="0" anchor="t"/>
          <a:lstStyle/>
          <a:p>
            <a:pPr marL="0" indent="0" algn="l">
              <a:lnSpc>
                <a:spcPct val="115000"/>
              </a:lnSpc>
              <a:buNone/>
            </a:pPr>
            <a:r>
              <a:rPr lang="en-US" sz="1050" b="1" dirty="0">
                <a:solidFill>
                  <a:srgbClr val="1B2A4A"/>
                </a:solidFill>
                <a:latin typeface="맑은 고딕" pitchFamily="34" charset="0"/>
                <a:ea typeface="맑은 고딕" pitchFamily="34" charset="-122"/>
                <a:cs typeface="맑은 고딕" pitchFamily="34" charset="-120"/>
              </a:rPr>
              <a:t>오늘 우리가 세울 핵심 해결책 (Solution):</a:t>
            </a:r>
            <a:endParaRPr lang="en-US" sz="1050" dirty="0"/>
          </a:p>
        </p:txBody>
      </p:sp>
      <p:sp>
        <p:nvSpPr>
          <p:cNvPr id="16" name="Text 14"/>
          <p:cNvSpPr/>
          <p:nvPr/>
        </p:nvSpPr>
        <p:spPr>
          <a:xfrm>
            <a:off x="685800" y="2708583"/>
            <a:ext cx="7772400" cy="548640"/>
          </a:xfrm>
          <a:prstGeom prst="rect">
            <a:avLst/>
          </a:prstGeom>
          <a:noFill/>
          <a:ln/>
        </p:spPr>
        <p:txBody>
          <a:bodyPr wrap="square" lIns="25400" tIns="50800" rIns="50800" bIns="2540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'빼기, 더하기, 바꾸기' 3단계 전략을 통해 비효율적인 보험료 지출을 막고, 그 재원으로 부부에게 꼭 필요한 핵심 보장을 채워 넣겠습니다. 단기적인 보장을 넘어, 평생 든든한 비갱신형 위주의 포트폴리오로 전환하여 미래의 보험료 인상 리스크까지 차단합니다.</a:t>
            </a:r>
            <a:endParaRPr lang="en-US" sz="1000" dirty="0"/>
          </a:p>
        </p:txBody>
      </p:sp>
      <p:sp>
        <p:nvSpPr>
          <p:cNvPr id="17" name="Text 15"/>
          <p:cNvSpPr/>
          <p:nvPr/>
        </p:nvSpPr>
        <p:spPr>
          <a:xfrm>
            <a:off x="685800" y="3257223"/>
            <a:ext cx="7772400" cy="228600"/>
          </a:xfrm>
          <a:prstGeom prst="rect">
            <a:avLst/>
          </a:prstGeom>
          <a:noFill/>
          <a:ln/>
        </p:spPr>
        <p:txBody>
          <a:bodyPr wrap="square" lIns="25400" tIns="50800" rIns="50800" bIns="25400" rtlCol="0" anchor="t"/>
          <a:lstStyle/>
          <a:p>
            <a:pPr marL="0" indent="0" algn="l">
              <a:lnSpc>
                <a:spcPct val="115000"/>
              </a:lnSpc>
              <a:buNone/>
            </a:pPr>
            <a:r>
              <a:rPr lang="en-US" sz="1050" b="1" dirty="0">
                <a:solidFill>
                  <a:srgbClr val="1B2A4A"/>
                </a:solidFill>
                <a:latin typeface="맑은 고딕" pitchFamily="34" charset="0"/>
                <a:ea typeface="맑은 고딕" pitchFamily="34" charset="-122"/>
                <a:cs typeface="맑은 고딕" pitchFamily="34" charset="-120"/>
              </a:rPr>
              <a:t>이 제안이 가져올 고객님 가정의 행복한 변화:</a:t>
            </a:r>
            <a:endParaRPr lang="en-US" sz="1050" dirty="0"/>
          </a:p>
        </p:txBody>
      </p:sp>
      <p:sp>
        <p:nvSpPr>
          <p:cNvPr id="18" name="Text 16"/>
          <p:cNvSpPr/>
          <p:nvPr/>
        </p:nvSpPr>
        <p:spPr>
          <a:xfrm>
            <a:off x="685800" y="3485823"/>
            <a:ext cx="7772400" cy="411480"/>
          </a:xfrm>
          <a:prstGeom prst="rect">
            <a:avLst/>
          </a:prstGeom>
          <a:noFill/>
          <a:ln/>
        </p:spPr>
        <p:txBody>
          <a:bodyPr wrap="square" lIns="25400" tIns="50800" rIns="50800" bIns="25400" rtlCol="0" anchor="t"/>
          <a:lstStyle/>
          <a:p>
            <a:pPr marL="0" indent="0" algn="l">
              <a:lnSpc>
                <a:spcPct val="115000"/>
              </a:lnSpc>
              <a:buNone/>
            </a:pPr>
            <a:r>
              <a:rPr lang="en-US" sz="1000" dirty="0">
                <a:solidFill>
                  <a:srgbClr val="2B2B2B"/>
                </a:solidFill>
                <a:latin typeface="맑은 고딕" pitchFamily="34" charset="0"/>
                <a:ea typeface="맑은 고딕" pitchFamily="34" charset="-122"/>
                <a:cs typeface="맑은 고딕" pitchFamily="34" charset="-120"/>
              </a:rPr>
              <a:t>월 보험료 부담은 합리적으로 줄이면서, 미래에 대한 재무적 안정감은 극대화됩니다. 아낀 보험료는 자녀를 위한 최고의 선물(태아보험)이나 내 집 마련을 위한 종잣돈으로 활용될 수 있습니다. 이제 막연한 불안감 대신, 현재의 행복과 목표 달성에만 온전히 집중할 수 있는 삶이 시작됩니다.</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06</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III. 현재 재무 상태 및 보장 자산 정밀 진단 (1/4)</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맞춤형 컨설팅 특급보고서 — [맞벌이 30대 신혼부부] 보험, 결혼보다 중요한 리스크 계약</a:t>
            </a:r>
            <a:endParaRPr lang="en-US" sz="7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6 / 21</a:t>
            </a:r>
            <a:endParaRPr lang="en-US" sz="800" dirty="0"/>
          </a:p>
        </p:txBody>
      </p:sp>
      <p:sp>
        <p:nvSpPr>
          <p:cNvPr id="7" name="Text 5"/>
          <p:cNvSpPr/>
          <p:nvPr/>
        </p:nvSpPr>
        <p:spPr>
          <a:xfrm>
            <a:off x="548640" y="685800"/>
            <a:ext cx="8046720" cy="320040"/>
          </a:xfrm>
          <a:prstGeom prst="rect">
            <a:avLst/>
          </a:prstGeom>
          <a:noFill/>
          <a:ln/>
        </p:spPr>
        <p:txBody>
          <a:bodyPr wrap="square" lIns="25400" tIns="50800" rIns="50800" bIns="25400" rtlCol="0" anchor="t"/>
          <a:lstStyle/>
          <a:p>
            <a:pPr marL="0" indent="0" algn="l">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이제 객관적인 데이터를 통해 우리 가정의 '재무 건강검진'을 시작하겠습니다. 보이지 않던 문제점을 수면 위로 끌어올리는 과정입니다.</a:t>
            </a:r>
            <a:endParaRPr lang="en-US" sz="1000" dirty="0"/>
          </a:p>
        </p:txBody>
      </p:sp>
      <p:sp>
        <p:nvSpPr>
          <p:cNvPr id="8" name="Text 6"/>
          <p:cNvSpPr/>
          <p:nvPr/>
        </p:nvSpPr>
        <p:spPr>
          <a:xfrm>
            <a:off x="548640" y="1143000"/>
            <a:ext cx="8046720" cy="274320"/>
          </a:xfrm>
          <a:prstGeom prst="rect">
            <a:avLst/>
          </a:prstGeom>
          <a:noFill/>
          <a:ln/>
        </p:spPr>
        <p:txBody>
          <a:bodyPr wrap="square" lIns="25400" tIns="50800" rIns="50800" bIns="25400" rtlCol="0" anchor="t"/>
          <a:lstStyle/>
          <a:p>
            <a:pPr marL="0" indent="0" algn="l">
              <a:lnSpc>
                <a:spcPct val="115000"/>
              </a:lnSpc>
              <a:buNone/>
            </a:pPr>
            <a:r>
              <a:rPr lang="en-US" sz="1300" b="1" dirty="0">
                <a:solidFill>
                  <a:srgbClr val="1B2A4A"/>
                </a:solidFill>
                <a:latin typeface="맑은 고딕" pitchFamily="34" charset="0"/>
                <a:ea typeface="맑은 고딕" pitchFamily="34" charset="-122"/>
                <a:cs typeface="맑은 고딕" pitchFamily="34" charset="-120"/>
              </a:rPr>
              <a:t>1. 현재 보유 중인 금융상품 포트폴리오 분석</a:t>
            </a:r>
            <a:endParaRPr lang="en-US" sz="1300" dirty="0"/>
          </a:p>
        </p:txBody>
      </p:sp>
      <p:sp>
        <p:nvSpPr>
          <p:cNvPr id="9" name="Text 7"/>
          <p:cNvSpPr/>
          <p:nvPr/>
        </p:nvSpPr>
        <p:spPr>
          <a:xfrm>
            <a:off x="548640" y="1508760"/>
            <a:ext cx="8046720" cy="228600"/>
          </a:xfrm>
          <a:prstGeom prst="rect">
            <a:avLst/>
          </a:prstGeom>
          <a:noFill/>
          <a:ln/>
        </p:spPr>
        <p:txBody>
          <a:bodyPr wrap="square" lIns="25400" tIns="50800" rIns="50800" bIns="25400" rtlCol="0" anchor="t"/>
          <a:lstStyle/>
          <a:p>
            <a:pPr marL="0" indent="0" algn="l">
              <a:lnSpc>
                <a:spcPct val="115000"/>
              </a:lnSpc>
              <a:buNone/>
            </a:pPr>
            <a:r>
              <a:rPr lang="en-US" sz="1050" b="1" dirty="0">
                <a:solidFill>
                  <a:srgbClr val="2B2B2B"/>
                </a:solidFill>
                <a:latin typeface="맑은 고딕" pitchFamily="34" charset="0"/>
                <a:ea typeface="맑은 고딕" pitchFamily="34" charset="-122"/>
                <a:cs typeface="맑은 고딕" pitchFamily="34" charset="-120"/>
              </a:rPr>
              <a:t>보장성 보험 (월 55만원)</a:t>
            </a:r>
            <a:endParaRPr lang="en-US" sz="1050" dirty="0"/>
          </a:p>
        </p:txBody>
      </p:sp>
      <p:sp>
        <p:nvSpPr>
          <p:cNvPr id="10" name="Shape 8"/>
          <p:cNvSpPr/>
          <p:nvPr/>
        </p:nvSpPr>
        <p:spPr>
          <a:xfrm>
            <a:off x="548640" y="1783080"/>
            <a:ext cx="8046720" cy="1011063"/>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548640" y="1783080"/>
            <a:ext cx="54864" cy="1011063"/>
          </a:xfrm>
          <a:prstGeom prst="rect">
            <a:avLst/>
          </a:prstGeom>
          <a:solidFill>
            <a:srgbClr val="C8962E"/>
          </a:solidFill>
          <a:ln w="12700">
            <a:solidFill>
              <a:srgbClr val="C8962E"/>
            </a:solidFill>
            <a:prstDash val="solid"/>
          </a:ln>
        </p:spPr>
        <p:txBody>
          <a:bodyPr/>
          <a:lstStyle/>
          <a:p>
            <a:endParaRPr lang="ko-KR" altLang="en-US"/>
          </a:p>
        </p:txBody>
      </p:sp>
      <p:sp>
        <p:nvSpPr>
          <p:cNvPr id="12" name="Text 10"/>
          <p:cNvSpPr/>
          <p:nvPr/>
        </p:nvSpPr>
        <p:spPr>
          <a:xfrm>
            <a:off x="685800" y="1861455"/>
            <a:ext cx="7772400" cy="1097280"/>
          </a:xfrm>
          <a:prstGeom prst="rect">
            <a:avLst/>
          </a:prstGeom>
          <a:noFill/>
          <a:ln/>
        </p:spPr>
        <p:txBody>
          <a:bodyPr wrap="square" lIns="25400" tIns="50800" rIns="50800" bIns="25400" rtlCol="0" anchor="t"/>
          <a:lstStyle/>
          <a:p>
            <a:pPr marL="0" indent="0" algn="l">
              <a:lnSpc>
                <a:spcPct val="115000"/>
              </a:lnSpc>
              <a:buNone/>
            </a:pPr>
            <a:r>
              <a:rPr lang="en-US" sz="900" b="1" dirty="0">
                <a:solidFill>
                  <a:srgbClr val="2B2B2B"/>
                </a:solidFill>
                <a:latin typeface="맑은 고딕" pitchFamily="34" charset="0"/>
                <a:ea typeface="맑은 고딕" pitchFamily="34" charset="-122"/>
                <a:cs typeface="맑은 고딕" pitchFamily="34" charset="-120"/>
              </a:rPr>
              <a:t>① 김민준 (남편, 월 30만원):
</a:t>
            </a:r>
            <a:r>
              <a:rPr lang="en-US" sz="900" dirty="0">
                <a:solidFill>
                  <a:srgbClr val="2B2B2B"/>
                </a:solidFill>
                <a:latin typeface="맑은 고딕" pitchFamily="34" charset="0"/>
                <a:ea typeface="맑은 고딕" pitchFamily="34" charset="-122"/>
                <a:cs typeface="맑은 고딕" pitchFamily="34" charset="-120"/>
              </a:rPr>
              <a:t>  (A사) 종신보험: 주계약(사망보험금) 1억원, 암 진단비 2,000만원, 뇌출혈/급성심근경색 진단비 각 2,000만원, 입원일당 3만원 (10년 전 가입, 월 22만원)</a:t>
            </a:r>
            <a:endParaRPr lang="en-US" sz="900" dirty="0"/>
          </a:p>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  (B사) 실손의료비보험(1세대): 표준화 이전 실손 (월 8만원)</a:t>
            </a:r>
            <a:endParaRPr lang="en-US" sz="900" dirty="0"/>
          </a:p>
        </p:txBody>
      </p:sp>
      <p:sp>
        <p:nvSpPr>
          <p:cNvPr id="13" name="Shape 11"/>
          <p:cNvSpPr/>
          <p:nvPr/>
        </p:nvSpPr>
        <p:spPr>
          <a:xfrm>
            <a:off x="548640" y="2915634"/>
            <a:ext cx="8046720" cy="896112"/>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4" name="Shape 12"/>
          <p:cNvSpPr/>
          <p:nvPr/>
        </p:nvSpPr>
        <p:spPr>
          <a:xfrm>
            <a:off x="548640" y="2915634"/>
            <a:ext cx="54864" cy="896112"/>
          </a:xfrm>
          <a:prstGeom prst="rect">
            <a:avLst/>
          </a:prstGeom>
          <a:solidFill>
            <a:srgbClr val="C8962E"/>
          </a:solidFill>
          <a:ln w="12700">
            <a:solidFill>
              <a:srgbClr val="C8962E"/>
            </a:solidFill>
            <a:prstDash val="solid"/>
          </a:ln>
        </p:spPr>
        <p:txBody>
          <a:bodyPr/>
          <a:lstStyle/>
          <a:p>
            <a:endParaRPr lang="ko-KR" altLang="en-US"/>
          </a:p>
        </p:txBody>
      </p:sp>
      <p:sp>
        <p:nvSpPr>
          <p:cNvPr id="15" name="Text 13"/>
          <p:cNvSpPr/>
          <p:nvPr/>
        </p:nvSpPr>
        <p:spPr>
          <a:xfrm>
            <a:off x="685800" y="2994009"/>
            <a:ext cx="7772400" cy="1097280"/>
          </a:xfrm>
          <a:prstGeom prst="rect">
            <a:avLst/>
          </a:prstGeom>
          <a:noFill/>
          <a:ln/>
        </p:spPr>
        <p:txBody>
          <a:bodyPr wrap="square" lIns="25400" tIns="50800" rIns="50800" bIns="25400" rtlCol="0" anchor="t"/>
          <a:lstStyle/>
          <a:p>
            <a:pPr marL="0" indent="0" algn="l">
              <a:lnSpc>
                <a:spcPct val="115000"/>
              </a:lnSpc>
              <a:buNone/>
            </a:pPr>
            <a:r>
              <a:rPr lang="en-US" sz="900" b="1" dirty="0">
                <a:solidFill>
                  <a:srgbClr val="2B2B2B"/>
                </a:solidFill>
                <a:latin typeface="맑은 고딕" pitchFamily="34" charset="0"/>
                <a:ea typeface="맑은 고딕" pitchFamily="34" charset="-122"/>
                <a:cs typeface="맑은 고딕" pitchFamily="34" charset="-120"/>
              </a:rPr>
              <a:t>② 이지은 (아내, 월 25만원):
</a:t>
            </a:r>
            <a:r>
              <a:rPr lang="en-US" sz="900" dirty="0">
                <a:solidFill>
                  <a:srgbClr val="2B2B2B"/>
                </a:solidFill>
                <a:latin typeface="맑은 고딕" pitchFamily="34" charset="0"/>
                <a:ea typeface="맑은 고딕" pitchFamily="34" charset="-122"/>
                <a:cs typeface="맑은 고딕" pitchFamily="34" charset="-120"/>
              </a:rPr>
              <a:t>  (C사) CI보험: 주계약(중대한 질병 시 5,000만원 선지급) 8,000만원, 각종 수술비 및 입원비 특약 (갱신형 다수 포함) (5년 전 가입, 월 20만원)</a:t>
            </a:r>
            <a:endParaRPr lang="en-US" sz="900" dirty="0"/>
          </a:p>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  (D사) 운전자보험: (월 2만원) / (E사) 실손의료비보험(3세대): (월 3만원)</a:t>
            </a:r>
            <a:endParaRPr lang="en-US" sz="900" dirty="0"/>
          </a:p>
        </p:txBody>
      </p:sp>
      <p:sp>
        <p:nvSpPr>
          <p:cNvPr id="16" name="Text 14"/>
          <p:cNvSpPr/>
          <p:nvPr/>
        </p:nvSpPr>
        <p:spPr>
          <a:xfrm>
            <a:off x="548640" y="3897963"/>
            <a:ext cx="8046720" cy="228600"/>
          </a:xfrm>
          <a:prstGeom prst="rect">
            <a:avLst/>
          </a:prstGeom>
          <a:noFill/>
          <a:ln/>
        </p:spPr>
        <p:txBody>
          <a:bodyPr wrap="square" lIns="25400" tIns="50800" rIns="50800" bIns="25400" rtlCol="0" anchor="t"/>
          <a:lstStyle/>
          <a:p>
            <a:pPr marL="0" indent="0" algn="l">
              <a:lnSpc>
                <a:spcPct val="115000"/>
              </a:lnSpc>
              <a:buNone/>
            </a:pPr>
            <a:r>
              <a:rPr lang="en-US" sz="1000" b="1" dirty="0">
                <a:solidFill>
                  <a:srgbClr val="2B2B2B"/>
                </a:solidFill>
                <a:latin typeface="맑은 고딕" pitchFamily="34" charset="0"/>
                <a:ea typeface="맑은 고딕" pitchFamily="34" charset="-122"/>
                <a:cs typeface="맑은 고딕" pitchFamily="34" charset="-120"/>
              </a:rPr>
              <a:t>저축성/투자성 상품: </a:t>
            </a:r>
            <a:r>
              <a:rPr lang="en-US" sz="1000" dirty="0">
                <a:solidFill>
                  <a:srgbClr val="2B2B2B"/>
                </a:solidFill>
                <a:latin typeface="맑은 고딕" pitchFamily="34" charset="0"/>
                <a:ea typeface="맑은 고딕" pitchFamily="34" charset="-122"/>
                <a:cs typeface="맑은 고딕" pitchFamily="34" charset="-120"/>
              </a:rPr>
              <a:t>예적금(월 150만원), 주택청약(월 20만원), 국내/해외주식(월 50만원)</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07</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III. 현재 재무 상태 및 보장 자산 정밀 진단 (2/4)</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맞춤형 컨설팅 특급보고서 — [맞벌이 30대 신혼부부] 보험, 결혼보다 중요한 리스크 계약</a:t>
            </a:r>
            <a:endParaRPr lang="en-US" sz="7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7 / 21</a:t>
            </a:r>
            <a:endParaRPr lang="en-US" sz="800" dirty="0"/>
          </a:p>
        </p:txBody>
      </p:sp>
      <p:sp>
        <p:nvSpPr>
          <p:cNvPr id="7" name="Text 5"/>
          <p:cNvSpPr/>
          <p:nvPr/>
        </p:nvSpPr>
        <p:spPr>
          <a:xfrm>
            <a:off x="548640" y="685800"/>
            <a:ext cx="8046720" cy="274320"/>
          </a:xfrm>
          <a:prstGeom prst="rect">
            <a:avLst/>
          </a:prstGeom>
          <a:noFill/>
          <a:ln/>
        </p:spPr>
        <p:txBody>
          <a:bodyPr wrap="square" lIns="25400" tIns="50800" rIns="50800" bIns="25400" rtlCol="0" anchor="t"/>
          <a:lstStyle/>
          <a:p>
            <a:pPr marL="0" indent="0" algn="l">
              <a:lnSpc>
                <a:spcPct val="115000"/>
              </a:lnSpc>
              <a:buNone/>
            </a:pPr>
            <a:r>
              <a:rPr lang="en-US" sz="1300" b="1" dirty="0">
                <a:solidFill>
                  <a:srgbClr val="1B2A4A"/>
                </a:solidFill>
                <a:latin typeface="맑은 고딕" pitchFamily="34" charset="0"/>
                <a:ea typeface="맑은 고딕" pitchFamily="34" charset="-122"/>
                <a:cs typeface="맑은 고딕" pitchFamily="34" charset="-120"/>
              </a:rPr>
              <a:t>2. 기가입 보험 상세 분석 (Deep Dive Analysis)</a:t>
            </a:r>
            <a:endParaRPr lang="en-US" sz="1300" dirty="0"/>
          </a:p>
        </p:txBody>
      </p:sp>
      <p:sp>
        <p:nvSpPr>
          <p:cNvPr id="8" name="Shape 6"/>
          <p:cNvSpPr/>
          <p:nvPr/>
        </p:nvSpPr>
        <p:spPr>
          <a:xfrm>
            <a:off x="548640" y="1051560"/>
            <a:ext cx="8046720" cy="77724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548640" y="1051560"/>
            <a:ext cx="54864" cy="777240"/>
          </a:xfrm>
          <a:prstGeom prst="rect">
            <a:avLst/>
          </a:prstGeom>
          <a:solidFill>
            <a:srgbClr val="1A6B4A"/>
          </a:solidFill>
          <a:ln w="12700">
            <a:solidFill>
              <a:srgbClr val="1A6B4A"/>
            </a:solidFill>
            <a:prstDash val="solid"/>
          </a:ln>
        </p:spPr>
        <p:txBody>
          <a:bodyPr/>
          <a:lstStyle/>
          <a:p>
            <a:endParaRPr lang="ko-KR" altLang="en-US"/>
          </a:p>
        </p:txBody>
      </p:sp>
      <p:sp>
        <p:nvSpPr>
          <p:cNvPr id="10" name="Text 8"/>
          <p:cNvSpPr/>
          <p:nvPr/>
        </p:nvSpPr>
        <p:spPr>
          <a:xfrm>
            <a:off x="685800" y="1097280"/>
            <a:ext cx="7772400" cy="182880"/>
          </a:xfrm>
          <a:prstGeom prst="rect">
            <a:avLst/>
          </a:prstGeom>
          <a:noFill/>
          <a:ln/>
        </p:spPr>
        <p:txBody>
          <a:bodyPr wrap="square" lIns="25400" tIns="50800" rIns="50800" bIns="25400" rtlCol="0" anchor="t"/>
          <a:lstStyle/>
          <a:p>
            <a:pPr marL="0" indent="0" algn="l">
              <a:lnSpc>
                <a:spcPct val="115000"/>
              </a:lnSpc>
              <a:buNone/>
            </a:pPr>
            <a:r>
              <a:rPr lang="en-US" sz="1050" b="1" dirty="0">
                <a:solidFill>
                  <a:srgbClr val="1A6B4A"/>
                </a:solidFill>
                <a:latin typeface="맑은 고딕" pitchFamily="34" charset="0"/>
                <a:ea typeface="맑은 고딕" pitchFamily="34" charset="-122"/>
                <a:cs typeface="맑은 고딕" pitchFamily="34" charset="-120"/>
              </a:rPr>
              <a:t>칭찬할 점 (Good Point)</a:t>
            </a:r>
            <a:endParaRPr lang="en-US" sz="1050" dirty="0"/>
          </a:p>
        </p:txBody>
      </p:sp>
      <p:sp>
        <p:nvSpPr>
          <p:cNvPr id="11" name="Text 9"/>
          <p:cNvSpPr/>
          <p:nvPr/>
        </p:nvSpPr>
        <p:spPr>
          <a:xfrm>
            <a:off x="685800" y="1307592"/>
            <a:ext cx="7772400" cy="457200"/>
          </a:xfrm>
          <a:prstGeom prst="rect">
            <a:avLst/>
          </a:prstGeom>
          <a:noFill/>
          <a:ln/>
        </p:spPr>
        <p:txBody>
          <a:bodyPr wrap="square" lIns="25400" tIns="50800" rIns="50800" bIns="25400" rtlCol="0" anchor="t"/>
          <a:lstStyle/>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① 두 분 모두 실손의료비보험을 가입하여 병원비의 기본은 준비되어 있습니다.</a:t>
            </a:r>
            <a:endParaRPr lang="en-US" sz="900" dirty="0"/>
          </a:p>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② 보험의 필요성을 인지하고, 소득의 일정 부분을 위험 대비에 사용하고 있다는 점은 매우 긍정적입니다.</a:t>
            </a:r>
            <a:endParaRPr lang="en-US" sz="900" dirty="0"/>
          </a:p>
        </p:txBody>
      </p:sp>
      <p:sp>
        <p:nvSpPr>
          <p:cNvPr id="12" name="Shape 10"/>
          <p:cNvSpPr/>
          <p:nvPr/>
        </p:nvSpPr>
        <p:spPr>
          <a:xfrm>
            <a:off x="548640" y="1965960"/>
            <a:ext cx="8046720" cy="12801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548640" y="1965960"/>
            <a:ext cx="54864" cy="1280160"/>
          </a:xfrm>
          <a:prstGeom prst="rect">
            <a:avLst/>
          </a:prstGeom>
          <a:solidFill>
            <a:srgbClr val="D4382C"/>
          </a:solidFill>
          <a:ln w="12700">
            <a:solidFill>
              <a:srgbClr val="D4382C"/>
            </a:solidFill>
            <a:prstDash val="solid"/>
          </a:ln>
        </p:spPr>
        <p:txBody>
          <a:bodyPr/>
          <a:lstStyle/>
          <a:p>
            <a:endParaRPr lang="ko-KR" altLang="en-US"/>
          </a:p>
        </p:txBody>
      </p:sp>
      <p:sp>
        <p:nvSpPr>
          <p:cNvPr id="14" name="Text 12"/>
          <p:cNvSpPr/>
          <p:nvPr/>
        </p:nvSpPr>
        <p:spPr>
          <a:xfrm>
            <a:off x="685800" y="2011680"/>
            <a:ext cx="7772400" cy="182880"/>
          </a:xfrm>
          <a:prstGeom prst="rect">
            <a:avLst/>
          </a:prstGeom>
          <a:noFill/>
          <a:ln/>
        </p:spPr>
        <p:txBody>
          <a:bodyPr wrap="square" lIns="25400" tIns="50800" rIns="50800" bIns="25400" rtlCol="0" anchor="t"/>
          <a:lstStyle/>
          <a:p>
            <a:pPr marL="0" indent="0" algn="l">
              <a:lnSpc>
                <a:spcPct val="115000"/>
              </a:lnSpc>
              <a:buNone/>
            </a:pPr>
            <a:r>
              <a:rPr lang="en-US" sz="1050" b="1" dirty="0">
                <a:solidFill>
                  <a:srgbClr val="D4382C"/>
                </a:solidFill>
                <a:latin typeface="맑은 고딕" pitchFamily="34" charset="0"/>
                <a:ea typeface="맑은 고딕" pitchFamily="34" charset="-122"/>
                <a:cs typeface="맑은 고딕" pitchFamily="34" charset="-120"/>
              </a:rPr>
              <a:t>조정이 필요한 점 (Adjustment Point)</a:t>
            </a:r>
            <a:endParaRPr lang="en-US" sz="1050" dirty="0"/>
          </a:p>
        </p:txBody>
      </p:sp>
      <p:sp>
        <p:nvSpPr>
          <p:cNvPr id="15" name="Text 13"/>
          <p:cNvSpPr/>
          <p:nvPr/>
        </p:nvSpPr>
        <p:spPr>
          <a:xfrm>
            <a:off x="685800" y="2221992"/>
            <a:ext cx="7772400" cy="960120"/>
          </a:xfrm>
          <a:prstGeom prst="rect">
            <a:avLst/>
          </a:prstGeom>
          <a:noFill/>
          <a:ln/>
        </p:spPr>
        <p:txBody>
          <a:bodyPr wrap="square" lIns="25400" tIns="50800" rIns="50800" bIns="25400" rtlCol="0" anchor="t"/>
          <a:lstStyle/>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① (남편) 과도한 사망보험금: 현재 자녀가 없고 부양가족에 대한 책임이 적은 상황에서, 사망 보장에 월 22만원의 보험료 대부분이 집중되어 있습니다. 살아있을 때 필요한 치료비, 생활비 보장은 매우 취약합니다.</a:t>
            </a:r>
            <a:endParaRPr lang="en-US" sz="900" dirty="0"/>
          </a:p>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② (아내) CI보험의 함정: '중대한' 질병/수술 시에만 보험금이 지급되어 보장 범위가 협소하고, 약관 해석에 대한 분쟁 소지가 있습니다. 갱신형 특약이 다수 포함되어 있어 미래 보험료 인상이 불가피합니다.</a:t>
            </a:r>
            <a:endParaRPr lang="en-US" sz="900" dirty="0"/>
          </a:p>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③ 중복 및 비효율: 남편의 뇌출혈/급성심근경색 진단비는 보장 범위가 매우 좁은 구식 담보입니다.</a:t>
            </a:r>
            <a:endParaRPr lang="en-US" sz="900" dirty="0"/>
          </a:p>
        </p:txBody>
      </p:sp>
      <p:sp>
        <p:nvSpPr>
          <p:cNvPr id="16" name="Shape 14"/>
          <p:cNvSpPr/>
          <p:nvPr/>
        </p:nvSpPr>
        <p:spPr>
          <a:xfrm>
            <a:off x="548640" y="3383280"/>
            <a:ext cx="8046720" cy="13716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7" name="Shape 15"/>
          <p:cNvSpPr/>
          <p:nvPr/>
        </p:nvSpPr>
        <p:spPr>
          <a:xfrm>
            <a:off x="548640" y="3383280"/>
            <a:ext cx="54864" cy="1371600"/>
          </a:xfrm>
          <a:prstGeom prst="rect">
            <a:avLst/>
          </a:prstGeom>
          <a:solidFill>
            <a:srgbClr val="D4382C"/>
          </a:solidFill>
          <a:ln w="12700">
            <a:solidFill>
              <a:srgbClr val="D4382C"/>
            </a:solidFill>
            <a:prstDash val="solid"/>
          </a:ln>
        </p:spPr>
        <p:txBody>
          <a:bodyPr/>
          <a:lstStyle/>
          <a:p>
            <a:endParaRPr lang="ko-KR" altLang="en-US"/>
          </a:p>
        </p:txBody>
      </p:sp>
      <p:sp>
        <p:nvSpPr>
          <p:cNvPr id="18" name="Text 16"/>
          <p:cNvSpPr/>
          <p:nvPr/>
        </p:nvSpPr>
        <p:spPr>
          <a:xfrm>
            <a:off x="685800" y="3429000"/>
            <a:ext cx="7772400" cy="182880"/>
          </a:xfrm>
          <a:prstGeom prst="rect">
            <a:avLst/>
          </a:prstGeom>
          <a:noFill/>
          <a:ln/>
        </p:spPr>
        <p:txBody>
          <a:bodyPr wrap="square" lIns="25400" tIns="50800" rIns="50800" bIns="25400" rtlCol="0" anchor="t"/>
          <a:lstStyle/>
          <a:p>
            <a:pPr marL="0" indent="0" algn="l">
              <a:lnSpc>
                <a:spcPct val="115000"/>
              </a:lnSpc>
              <a:buNone/>
            </a:pPr>
            <a:r>
              <a:rPr lang="en-US" sz="1050" b="1" dirty="0">
                <a:solidFill>
                  <a:srgbClr val="D4382C"/>
                </a:solidFill>
                <a:latin typeface="맑은 고딕" pitchFamily="34" charset="0"/>
                <a:ea typeface="맑은 고딕" pitchFamily="34" charset="-122"/>
                <a:cs typeface="맑은 고딕" pitchFamily="34" charset="-120"/>
              </a:rPr>
              <a:t>결정적으로 부족한 점 (Critical Gap)</a:t>
            </a:r>
            <a:endParaRPr lang="en-US" sz="1050" dirty="0"/>
          </a:p>
        </p:txBody>
      </p:sp>
      <p:sp>
        <p:nvSpPr>
          <p:cNvPr id="19" name="Text 17"/>
          <p:cNvSpPr/>
          <p:nvPr/>
        </p:nvSpPr>
        <p:spPr>
          <a:xfrm>
            <a:off x="685800" y="3639312"/>
            <a:ext cx="7772400" cy="1051560"/>
          </a:xfrm>
          <a:prstGeom prst="rect">
            <a:avLst/>
          </a:prstGeom>
          <a:noFill/>
          <a:ln/>
        </p:spPr>
        <p:txBody>
          <a:bodyPr wrap="square" lIns="25400" tIns="50800" rIns="50800" bIns="25400" rtlCol="0" anchor="t"/>
          <a:lstStyle/>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① 3대 질병 진단금 절대 부족: 대한민국 사망원인 1~3위인 암, 뇌혈관질환, 심장질환 발생 시, 최소 1~2년의 연봉에 해당하는 진단금이 필요하나 현재 보장은 2,000만원 수준에 불과합니다. 치료비 외 소득 단절에 대한 대비가 전무합니다.</a:t>
            </a:r>
            <a:endParaRPr lang="en-US" sz="900" dirty="0"/>
          </a:p>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② 소득 보장 자산 부재: 질병이나 상해로 인해 장해가 남았을 때, 남은 인생의 소득을 보장해 줄 '후유장해' 담보가 전혀 없습니다.</a:t>
            </a:r>
            <a:endParaRPr lang="en-US" sz="900" dirty="0"/>
          </a:p>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③ 여성/임신/출산 보장 전무: 아내의 보험에는 임신/출산 관련 위험에 대비할 수 있는 보장이 없습니다.</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08</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III. 현재 재무 상태 및 보장 자산 정밀 진단 (3/4)</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맞춤형 컨설팅 특급보고서 — [맞벌이 30대 신혼부부] 보험, 결혼보다 중요한 리스크 계약</a:t>
            </a:r>
            <a:endParaRPr lang="en-US" sz="7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8 / 21</a:t>
            </a:r>
            <a:endParaRPr lang="en-US" sz="800" dirty="0"/>
          </a:p>
        </p:txBody>
      </p:sp>
      <p:sp>
        <p:nvSpPr>
          <p:cNvPr id="7" name="Text 5"/>
          <p:cNvSpPr/>
          <p:nvPr/>
        </p:nvSpPr>
        <p:spPr>
          <a:xfrm>
            <a:off x="548640" y="685800"/>
            <a:ext cx="8046720" cy="274320"/>
          </a:xfrm>
          <a:prstGeom prst="rect">
            <a:avLst/>
          </a:prstGeom>
          <a:noFill/>
          <a:ln/>
        </p:spPr>
        <p:txBody>
          <a:bodyPr wrap="square" lIns="25400" tIns="50800" rIns="50800" bIns="25400" rtlCol="0" anchor="t"/>
          <a:lstStyle/>
          <a:p>
            <a:pPr marL="0" indent="0" algn="l">
              <a:lnSpc>
                <a:spcPct val="115000"/>
              </a:lnSpc>
              <a:buNone/>
            </a:pPr>
            <a:r>
              <a:rPr lang="en-US" sz="1300" b="1" dirty="0">
                <a:solidFill>
                  <a:srgbClr val="1B2A4A"/>
                </a:solidFill>
                <a:latin typeface="맑은 고딕" pitchFamily="34" charset="0"/>
                <a:ea typeface="맑은 고딕" pitchFamily="34" charset="-122"/>
                <a:cs typeface="맑은 고딕" pitchFamily="34" charset="-120"/>
              </a:rPr>
              <a:t>3. 보장 갭(Gap) 종합 진단 및 해결 우선순위 설정</a:t>
            </a:r>
            <a:endParaRPr lang="en-US" sz="1300" dirty="0"/>
          </a:p>
        </p:txBody>
      </p:sp>
      <p:sp>
        <p:nvSpPr>
          <p:cNvPr id="8" name="Text 6"/>
          <p:cNvSpPr/>
          <p:nvPr/>
        </p:nvSpPr>
        <p:spPr>
          <a:xfrm>
            <a:off x="548640" y="1005840"/>
            <a:ext cx="8046720" cy="228600"/>
          </a:xfrm>
          <a:prstGeom prst="rect">
            <a:avLst/>
          </a:prstGeom>
          <a:noFill/>
          <a:ln/>
        </p:spPr>
        <p:txBody>
          <a:bodyPr wrap="square" lIns="25400" tIns="50800" rIns="50800" bIns="25400" rtlCol="0" anchor="t"/>
          <a:lstStyle/>
          <a:p>
            <a:pPr marL="0" indent="0" algn="l">
              <a:lnSpc>
                <a:spcPct val="115000"/>
              </a:lnSpc>
              <a:buNone/>
            </a:pPr>
            <a:r>
              <a:rPr lang="en-US" sz="1100" b="1" dirty="0">
                <a:solidFill>
                  <a:srgbClr val="2B2B2B"/>
                </a:solidFill>
                <a:latin typeface="맑은 고딕" pitchFamily="34" charset="0"/>
                <a:ea typeface="맑은 고딕" pitchFamily="34" charset="-122"/>
                <a:cs typeface="맑은 고딕" pitchFamily="34" charset="-120"/>
              </a:rPr>
              <a:t>4대 핵심 보장자산 현황</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23616165"/>
              </p:ext>
            </p:extLst>
          </p:nvPr>
        </p:nvGraphicFramePr>
        <p:xfrm>
          <a:off x="548640" y="1280160"/>
          <a:ext cx="8046720" cy="1783080"/>
        </p:xfrm>
        <a:graphic>
          <a:graphicData uri="http://schemas.openxmlformats.org/drawingml/2006/table">
            <a:tbl>
              <a:tblPr/>
              <a:tblGrid>
                <a:gridCol w="1371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365760">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구분</a:t>
                      </a:r>
                      <a:endParaRPr lang="en-US" sz="9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필요 보장자산</a:t>
                      </a:r>
                      <a:endParaRPr lang="en-US" sz="900" dirty="0">
                        <a:latin typeface="맑은 고딕" charset="0"/>
                        <a:ea typeface="맑은 고딕" charset="0"/>
                        <a:cs typeface="맑은 고딕" charset="0"/>
                      </a:endParaRPr>
                    </a:p>
                    <a:p>
                      <a:pPr marL="0" indent="0" algn="ctr">
                        <a:buNone/>
                      </a:pPr>
                      <a:r>
                        <a:rPr lang="en-US" sz="900" b="1" dirty="0">
                          <a:solidFill>
                            <a:srgbClr val="FFFFFF"/>
                          </a:solidFill>
                          <a:latin typeface="맑은 고딕" pitchFamily="34" charset="0"/>
                          <a:ea typeface="맑은 고딕" pitchFamily="34" charset="-122"/>
                          <a:cs typeface="맑은 고딕" pitchFamily="34" charset="-120"/>
                        </a:rPr>
                        <a:t>(전문가 권장)</a:t>
                      </a:r>
                      <a:endParaRPr lang="en-US" sz="9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현재 준비된 보장자산</a:t>
                      </a:r>
                      <a:endParaRPr lang="en-US" sz="900" dirty="0">
                        <a:latin typeface="맑은 고딕" charset="0"/>
                        <a:ea typeface="맑은 고딕" charset="0"/>
                        <a:cs typeface="맑은 고딕" charset="0"/>
                      </a:endParaRPr>
                    </a:p>
                    <a:p>
                      <a:pPr marL="0" indent="0" algn="ctr">
                        <a:buNone/>
                      </a:pPr>
                      <a:r>
                        <a:rPr lang="en-US" sz="900" b="1" dirty="0">
                          <a:solidFill>
                            <a:srgbClr val="FFFFFF"/>
                          </a:solidFill>
                          <a:latin typeface="맑은 고딕" pitchFamily="34" charset="0"/>
                          <a:ea typeface="맑은 고딕" pitchFamily="34" charset="-122"/>
                          <a:cs typeface="맑은 고딕" pitchFamily="34" charset="-120"/>
                        </a:rPr>
                        <a:t>(부부 합산)</a:t>
                      </a:r>
                      <a:endParaRPr lang="en-US" sz="9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부족분 (GAP)</a:t>
                      </a:r>
                      <a:endParaRPr lang="en-US" sz="9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65760">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사망 보장</a:t>
                      </a:r>
                      <a:endParaRPr lang="en-US" sz="9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각 1억원</a:t>
                      </a:r>
                      <a:endParaRPr lang="en-US" sz="900" dirty="0">
                        <a:latin typeface="맑은 고딕" charset="0"/>
                        <a:ea typeface="맑은 고딕" charset="0"/>
                        <a:cs typeface="맑은 고딕" charset="0"/>
                      </a:endParaRPr>
                    </a:p>
                    <a:p>
                      <a:pPr marL="0" indent="0" algn="ctr">
                        <a:buNone/>
                      </a:pPr>
                      <a:r>
                        <a:rPr lang="en-US" sz="900" dirty="0">
                          <a:solidFill>
                            <a:srgbClr val="000000"/>
                          </a:solidFill>
                          <a:latin typeface="맑은 고딕" pitchFamily="34" charset="0"/>
                          <a:ea typeface="맑은 고딕" pitchFamily="34" charset="-122"/>
                          <a:cs typeface="맑은 고딕" pitchFamily="34" charset="-120"/>
                        </a:rPr>
                        <a:t>(주택담보대출 등 고려)</a:t>
                      </a:r>
                      <a:endParaRPr lang="en-US" sz="9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1.8억원</a:t>
                      </a:r>
                      <a:endParaRPr lang="en-US" sz="900" dirty="0">
                        <a:latin typeface="맑은 고딕" charset="0"/>
                        <a:ea typeface="맑은 고딕" charset="0"/>
                        <a:cs typeface="맑은 고딕" charset="0"/>
                      </a:endParaRPr>
                    </a:p>
                    <a:p>
                      <a:pPr marL="0" indent="0" algn="ctr">
                        <a:buNone/>
                      </a:pPr>
                      <a:r>
                        <a:rPr lang="en-US" sz="900" dirty="0">
                          <a:solidFill>
                            <a:srgbClr val="000000"/>
                          </a:solidFill>
                          <a:latin typeface="맑은 고딕" pitchFamily="34" charset="0"/>
                          <a:ea typeface="맑은 고딕" pitchFamily="34" charset="-122"/>
                          <a:cs typeface="맑은 고딕" pitchFamily="34" charset="-120"/>
                        </a:rPr>
                        <a:t>(남편 1억, 아내 0.8억)</a:t>
                      </a:r>
                      <a:endParaRPr lang="en-US" sz="9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7F8FA"/>
                    </a:solidFill>
                  </a:tcPr>
                </a:tc>
                <a:tc>
                  <a:txBody>
                    <a:bodyPr/>
                    <a:lstStyle/>
                    <a:p>
                      <a:pPr marL="0" indent="0" algn="ctr">
                        <a:buNone/>
                      </a:pPr>
                      <a:r>
                        <a:rPr lang="en-US" sz="900" b="1" dirty="0">
                          <a:solidFill>
                            <a:srgbClr val="3B82F6"/>
                          </a:solidFill>
                          <a:latin typeface="맑은 고딕" pitchFamily="34" charset="0"/>
                          <a:ea typeface="맑은 고딕" pitchFamily="34" charset="-122"/>
                          <a:cs typeface="맑은 고딕" pitchFamily="34" charset="-120"/>
                        </a:rPr>
                        <a:t>(과잉/조정필요)</a:t>
                      </a:r>
                      <a:endParaRPr lang="en-US" sz="9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7F8FA"/>
                    </a:solidFill>
                  </a:tcPr>
                </a:tc>
                <a:extLst>
                  <a:ext uri="{0D108BD9-81ED-4DB2-BD59-A6C34878D82A}">
                    <a16:rowId xmlns:a16="http://schemas.microsoft.com/office/drawing/2014/main" val="10001"/>
                  </a:ext>
                </a:extLst>
              </a:tr>
              <a:tr h="365760">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3대질병 진단</a:t>
                      </a:r>
                      <a:endParaRPr lang="en-US" sz="9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EF2F2"/>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각 1억원</a:t>
                      </a:r>
                      <a:endParaRPr lang="en-US" sz="900" dirty="0">
                        <a:latin typeface="맑은 고딕" charset="0"/>
                        <a:ea typeface="맑은 고딕" charset="0"/>
                        <a:cs typeface="맑은 고딕" charset="0"/>
                      </a:endParaRPr>
                    </a:p>
                    <a:p>
                      <a:pPr marL="0" indent="0" algn="ctr">
                        <a:buNone/>
                      </a:pPr>
                      <a:r>
                        <a:rPr lang="en-US" sz="900" dirty="0">
                          <a:solidFill>
                            <a:srgbClr val="000000"/>
                          </a:solidFill>
                          <a:latin typeface="맑은 고딕" pitchFamily="34" charset="0"/>
                          <a:ea typeface="맑은 고딕" pitchFamily="34" charset="-122"/>
                          <a:cs typeface="맑은 고딕" pitchFamily="34" charset="-120"/>
                        </a:rPr>
                        <a:t>(연봉 수준)</a:t>
                      </a:r>
                      <a:endParaRPr lang="en-US" sz="9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EF2F2"/>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2,000만원</a:t>
                      </a:r>
                      <a:endParaRPr lang="en-US" sz="900" dirty="0">
                        <a:latin typeface="맑은 고딕" charset="0"/>
                        <a:ea typeface="맑은 고딕" charset="0"/>
                        <a:cs typeface="맑은 고딕" charset="0"/>
                      </a:endParaRPr>
                    </a:p>
                    <a:p>
                      <a:pPr marL="0" indent="0" algn="ctr">
                        <a:buNone/>
                      </a:pPr>
                      <a:r>
                        <a:rPr lang="en-US" sz="900" dirty="0">
                          <a:solidFill>
                            <a:srgbClr val="000000"/>
                          </a:solidFill>
                          <a:latin typeface="맑은 고딕" pitchFamily="34" charset="0"/>
                          <a:ea typeface="맑은 고딕" pitchFamily="34" charset="-122"/>
                          <a:cs typeface="맑은 고딕" pitchFamily="34" charset="-120"/>
                        </a:rPr>
                        <a:t>(보장범위 협소)</a:t>
                      </a:r>
                      <a:endParaRPr lang="en-US" sz="9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EF2F2"/>
                    </a:solidFill>
                  </a:tcPr>
                </a:tc>
                <a:tc>
                  <a:txBody>
                    <a:bodyPr/>
                    <a:lstStyle/>
                    <a:p>
                      <a:pPr marL="0" indent="0" algn="ctr">
                        <a:buNone/>
                      </a:pPr>
                      <a:r>
                        <a:rPr lang="en-US" sz="900" b="1" dirty="0">
                          <a:solidFill>
                            <a:srgbClr val="D4382C"/>
                          </a:solidFill>
                          <a:latin typeface="맑은 고딕" pitchFamily="34" charset="0"/>
                          <a:ea typeface="맑은 고딕" pitchFamily="34" charset="-122"/>
                          <a:cs typeface="맑은 고딕" pitchFamily="34" charset="-120"/>
                        </a:rPr>
                        <a:t>-1.8억원</a:t>
                      </a:r>
                      <a:endParaRPr lang="en-US" sz="9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EF2F2"/>
                    </a:solidFill>
                  </a:tcPr>
                </a:tc>
                <a:extLst>
                  <a:ext uri="{0D108BD9-81ED-4DB2-BD59-A6C34878D82A}">
                    <a16:rowId xmlns:a16="http://schemas.microsoft.com/office/drawing/2014/main" val="10002"/>
                  </a:ext>
                </a:extLst>
              </a:tr>
              <a:tr h="365760">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후유장해</a:t>
                      </a:r>
                      <a:endParaRPr lang="en-US" sz="9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EF2F2"/>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각 1억원</a:t>
                      </a:r>
                      <a:endParaRPr lang="en-US" sz="900" dirty="0">
                        <a:latin typeface="맑은 고딕" charset="0"/>
                        <a:ea typeface="맑은 고딕" charset="0"/>
                        <a:cs typeface="맑은 고딕" charset="0"/>
                      </a:endParaRPr>
                    </a:p>
                    <a:p>
                      <a:pPr marL="0" indent="0" algn="ctr">
                        <a:buNone/>
                      </a:pPr>
                      <a:r>
                        <a:rPr lang="en-US" sz="900" dirty="0">
                          <a:solidFill>
                            <a:srgbClr val="000000"/>
                          </a:solidFill>
                          <a:latin typeface="맑은 고딕" pitchFamily="34" charset="0"/>
                          <a:ea typeface="맑은 고딕" pitchFamily="34" charset="-122"/>
                          <a:cs typeface="맑은 고딕" pitchFamily="34" charset="-120"/>
                        </a:rPr>
                        <a:t>(소득 대체)</a:t>
                      </a:r>
                      <a:endParaRPr lang="en-US" sz="9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EF2F2"/>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0원</a:t>
                      </a:r>
                      <a:endParaRPr lang="en-US" sz="9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EF2F2"/>
                    </a:solidFill>
                  </a:tcPr>
                </a:tc>
                <a:tc>
                  <a:txBody>
                    <a:bodyPr/>
                    <a:lstStyle/>
                    <a:p>
                      <a:pPr marL="0" indent="0" algn="ctr">
                        <a:buNone/>
                      </a:pPr>
                      <a:r>
                        <a:rPr lang="en-US" sz="900" b="1" dirty="0">
                          <a:solidFill>
                            <a:srgbClr val="D4382C"/>
                          </a:solidFill>
                          <a:latin typeface="맑은 고딕" pitchFamily="34" charset="0"/>
                          <a:ea typeface="맑은 고딕" pitchFamily="34" charset="-122"/>
                          <a:cs typeface="맑은 고딕" pitchFamily="34" charset="-120"/>
                        </a:rPr>
                        <a:t>-2억원</a:t>
                      </a:r>
                      <a:endParaRPr lang="en-US" sz="9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EF2F2"/>
                    </a:solidFill>
                  </a:tcPr>
                </a:tc>
                <a:extLst>
                  <a:ext uri="{0D108BD9-81ED-4DB2-BD59-A6C34878D82A}">
                    <a16:rowId xmlns:a16="http://schemas.microsoft.com/office/drawing/2014/main" val="10003"/>
                  </a:ext>
                </a:extLst>
              </a:tr>
              <a:tr h="320040">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의료비</a:t>
                      </a:r>
                      <a:endParaRPr lang="en-US" sz="9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실손의료비</a:t>
                      </a:r>
                      <a:endParaRPr lang="en-US" sz="9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(기본 충족)</a:t>
                      </a:r>
                      <a:endParaRPr lang="en-US" sz="9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7F8FA"/>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a:t>
                      </a:r>
                      <a:endParaRPr lang="en-US" sz="9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bl>
          </a:graphicData>
        </a:graphic>
      </p:graphicFrame>
      <p:sp>
        <p:nvSpPr>
          <p:cNvPr id="9" name="Text 7"/>
          <p:cNvSpPr/>
          <p:nvPr/>
        </p:nvSpPr>
        <p:spPr>
          <a:xfrm>
            <a:off x="548640" y="3200400"/>
            <a:ext cx="8046720" cy="201168"/>
          </a:xfrm>
          <a:prstGeom prst="rect">
            <a:avLst/>
          </a:prstGeom>
          <a:noFill/>
          <a:ln/>
        </p:spPr>
        <p:txBody>
          <a:bodyPr wrap="square" lIns="25400" tIns="50800" rIns="50800" bIns="25400" rtlCol="0" anchor="t"/>
          <a:lstStyle/>
          <a:p>
            <a:pPr marL="0" indent="0" algn="l">
              <a:lnSpc>
                <a:spcPct val="115000"/>
              </a:lnSpc>
              <a:buNone/>
            </a:pPr>
            <a:r>
              <a:rPr lang="en-US" sz="1050" b="1" dirty="0">
                <a:solidFill>
                  <a:srgbClr val="1B2A4A"/>
                </a:solidFill>
                <a:latin typeface="맑은 고딕" pitchFamily="34" charset="0"/>
                <a:ea typeface="맑은 고딕" pitchFamily="34" charset="-122"/>
                <a:cs typeface="맑은 고딕" pitchFamily="34" charset="-120"/>
              </a:rPr>
              <a:t>리스크 발생 시 예상되는 재무적 손실 규모:</a:t>
            </a:r>
            <a:endParaRPr lang="en-US" sz="1050" dirty="0"/>
          </a:p>
        </p:txBody>
      </p:sp>
      <p:sp>
        <p:nvSpPr>
          <p:cNvPr id="11" name="Text 8"/>
          <p:cNvSpPr/>
          <p:nvPr/>
        </p:nvSpPr>
        <p:spPr>
          <a:xfrm>
            <a:off x="548640" y="3429000"/>
            <a:ext cx="8046720" cy="502920"/>
          </a:xfrm>
          <a:prstGeom prst="rect">
            <a:avLst/>
          </a:prstGeom>
          <a:noFill/>
          <a:ln/>
        </p:spPr>
        <p:txBody>
          <a:bodyPr wrap="square" lIns="25400" tIns="50800" rIns="50800" bIns="25400" rtlCol="0" anchor="t"/>
          <a:lstStyle/>
          <a:p>
            <a:pPr marL="0" indent="0" algn="l">
              <a:lnSpc>
                <a:spcPct val="115000"/>
              </a:lnSpc>
              <a:buNone/>
            </a:pPr>
            <a:r>
              <a:rPr lang="en-US" sz="900" dirty="0">
                <a:solidFill>
                  <a:srgbClr val="4A5568"/>
                </a:solidFill>
                <a:latin typeface="맑은 고딕" pitchFamily="34" charset="0"/>
                <a:ea typeface="맑은 고딕" pitchFamily="34" charset="-122"/>
                <a:cs typeface="맑은 고딕" pitchFamily="34" charset="-120"/>
              </a:rPr>
              <a:t>부부 중 1인 암 발병 시: 치료비(약 5천만원) + 1년간 소득상실(약 6천만원) = 최소 1.1억원 손실. 현재 보장으로는 2천만원만 충당 가능하여, 9천만원의 빚이 생기거나 자산을 처분해야 함. '내 집 마련'의 꿈은 좌절될 가능성이 높습니다.</a:t>
            </a:r>
            <a:endParaRPr lang="en-US" sz="900" dirty="0"/>
          </a:p>
        </p:txBody>
      </p:sp>
      <p:sp>
        <p:nvSpPr>
          <p:cNvPr id="12" name="Text 9"/>
          <p:cNvSpPr/>
          <p:nvPr/>
        </p:nvSpPr>
        <p:spPr>
          <a:xfrm>
            <a:off x="548640" y="3977640"/>
            <a:ext cx="8046720" cy="201168"/>
          </a:xfrm>
          <a:prstGeom prst="rect">
            <a:avLst/>
          </a:prstGeom>
          <a:noFill/>
          <a:ln/>
        </p:spPr>
        <p:txBody>
          <a:bodyPr wrap="square" lIns="25400" tIns="50800" rIns="50800" bIns="25400" rtlCol="0" anchor="t"/>
          <a:lstStyle/>
          <a:p>
            <a:pPr marL="0" indent="0" algn="l">
              <a:lnSpc>
                <a:spcPct val="115000"/>
              </a:lnSpc>
              <a:buNone/>
            </a:pPr>
            <a:r>
              <a:rPr lang="en-US" sz="1050" b="1" dirty="0">
                <a:solidFill>
                  <a:srgbClr val="1B2A4A"/>
                </a:solidFill>
                <a:latin typeface="맑은 고딕" pitchFamily="34" charset="0"/>
                <a:ea typeface="맑은 고딕" pitchFamily="34" charset="-122"/>
                <a:cs typeface="맑은 고딕" pitchFamily="34" charset="-120"/>
              </a:rPr>
              <a:t>가장 먼저 해결해야 할 최우선 순위 과제 (Top Priority):</a:t>
            </a:r>
            <a:endParaRPr lang="en-US" sz="1050" dirty="0"/>
          </a:p>
        </p:txBody>
      </p:sp>
      <p:sp>
        <p:nvSpPr>
          <p:cNvPr id="13" name="Text 10"/>
          <p:cNvSpPr/>
          <p:nvPr/>
        </p:nvSpPr>
        <p:spPr>
          <a:xfrm>
            <a:off x="548640" y="4206240"/>
            <a:ext cx="8046720" cy="502920"/>
          </a:xfrm>
          <a:prstGeom prst="rect">
            <a:avLst/>
          </a:prstGeom>
          <a:noFill/>
          <a:ln/>
        </p:spPr>
        <p:txBody>
          <a:bodyPr wrap="square" lIns="25400" tIns="50800" rIns="50800" bIns="25400" rtlCol="0" anchor="t"/>
          <a:lstStyle/>
          <a:p>
            <a:pPr marL="0" indent="0" algn="l">
              <a:lnSpc>
                <a:spcPct val="115000"/>
              </a:lnSpc>
              <a:buNone/>
            </a:pPr>
            <a:r>
              <a:rPr lang="en-US" sz="900" dirty="0">
                <a:solidFill>
                  <a:srgbClr val="4A5568"/>
                </a:solidFill>
                <a:latin typeface="맑은 고딕" pitchFamily="34" charset="0"/>
                <a:ea typeface="맑은 고딕" pitchFamily="34" charset="-122"/>
                <a:cs typeface="맑은 고딕" pitchFamily="34" charset="-120"/>
              </a:rPr>
              <a:t>• 3대 질병 진단금 현실화 (암, 뇌혈관, 허혈성심장질환)</a:t>
            </a:r>
            <a:endParaRPr lang="en-US" sz="900" dirty="0"/>
          </a:p>
          <a:p>
            <a:pPr marL="0" indent="0" algn="l">
              <a:lnSpc>
                <a:spcPct val="115000"/>
              </a:lnSpc>
              <a:buNone/>
            </a:pPr>
            <a:r>
              <a:rPr lang="en-US" sz="900" dirty="0">
                <a:solidFill>
                  <a:srgbClr val="4A5568"/>
                </a:solidFill>
                <a:latin typeface="맑은 고딕" pitchFamily="34" charset="0"/>
                <a:ea typeface="맑은 고딕" pitchFamily="34" charset="-122"/>
                <a:cs typeface="맑은 고딕" pitchFamily="34" charset="-120"/>
              </a:rPr>
              <a:t>• 소득 상실 대비 후유장해 보장 신설</a:t>
            </a:r>
            <a:endParaRPr lang="en-US" sz="900" dirty="0"/>
          </a:p>
          <a:p>
            <a:pPr marL="0" indent="0" algn="l">
              <a:lnSpc>
                <a:spcPct val="115000"/>
              </a:lnSpc>
              <a:buNone/>
            </a:pPr>
            <a:r>
              <a:rPr lang="en-US" sz="900" dirty="0">
                <a:solidFill>
                  <a:srgbClr val="4A5568"/>
                </a:solidFill>
                <a:latin typeface="맑은 고딕" pitchFamily="34" charset="0"/>
                <a:ea typeface="맑은 고딕" pitchFamily="34" charset="-122"/>
                <a:cs typeface="맑은 고딕" pitchFamily="34" charset="-120"/>
              </a:rPr>
              <a:t>• 불필요한 사망보험금 및 갱신형 특약 정리</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09</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III. 현재 재무 상태 및 보장 자산 정밀 진단 (4/4)</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맞춤형 컨설팅 특급보고서 — [맞벌이 30대 신혼부부] 보험, 결혼보다 중요한 리스크 계약</a:t>
            </a:r>
            <a:endParaRPr lang="en-US" sz="7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9 / 21</a:t>
            </a:r>
            <a:endParaRPr lang="en-US" sz="800" dirty="0"/>
          </a:p>
        </p:txBody>
      </p:sp>
      <p:sp>
        <p:nvSpPr>
          <p:cNvPr id="7" name="Shape 5"/>
          <p:cNvSpPr/>
          <p:nvPr/>
        </p:nvSpPr>
        <p:spPr>
          <a:xfrm>
            <a:off x="548640" y="777240"/>
            <a:ext cx="8046720" cy="2286000"/>
          </a:xfrm>
          <a:prstGeom prst="rect">
            <a:avLst/>
          </a:prstGeom>
          <a:solidFill>
            <a:srgbClr val="EAF2FF"/>
          </a:solidFill>
          <a:ln/>
          <a:effectLst>
            <a:outerShdw blurRad="50800" dist="25400" dir="8100000" algn="bl" rotWithShape="0">
              <a:srgbClr val="000000">
                <a:alpha val="10000"/>
              </a:srgbClr>
            </a:outerShdw>
          </a:effectLst>
        </p:spPr>
        <p:txBody>
          <a:bodyPr/>
          <a:lstStyle/>
          <a:p>
            <a:endParaRPr lang="ko-KR" altLang="en-US"/>
          </a:p>
        </p:txBody>
      </p:sp>
      <p:sp>
        <p:nvSpPr>
          <p:cNvPr id="8" name="Shape 6"/>
          <p:cNvSpPr/>
          <p:nvPr/>
        </p:nvSpPr>
        <p:spPr>
          <a:xfrm>
            <a:off x="548640" y="777240"/>
            <a:ext cx="54864" cy="2286000"/>
          </a:xfrm>
          <a:prstGeom prst="rect">
            <a:avLst/>
          </a:prstGeom>
          <a:solidFill>
            <a:srgbClr val="1B2A4A"/>
          </a:solidFill>
          <a:ln w="12700">
            <a:solidFill>
              <a:srgbClr val="1B2A4A"/>
            </a:solidFill>
            <a:prstDash val="solid"/>
          </a:ln>
        </p:spPr>
        <p:txBody>
          <a:bodyPr/>
          <a:lstStyle/>
          <a:p>
            <a:endParaRPr lang="ko-KR" altLang="en-US"/>
          </a:p>
        </p:txBody>
      </p:sp>
      <p:sp>
        <p:nvSpPr>
          <p:cNvPr id="9" name="Text 7"/>
          <p:cNvSpPr/>
          <p:nvPr/>
        </p:nvSpPr>
        <p:spPr>
          <a:xfrm>
            <a:off x="685800" y="868680"/>
            <a:ext cx="7772400" cy="274320"/>
          </a:xfrm>
          <a:prstGeom prst="rect">
            <a:avLst/>
          </a:prstGeom>
          <a:noFill/>
          <a:ln/>
        </p:spPr>
        <p:txBody>
          <a:bodyPr wrap="square" lIns="25400" tIns="50800" rIns="50800" bIns="25400" rtlCol="0" anchor="t"/>
          <a:lstStyle/>
          <a:p>
            <a:pPr marL="0" indent="0" algn="l">
              <a:lnSpc>
                <a:spcPct val="115000"/>
              </a:lnSpc>
              <a:buNone/>
            </a:pPr>
            <a:r>
              <a:rPr lang="en-US" sz="1400" b="1" dirty="0">
                <a:solidFill>
                  <a:srgbClr val="1B2A4A"/>
                </a:solidFill>
                <a:latin typeface="맑은 고딕" pitchFamily="34" charset="0"/>
                <a:ea typeface="맑은 고딕" pitchFamily="34" charset="-122"/>
                <a:cs typeface="맑은 고딕" pitchFamily="34" charset="-120"/>
              </a:rPr>
              <a:t>[전문가 의견]</a:t>
            </a:r>
            <a:endParaRPr lang="en-US" sz="1050" dirty="0"/>
          </a:p>
        </p:txBody>
      </p:sp>
      <p:sp>
        <p:nvSpPr>
          <p:cNvPr id="10" name="Text 8"/>
          <p:cNvSpPr/>
          <p:nvPr/>
        </p:nvSpPr>
        <p:spPr>
          <a:xfrm>
            <a:off x="685800" y="1188720"/>
            <a:ext cx="7772400" cy="1737360"/>
          </a:xfrm>
          <a:prstGeom prst="rect">
            <a:avLst/>
          </a:prstGeom>
          <a:noFill/>
          <a:ln/>
        </p:spPr>
        <p:txBody>
          <a:bodyPr wrap="square" lIns="25400" tIns="50800" rIns="50800" bIns="25400" rtlCol="0" anchor="t"/>
          <a:lstStyle/>
          <a:p>
            <a:pPr marL="0" indent="0" algn="l">
              <a:lnSpc>
                <a:spcPct val="150000"/>
              </a:lnSpc>
              <a:buNone/>
            </a:pPr>
            <a:r>
              <a:rPr lang="en-US" sz="1100" dirty="0">
                <a:solidFill>
                  <a:srgbClr val="4A5568"/>
                </a:solidFill>
                <a:latin typeface="맑은 고딕" pitchFamily="34" charset="0"/>
                <a:ea typeface="맑은 고딕" pitchFamily="34" charset="-122"/>
                <a:cs typeface="맑은 고딕" pitchFamily="34" charset="-120"/>
              </a:rPr>
              <a:t>김민준, 이지은 부부는 대한민국 30대 맞벌이 부부의 이상적인 표본입니다. 높은 소득과 명확한 목표를 가졌지만, 재무 구조를 자세히 들여다보면 '소득 상실'이라는 가장 치명적인 리스크에 대한 대비가 전무합니다. 현재 지출되는 월 55만원의 보험료가 이 핵심 리스크를 효과적으로 방어하고 있는지 정밀 진단하는 것이 이번 컨설팅의 성패를 가를 핵심 포인트입니다. 이들에게 보험 리모델링은 단순한 비용 절감이 아니라, '꿈을 지키기 위한 필수적인 안전장치'임을 명확히 인지시켜야 합니다.</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10</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IV. 맞춤형 솔루션 제안: 재무적 안전망 구축 (1/3)</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맞춤형 컨설팅 특급보고서 — [맞벌이 30대 신혼부부] 보험, 결혼보다 중요한 리스크 계약</a:t>
            </a:r>
            <a:endParaRPr lang="en-US" sz="7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10 / 21</a:t>
            </a:r>
            <a:endParaRPr lang="en-US" sz="800" dirty="0"/>
          </a:p>
        </p:txBody>
      </p:sp>
      <p:sp>
        <p:nvSpPr>
          <p:cNvPr id="7" name="Shape 5"/>
          <p:cNvSpPr/>
          <p:nvPr/>
        </p:nvSpPr>
        <p:spPr>
          <a:xfrm>
            <a:off x="548640" y="685800"/>
            <a:ext cx="8046720" cy="7315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8" name="Shape 6"/>
          <p:cNvSpPr/>
          <p:nvPr/>
        </p:nvSpPr>
        <p:spPr>
          <a:xfrm>
            <a:off x="548640" y="685800"/>
            <a:ext cx="54864" cy="731520"/>
          </a:xfrm>
          <a:prstGeom prst="rect">
            <a:avLst/>
          </a:prstGeom>
          <a:solidFill>
            <a:srgbClr val="C8962E"/>
          </a:solidFill>
          <a:ln w="12700">
            <a:solidFill>
              <a:srgbClr val="C8962E"/>
            </a:solidFill>
            <a:prstDash val="solid"/>
          </a:ln>
        </p:spPr>
        <p:txBody>
          <a:bodyPr/>
          <a:lstStyle/>
          <a:p>
            <a:endParaRPr lang="ko-KR" altLang="en-US"/>
          </a:p>
        </p:txBody>
      </p:sp>
      <p:sp>
        <p:nvSpPr>
          <p:cNvPr id="9" name="Text 7"/>
          <p:cNvSpPr/>
          <p:nvPr/>
        </p:nvSpPr>
        <p:spPr>
          <a:xfrm>
            <a:off x="685800" y="731520"/>
            <a:ext cx="7772400" cy="640080"/>
          </a:xfrm>
          <a:prstGeom prst="rect">
            <a:avLst/>
          </a:prstGeom>
          <a:noFill/>
          <a:ln/>
        </p:spPr>
        <p:txBody>
          <a:bodyPr wrap="square" lIns="25400" tIns="50800" rIns="50800" bIns="25400" rtlCol="0" anchor="t"/>
          <a:lstStyle/>
          <a:p>
            <a:pPr marL="0" indent="0" algn="l">
              <a:lnSpc>
                <a:spcPct val="115000"/>
              </a:lnSpc>
              <a:buNone/>
            </a:pPr>
            <a:r>
              <a:rPr lang="en-US" sz="950" b="1" i="1" dirty="0">
                <a:solidFill>
                  <a:srgbClr val="2B2B2B"/>
                </a:solidFill>
                <a:latin typeface="맑은 고딕" pitchFamily="34" charset="0"/>
                <a:ea typeface="맑은 고딕" pitchFamily="34" charset="-122"/>
                <a:cs typeface="맑은 고딕" pitchFamily="34" charset="-120"/>
              </a:rPr>
              <a:t>"현재의 보험료(월 55만원) 예산 내에서 해결하는 것을 목표로 합니다. 불필요한 보험료는 과감히 '빼고',그 재원으로 '가장 위험하지만 가장 준비되지 않은' 3대 질병 진단금과 소득보장(후유장해) 자산을 최우선으로 확보합니다. 모든 핵심 보장은 미래의 보험료 인상 걱정이 없는 비갱신형으로 구성하여 재무적 안정성을 더합니다."</a:t>
            </a:r>
            <a:endParaRPr lang="en-US" sz="950" dirty="0"/>
          </a:p>
        </p:txBody>
      </p:sp>
      <p:sp>
        <p:nvSpPr>
          <p:cNvPr id="10" name="Text 8"/>
          <p:cNvSpPr/>
          <p:nvPr/>
        </p:nvSpPr>
        <p:spPr>
          <a:xfrm>
            <a:off x="548640" y="1554480"/>
            <a:ext cx="8046720" cy="274320"/>
          </a:xfrm>
          <a:prstGeom prst="rect">
            <a:avLst/>
          </a:prstGeom>
          <a:noFill/>
          <a:ln/>
        </p:spPr>
        <p:txBody>
          <a:bodyPr wrap="square" lIns="25400" tIns="50800" rIns="50800" bIns="25400" rtlCol="0" anchor="t"/>
          <a:lstStyle/>
          <a:p>
            <a:pPr marL="0" indent="0" algn="l">
              <a:lnSpc>
                <a:spcPct val="115000"/>
              </a:lnSpc>
              <a:buNone/>
            </a:pPr>
            <a:r>
              <a:rPr lang="en-US" sz="1300" b="1" dirty="0">
                <a:solidFill>
                  <a:srgbClr val="1B2A4A"/>
                </a:solidFill>
                <a:latin typeface="맑은 고딕" pitchFamily="34" charset="0"/>
                <a:ea typeface="맑은 고딕" pitchFamily="34" charset="-122"/>
                <a:cs typeface="맑은 고딕" pitchFamily="34" charset="-120"/>
              </a:rPr>
              <a:t>포트폴리오 리모델링 전략: 빼기, 더하기, 바꾸기</a:t>
            </a:r>
            <a:endParaRPr lang="en-US" sz="1300" dirty="0"/>
          </a:p>
        </p:txBody>
      </p:sp>
      <p:sp>
        <p:nvSpPr>
          <p:cNvPr id="11" name="Shape 9"/>
          <p:cNvSpPr/>
          <p:nvPr/>
        </p:nvSpPr>
        <p:spPr>
          <a:xfrm>
            <a:off x="548640" y="1874520"/>
            <a:ext cx="8046720" cy="10515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2" name="Shape 10"/>
          <p:cNvSpPr/>
          <p:nvPr/>
        </p:nvSpPr>
        <p:spPr>
          <a:xfrm>
            <a:off x="548640" y="1874520"/>
            <a:ext cx="54864" cy="1051560"/>
          </a:xfrm>
          <a:prstGeom prst="rect">
            <a:avLst/>
          </a:prstGeom>
          <a:solidFill>
            <a:srgbClr val="D4382C"/>
          </a:solidFill>
          <a:ln w="12700">
            <a:solidFill>
              <a:srgbClr val="D4382C"/>
            </a:solidFill>
            <a:prstDash val="solid"/>
          </a:ln>
        </p:spPr>
        <p:txBody>
          <a:bodyPr/>
          <a:lstStyle/>
          <a:p>
            <a:endParaRPr lang="ko-KR" altLang="en-US"/>
          </a:p>
        </p:txBody>
      </p:sp>
      <p:sp>
        <p:nvSpPr>
          <p:cNvPr id="13" name="Text 11"/>
          <p:cNvSpPr/>
          <p:nvPr/>
        </p:nvSpPr>
        <p:spPr>
          <a:xfrm>
            <a:off x="685800" y="1920240"/>
            <a:ext cx="7772400" cy="201168"/>
          </a:xfrm>
          <a:prstGeom prst="rect">
            <a:avLst/>
          </a:prstGeom>
          <a:noFill/>
          <a:ln/>
        </p:spPr>
        <p:txBody>
          <a:bodyPr wrap="square" lIns="25400" tIns="50800" rIns="50800" bIns="25400" rtlCol="0" anchor="t"/>
          <a:lstStyle/>
          <a:p>
            <a:pPr marL="0" indent="0" algn="l">
              <a:lnSpc>
                <a:spcPct val="115000"/>
              </a:lnSpc>
              <a:buNone/>
            </a:pPr>
            <a:r>
              <a:rPr lang="en-US" sz="1100" b="1" dirty="0">
                <a:solidFill>
                  <a:srgbClr val="D4382C"/>
                </a:solidFill>
                <a:latin typeface="맑은 고딕" pitchFamily="34" charset="0"/>
                <a:ea typeface="맑은 고딕" pitchFamily="34" charset="-122"/>
                <a:cs typeface="맑은 고딕" pitchFamily="34" charset="-120"/>
              </a:rPr>
              <a:t>빼기 (조정 제안 - Adjustment)</a:t>
            </a:r>
            <a:endParaRPr lang="en-US" sz="1050" dirty="0"/>
          </a:p>
        </p:txBody>
      </p:sp>
      <p:sp>
        <p:nvSpPr>
          <p:cNvPr id="14" name="Text 12"/>
          <p:cNvSpPr/>
          <p:nvPr/>
        </p:nvSpPr>
        <p:spPr>
          <a:xfrm>
            <a:off x="685800" y="2148840"/>
            <a:ext cx="7772400" cy="731520"/>
          </a:xfrm>
          <a:prstGeom prst="rect">
            <a:avLst/>
          </a:prstGeom>
          <a:noFill/>
          <a:ln/>
        </p:spPr>
        <p:txBody>
          <a:bodyPr wrap="square" lIns="25400" tIns="50800" rIns="50800" bIns="25400" rtlCol="0" anchor="t"/>
          <a:lstStyle/>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 남편(김민준): (A사) 종신보험: 주계약 1억 -&gt; 5천만원으로 감액 또는 해지. 불필요한 입원일당 특약 삭제. (월 보험료 약 15만원 절감)</a:t>
            </a:r>
            <a:endParaRPr lang="en-US" sz="900" dirty="0"/>
          </a:p>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 아내(이지은): (C사) CI보험: 과감히 해지. 좁은 보장범위와 갱신형 특약으로 장기 유지의 실익이 없음. (월 보험료 20만원 확보)</a:t>
            </a:r>
            <a:endParaRPr lang="en-US" sz="900" dirty="0"/>
          </a:p>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 =&gt; 총 확보 재원: 월 35만원</a:t>
            </a:r>
            <a:endParaRPr lang="en-US" sz="900" dirty="0"/>
          </a:p>
        </p:txBody>
      </p:sp>
      <p:sp>
        <p:nvSpPr>
          <p:cNvPr id="15" name="Shape 13"/>
          <p:cNvSpPr/>
          <p:nvPr/>
        </p:nvSpPr>
        <p:spPr>
          <a:xfrm>
            <a:off x="548640" y="3063240"/>
            <a:ext cx="8046720" cy="77724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6" name="Shape 14"/>
          <p:cNvSpPr/>
          <p:nvPr/>
        </p:nvSpPr>
        <p:spPr>
          <a:xfrm>
            <a:off x="548640" y="3063240"/>
            <a:ext cx="54864" cy="777240"/>
          </a:xfrm>
          <a:prstGeom prst="rect">
            <a:avLst/>
          </a:prstGeom>
          <a:solidFill>
            <a:srgbClr val="3B82F6"/>
          </a:solidFill>
          <a:ln w="12700">
            <a:solidFill>
              <a:srgbClr val="3B82F6"/>
            </a:solidFill>
            <a:prstDash val="solid"/>
          </a:ln>
        </p:spPr>
        <p:txBody>
          <a:bodyPr/>
          <a:lstStyle/>
          <a:p>
            <a:endParaRPr lang="ko-KR" altLang="en-US"/>
          </a:p>
        </p:txBody>
      </p:sp>
      <p:sp>
        <p:nvSpPr>
          <p:cNvPr id="17" name="Text 15"/>
          <p:cNvSpPr/>
          <p:nvPr/>
        </p:nvSpPr>
        <p:spPr>
          <a:xfrm>
            <a:off x="685800" y="3108960"/>
            <a:ext cx="7772400" cy="201168"/>
          </a:xfrm>
          <a:prstGeom prst="rect">
            <a:avLst/>
          </a:prstGeom>
          <a:noFill/>
          <a:ln/>
        </p:spPr>
        <p:txBody>
          <a:bodyPr wrap="square" lIns="25400" tIns="50800" rIns="50800" bIns="25400" rtlCol="0" anchor="t"/>
          <a:lstStyle/>
          <a:p>
            <a:pPr marL="0" indent="0" algn="l">
              <a:lnSpc>
                <a:spcPct val="115000"/>
              </a:lnSpc>
              <a:buNone/>
            </a:pPr>
            <a:r>
              <a:rPr lang="en-US" sz="1100" b="1" dirty="0">
                <a:solidFill>
                  <a:srgbClr val="3B82F6"/>
                </a:solidFill>
                <a:latin typeface="맑은 고딕" pitchFamily="34" charset="0"/>
                <a:ea typeface="맑은 고딕" pitchFamily="34" charset="-122"/>
                <a:cs typeface="맑은 고딕" pitchFamily="34" charset="-120"/>
              </a:rPr>
              <a:t>더하기 (보완 제안 - Reinforcement)</a:t>
            </a:r>
            <a:endParaRPr lang="en-US" sz="1050" dirty="0"/>
          </a:p>
        </p:txBody>
      </p:sp>
      <p:sp>
        <p:nvSpPr>
          <p:cNvPr id="18" name="Text 16"/>
          <p:cNvSpPr/>
          <p:nvPr/>
        </p:nvSpPr>
        <p:spPr>
          <a:xfrm>
            <a:off x="685800" y="3337560"/>
            <a:ext cx="7772400" cy="457200"/>
          </a:xfrm>
          <a:prstGeom prst="rect">
            <a:avLst/>
          </a:prstGeom>
          <a:noFill/>
          <a:ln/>
        </p:spPr>
        <p:txBody>
          <a:bodyPr wrap="square" lIns="25400" tIns="50800" rIns="50800" bIns="25400" rtlCol="0" anchor="t"/>
          <a:lstStyle/>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 공통 보장 (부부 각자): 3대 질병 진단금 (암 1억원, 뇌혈관/허혈성심장질환 각 3천만원), 질병/상해 후유장해 1억원, 각종 수술비 보강</a:t>
            </a:r>
            <a:endParaRPr lang="en-US" sz="900" dirty="0"/>
          </a:p>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 아내(이지은) 추가 보장: 임신/출산 관련 특약 (향후 태아보험 가입을 위한 연계 보장)</a:t>
            </a:r>
            <a:endParaRPr lang="en-US" sz="900" dirty="0"/>
          </a:p>
        </p:txBody>
      </p:sp>
      <p:sp>
        <p:nvSpPr>
          <p:cNvPr id="19" name="Shape 17"/>
          <p:cNvSpPr/>
          <p:nvPr/>
        </p:nvSpPr>
        <p:spPr>
          <a:xfrm>
            <a:off x="548640" y="3977640"/>
            <a:ext cx="8046720" cy="7315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20" name="Shape 18"/>
          <p:cNvSpPr/>
          <p:nvPr/>
        </p:nvSpPr>
        <p:spPr>
          <a:xfrm>
            <a:off x="548640" y="3977640"/>
            <a:ext cx="54864" cy="731520"/>
          </a:xfrm>
          <a:prstGeom prst="rect">
            <a:avLst/>
          </a:prstGeom>
          <a:solidFill>
            <a:srgbClr val="1B2A4A"/>
          </a:solidFill>
          <a:ln w="12700">
            <a:solidFill>
              <a:srgbClr val="1B2A4A"/>
            </a:solidFill>
            <a:prstDash val="solid"/>
          </a:ln>
        </p:spPr>
        <p:txBody>
          <a:bodyPr/>
          <a:lstStyle/>
          <a:p>
            <a:endParaRPr lang="ko-KR" altLang="en-US"/>
          </a:p>
        </p:txBody>
      </p:sp>
      <p:sp>
        <p:nvSpPr>
          <p:cNvPr id="21" name="Text 19"/>
          <p:cNvSpPr/>
          <p:nvPr/>
        </p:nvSpPr>
        <p:spPr>
          <a:xfrm>
            <a:off x="685800" y="4023360"/>
            <a:ext cx="7772400" cy="201168"/>
          </a:xfrm>
          <a:prstGeom prst="rect">
            <a:avLst/>
          </a:prstGeom>
          <a:noFill/>
          <a:ln/>
        </p:spPr>
        <p:txBody>
          <a:bodyPr wrap="square" lIns="25400" tIns="50800" rIns="50800" bIns="25400" rtlCol="0" anchor="t"/>
          <a:lstStyle/>
          <a:p>
            <a:pPr marL="0" indent="0" algn="l">
              <a:lnSpc>
                <a:spcPct val="115000"/>
              </a:lnSpc>
              <a:buNone/>
            </a:pPr>
            <a:r>
              <a:rPr lang="en-US" sz="1100" b="1" dirty="0">
                <a:solidFill>
                  <a:srgbClr val="1B2A4A"/>
                </a:solidFill>
                <a:latin typeface="맑은 고딕" pitchFamily="34" charset="0"/>
                <a:ea typeface="맑은 고딕" pitchFamily="34" charset="-122"/>
                <a:cs typeface="맑은 고딕" pitchFamily="34" charset="-120"/>
              </a:rPr>
              <a:t>바꾸기 (장기 관점 전환 - Change)</a:t>
            </a:r>
            <a:endParaRPr lang="en-US" sz="1050" dirty="0"/>
          </a:p>
        </p:txBody>
      </p:sp>
      <p:sp>
        <p:nvSpPr>
          <p:cNvPr id="22" name="Text 20"/>
          <p:cNvSpPr/>
          <p:nvPr/>
        </p:nvSpPr>
        <p:spPr>
          <a:xfrm>
            <a:off x="685800" y="4251960"/>
            <a:ext cx="7772400" cy="411480"/>
          </a:xfrm>
          <a:prstGeom prst="rect">
            <a:avLst/>
          </a:prstGeom>
          <a:noFill/>
          <a:ln/>
        </p:spPr>
        <p:txBody>
          <a:bodyPr wrap="square" lIns="25400" tIns="50800" rIns="50800" bIns="25400" rtlCol="0" anchor="t"/>
          <a:lstStyle/>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 사망 보장 중심의 종신/CI보험 -&gt; 살아있을 때 보장받는 건강보험/종합보험 중심으로 전환</a:t>
            </a:r>
            <a:endParaRPr lang="en-US" sz="900" dirty="0"/>
          </a:p>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 갱신형 특약 -&gt; 전체 보장을 20년납 90세/100세 만기 비갱신형으로 전환</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11</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IV. 맞춤형 솔루션 제안: 재무적 안전망 구축 (2/3)</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맞춤형 컨설팅 특급보고서 — [맞벌이 30대 신혼부부] 보험, 결혼보다 중요한 리스크 계약</a:t>
            </a:r>
            <a:endParaRPr lang="en-US" sz="7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11 / 21</a:t>
            </a:r>
            <a:endParaRPr lang="en-US" sz="800" dirty="0"/>
          </a:p>
        </p:txBody>
      </p:sp>
      <p:sp>
        <p:nvSpPr>
          <p:cNvPr id="7" name="Text 5"/>
          <p:cNvSpPr/>
          <p:nvPr/>
        </p:nvSpPr>
        <p:spPr>
          <a:xfrm>
            <a:off x="548640" y="685800"/>
            <a:ext cx="8046720" cy="274320"/>
          </a:xfrm>
          <a:prstGeom prst="rect">
            <a:avLst/>
          </a:prstGeom>
          <a:noFill/>
          <a:ln/>
        </p:spPr>
        <p:txBody>
          <a:bodyPr wrap="square" lIns="25400" tIns="50800" rIns="50800" bIns="25400" rtlCol="0" anchor="t"/>
          <a:lstStyle/>
          <a:p>
            <a:pPr marL="0" indent="0" algn="l">
              <a:lnSpc>
                <a:spcPct val="115000"/>
              </a:lnSpc>
              <a:buNone/>
            </a:pPr>
            <a:r>
              <a:rPr lang="en-US" sz="1300" b="1" dirty="0">
                <a:solidFill>
                  <a:srgbClr val="1B2A4A"/>
                </a:solidFill>
                <a:latin typeface="맑은 고딕" pitchFamily="34" charset="0"/>
                <a:ea typeface="맑은 고딕" pitchFamily="34" charset="-122"/>
                <a:cs typeface="맑은 고딕" pitchFamily="34" charset="-120"/>
              </a:rPr>
              <a:t>3. 최종 제안 설계안</a:t>
            </a:r>
            <a:endParaRPr lang="en-US" sz="1300" dirty="0"/>
          </a:p>
        </p:txBody>
      </p:sp>
      <p:sp>
        <p:nvSpPr>
          <p:cNvPr id="8" name="Text 6"/>
          <p:cNvSpPr/>
          <p:nvPr/>
        </p:nvSpPr>
        <p:spPr>
          <a:xfrm>
            <a:off x="548640" y="960120"/>
            <a:ext cx="8046720" cy="201168"/>
          </a:xfrm>
          <a:prstGeom prst="rect">
            <a:avLst/>
          </a:prstGeom>
          <a:noFill/>
          <a:ln/>
        </p:spPr>
        <p:txBody>
          <a:bodyPr wrap="square" lIns="25400" tIns="50800" rIns="50800" bIns="25400" rtlCol="0" anchor="t"/>
          <a:lstStyle/>
          <a:p>
            <a:pPr marL="0" indent="0" algn="l">
              <a:lnSpc>
                <a:spcPct val="115000"/>
              </a:lnSpc>
              <a:buNone/>
            </a:pPr>
            <a:r>
              <a:rPr lang="en-US" sz="1000" b="1" dirty="0">
                <a:solidFill>
                  <a:srgbClr val="2B2B2B"/>
                </a:solidFill>
                <a:latin typeface="맑은 고딕" pitchFamily="34" charset="0"/>
                <a:ea typeface="맑은 고딕" pitchFamily="34" charset="-122"/>
                <a:cs typeface="맑은 고딕" pitchFamily="34" charset="-120"/>
              </a:rPr>
              <a:t>제안 설계 요약표 | 제안 상품: (가칭) 'F사 맞춤형 건강보험'</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252986477"/>
              </p:ext>
            </p:extLst>
          </p:nvPr>
        </p:nvGraphicFramePr>
        <p:xfrm>
          <a:off x="320040" y="1216152"/>
          <a:ext cx="7360920" cy="1691640"/>
        </p:xfrm>
        <a:graphic>
          <a:graphicData uri="http://schemas.openxmlformats.org/drawingml/2006/table">
            <a:tbl>
              <a:tblPr/>
              <a:tblGrid>
                <a:gridCol w="64008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2194560">
                  <a:extLst>
                    <a:ext uri="{9D8B030D-6E8A-4147-A177-3AD203B41FA5}">
                      <a16:colId xmlns:a16="http://schemas.microsoft.com/office/drawing/2014/main" val="20006"/>
                    </a:ext>
                  </a:extLst>
                </a:gridCol>
              </a:tblGrid>
              <a:tr h="320040">
                <a:tc>
                  <a:txBody>
                    <a:bodyPr/>
                    <a:lstStyle/>
                    <a:p>
                      <a:pPr marL="0" indent="0" algn="ctr">
                        <a:buNone/>
                      </a:pPr>
                      <a:r>
                        <a:rPr lang="en-US" sz="800" b="1" dirty="0">
                          <a:solidFill>
                            <a:srgbClr val="FFFFFF"/>
                          </a:solidFill>
                          <a:latin typeface="맑은 고딕" pitchFamily="34" charset="0"/>
                          <a:ea typeface="맑은 고딕" pitchFamily="34" charset="-122"/>
                          <a:cs typeface="맑은 고딕" pitchFamily="34" charset="-120"/>
                        </a:rPr>
                        <a:t>구분</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2A4A"/>
                    </a:solidFill>
                  </a:tcPr>
                </a:tc>
                <a:tc>
                  <a:txBody>
                    <a:bodyPr/>
                    <a:lstStyle/>
                    <a:p>
                      <a:pPr marL="0" indent="0" algn="ctr">
                        <a:buNone/>
                      </a:pPr>
                      <a:r>
                        <a:rPr lang="en-US" sz="800" b="1" dirty="0">
                          <a:solidFill>
                            <a:srgbClr val="FFFFFF"/>
                          </a:solidFill>
                          <a:latin typeface="맑은 고딕" pitchFamily="34" charset="0"/>
                          <a:ea typeface="맑은 고딕" pitchFamily="34" charset="-122"/>
                          <a:cs typeface="맑은 고딕" pitchFamily="34" charset="-120"/>
                        </a:rPr>
                        <a:t>가입자</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2A4A"/>
                    </a:solidFill>
                  </a:tcPr>
                </a:tc>
                <a:tc>
                  <a:txBody>
                    <a:bodyPr/>
                    <a:lstStyle/>
                    <a:p>
                      <a:pPr marL="0" indent="0" algn="ctr">
                        <a:buNone/>
                      </a:pPr>
                      <a:r>
                        <a:rPr lang="en-US" sz="800" b="1" dirty="0">
                          <a:solidFill>
                            <a:srgbClr val="FFFFFF"/>
                          </a:solidFill>
                          <a:latin typeface="맑은 고딕" pitchFamily="34" charset="0"/>
                          <a:ea typeface="맑은 고딕" pitchFamily="34" charset="-122"/>
                          <a:cs typeface="맑은 고딕" pitchFamily="34" charset="-120"/>
                        </a:rPr>
                        <a:t>보장 항목</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2A4A"/>
                    </a:solidFill>
                  </a:tcPr>
                </a:tc>
                <a:tc>
                  <a:txBody>
                    <a:bodyPr/>
                    <a:lstStyle/>
                    <a:p>
                      <a:pPr marL="0" indent="0" algn="ctr">
                        <a:buNone/>
                      </a:pPr>
                      <a:r>
                        <a:rPr lang="en-US" sz="800" b="1" dirty="0">
                          <a:solidFill>
                            <a:srgbClr val="FFFFFF"/>
                          </a:solidFill>
                          <a:latin typeface="맑은 고딕" pitchFamily="34" charset="0"/>
                          <a:ea typeface="맑은 고딕" pitchFamily="34" charset="-122"/>
                          <a:cs typeface="맑은 고딕" pitchFamily="34" charset="-120"/>
                        </a:rPr>
                        <a:t>보장 금액</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2A4A"/>
                    </a:solidFill>
                  </a:tcPr>
                </a:tc>
                <a:tc>
                  <a:txBody>
                    <a:bodyPr/>
                    <a:lstStyle/>
                    <a:p>
                      <a:pPr marL="0" indent="0" algn="ctr">
                        <a:buNone/>
                      </a:pPr>
                      <a:r>
                        <a:rPr lang="en-US" sz="800" b="1" dirty="0">
                          <a:solidFill>
                            <a:srgbClr val="FFFFFF"/>
                          </a:solidFill>
                          <a:latin typeface="맑은 고딕" pitchFamily="34" charset="0"/>
                          <a:ea typeface="맑은 고딕" pitchFamily="34" charset="-122"/>
                          <a:cs typeface="맑은 고딕" pitchFamily="34" charset="-120"/>
                        </a:rPr>
                        <a:t>보장 기간</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2A4A"/>
                    </a:solidFill>
                  </a:tcPr>
                </a:tc>
                <a:tc>
                  <a:txBody>
                    <a:bodyPr/>
                    <a:lstStyle/>
                    <a:p>
                      <a:pPr marL="0" indent="0" algn="ctr">
                        <a:buNone/>
                      </a:pPr>
                      <a:r>
                        <a:rPr lang="en-US" sz="800" b="1" dirty="0">
                          <a:solidFill>
                            <a:srgbClr val="FFFFFF"/>
                          </a:solidFill>
                          <a:latin typeface="맑은 고딕" pitchFamily="34" charset="0"/>
                          <a:ea typeface="맑은 고딕" pitchFamily="34" charset="-122"/>
                          <a:cs typeface="맑은 고딕" pitchFamily="34" charset="-120"/>
                        </a:rPr>
                        <a:t>월 보험료</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2A4A"/>
                    </a:solidFill>
                  </a:tcPr>
                </a:tc>
                <a:tc>
                  <a:txBody>
                    <a:bodyPr/>
                    <a:lstStyle/>
                    <a:p>
                      <a:pPr marL="0" indent="0" algn="ctr">
                        <a:buNone/>
                      </a:pPr>
                      <a:r>
                        <a:rPr lang="en-US" sz="800" b="1" dirty="0">
                          <a:solidFill>
                            <a:srgbClr val="FFFFFF"/>
                          </a:solidFill>
                          <a:latin typeface="맑은 고딕" pitchFamily="34" charset="0"/>
                          <a:ea typeface="맑은 고딕" pitchFamily="34" charset="-122"/>
                          <a:cs typeface="맑은 고딕" pitchFamily="34" charset="-120"/>
                        </a:rPr>
                        <a:t>비고 (설계 의도)</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274320">
                <a:tc>
                  <a:txBody>
                    <a:bodyPr/>
                    <a:lstStyle/>
                    <a:p>
                      <a:pPr marL="0" indent="0" algn="ctr">
                        <a:buNone/>
                      </a:pPr>
                      <a:r>
                        <a:rPr lang="en-US" sz="800" b="1" dirty="0">
                          <a:solidFill>
                            <a:srgbClr val="6B7280"/>
                          </a:solidFill>
                          <a:latin typeface="맑은 고딕" pitchFamily="34" charset="0"/>
                          <a:ea typeface="맑은 고딕" pitchFamily="34" charset="-122"/>
                          <a:cs typeface="맑은 고딕" pitchFamily="34" charset="-120"/>
                        </a:rPr>
                        <a:t>유지</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김민준</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(B사)실손의료비</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가입금액</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100세 만기</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80,000원</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800" dirty="0">
                          <a:solidFill>
                            <a:srgbClr val="000000"/>
                          </a:solidFill>
                          <a:latin typeface="맑은 고딕" pitchFamily="34" charset="0"/>
                          <a:ea typeface="맑은 고딕" pitchFamily="34" charset="-122"/>
                          <a:cs typeface="맑은 고딕" pitchFamily="34" charset="-120"/>
                        </a:rPr>
                        <a:t>1세대 실손, 자기부담금 적어 유지</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ctr">
                        <a:buNone/>
                      </a:pPr>
                      <a:r>
                        <a:rPr lang="en-US" sz="800" b="1" dirty="0">
                          <a:solidFill>
                            <a:srgbClr val="6B7280"/>
                          </a:solidFill>
                          <a:latin typeface="맑은 고딕" pitchFamily="34" charset="0"/>
                          <a:ea typeface="맑은 고딕" pitchFamily="34" charset="-122"/>
                          <a:cs typeface="맑은 고딕" pitchFamily="34" charset="-120"/>
                        </a:rPr>
                        <a:t>유지</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7F8FA"/>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이지은</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7F8FA"/>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(D/E사)운전자/실손</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7F8FA"/>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가입금액</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7F8FA"/>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각 만기까지</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7F8FA"/>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50,000원</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7F8FA"/>
                    </a:solidFill>
                  </a:tcPr>
                </a:tc>
                <a:tc>
                  <a:txBody>
                    <a:bodyPr/>
                    <a:lstStyle/>
                    <a:p>
                      <a:pPr marL="0" indent="0" algn="l">
                        <a:buNone/>
                      </a:pPr>
                      <a:r>
                        <a:rPr lang="en-US" sz="800" dirty="0">
                          <a:solidFill>
                            <a:srgbClr val="000000"/>
                          </a:solidFill>
                          <a:latin typeface="맑은 고딕" pitchFamily="34" charset="0"/>
                          <a:ea typeface="맑은 고딕" pitchFamily="34" charset="-122"/>
                          <a:cs typeface="맑은 고딕" pitchFamily="34" charset="-120"/>
                        </a:rPr>
                        <a:t>필수 유지 항목</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274320">
                <a:tc>
                  <a:txBody>
                    <a:bodyPr/>
                    <a:lstStyle/>
                    <a:p>
                      <a:pPr marL="0" indent="0" algn="ctr">
                        <a:buNone/>
                      </a:pPr>
                      <a:r>
                        <a:rPr lang="en-US" sz="800" b="1" dirty="0">
                          <a:solidFill>
                            <a:srgbClr val="3B82F6"/>
                          </a:solidFill>
                          <a:latin typeface="맑은 고딕" pitchFamily="34" charset="0"/>
                          <a:ea typeface="맑은 고딕" pitchFamily="34" charset="-122"/>
                          <a:cs typeface="맑은 고딕" pitchFamily="34" charset="-120"/>
                        </a:rPr>
                        <a:t>신규</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김민준</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암 진단비</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1억원</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90세 만기</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95,000원</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l">
                        <a:buNone/>
                      </a:pPr>
                      <a:r>
                        <a:rPr lang="en-US" sz="800" dirty="0">
                          <a:solidFill>
                            <a:srgbClr val="000000"/>
                          </a:solidFill>
                          <a:latin typeface="맑은 고딕" pitchFamily="34" charset="0"/>
                          <a:ea typeface="맑은 고딕" pitchFamily="34" charset="-122"/>
                          <a:cs typeface="맑은 고딕" pitchFamily="34" charset="-120"/>
                        </a:rPr>
                        <a:t>경제 활동기 집중 보장</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extLst>
                  <a:ext uri="{0D108BD9-81ED-4DB2-BD59-A6C34878D82A}">
                    <a16:rowId xmlns:a16="http://schemas.microsoft.com/office/drawing/2014/main" val="10003"/>
                  </a:ext>
                </a:extLst>
              </a:tr>
              <a:tr h="274320">
                <a:tc>
                  <a:txBody>
                    <a:bodyPr/>
                    <a:lstStyle/>
                    <a:p>
                      <a:pPr marL="0" indent="0" algn="ctr">
                        <a:buNone/>
                      </a:pP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뇌혈관/허혈성 진단비</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3천만원</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40,000원</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l">
                        <a:buNone/>
                      </a:pPr>
                      <a:r>
                        <a:rPr lang="en-US" sz="800" dirty="0">
                          <a:solidFill>
                            <a:srgbClr val="000000"/>
                          </a:solidFill>
                          <a:latin typeface="맑은 고딕" pitchFamily="34" charset="0"/>
                          <a:ea typeface="맑은 고딕" pitchFamily="34" charset="-122"/>
                          <a:cs typeface="맑은 고딕" pitchFamily="34" charset="-120"/>
                        </a:rPr>
                        <a:t>보장 범위가 가장 넓은 담보</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extLst>
                  <a:ext uri="{0D108BD9-81ED-4DB2-BD59-A6C34878D82A}">
                    <a16:rowId xmlns:a16="http://schemas.microsoft.com/office/drawing/2014/main" val="10004"/>
                  </a:ext>
                </a:extLst>
              </a:tr>
              <a:tr h="274320">
                <a:tc>
                  <a:txBody>
                    <a:bodyPr/>
                    <a:lstStyle/>
                    <a:p>
                      <a:pPr marL="0" indent="0" algn="ctr">
                        <a:buNone/>
                      </a:pP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질병후유장해(3%~)</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1억원</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25,000원</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l">
                        <a:buNone/>
                      </a:pPr>
                      <a:r>
                        <a:rPr lang="en-US" sz="800" dirty="0">
                          <a:solidFill>
                            <a:srgbClr val="000000"/>
                          </a:solidFill>
                          <a:latin typeface="맑은 고딕" pitchFamily="34" charset="0"/>
                          <a:ea typeface="맑은 고딕" pitchFamily="34" charset="-122"/>
                          <a:cs typeface="맑은 고딕" pitchFamily="34" charset="-120"/>
                        </a:rPr>
                        <a:t>제2의 월급, 소득 대체 자산</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12</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IV. 맞춤형 솔루션 제안: 재무적 안전망 구축 (2/3 계속)</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맞춤형 컨설팅 특급보고서 — [맞벌이 30대 신혼부부] 보험, 결혼보다 중요한 리스크 계약</a:t>
            </a:r>
            <a:endParaRPr lang="en-US" sz="7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12 / 21</a:t>
            </a:r>
            <a:endParaRPr lang="en-US" sz="800" dirty="0"/>
          </a:p>
        </p:txBody>
      </p:sp>
      <p:sp>
        <p:nvSpPr>
          <p:cNvPr id="7" name="Text 5"/>
          <p:cNvSpPr/>
          <p:nvPr/>
        </p:nvSpPr>
        <p:spPr>
          <a:xfrm>
            <a:off x="548640" y="685800"/>
            <a:ext cx="8046720" cy="228600"/>
          </a:xfrm>
          <a:prstGeom prst="rect">
            <a:avLst/>
          </a:prstGeom>
          <a:noFill/>
          <a:ln/>
        </p:spPr>
        <p:txBody>
          <a:bodyPr wrap="square" lIns="25400" tIns="50800" rIns="50800" bIns="25400" rtlCol="0" anchor="t"/>
          <a:lstStyle/>
          <a:p>
            <a:pPr marL="0" indent="0" algn="l">
              <a:lnSpc>
                <a:spcPct val="115000"/>
              </a:lnSpc>
              <a:buNone/>
            </a:pPr>
            <a:r>
              <a:rPr lang="en-US" sz="1200" b="1" dirty="0">
                <a:solidFill>
                  <a:srgbClr val="1B2A4A"/>
                </a:solidFill>
                <a:latin typeface="맑은 고딕" pitchFamily="34" charset="0"/>
                <a:ea typeface="맑은 고딕" pitchFamily="34" charset="-122"/>
                <a:cs typeface="맑은 고딕" pitchFamily="34" charset="-120"/>
              </a:rPr>
              <a:t>3. 최종 제안 설계안 (계속)</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966947421"/>
              </p:ext>
            </p:extLst>
          </p:nvPr>
        </p:nvGraphicFramePr>
        <p:xfrm>
          <a:off x="320040" y="960120"/>
          <a:ext cx="7360920" cy="2011680"/>
        </p:xfrm>
        <a:graphic>
          <a:graphicData uri="http://schemas.openxmlformats.org/drawingml/2006/table">
            <a:tbl>
              <a:tblPr/>
              <a:tblGrid>
                <a:gridCol w="64008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881743">
                  <a:extLst>
                    <a:ext uri="{9D8B030D-6E8A-4147-A177-3AD203B41FA5}">
                      <a16:colId xmlns:a16="http://schemas.microsoft.com/office/drawing/2014/main" val="20005"/>
                    </a:ext>
                  </a:extLst>
                </a:gridCol>
                <a:gridCol w="2135777">
                  <a:extLst>
                    <a:ext uri="{9D8B030D-6E8A-4147-A177-3AD203B41FA5}">
                      <a16:colId xmlns:a16="http://schemas.microsoft.com/office/drawing/2014/main" val="20006"/>
                    </a:ext>
                  </a:extLst>
                </a:gridCol>
              </a:tblGrid>
              <a:tr h="320040">
                <a:tc>
                  <a:txBody>
                    <a:bodyPr/>
                    <a:lstStyle/>
                    <a:p>
                      <a:pPr marL="0" indent="0" algn="ctr">
                        <a:buNone/>
                      </a:pPr>
                      <a:r>
                        <a:rPr lang="en-US" sz="800" b="1" dirty="0">
                          <a:solidFill>
                            <a:srgbClr val="FFFFFF"/>
                          </a:solidFill>
                          <a:latin typeface="맑은 고딕" pitchFamily="34" charset="0"/>
                          <a:ea typeface="맑은 고딕" pitchFamily="34" charset="-122"/>
                          <a:cs typeface="맑은 고딕" pitchFamily="34" charset="-120"/>
                        </a:rPr>
                        <a:t>구분</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2A4A"/>
                    </a:solidFill>
                  </a:tcPr>
                </a:tc>
                <a:tc>
                  <a:txBody>
                    <a:bodyPr/>
                    <a:lstStyle/>
                    <a:p>
                      <a:pPr marL="0" indent="0" algn="ctr">
                        <a:buNone/>
                      </a:pPr>
                      <a:r>
                        <a:rPr lang="en-US" sz="800" b="1" dirty="0">
                          <a:solidFill>
                            <a:srgbClr val="FFFFFF"/>
                          </a:solidFill>
                          <a:latin typeface="맑은 고딕" pitchFamily="34" charset="0"/>
                          <a:ea typeface="맑은 고딕" pitchFamily="34" charset="-122"/>
                          <a:cs typeface="맑은 고딕" pitchFamily="34" charset="-120"/>
                        </a:rPr>
                        <a:t>가입자</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2A4A"/>
                    </a:solidFill>
                  </a:tcPr>
                </a:tc>
                <a:tc>
                  <a:txBody>
                    <a:bodyPr/>
                    <a:lstStyle/>
                    <a:p>
                      <a:pPr marL="0" indent="0" algn="ctr">
                        <a:buNone/>
                      </a:pPr>
                      <a:r>
                        <a:rPr lang="en-US" sz="800" b="1" dirty="0">
                          <a:solidFill>
                            <a:srgbClr val="FFFFFF"/>
                          </a:solidFill>
                          <a:latin typeface="맑은 고딕" pitchFamily="34" charset="0"/>
                          <a:ea typeface="맑은 고딕" pitchFamily="34" charset="-122"/>
                          <a:cs typeface="맑은 고딕" pitchFamily="34" charset="-120"/>
                        </a:rPr>
                        <a:t>보장 항목</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2A4A"/>
                    </a:solidFill>
                  </a:tcPr>
                </a:tc>
                <a:tc>
                  <a:txBody>
                    <a:bodyPr/>
                    <a:lstStyle/>
                    <a:p>
                      <a:pPr marL="0" indent="0" algn="ctr">
                        <a:buNone/>
                      </a:pPr>
                      <a:r>
                        <a:rPr lang="en-US" sz="800" b="1" dirty="0">
                          <a:solidFill>
                            <a:srgbClr val="FFFFFF"/>
                          </a:solidFill>
                          <a:latin typeface="맑은 고딕" pitchFamily="34" charset="0"/>
                          <a:ea typeface="맑은 고딕" pitchFamily="34" charset="-122"/>
                          <a:cs typeface="맑은 고딕" pitchFamily="34" charset="-120"/>
                        </a:rPr>
                        <a:t>보장 금액</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2A4A"/>
                    </a:solidFill>
                  </a:tcPr>
                </a:tc>
                <a:tc>
                  <a:txBody>
                    <a:bodyPr/>
                    <a:lstStyle/>
                    <a:p>
                      <a:pPr marL="0" indent="0" algn="ctr">
                        <a:buNone/>
                      </a:pPr>
                      <a:r>
                        <a:rPr lang="en-US" sz="800" b="1" dirty="0">
                          <a:solidFill>
                            <a:srgbClr val="FFFFFF"/>
                          </a:solidFill>
                          <a:latin typeface="맑은 고딕" pitchFamily="34" charset="0"/>
                          <a:ea typeface="맑은 고딕" pitchFamily="34" charset="-122"/>
                          <a:cs typeface="맑은 고딕" pitchFamily="34" charset="-120"/>
                        </a:rPr>
                        <a:t>보장 기간</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2A4A"/>
                    </a:solidFill>
                  </a:tcPr>
                </a:tc>
                <a:tc>
                  <a:txBody>
                    <a:bodyPr/>
                    <a:lstStyle/>
                    <a:p>
                      <a:pPr marL="0" indent="0" algn="ctr">
                        <a:buNone/>
                      </a:pPr>
                      <a:r>
                        <a:rPr lang="en-US" sz="800" b="1" dirty="0">
                          <a:solidFill>
                            <a:srgbClr val="FFFFFF"/>
                          </a:solidFill>
                          <a:latin typeface="맑은 고딕" pitchFamily="34" charset="0"/>
                          <a:ea typeface="맑은 고딕" pitchFamily="34" charset="-122"/>
                          <a:cs typeface="맑은 고딕" pitchFamily="34" charset="-120"/>
                        </a:rPr>
                        <a:t>월 보험료</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2A4A"/>
                    </a:solidFill>
                  </a:tcPr>
                </a:tc>
                <a:tc>
                  <a:txBody>
                    <a:bodyPr/>
                    <a:lstStyle/>
                    <a:p>
                      <a:pPr marL="0" indent="0" algn="ctr">
                        <a:buNone/>
                      </a:pPr>
                      <a:r>
                        <a:rPr lang="en-US" sz="800" b="1" dirty="0">
                          <a:solidFill>
                            <a:srgbClr val="FFFFFF"/>
                          </a:solidFill>
                          <a:latin typeface="맑은 고딕" pitchFamily="34" charset="0"/>
                          <a:ea typeface="맑은 고딕" pitchFamily="34" charset="-122"/>
                          <a:cs typeface="맑은 고딕" pitchFamily="34" charset="-120"/>
                        </a:rPr>
                        <a:t>비고 (설계 의도)</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274320">
                <a:tc>
                  <a:txBody>
                    <a:bodyPr/>
                    <a:lstStyle/>
                    <a:p>
                      <a:pPr marL="0" indent="0" algn="ctr">
                        <a:buNone/>
                      </a:pPr>
                      <a:r>
                        <a:rPr lang="en-US" sz="800" b="1" dirty="0">
                          <a:solidFill>
                            <a:srgbClr val="3B82F6"/>
                          </a:solidFill>
                          <a:latin typeface="맑은 고딕" pitchFamily="34" charset="0"/>
                          <a:ea typeface="맑은 고딕" pitchFamily="34" charset="-122"/>
                          <a:cs typeface="맑은 고딕" pitchFamily="34" charset="-120"/>
                        </a:rPr>
                        <a:t>신규</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이지은</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암 진단비</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1억원</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90세 만기</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75,000원</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l">
                        <a:buNone/>
                      </a:pPr>
                      <a:r>
                        <a:rPr lang="en-US" sz="800" dirty="0">
                          <a:solidFill>
                            <a:srgbClr val="000000"/>
                          </a:solidFill>
                          <a:latin typeface="맑은 고딕" pitchFamily="34" charset="0"/>
                          <a:ea typeface="맑은 고딕" pitchFamily="34" charset="-122"/>
                          <a:cs typeface="맑은 고딕" pitchFamily="34" charset="-120"/>
                        </a:rPr>
                        <a:t>여성암(유방/자궁) 포함</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extLst>
                  <a:ext uri="{0D108BD9-81ED-4DB2-BD59-A6C34878D82A}">
                    <a16:rowId xmlns:a16="http://schemas.microsoft.com/office/drawing/2014/main" val="10001"/>
                  </a:ext>
                </a:extLst>
              </a:tr>
              <a:tr h="274320">
                <a:tc>
                  <a:txBody>
                    <a:bodyPr/>
                    <a:lstStyle/>
                    <a:p>
                      <a:pPr marL="0" indent="0" algn="ctr">
                        <a:buNone/>
                      </a:pP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뇌혈관/허혈성 진단비</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3천만원</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30,000원</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l">
                        <a:buNone/>
                      </a:pPr>
                      <a:r>
                        <a:rPr lang="en-US" sz="800" dirty="0">
                          <a:solidFill>
                            <a:srgbClr val="000000"/>
                          </a:solidFill>
                          <a:latin typeface="맑은 고딕" pitchFamily="34" charset="0"/>
                          <a:ea typeface="맑은 고딕" pitchFamily="34" charset="-122"/>
                          <a:cs typeface="맑은 고딕" pitchFamily="34" charset="-120"/>
                        </a:rPr>
                        <a:t>여성 발병률 고려</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extLst>
                  <a:ext uri="{0D108BD9-81ED-4DB2-BD59-A6C34878D82A}">
                    <a16:rowId xmlns:a16="http://schemas.microsoft.com/office/drawing/2014/main" val="10002"/>
                  </a:ext>
                </a:extLst>
              </a:tr>
              <a:tr h="274320">
                <a:tc>
                  <a:txBody>
                    <a:bodyPr/>
                    <a:lstStyle/>
                    <a:p>
                      <a:pPr marL="0" indent="0" algn="ctr">
                        <a:buNone/>
                      </a:pP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질병후유장해(3%~)</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1억원</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20,000원</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l">
                        <a:buNone/>
                      </a:pPr>
                      <a:r>
                        <a:rPr lang="en-US" sz="800" dirty="0">
                          <a:solidFill>
                            <a:srgbClr val="000000"/>
                          </a:solidFill>
                          <a:latin typeface="맑은 고딕" pitchFamily="34" charset="0"/>
                          <a:ea typeface="맑은 고딕" pitchFamily="34" charset="-122"/>
                          <a:cs typeface="맑은 고딕" pitchFamily="34" charset="-120"/>
                        </a:rPr>
                        <a:t>가사 노동 가치 보존</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extLst>
                  <a:ext uri="{0D108BD9-81ED-4DB2-BD59-A6C34878D82A}">
                    <a16:rowId xmlns:a16="http://schemas.microsoft.com/office/drawing/2014/main" val="10003"/>
                  </a:ext>
                </a:extLst>
              </a:tr>
              <a:tr h="274320">
                <a:tc>
                  <a:txBody>
                    <a:bodyPr/>
                    <a:lstStyle/>
                    <a:p>
                      <a:pPr marL="0" indent="0" algn="ctr">
                        <a:buNone/>
                      </a:pP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임신/출산 특약</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보장별 상이</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1년 만기</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5,000원</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tc>
                  <a:txBody>
                    <a:bodyPr/>
                    <a:lstStyle/>
                    <a:p>
                      <a:pPr marL="0" indent="0" algn="l">
                        <a:buNone/>
                      </a:pPr>
                      <a:r>
                        <a:rPr lang="en-US" sz="800" dirty="0">
                          <a:solidFill>
                            <a:srgbClr val="000000"/>
                          </a:solidFill>
                          <a:latin typeface="맑은 고딕" pitchFamily="34" charset="0"/>
                          <a:ea typeface="맑은 고딕" pitchFamily="34" charset="-122"/>
                          <a:cs typeface="맑은 고딕" pitchFamily="34" charset="-120"/>
                        </a:rPr>
                        <a:t>태아보험 가입 연계</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FF6FF"/>
                    </a:solidFill>
                  </a:tcPr>
                </a:tc>
                <a:extLst>
                  <a:ext uri="{0D108BD9-81ED-4DB2-BD59-A6C34878D82A}">
                    <a16:rowId xmlns:a16="http://schemas.microsoft.com/office/drawing/2014/main" val="10004"/>
                  </a:ext>
                </a:extLst>
              </a:tr>
              <a:tr h="274320">
                <a:tc>
                  <a:txBody>
                    <a:bodyPr/>
                    <a:lstStyle/>
                    <a:p>
                      <a:pPr marL="0" indent="0" algn="ctr">
                        <a:buNone/>
                      </a:pPr>
                      <a:r>
                        <a:rPr lang="en-US" sz="800" b="1" dirty="0">
                          <a:solidFill>
                            <a:srgbClr val="6B7280"/>
                          </a:solidFill>
                          <a:latin typeface="맑은 고딕" pitchFamily="34" charset="0"/>
                          <a:ea typeface="맑은 고딕" pitchFamily="34" charset="-122"/>
                          <a:cs typeface="맑은 고딕" pitchFamily="34" charset="-120"/>
                        </a:rPr>
                        <a:t>조정</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7F8FA"/>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김민준</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7F8FA"/>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(A사)종신보험 감액</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7F8FA"/>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5천만원</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7F8FA"/>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종신</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7F8FA"/>
                    </a:solidFill>
                  </a:tcPr>
                </a:tc>
                <a:tc>
                  <a:txBody>
                    <a:bodyPr/>
                    <a:lstStyle/>
                    <a:p>
                      <a:pPr marL="0" indent="0" algn="ctr">
                        <a:buNone/>
                      </a:pPr>
                      <a:r>
                        <a:rPr lang="en-US" sz="800" dirty="0">
                          <a:solidFill>
                            <a:srgbClr val="000000"/>
                          </a:solidFill>
                          <a:latin typeface="맑은 고딕" pitchFamily="34" charset="0"/>
                          <a:ea typeface="맑은 고딕" pitchFamily="34" charset="-122"/>
                          <a:cs typeface="맑은 고딕" pitchFamily="34" charset="-120"/>
                        </a:rPr>
                        <a:t>70,000원</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7F8FA"/>
                    </a:solidFill>
                  </a:tcPr>
                </a:tc>
                <a:tc>
                  <a:txBody>
                    <a:bodyPr/>
                    <a:lstStyle/>
                    <a:p>
                      <a:pPr marL="0" indent="0" algn="l">
                        <a:buNone/>
                      </a:pPr>
                      <a:r>
                        <a:rPr lang="en-US" sz="800" dirty="0">
                          <a:solidFill>
                            <a:srgbClr val="000000"/>
                          </a:solidFill>
                          <a:latin typeface="맑은 고딕" pitchFamily="34" charset="0"/>
                          <a:ea typeface="맑은 고딕" pitchFamily="34" charset="-122"/>
                          <a:cs typeface="맑은 고딕" pitchFamily="34" charset="-120"/>
                        </a:rPr>
                        <a:t>최소한의 사망보장 유지</a:t>
                      </a:r>
                      <a:endParaRPr lang="en-US" sz="8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7F8FA"/>
                    </a:solidFill>
                  </a:tcPr>
                </a:tc>
                <a:extLst>
                  <a:ext uri="{0D108BD9-81ED-4DB2-BD59-A6C34878D82A}">
                    <a16:rowId xmlns:a16="http://schemas.microsoft.com/office/drawing/2014/main" val="10005"/>
                  </a:ext>
                </a:extLst>
              </a:tr>
              <a:tr h="320040">
                <a:tc>
                  <a:txBody>
                    <a:bodyPr/>
                    <a:lstStyle/>
                    <a:p>
                      <a:pPr marL="0" indent="0" algn="ctr">
                        <a:buNone/>
                      </a:pPr>
                      <a:r>
                        <a:rPr lang="en-US" sz="900" b="1" dirty="0">
                          <a:solidFill>
                            <a:srgbClr val="1B2A4A"/>
                          </a:solidFill>
                          <a:latin typeface="맑은 고딕" pitchFamily="34" charset="0"/>
                          <a:ea typeface="맑은 고딕" pitchFamily="34" charset="-122"/>
                          <a:cs typeface="맑은 고딕" pitchFamily="34" charset="-120"/>
                        </a:rPr>
                        <a:t>합계</a:t>
                      </a:r>
                      <a:endParaRPr lang="en-US" sz="9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AF2FF"/>
                    </a:solidFill>
                  </a:tcPr>
                </a:tc>
                <a:tc>
                  <a:txBody>
                    <a:bodyPr/>
                    <a:lstStyle/>
                    <a:p>
                      <a:pPr marL="0" indent="0">
                        <a:buNone/>
                      </a:pPr>
                      <a:endParaRPr lang="en-US" sz="12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AF2FF"/>
                    </a:solidFill>
                  </a:tcPr>
                </a:tc>
                <a:tc>
                  <a:txBody>
                    <a:bodyPr/>
                    <a:lstStyle/>
                    <a:p>
                      <a:pPr marL="0" indent="0">
                        <a:buNone/>
                      </a:pPr>
                      <a:endParaRPr lang="en-US" sz="12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AF2FF"/>
                    </a:solidFill>
                  </a:tcPr>
                </a:tc>
                <a:tc>
                  <a:txBody>
                    <a:bodyPr/>
                    <a:lstStyle/>
                    <a:p>
                      <a:pPr marL="0" indent="0">
                        <a:buNone/>
                      </a:pPr>
                      <a:endParaRPr lang="en-US" sz="12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AF2FF"/>
                    </a:solidFill>
                  </a:tcPr>
                </a:tc>
                <a:tc>
                  <a:txBody>
                    <a:bodyPr/>
                    <a:lstStyle/>
                    <a:p>
                      <a:pPr marL="0" indent="0">
                        <a:buNone/>
                      </a:pPr>
                      <a:endParaRPr lang="en-US" sz="12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AF2FF"/>
                    </a:solidFill>
                  </a:tcPr>
                </a:tc>
                <a:tc>
                  <a:txBody>
                    <a:bodyPr/>
                    <a:lstStyle/>
                    <a:p>
                      <a:pPr marL="0" indent="0" algn="ctr">
                        <a:buNone/>
                      </a:pPr>
                      <a:r>
                        <a:rPr lang="en-US" sz="900" b="1" dirty="0">
                          <a:solidFill>
                            <a:srgbClr val="1B2A4A"/>
                          </a:solidFill>
                          <a:latin typeface="맑은 고딕" pitchFamily="34" charset="0"/>
                          <a:ea typeface="맑은 고딕" pitchFamily="34" charset="-122"/>
                          <a:cs typeface="맑은 고딕" pitchFamily="34" charset="-120"/>
                        </a:rPr>
                        <a:t>월 495,000원</a:t>
                      </a:r>
                      <a:endParaRPr lang="en-US" sz="9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AF2FF"/>
                    </a:solidFill>
                  </a:tcPr>
                </a:tc>
                <a:tc>
                  <a:txBody>
                    <a:bodyPr/>
                    <a:lstStyle/>
                    <a:p>
                      <a:pPr marL="0" indent="0" algn="l">
                        <a:buNone/>
                      </a:pPr>
                      <a:r>
                        <a:rPr lang="en-US" sz="900" b="1" dirty="0">
                          <a:solidFill>
                            <a:srgbClr val="1B2A4A"/>
                          </a:solidFill>
                          <a:latin typeface="맑은 고딕" pitchFamily="34" charset="0"/>
                          <a:ea typeface="맑은 고딕" pitchFamily="34" charset="-122"/>
                          <a:cs typeface="맑은 고딕" pitchFamily="34" charset="-120"/>
                        </a:rPr>
                        <a:t>월 55,000원 절감 및 보장 극대화</a:t>
                      </a:r>
                      <a:endParaRPr lang="en-US" sz="900" dirty="0">
                        <a:latin typeface="맑은 고딕" charset="0"/>
                        <a:ea typeface="맑은 고딕" charset="0"/>
                        <a:cs typeface="맑은 고딕" charset="0"/>
                      </a:endParaRPr>
                    </a:p>
                  </a:txBody>
                  <a:tcPr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AF2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13</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IV. 맞춤형 솔루션 제안: 재무적 안전망 구축 (3/3)</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맞춤형 컨설팅 특급보고서 — [맞벌이 30대 신혼부부] 보험, 결혼보다 중요한 리스크 계약</a:t>
            </a:r>
            <a:endParaRPr lang="en-US" sz="7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13 / 21</a:t>
            </a:r>
            <a:endParaRPr lang="en-US" sz="800" dirty="0"/>
          </a:p>
        </p:txBody>
      </p:sp>
      <p:sp>
        <p:nvSpPr>
          <p:cNvPr id="7" name="Text 5"/>
          <p:cNvSpPr/>
          <p:nvPr/>
        </p:nvSpPr>
        <p:spPr>
          <a:xfrm>
            <a:off x="548640" y="685800"/>
            <a:ext cx="8046720" cy="274320"/>
          </a:xfrm>
          <a:prstGeom prst="rect">
            <a:avLst/>
          </a:prstGeom>
          <a:noFill/>
          <a:ln/>
        </p:spPr>
        <p:txBody>
          <a:bodyPr wrap="square" lIns="25400" tIns="50800" rIns="50800" bIns="25400" rtlCol="0" anchor="t"/>
          <a:lstStyle/>
          <a:p>
            <a:pPr marL="0" indent="0" algn="l">
              <a:lnSpc>
                <a:spcPct val="115000"/>
              </a:lnSpc>
              <a:buNone/>
            </a:pPr>
            <a:r>
              <a:rPr lang="en-US" sz="1300" b="1" dirty="0">
                <a:solidFill>
                  <a:srgbClr val="1B2A4A"/>
                </a:solidFill>
                <a:latin typeface="맑은 고딕" pitchFamily="34" charset="0"/>
                <a:ea typeface="맑은 고딕" pitchFamily="34" charset="-122"/>
                <a:cs typeface="맑은 고딕" pitchFamily="34" charset="-120"/>
              </a:rPr>
              <a:t>4. 이 설계를 제안하는 이유 (Rationale)</a:t>
            </a:r>
            <a:endParaRPr lang="en-US" sz="1300" dirty="0"/>
          </a:p>
        </p:txBody>
      </p:sp>
      <p:sp>
        <p:nvSpPr>
          <p:cNvPr id="8" name="Shape 6"/>
          <p:cNvSpPr/>
          <p:nvPr/>
        </p:nvSpPr>
        <p:spPr>
          <a:xfrm>
            <a:off x="548640" y="1097280"/>
            <a:ext cx="8046720" cy="13716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548640" y="1097280"/>
            <a:ext cx="54864" cy="1371600"/>
          </a:xfrm>
          <a:prstGeom prst="rect">
            <a:avLst/>
          </a:prstGeom>
          <a:solidFill>
            <a:srgbClr val="C8962E"/>
          </a:solidFill>
          <a:ln w="12700">
            <a:solidFill>
              <a:srgbClr val="C8962E"/>
            </a:solidFill>
            <a:prstDash val="solid"/>
          </a:ln>
        </p:spPr>
        <p:txBody>
          <a:bodyPr/>
          <a:lstStyle/>
          <a:p>
            <a:endParaRPr lang="ko-KR" altLang="en-US"/>
          </a:p>
        </p:txBody>
      </p:sp>
      <p:sp>
        <p:nvSpPr>
          <p:cNvPr id="10" name="Text 8"/>
          <p:cNvSpPr/>
          <p:nvPr/>
        </p:nvSpPr>
        <p:spPr>
          <a:xfrm>
            <a:off x="685800" y="1143000"/>
            <a:ext cx="7772400" cy="228600"/>
          </a:xfrm>
          <a:prstGeom prst="rect">
            <a:avLst/>
          </a:prstGeom>
          <a:noFill/>
          <a:ln/>
        </p:spPr>
        <p:txBody>
          <a:bodyPr wrap="square" lIns="25400" tIns="50800" rIns="50800" bIns="25400" rtlCol="0" anchor="t"/>
          <a:lstStyle/>
          <a:p>
            <a:pPr marL="0" indent="0" algn="l">
              <a:lnSpc>
                <a:spcPct val="115000"/>
              </a:lnSpc>
              <a:buNone/>
            </a:pPr>
            <a:r>
              <a:rPr lang="en-US" sz="1100" b="1" dirty="0">
                <a:solidFill>
                  <a:srgbClr val="2B2B2B"/>
                </a:solidFill>
                <a:latin typeface="맑은 고딕" pitchFamily="34" charset="0"/>
                <a:ea typeface="맑은 고딕" pitchFamily="34" charset="-122"/>
                <a:cs typeface="맑은 고딕" pitchFamily="34" charset="-120"/>
              </a:rPr>
              <a:t>왜 이 상품(회사)을 선택했는가?</a:t>
            </a:r>
            <a:endParaRPr lang="en-US" sz="1050" dirty="0"/>
          </a:p>
        </p:txBody>
      </p:sp>
      <p:sp>
        <p:nvSpPr>
          <p:cNvPr id="11" name="Text 9"/>
          <p:cNvSpPr/>
          <p:nvPr/>
        </p:nvSpPr>
        <p:spPr>
          <a:xfrm>
            <a:off x="685800" y="1417320"/>
            <a:ext cx="7772400" cy="640080"/>
          </a:xfrm>
          <a:prstGeom prst="rect">
            <a:avLst/>
          </a:prstGeom>
          <a:noFill/>
          <a:ln/>
        </p:spPr>
        <p:txBody>
          <a:bodyPr wrap="square" lIns="25400" tIns="50800" rIns="50800" bIns="25400" rtlCol="0" anchor="t"/>
          <a:lstStyle/>
          <a:p>
            <a:pPr marL="0" indent="0" algn="l">
              <a:lnSpc>
                <a:spcPct val="140000"/>
              </a:lnSpc>
              <a:buNone/>
            </a:pPr>
            <a:r>
              <a:rPr lang="en-US" sz="1000" dirty="0">
                <a:solidFill>
                  <a:srgbClr val="4A5568"/>
                </a:solidFill>
                <a:latin typeface="맑은 고딕" pitchFamily="34" charset="0"/>
                <a:ea typeface="맑은 고딕" pitchFamily="34" charset="-122"/>
                <a:cs typeface="맑은 고딕" pitchFamily="34" charset="-120"/>
              </a:rPr>
              <a:t>제안 드린 F사는 현재 업계에서 뇌혈관/허혈성심장질환 진단비의 보장 범위가 가장 넓고, 유사암 진단비 한도가 높아 고객에게 가장 유리합니다. 동일 보험료 대비 최고의 효율을 제공합니다.</a:t>
            </a:r>
            <a:endParaRPr lang="en-US" sz="1000" dirty="0"/>
          </a:p>
        </p:txBody>
      </p:sp>
      <p:sp>
        <p:nvSpPr>
          <p:cNvPr id="12" name="Shape 10"/>
          <p:cNvSpPr/>
          <p:nvPr/>
        </p:nvSpPr>
        <p:spPr>
          <a:xfrm>
            <a:off x="548640" y="2606040"/>
            <a:ext cx="8046720" cy="15544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548640" y="2606040"/>
            <a:ext cx="54864" cy="1554480"/>
          </a:xfrm>
          <a:prstGeom prst="rect">
            <a:avLst/>
          </a:prstGeom>
          <a:solidFill>
            <a:srgbClr val="C8962E"/>
          </a:solidFill>
          <a:ln w="12700">
            <a:solidFill>
              <a:srgbClr val="C8962E"/>
            </a:solidFill>
            <a:prstDash val="solid"/>
          </a:ln>
        </p:spPr>
        <p:txBody>
          <a:bodyPr/>
          <a:lstStyle/>
          <a:p>
            <a:endParaRPr lang="ko-KR" altLang="en-US"/>
          </a:p>
        </p:txBody>
      </p:sp>
      <p:sp>
        <p:nvSpPr>
          <p:cNvPr id="14" name="Text 12"/>
          <p:cNvSpPr/>
          <p:nvPr/>
        </p:nvSpPr>
        <p:spPr>
          <a:xfrm>
            <a:off x="685800" y="2651760"/>
            <a:ext cx="7772400" cy="228600"/>
          </a:xfrm>
          <a:prstGeom prst="rect">
            <a:avLst/>
          </a:prstGeom>
          <a:noFill/>
          <a:ln/>
        </p:spPr>
        <p:txBody>
          <a:bodyPr wrap="square" lIns="25400" tIns="50800" rIns="50800" bIns="25400" rtlCol="0" anchor="t"/>
          <a:lstStyle/>
          <a:p>
            <a:pPr marL="0" indent="0" algn="l">
              <a:lnSpc>
                <a:spcPct val="115000"/>
              </a:lnSpc>
              <a:buNone/>
            </a:pPr>
            <a:r>
              <a:rPr lang="en-US" sz="1100" b="1" dirty="0">
                <a:solidFill>
                  <a:srgbClr val="2B2B2B"/>
                </a:solidFill>
                <a:latin typeface="맑은 고딕" pitchFamily="34" charset="0"/>
                <a:ea typeface="맑은 고딕" pitchFamily="34" charset="-122"/>
                <a:cs typeface="맑은 고딕" pitchFamily="34" charset="-120"/>
              </a:rPr>
              <a:t>이 설계가 고객님의 재무 목표 달성에 어떻게 기여하는가?</a:t>
            </a:r>
            <a:endParaRPr lang="en-US" sz="1050" dirty="0"/>
          </a:p>
        </p:txBody>
      </p:sp>
      <p:sp>
        <p:nvSpPr>
          <p:cNvPr id="15" name="Text 13"/>
          <p:cNvSpPr/>
          <p:nvPr/>
        </p:nvSpPr>
        <p:spPr>
          <a:xfrm>
            <a:off x="685800" y="2926080"/>
            <a:ext cx="7772400" cy="1143000"/>
          </a:xfrm>
          <a:prstGeom prst="rect">
            <a:avLst/>
          </a:prstGeom>
          <a:noFill/>
          <a:ln/>
        </p:spPr>
        <p:txBody>
          <a:bodyPr wrap="square" lIns="25400" tIns="50800" rIns="50800" bIns="25400" rtlCol="0" anchor="t"/>
          <a:lstStyle/>
          <a:p>
            <a:pPr marL="0" indent="0" algn="l">
              <a:lnSpc>
                <a:spcPct val="140000"/>
              </a:lnSpc>
              <a:buNone/>
            </a:pPr>
            <a:r>
              <a:rPr lang="en-US" sz="1000" dirty="0">
                <a:solidFill>
                  <a:srgbClr val="4A5568"/>
                </a:solidFill>
                <a:latin typeface="맑은 고딕" pitchFamily="34" charset="0"/>
                <a:ea typeface="맑은 고딕" pitchFamily="34" charset="-122"/>
                <a:cs typeface="맑은 고딕" pitchFamily="34" charset="-120"/>
              </a:rPr>
              <a:t>월 55,000원, 연 66만원의 현금 흐름을 추가 확보하여 '내 집 마련'을 위한 저축액을 늘리거나, 곧 태어날 아기를 위한 '태아보험' 재원으로 완벽하게 활용할 수 있습니다. 가장 큰 리스크였던 '소득 상실'에 대한 완벽한 안전장치를 마련함으로써, 두 분은 이제 안심하고 각자의 커리어와 자산 증식에만 집중할 수 있습니다.</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14</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 기대 효과 및 미래 모습 (1/2)</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맞춤형 컨설팅 특급보고서 — [맞벌이 30대 신혼부부] 보험, 결혼보다 중요한 리스크 계약</a:t>
            </a:r>
            <a:endParaRPr lang="en-US" sz="7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14 / 21</a:t>
            </a:r>
            <a:endParaRPr lang="en-US" sz="800" dirty="0"/>
          </a:p>
        </p:txBody>
      </p:sp>
      <p:sp>
        <p:nvSpPr>
          <p:cNvPr id="7" name="Text 5"/>
          <p:cNvSpPr/>
          <p:nvPr/>
        </p:nvSpPr>
        <p:spPr>
          <a:xfrm>
            <a:off x="548640" y="685800"/>
            <a:ext cx="8046720" cy="274320"/>
          </a:xfrm>
          <a:prstGeom prst="rect">
            <a:avLst/>
          </a:prstGeom>
          <a:noFill/>
          <a:ln/>
        </p:spPr>
        <p:txBody>
          <a:bodyPr wrap="square" lIns="25400" tIns="50800" rIns="50800" bIns="25400" rtlCol="0" anchor="t"/>
          <a:lstStyle/>
          <a:p>
            <a:pPr marL="0" indent="0" algn="l">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이 제안을 받아들였을 때, 고객님의 삶이 어떻게 긍정적으로 변화하는지 구체적인 그림으로 보여드리겠습니다.</a:t>
            </a:r>
            <a:endParaRPr lang="en-US" sz="1000" dirty="0"/>
          </a:p>
        </p:txBody>
      </p:sp>
      <p:sp>
        <p:nvSpPr>
          <p:cNvPr id="8" name="Text 6"/>
          <p:cNvSpPr/>
          <p:nvPr/>
        </p:nvSpPr>
        <p:spPr>
          <a:xfrm>
            <a:off x="548640" y="1051560"/>
            <a:ext cx="8046720" cy="228600"/>
          </a:xfrm>
          <a:prstGeom prst="rect">
            <a:avLst/>
          </a:prstGeom>
          <a:noFill/>
          <a:ln/>
        </p:spPr>
        <p:txBody>
          <a:bodyPr wrap="square" lIns="25400" tIns="50800" rIns="50800" bIns="25400" rtlCol="0" anchor="t"/>
          <a:lstStyle/>
          <a:p>
            <a:pPr marL="0" indent="0" algn="l">
              <a:lnSpc>
                <a:spcPct val="115000"/>
              </a:lnSpc>
              <a:buNone/>
            </a:pPr>
            <a:r>
              <a:rPr lang="en-US" sz="1300" b="1" dirty="0">
                <a:solidFill>
                  <a:srgbClr val="1B2A4A"/>
                </a:solidFill>
                <a:latin typeface="맑은 고딕" pitchFamily="34" charset="0"/>
                <a:ea typeface="맑은 고딕" pitchFamily="34" charset="-122"/>
                <a:cs typeface="맑은 고딕" pitchFamily="34" charset="-120"/>
              </a:rPr>
              <a:t>1. 재무적 안정성 변화</a:t>
            </a:r>
            <a:endParaRPr lang="en-US" sz="1300" dirty="0"/>
          </a:p>
        </p:txBody>
      </p:sp>
      <p:sp>
        <p:nvSpPr>
          <p:cNvPr id="9" name="Shape 7"/>
          <p:cNvSpPr/>
          <p:nvPr/>
        </p:nvSpPr>
        <p:spPr>
          <a:xfrm>
            <a:off x="548640" y="1371600"/>
            <a:ext cx="3794760" cy="26517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ko-KR" altLang="en-US"/>
          </a:p>
        </p:txBody>
      </p:sp>
      <p:sp>
        <p:nvSpPr>
          <p:cNvPr id="10" name="Shape 8"/>
          <p:cNvSpPr/>
          <p:nvPr/>
        </p:nvSpPr>
        <p:spPr>
          <a:xfrm>
            <a:off x="548640" y="1371600"/>
            <a:ext cx="54864" cy="2651760"/>
          </a:xfrm>
          <a:prstGeom prst="rect">
            <a:avLst/>
          </a:prstGeom>
          <a:solidFill>
            <a:srgbClr val="D4382C"/>
          </a:solidFill>
          <a:ln w="12700">
            <a:solidFill>
              <a:srgbClr val="D4382C"/>
            </a:solidFill>
            <a:prstDash val="solid"/>
          </a:ln>
        </p:spPr>
        <p:txBody>
          <a:bodyPr/>
          <a:lstStyle/>
          <a:p>
            <a:endParaRPr lang="ko-KR" altLang="en-US"/>
          </a:p>
        </p:txBody>
      </p:sp>
      <p:sp>
        <p:nvSpPr>
          <p:cNvPr id="11" name="Shape 9"/>
          <p:cNvSpPr/>
          <p:nvPr/>
        </p:nvSpPr>
        <p:spPr>
          <a:xfrm>
            <a:off x="603504" y="1371600"/>
            <a:ext cx="3739896" cy="2651760"/>
          </a:xfrm>
          <a:prstGeom prst="rect">
            <a:avLst/>
          </a:prstGeom>
          <a:ln w="19050">
            <a:solidFill>
              <a:srgbClr val="D4382C"/>
            </a:solidFill>
            <a:prstDash val="solid"/>
          </a:ln>
        </p:spPr>
        <p:txBody>
          <a:bodyPr/>
          <a:lstStyle/>
          <a:p>
            <a:endParaRPr lang="ko-KR" altLang="en-US"/>
          </a:p>
        </p:txBody>
      </p:sp>
      <p:sp>
        <p:nvSpPr>
          <p:cNvPr id="12" name="Text 10"/>
          <p:cNvSpPr/>
          <p:nvPr/>
        </p:nvSpPr>
        <p:spPr>
          <a:xfrm>
            <a:off x="685800" y="1463040"/>
            <a:ext cx="3566160" cy="320040"/>
          </a:xfrm>
          <a:prstGeom prst="rect">
            <a:avLst/>
          </a:prstGeom>
          <a:noFill/>
          <a:ln/>
        </p:spPr>
        <p:txBody>
          <a:bodyPr wrap="square" lIns="25400" tIns="50800" rIns="50800" bIns="25400" rtlCol="0" anchor="t"/>
          <a:lstStyle/>
          <a:p>
            <a:pPr marL="0" indent="0" algn="l">
              <a:lnSpc>
                <a:spcPct val="115000"/>
              </a:lnSpc>
              <a:buNone/>
            </a:pPr>
            <a:r>
              <a:rPr lang="en-US" sz="1050" b="1" dirty="0">
                <a:solidFill>
                  <a:srgbClr val="D4382C"/>
                </a:solidFill>
                <a:latin typeface="맑은 고딕" pitchFamily="34" charset="0"/>
                <a:ea typeface="맑은 고딕" pitchFamily="34" charset="-122"/>
                <a:cs typeface="맑은 고딕" pitchFamily="34" charset="-120"/>
              </a:rPr>
              <a:t>Before: 만약 아내(이지은)가 유방암 진단을 받는다면,</a:t>
            </a:r>
            <a:endParaRPr lang="en-US" sz="1050" dirty="0"/>
          </a:p>
        </p:txBody>
      </p:sp>
      <p:sp>
        <p:nvSpPr>
          <p:cNvPr id="13" name="Text 11"/>
          <p:cNvSpPr/>
          <p:nvPr/>
        </p:nvSpPr>
        <p:spPr>
          <a:xfrm>
            <a:off x="685800" y="1828800"/>
            <a:ext cx="3566160" cy="1005840"/>
          </a:xfrm>
          <a:prstGeom prst="rect">
            <a:avLst/>
          </a:prstGeom>
          <a:noFill/>
          <a:ln/>
        </p:spPr>
        <p:txBody>
          <a:bodyPr wrap="square" lIns="25400" tIns="50800" rIns="50800" bIns="25400" rtlCol="0" anchor="t"/>
          <a:lstStyle/>
          <a:p>
            <a:pPr marL="0" indent="0" algn="l">
              <a:lnSpc>
                <a:spcPct val="130000"/>
              </a:lnSpc>
              <a:buNone/>
            </a:pPr>
            <a:r>
              <a:rPr lang="en-US" sz="900" dirty="0">
                <a:solidFill>
                  <a:srgbClr val="4A5568"/>
                </a:solidFill>
                <a:latin typeface="맑은 고딕" pitchFamily="34" charset="0"/>
                <a:ea typeface="맑은 고딕" pitchFamily="34" charset="-122"/>
                <a:cs typeface="맑은 고딕" pitchFamily="34" charset="-120"/>
              </a:rPr>
              <a:t>기존 CI보험에서는 '중대한' 암이 아니라는 이유로 보험금 지급이 거절될 수 있습니다. 결국 5,000만원 이상의 치료비와 1년간의 소득 공백(약 5천만원)을 기존 자산과 대출로 감당해야 합니다.</a:t>
            </a:r>
            <a:endParaRPr lang="en-US" sz="900" dirty="0"/>
          </a:p>
        </p:txBody>
      </p:sp>
      <p:sp>
        <p:nvSpPr>
          <p:cNvPr id="14" name="Text 12"/>
          <p:cNvSpPr/>
          <p:nvPr/>
        </p:nvSpPr>
        <p:spPr>
          <a:xfrm>
            <a:off x="685800" y="2926080"/>
            <a:ext cx="3566160" cy="274320"/>
          </a:xfrm>
          <a:prstGeom prst="rect">
            <a:avLst/>
          </a:prstGeom>
          <a:noFill/>
          <a:ln/>
        </p:spPr>
        <p:txBody>
          <a:bodyPr wrap="square" lIns="25400" tIns="50800" rIns="50800" bIns="25400" rtlCol="0" anchor="t"/>
          <a:lstStyle/>
          <a:p>
            <a:pPr marL="0" indent="0" algn="l">
              <a:lnSpc>
                <a:spcPct val="115000"/>
              </a:lnSpc>
              <a:buNone/>
            </a:pPr>
            <a:r>
              <a:rPr lang="en-US" sz="950" b="1" dirty="0">
                <a:solidFill>
                  <a:srgbClr val="2B2B2B"/>
                </a:solidFill>
                <a:latin typeface="맑은 고딕" pitchFamily="34" charset="0"/>
                <a:ea typeface="맑은 고딕" pitchFamily="34" charset="-122"/>
                <a:cs typeface="맑은 고딕" pitchFamily="34" charset="-120"/>
              </a:rPr>
              <a:t>'내 집 마련'의 꿈은 기약 없이 미뤄집니다.</a:t>
            </a:r>
            <a:endParaRPr lang="en-US" sz="950" dirty="0"/>
          </a:p>
        </p:txBody>
      </p:sp>
      <p:sp>
        <p:nvSpPr>
          <p:cNvPr id="15" name="Shape 13"/>
          <p:cNvSpPr/>
          <p:nvPr/>
        </p:nvSpPr>
        <p:spPr>
          <a:xfrm>
            <a:off x="4800600" y="1371600"/>
            <a:ext cx="3794760" cy="2651760"/>
          </a:xfrm>
          <a:prstGeom prst="rect">
            <a:avLst/>
          </a:prstGeom>
          <a:solidFill>
            <a:srgbClr val="EFF6FF"/>
          </a:solidFill>
          <a:ln/>
          <a:effectLst>
            <a:outerShdw blurRad="50800" dist="25400" dir="8100000" algn="bl" rotWithShape="0">
              <a:srgbClr val="000000">
                <a:alpha val="10000"/>
              </a:srgbClr>
            </a:outerShdw>
          </a:effectLst>
        </p:spPr>
        <p:txBody>
          <a:bodyPr/>
          <a:lstStyle/>
          <a:p>
            <a:endParaRPr lang="ko-KR" altLang="en-US"/>
          </a:p>
        </p:txBody>
      </p:sp>
      <p:sp>
        <p:nvSpPr>
          <p:cNvPr id="16" name="Shape 14"/>
          <p:cNvSpPr/>
          <p:nvPr/>
        </p:nvSpPr>
        <p:spPr>
          <a:xfrm>
            <a:off x="4800600" y="1371600"/>
            <a:ext cx="54864" cy="2651760"/>
          </a:xfrm>
          <a:prstGeom prst="rect">
            <a:avLst/>
          </a:prstGeom>
          <a:solidFill>
            <a:srgbClr val="1A6B4A"/>
          </a:solidFill>
          <a:ln w="12700">
            <a:solidFill>
              <a:srgbClr val="1A6B4A"/>
            </a:solidFill>
            <a:prstDash val="solid"/>
          </a:ln>
        </p:spPr>
        <p:txBody>
          <a:bodyPr/>
          <a:lstStyle/>
          <a:p>
            <a:endParaRPr lang="ko-KR" altLang="en-US"/>
          </a:p>
        </p:txBody>
      </p:sp>
      <p:sp>
        <p:nvSpPr>
          <p:cNvPr id="17" name="Shape 15"/>
          <p:cNvSpPr/>
          <p:nvPr/>
        </p:nvSpPr>
        <p:spPr>
          <a:xfrm>
            <a:off x="4855464" y="1371600"/>
            <a:ext cx="3739896" cy="2651760"/>
          </a:xfrm>
          <a:prstGeom prst="rect">
            <a:avLst/>
          </a:prstGeom>
          <a:ln w="19050">
            <a:solidFill>
              <a:srgbClr val="3B82F6"/>
            </a:solidFill>
            <a:prstDash val="solid"/>
          </a:ln>
        </p:spPr>
        <p:txBody>
          <a:bodyPr/>
          <a:lstStyle/>
          <a:p>
            <a:endParaRPr lang="ko-KR" altLang="en-US"/>
          </a:p>
        </p:txBody>
      </p:sp>
      <p:sp>
        <p:nvSpPr>
          <p:cNvPr id="18" name="Text 16"/>
          <p:cNvSpPr/>
          <p:nvPr/>
        </p:nvSpPr>
        <p:spPr>
          <a:xfrm>
            <a:off x="4937760" y="1463040"/>
            <a:ext cx="3566160" cy="320040"/>
          </a:xfrm>
          <a:prstGeom prst="rect">
            <a:avLst/>
          </a:prstGeom>
          <a:noFill/>
          <a:ln/>
        </p:spPr>
        <p:txBody>
          <a:bodyPr wrap="square" lIns="25400" tIns="50800" rIns="50800" bIns="25400" rtlCol="0" anchor="t"/>
          <a:lstStyle/>
          <a:p>
            <a:pPr marL="0" indent="0" algn="l">
              <a:lnSpc>
                <a:spcPct val="115000"/>
              </a:lnSpc>
              <a:buNone/>
            </a:pPr>
            <a:r>
              <a:rPr lang="en-US" sz="1050" b="1" dirty="0">
                <a:solidFill>
                  <a:srgbClr val="3B82F6"/>
                </a:solidFill>
                <a:latin typeface="맑은 고딕" pitchFamily="34" charset="0"/>
                <a:ea typeface="맑은 고딕" pitchFamily="34" charset="-122"/>
                <a:cs typeface="맑은 고딕" pitchFamily="34" charset="-120"/>
              </a:rPr>
              <a:t>After: 동일한 상황에서,</a:t>
            </a:r>
            <a:endParaRPr lang="en-US" sz="1050" dirty="0"/>
          </a:p>
        </p:txBody>
      </p:sp>
      <p:sp>
        <p:nvSpPr>
          <p:cNvPr id="19" name="Text 17"/>
          <p:cNvSpPr/>
          <p:nvPr/>
        </p:nvSpPr>
        <p:spPr>
          <a:xfrm>
            <a:off x="4937760" y="1828800"/>
            <a:ext cx="3566160" cy="1005840"/>
          </a:xfrm>
          <a:prstGeom prst="rect">
            <a:avLst/>
          </a:prstGeom>
          <a:noFill/>
          <a:ln/>
        </p:spPr>
        <p:txBody>
          <a:bodyPr wrap="square" lIns="25400" tIns="50800" rIns="50800" bIns="25400" rtlCol="0" anchor="t"/>
          <a:lstStyle/>
          <a:p>
            <a:pPr marL="0" indent="0" algn="l">
              <a:lnSpc>
                <a:spcPct val="130000"/>
              </a:lnSpc>
              <a:buNone/>
            </a:pPr>
            <a:r>
              <a:rPr lang="en-US" sz="900" dirty="0">
                <a:solidFill>
                  <a:srgbClr val="4A5568"/>
                </a:solidFill>
                <a:latin typeface="맑은 고딕" pitchFamily="34" charset="0"/>
                <a:ea typeface="맑은 고딕" pitchFamily="34" charset="-122"/>
                <a:cs typeface="맑은 고딕" pitchFamily="34" charset="-120"/>
              </a:rPr>
              <a:t>암 진단금 1억원 즉시 지급. 치료비 전액을 충당하고도 5,000만원이 남아 1년간의 생활비와 소득을 완벽하게 보전합니다. 실손보험에서 병원비를 추가로 보장받습니다.</a:t>
            </a:r>
            <a:endParaRPr lang="en-US" sz="900" dirty="0"/>
          </a:p>
        </p:txBody>
      </p:sp>
      <p:sp>
        <p:nvSpPr>
          <p:cNvPr id="20" name="Text 18"/>
          <p:cNvSpPr/>
          <p:nvPr/>
        </p:nvSpPr>
        <p:spPr>
          <a:xfrm>
            <a:off x="4937760" y="2926080"/>
            <a:ext cx="3566160" cy="457200"/>
          </a:xfrm>
          <a:prstGeom prst="rect">
            <a:avLst/>
          </a:prstGeom>
          <a:noFill/>
          <a:ln/>
        </p:spPr>
        <p:txBody>
          <a:bodyPr wrap="square" lIns="25400" tIns="50800" rIns="50800" bIns="25400" rtlCol="0" anchor="t"/>
          <a:lstStyle/>
          <a:p>
            <a:pPr marL="0" indent="0" algn="l">
              <a:lnSpc>
                <a:spcPct val="115000"/>
              </a:lnSpc>
              <a:buNone/>
            </a:pPr>
            <a:r>
              <a:rPr lang="en-US" sz="950" b="1" dirty="0">
                <a:solidFill>
                  <a:srgbClr val="2B2B2B"/>
                </a:solidFill>
                <a:latin typeface="맑은 고딕" pitchFamily="34" charset="0"/>
                <a:ea typeface="맑은 고딕" pitchFamily="34" charset="-122"/>
                <a:cs typeface="맑은 고딕" pitchFamily="34" charset="-120"/>
              </a:rPr>
              <a:t>가정은 어떠한 재무적 타격 없이 안정을 유지하며, 아내는 오직 회복에만 집중할 수 있습니다.</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15</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 기대 효과 및 미래 모습 (2/2)</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맞춤형 컨설팅 특급보고서 — [맞벌이 30대 신혼부부] 보험, 결혼보다 중요한 리스크 계약</a:t>
            </a:r>
            <a:endParaRPr lang="en-US" sz="7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15 / 21</a:t>
            </a:r>
            <a:endParaRPr lang="en-US" sz="800" dirty="0"/>
          </a:p>
        </p:txBody>
      </p:sp>
      <p:sp>
        <p:nvSpPr>
          <p:cNvPr id="7" name="Text 5"/>
          <p:cNvSpPr/>
          <p:nvPr/>
        </p:nvSpPr>
        <p:spPr>
          <a:xfrm>
            <a:off x="548640" y="685800"/>
            <a:ext cx="8046720" cy="274320"/>
          </a:xfrm>
          <a:prstGeom prst="rect">
            <a:avLst/>
          </a:prstGeom>
          <a:noFill/>
          <a:ln/>
        </p:spPr>
        <p:txBody>
          <a:bodyPr wrap="square" lIns="25400" tIns="50800" rIns="50800" bIns="25400" rtlCol="0" anchor="t"/>
          <a:lstStyle/>
          <a:p>
            <a:pPr marL="0" indent="0" algn="l">
              <a:lnSpc>
                <a:spcPct val="115000"/>
              </a:lnSpc>
              <a:buNone/>
            </a:pPr>
            <a:r>
              <a:rPr lang="en-US" sz="1300" b="1" dirty="0">
                <a:solidFill>
                  <a:srgbClr val="1B2A4A"/>
                </a:solidFill>
                <a:latin typeface="맑은 고딕" pitchFamily="34" charset="0"/>
                <a:ea typeface="맑은 고딕" pitchFamily="34" charset="-122"/>
                <a:cs typeface="맑은 고딕" pitchFamily="34" charset="-120"/>
              </a:rPr>
              <a:t>2. 가족에게 미치는 긍정적 영향</a:t>
            </a:r>
            <a:endParaRPr lang="en-US" sz="1300" dirty="0"/>
          </a:p>
        </p:txBody>
      </p:sp>
      <p:sp>
        <p:nvSpPr>
          <p:cNvPr id="8" name="Shape 6"/>
          <p:cNvSpPr/>
          <p:nvPr/>
        </p:nvSpPr>
        <p:spPr>
          <a:xfrm>
            <a:off x="548640" y="1051560"/>
            <a:ext cx="8046720" cy="77724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548640" y="1051560"/>
            <a:ext cx="54864" cy="777240"/>
          </a:xfrm>
          <a:prstGeom prst="rect">
            <a:avLst/>
          </a:prstGeom>
          <a:solidFill>
            <a:srgbClr val="C8962E"/>
          </a:solidFill>
          <a:ln w="12700">
            <a:solidFill>
              <a:srgbClr val="C8962E"/>
            </a:solidFill>
            <a:prstDash val="solid"/>
          </a:ln>
        </p:spPr>
        <p:txBody>
          <a:bodyPr/>
          <a:lstStyle/>
          <a:p>
            <a:endParaRPr lang="ko-KR" altLang="en-US"/>
          </a:p>
        </p:txBody>
      </p:sp>
      <p:sp>
        <p:nvSpPr>
          <p:cNvPr id="10" name="Text 8"/>
          <p:cNvSpPr/>
          <p:nvPr/>
        </p:nvSpPr>
        <p:spPr>
          <a:xfrm>
            <a:off x="685800" y="1097280"/>
            <a:ext cx="7772400" cy="685800"/>
          </a:xfrm>
          <a:prstGeom prst="rect">
            <a:avLst/>
          </a:prstGeom>
          <a:noFill/>
          <a:ln/>
        </p:spPr>
        <p:txBody>
          <a:bodyPr wrap="square" lIns="25400" tIns="50800" rIns="50800" bIns="25400" rtlCol="0" anchor="t"/>
          <a:lstStyle/>
          <a:p>
            <a:pPr marL="0" indent="0" algn="l">
              <a:lnSpc>
                <a:spcPct val="115000"/>
              </a:lnSpc>
              <a:buNone/>
            </a:pPr>
            <a:r>
              <a:rPr lang="en-US" sz="1000" b="1" dirty="0">
                <a:solidFill>
                  <a:srgbClr val="2B2B2B"/>
                </a:solidFill>
                <a:latin typeface="맑은 고딕" pitchFamily="34" charset="0"/>
                <a:ea typeface="맑은 고딕" pitchFamily="34" charset="-122"/>
                <a:cs typeface="맑은 고딕" pitchFamily="34" charset="-120"/>
              </a:rPr>
              <a:t>• 배우자: </a:t>
            </a:r>
            <a:r>
              <a:rPr lang="en-US" sz="1000" dirty="0">
                <a:solidFill>
                  <a:srgbClr val="2B2B2B"/>
                </a:solidFill>
                <a:latin typeface="맑은 고딕" pitchFamily="34" charset="0"/>
                <a:ea typeface="맑은 고딕" pitchFamily="34" charset="-122"/>
                <a:cs typeface="맑은 고딕" pitchFamily="34" charset="-120"/>
              </a:rPr>
              <a:t>경제적 부담 없이, 아픈 배우자의 곁을 지키며 간병에만 집중할 수 있습니다.
</a:t>
            </a:r>
            <a:r>
              <a:rPr lang="en-US" sz="1000" b="1" dirty="0">
                <a:solidFill>
                  <a:srgbClr val="2B2B2B"/>
                </a:solidFill>
                <a:latin typeface="맑은 고딕" pitchFamily="34" charset="0"/>
                <a:ea typeface="맑은 고딕" pitchFamily="34" charset="-122"/>
                <a:cs typeface="맑은 고딕" pitchFamily="34" charset="-120"/>
              </a:rPr>
              <a:t>• (미래의) 자녀: </a:t>
            </a:r>
            <a:r>
              <a:rPr lang="en-US" sz="1000" dirty="0">
                <a:solidFill>
                  <a:srgbClr val="2B2B2B"/>
                </a:solidFill>
                <a:latin typeface="맑은 고딕" pitchFamily="34" charset="0"/>
                <a:ea typeface="맑은 고딕" pitchFamily="34" charset="-122"/>
                <a:cs typeface="맑은 고딕" pitchFamily="34" charset="-120"/>
              </a:rPr>
              <a:t>부모의 투병으로 인해 교육이나 생활의 질이 저하될 걱정 없이, 안정적인 환경에서 꿈을 이어갈 수 있습니다.</a:t>
            </a:r>
            <a:endParaRPr lang="en-US" sz="1000" dirty="0"/>
          </a:p>
        </p:txBody>
      </p:sp>
      <p:sp>
        <p:nvSpPr>
          <p:cNvPr id="11" name="Text 9"/>
          <p:cNvSpPr/>
          <p:nvPr/>
        </p:nvSpPr>
        <p:spPr>
          <a:xfrm>
            <a:off x="548640" y="2011680"/>
            <a:ext cx="8046720" cy="274320"/>
          </a:xfrm>
          <a:prstGeom prst="rect">
            <a:avLst/>
          </a:prstGeom>
          <a:noFill/>
          <a:ln/>
        </p:spPr>
        <p:txBody>
          <a:bodyPr wrap="square" lIns="25400" tIns="50800" rIns="50800" bIns="25400" rtlCol="0" anchor="t"/>
          <a:lstStyle/>
          <a:p>
            <a:pPr marL="0" indent="0" algn="l">
              <a:lnSpc>
                <a:spcPct val="115000"/>
              </a:lnSpc>
              <a:buNone/>
            </a:pPr>
            <a:r>
              <a:rPr lang="en-US" sz="1300" b="1" dirty="0">
                <a:solidFill>
                  <a:srgbClr val="1B2A4A"/>
                </a:solidFill>
                <a:latin typeface="맑은 고딕" pitchFamily="34" charset="0"/>
                <a:ea typeface="맑은 고딕" pitchFamily="34" charset="-122"/>
                <a:cs typeface="맑은 고딕" pitchFamily="34" charset="-120"/>
              </a:rPr>
              <a:t>3. 고객님의 삶에 찾아올 변화</a:t>
            </a:r>
            <a:endParaRPr lang="en-US" sz="1300" dirty="0"/>
          </a:p>
        </p:txBody>
      </p:sp>
      <p:sp>
        <p:nvSpPr>
          <p:cNvPr id="12" name="Shape 10"/>
          <p:cNvSpPr/>
          <p:nvPr/>
        </p:nvSpPr>
        <p:spPr>
          <a:xfrm>
            <a:off x="548640" y="2423160"/>
            <a:ext cx="8046720" cy="1763486"/>
          </a:xfrm>
          <a:prstGeom prst="rect">
            <a:avLst/>
          </a:prstGeom>
          <a:solidFill>
            <a:srgbClr val="EEF2F7"/>
          </a:solidFill>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548640" y="2423160"/>
            <a:ext cx="54864" cy="1763486"/>
          </a:xfrm>
          <a:prstGeom prst="rect">
            <a:avLst/>
          </a:prstGeom>
          <a:solidFill>
            <a:srgbClr val="C8962E"/>
          </a:solidFill>
          <a:ln w="12700">
            <a:solidFill>
              <a:srgbClr val="C8962E"/>
            </a:solidFill>
            <a:prstDash val="solid"/>
          </a:ln>
        </p:spPr>
        <p:txBody>
          <a:bodyPr/>
          <a:lstStyle/>
          <a:p>
            <a:endParaRPr lang="ko-KR" altLang="en-US"/>
          </a:p>
        </p:txBody>
      </p:sp>
      <p:sp>
        <p:nvSpPr>
          <p:cNvPr id="14" name="Text 12"/>
          <p:cNvSpPr/>
          <p:nvPr/>
        </p:nvSpPr>
        <p:spPr>
          <a:xfrm>
            <a:off x="685800" y="2560320"/>
            <a:ext cx="7772400" cy="1188720"/>
          </a:xfrm>
          <a:prstGeom prst="rect">
            <a:avLst/>
          </a:prstGeom>
          <a:noFill/>
          <a:ln/>
        </p:spPr>
        <p:txBody>
          <a:bodyPr wrap="square" lIns="25400" tIns="50800" rIns="50800" bIns="25400" rtlCol="0" anchor="t"/>
          <a:lstStyle/>
          <a:p>
            <a:pPr marL="0" indent="0" algn="ctr">
              <a:lnSpc>
                <a:spcPct val="160000"/>
              </a:lnSpc>
              <a:buNone/>
            </a:pPr>
            <a:r>
              <a:rPr lang="en-US" sz="1400" b="1" dirty="0">
                <a:solidFill>
                  <a:srgbClr val="1B2A4A"/>
                </a:solidFill>
                <a:latin typeface="맑은 고딕" pitchFamily="34" charset="0"/>
                <a:ea typeface="맑은 고딕" pitchFamily="34" charset="-122"/>
                <a:cs typeface="맑은 고딕" pitchFamily="34" charset="-120"/>
              </a:rPr>
              <a:t>"이제 두 분은 미래의 불확실성에 대한 막연한 걱정 대신,</a:t>
            </a:r>
            <a:endParaRPr lang="en-US" sz="1400" dirty="0"/>
          </a:p>
          <a:p>
            <a:pPr marL="0" indent="0" algn="ctr">
              <a:lnSpc>
                <a:spcPct val="160000"/>
              </a:lnSpc>
              <a:buNone/>
            </a:pPr>
            <a:r>
              <a:rPr lang="en-US" sz="1400" b="1" dirty="0">
                <a:solidFill>
                  <a:srgbClr val="1B2A4A"/>
                </a:solidFill>
                <a:latin typeface="맑은 고딕" pitchFamily="34" charset="0"/>
                <a:ea typeface="맑은 고딕" pitchFamily="34" charset="-122"/>
                <a:cs typeface="맑은 고딕" pitchFamily="34" charset="-120"/>
              </a:rPr>
              <a:t>현재의 행복과 목표 달성에 온전히 집중하실 수 있습니다.</a:t>
            </a:r>
            <a:endParaRPr lang="en-US" sz="1400" dirty="0"/>
          </a:p>
          <a:p>
            <a:pPr marL="0" indent="0" algn="ctr">
              <a:lnSpc>
                <a:spcPct val="160000"/>
              </a:lnSpc>
              <a:buNone/>
            </a:pPr>
            <a:r>
              <a:rPr lang="en-US" sz="1400" b="1" dirty="0">
                <a:solidFill>
                  <a:srgbClr val="1B2A4A"/>
                </a:solidFill>
                <a:latin typeface="맑은 고딕" pitchFamily="34" charset="0"/>
                <a:ea typeface="맑은 고딕" pitchFamily="34" charset="-122"/>
                <a:cs typeface="맑은 고딕" pitchFamily="34" charset="-120"/>
              </a:rPr>
              <a:t>'혹시 아프면 어떡하지?'라는 불안감은 '아파도 괜찮아, 우린 준비되어 있어'라는 자신감으로 바뀔 것입니다."</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16</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VI. 종합 제언 및 다음 단계 (1/2)</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맞춤형 컨설팅 특급보고서 — [맞벌이 30대 신혼부부] 보험, 결혼보다 중요한 리스크 계약</a:t>
            </a:r>
            <a:endParaRPr lang="en-US" sz="7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16 / 21</a:t>
            </a:r>
            <a:endParaRPr lang="en-US" sz="800" dirty="0"/>
          </a:p>
        </p:txBody>
      </p:sp>
      <p:sp>
        <p:nvSpPr>
          <p:cNvPr id="7" name="Text 5"/>
          <p:cNvSpPr/>
          <p:nvPr/>
        </p:nvSpPr>
        <p:spPr>
          <a:xfrm>
            <a:off x="548640" y="685800"/>
            <a:ext cx="8046720" cy="274320"/>
          </a:xfrm>
          <a:prstGeom prst="rect">
            <a:avLst/>
          </a:prstGeom>
          <a:noFill/>
          <a:ln/>
        </p:spPr>
        <p:txBody>
          <a:bodyPr wrap="square" lIns="25400" tIns="50800" rIns="50800" bIns="25400" rtlCol="0" anchor="t"/>
          <a:lstStyle/>
          <a:p>
            <a:pPr marL="0" indent="0" algn="l">
              <a:lnSpc>
                <a:spcPct val="115000"/>
              </a:lnSpc>
              <a:buNone/>
            </a:pPr>
            <a:r>
              <a:rPr lang="en-US" sz="1000" dirty="0">
                <a:solidFill>
                  <a:srgbClr val="4A5568"/>
                </a:solidFill>
                <a:latin typeface="맑은 고딕" pitchFamily="34" charset="0"/>
                <a:ea typeface="맑은 고딕" pitchFamily="34" charset="-122"/>
                <a:cs typeface="맑은 고딕" pitchFamily="34" charset="-120"/>
              </a:rPr>
              <a:t>상담을 마무리하며, 전문가로서의 최종 의견을 전달하고 고객이 해야 할 다음 행동을 명확히 안내합니다.</a:t>
            </a:r>
            <a:endParaRPr lang="en-US" sz="1000" dirty="0"/>
          </a:p>
        </p:txBody>
      </p:sp>
      <p:sp>
        <p:nvSpPr>
          <p:cNvPr id="8" name="Text 6"/>
          <p:cNvSpPr/>
          <p:nvPr/>
        </p:nvSpPr>
        <p:spPr>
          <a:xfrm>
            <a:off x="548640" y="1097280"/>
            <a:ext cx="8046720" cy="274320"/>
          </a:xfrm>
          <a:prstGeom prst="rect">
            <a:avLst/>
          </a:prstGeom>
          <a:noFill/>
          <a:ln/>
        </p:spPr>
        <p:txBody>
          <a:bodyPr wrap="square" lIns="25400" tIns="50800" rIns="50800" bIns="25400" rtlCol="0" anchor="t"/>
          <a:lstStyle/>
          <a:p>
            <a:pPr marL="0" indent="0" algn="l">
              <a:lnSpc>
                <a:spcPct val="115000"/>
              </a:lnSpc>
              <a:buNone/>
            </a:pPr>
            <a:r>
              <a:rPr lang="en-US" sz="1300" b="1" dirty="0">
                <a:solidFill>
                  <a:srgbClr val="1B2A4A"/>
                </a:solidFill>
                <a:latin typeface="맑은 고딕" pitchFamily="34" charset="0"/>
                <a:ea typeface="맑은 고딕" pitchFamily="34" charset="-122"/>
                <a:cs typeface="맑은 고딕" pitchFamily="34" charset="-120"/>
              </a:rPr>
              <a:t>1. 전문가 종합 제언 (Consultant's Final Recommendation)</a:t>
            </a:r>
            <a:endParaRPr lang="en-US" sz="1300" dirty="0"/>
          </a:p>
        </p:txBody>
      </p:sp>
      <p:sp>
        <p:nvSpPr>
          <p:cNvPr id="9" name="Shape 7"/>
          <p:cNvSpPr/>
          <p:nvPr/>
        </p:nvSpPr>
        <p:spPr>
          <a:xfrm>
            <a:off x="548640" y="1463040"/>
            <a:ext cx="8046720" cy="2011680"/>
          </a:xfrm>
          <a:prstGeom prst="rect">
            <a:avLst/>
          </a:prstGeom>
          <a:solidFill>
            <a:srgbClr val="EEF2F7"/>
          </a:solidFill>
          <a:ln/>
          <a:effectLst>
            <a:outerShdw blurRad="50800" dist="25400" dir="8100000" algn="bl" rotWithShape="0">
              <a:srgbClr val="000000">
                <a:alpha val="10000"/>
              </a:srgbClr>
            </a:outerShdw>
          </a:effectLst>
        </p:spPr>
        <p:txBody>
          <a:bodyPr/>
          <a:lstStyle/>
          <a:p>
            <a:endParaRPr lang="ko-KR" altLang="en-US"/>
          </a:p>
        </p:txBody>
      </p:sp>
      <p:sp>
        <p:nvSpPr>
          <p:cNvPr id="10" name="Shape 8"/>
          <p:cNvSpPr/>
          <p:nvPr/>
        </p:nvSpPr>
        <p:spPr>
          <a:xfrm>
            <a:off x="548640" y="1463040"/>
            <a:ext cx="54864" cy="2011680"/>
          </a:xfrm>
          <a:prstGeom prst="rect">
            <a:avLst/>
          </a:prstGeom>
          <a:solidFill>
            <a:srgbClr val="C8962E"/>
          </a:solidFill>
          <a:ln w="12700">
            <a:solidFill>
              <a:srgbClr val="C8962E"/>
            </a:solidFill>
            <a:prstDash val="solid"/>
          </a:ln>
        </p:spPr>
        <p:txBody>
          <a:bodyPr/>
          <a:lstStyle/>
          <a:p>
            <a:endParaRPr lang="ko-KR" altLang="en-US"/>
          </a:p>
        </p:txBody>
      </p:sp>
      <p:sp>
        <p:nvSpPr>
          <p:cNvPr id="11" name="Text 9"/>
          <p:cNvSpPr/>
          <p:nvPr/>
        </p:nvSpPr>
        <p:spPr>
          <a:xfrm>
            <a:off x="685800" y="1554480"/>
            <a:ext cx="7772400" cy="1828800"/>
          </a:xfrm>
          <a:prstGeom prst="rect">
            <a:avLst/>
          </a:prstGeom>
          <a:noFill/>
          <a:ln/>
        </p:spPr>
        <p:txBody>
          <a:bodyPr wrap="square" lIns="25400" tIns="50800" rIns="50800" bIns="25400" rtlCol="0" anchor="t"/>
          <a:lstStyle/>
          <a:p>
            <a:pPr marL="0" indent="0" algn="l">
              <a:lnSpc>
                <a:spcPct val="160000"/>
              </a:lnSpc>
              <a:buNone/>
            </a:pPr>
            <a:r>
              <a:rPr lang="en-US" sz="1100" i="1" dirty="0">
                <a:solidFill>
                  <a:srgbClr val="2B2B2B"/>
                </a:solidFill>
                <a:latin typeface="맑은 고딕" pitchFamily="34" charset="0"/>
                <a:ea typeface="맑은 고딕" pitchFamily="34" charset="-122"/>
                <a:cs typeface="맑은 고딕" pitchFamily="34" charset="-120"/>
              </a:rPr>
              <a:t>"오늘 우리가 함께 설계한 이 재무적 안전망은 단순한 보험 가입이 아닙니다. 이는 미래의 어떤 위기에도 흔들리지 않고 고객님과 가족의 행복을 지키겠다는 '책임감 있는 가장의 약속'이자, 가장 확실한 '사랑의 표현'입니다. 각자 살아온 두 사람이 '하나의 가정'으로 거듭나는 지금 이 시점이, 흩어져 있던 재무 리스크를 하나로 모아 관리할 최적의 타이밍입니다. 더 이상 미루지 않고 오늘, 그 약속을 실행에 옮기시기를 강력히 제언합니다."</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17</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VI. 종합 제언 및 다음 단계 (2/2)</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맞춤형 컨설팅 특급보고서 — [맞벌이 30대 신혼부부] 보험, 결혼보다 중요한 리스크 계약</a:t>
            </a:r>
            <a:endParaRPr lang="en-US" sz="7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17 / 21</a:t>
            </a:r>
            <a:endParaRPr lang="en-US" sz="800" dirty="0"/>
          </a:p>
        </p:txBody>
      </p:sp>
      <p:sp>
        <p:nvSpPr>
          <p:cNvPr id="7" name="Text 5"/>
          <p:cNvSpPr/>
          <p:nvPr/>
        </p:nvSpPr>
        <p:spPr>
          <a:xfrm>
            <a:off x="548640" y="685800"/>
            <a:ext cx="8046720" cy="274320"/>
          </a:xfrm>
          <a:prstGeom prst="rect">
            <a:avLst/>
          </a:prstGeom>
          <a:noFill/>
          <a:ln/>
        </p:spPr>
        <p:txBody>
          <a:bodyPr wrap="square" lIns="25400" tIns="50800" rIns="50800" bIns="25400" rtlCol="0" anchor="t"/>
          <a:lstStyle/>
          <a:p>
            <a:pPr marL="0" indent="0" algn="l">
              <a:lnSpc>
                <a:spcPct val="115000"/>
              </a:lnSpc>
              <a:buNone/>
            </a:pPr>
            <a:r>
              <a:rPr lang="en-US" sz="1300" b="1" dirty="0">
                <a:solidFill>
                  <a:srgbClr val="1B2A4A"/>
                </a:solidFill>
                <a:latin typeface="맑은 고딕" pitchFamily="34" charset="0"/>
                <a:ea typeface="맑은 고딕" pitchFamily="34" charset="-122"/>
                <a:cs typeface="맑은 고딕" pitchFamily="34" charset="-120"/>
              </a:rPr>
              <a:t>2. 성공적인 실행을 위한 다음 단계 (Action Plan)</a:t>
            </a:r>
            <a:endParaRPr lang="en-US" sz="1300" dirty="0"/>
          </a:p>
        </p:txBody>
      </p:sp>
      <p:sp>
        <p:nvSpPr>
          <p:cNvPr id="8" name="Shape 6"/>
          <p:cNvSpPr/>
          <p:nvPr/>
        </p:nvSpPr>
        <p:spPr>
          <a:xfrm>
            <a:off x="548640" y="1051560"/>
            <a:ext cx="8046720" cy="9144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548640" y="1051560"/>
            <a:ext cx="54864" cy="914400"/>
          </a:xfrm>
          <a:prstGeom prst="rect">
            <a:avLst/>
          </a:prstGeom>
          <a:solidFill>
            <a:srgbClr val="C8962E"/>
          </a:solidFill>
          <a:ln w="12700">
            <a:solidFill>
              <a:srgbClr val="C8962E"/>
            </a:solidFill>
            <a:prstDash val="solid"/>
          </a:ln>
        </p:spPr>
        <p:txBody>
          <a:bodyPr/>
          <a:lstStyle/>
          <a:p>
            <a:endParaRPr lang="ko-KR" altLang="en-US"/>
          </a:p>
        </p:txBody>
      </p:sp>
      <p:sp>
        <p:nvSpPr>
          <p:cNvPr id="10" name="Text 8"/>
          <p:cNvSpPr/>
          <p:nvPr/>
        </p:nvSpPr>
        <p:spPr>
          <a:xfrm>
            <a:off x="685800" y="1097280"/>
            <a:ext cx="7772400" cy="731520"/>
          </a:xfrm>
          <a:prstGeom prst="rect">
            <a:avLst/>
          </a:prstGeom>
          <a:noFill/>
          <a:ln/>
        </p:spPr>
        <p:txBody>
          <a:bodyPr wrap="square" lIns="25400" tIns="50800" rIns="50800" bIns="25400" rtlCol="0" anchor="t"/>
          <a:lstStyle/>
          <a:p>
            <a:pPr marL="0" indent="0" algn="l">
              <a:lnSpc>
                <a:spcPct val="150000"/>
              </a:lnSpc>
              <a:buNone/>
            </a:pPr>
            <a:r>
              <a:rPr lang="en-US" sz="1000" dirty="0">
                <a:solidFill>
                  <a:srgbClr val="2B2B2B"/>
                </a:solidFill>
                <a:latin typeface="맑은 고딕" pitchFamily="34" charset="0"/>
                <a:ea typeface="맑은 고딕" pitchFamily="34" charset="-122"/>
                <a:cs typeface="맑은 고딕" pitchFamily="34" charset="-120"/>
              </a:rPr>
              <a:t>① 제안 내용 최종 동의 및 결정</a:t>
            </a:r>
            <a:endParaRPr lang="en-US" sz="1000" dirty="0"/>
          </a:p>
          <a:p>
            <a:pPr marL="0" indent="0" algn="l">
              <a:lnSpc>
                <a:spcPct val="150000"/>
              </a:lnSpc>
              <a:buNone/>
            </a:pPr>
            <a:r>
              <a:rPr lang="en-US" sz="1000" dirty="0">
                <a:solidFill>
                  <a:srgbClr val="2B2B2B"/>
                </a:solidFill>
                <a:latin typeface="맑은 고딕" pitchFamily="34" charset="0"/>
                <a:ea typeface="맑은 고딕" pitchFamily="34" charset="-122"/>
                <a:cs typeface="맑은 고딕" pitchFamily="34" charset="-120"/>
              </a:rPr>
              <a:t>② 기존 보험 해지/감액 및 신규 계약 진행을 위한 서류 준비 (신분증, 계좌 등)</a:t>
            </a:r>
            <a:endParaRPr lang="en-US" sz="1000" dirty="0"/>
          </a:p>
          <a:p>
            <a:pPr marL="0" indent="0" algn="l">
              <a:lnSpc>
                <a:spcPct val="150000"/>
              </a:lnSpc>
              <a:buNone/>
            </a:pPr>
            <a:r>
              <a:rPr lang="en-US" sz="1000" dirty="0">
                <a:solidFill>
                  <a:srgbClr val="2B2B2B"/>
                </a:solidFill>
                <a:latin typeface="맑은 고딕" pitchFamily="34" charset="0"/>
                <a:ea typeface="맑은 고딕" pitchFamily="34" charset="-122"/>
                <a:cs typeface="맑은 고딕" pitchFamily="34" charset="-120"/>
              </a:rPr>
              <a:t>③ 계약 체결 및 증권 전달 약속 (일정 조율)</a:t>
            </a:r>
            <a:endParaRPr lang="en-US" sz="1000" dirty="0"/>
          </a:p>
        </p:txBody>
      </p:sp>
      <p:sp>
        <p:nvSpPr>
          <p:cNvPr id="11" name="Text 9"/>
          <p:cNvSpPr/>
          <p:nvPr/>
        </p:nvSpPr>
        <p:spPr>
          <a:xfrm>
            <a:off x="548640" y="2176272"/>
            <a:ext cx="8046720" cy="274320"/>
          </a:xfrm>
          <a:prstGeom prst="rect">
            <a:avLst/>
          </a:prstGeom>
          <a:noFill/>
          <a:ln/>
        </p:spPr>
        <p:txBody>
          <a:bodyPr wrap="square" lIns="25400" tIns="50800" rIns="50800" bIns="25400" rtlCol="0" anchor="t"/>
          <a:lstStyle/>
          <a:p>
            <a:pPr marL="0" indent="0" algn="l">
              <a:lnSpc>
                <a:spcPct val="115000"/>
              </a:lnSpc>
              <a:buNone/>
            </a:pPr>
            <a:r>
              <a:rPr lang="en-US" sz="1300" b="1" dirty="0">
                <a:solidFill>
                  <a:srgbClr val="1B2A4A"/>
                </a:solidFill>
                <a:latin typeface="맑은 고딕" pitchFamily="34" charset="0"/>
                <a:ea typeface="맑은 고딕" pitchFamily="34" charset="-122"/>
                <a:cs typeface="맑은 고딕" pitchFamily="34" charset="-120"/>
              </a:rPr>
              <a:t>3. 평생 재무 파트너로서의 약속</a:t>
            </a:r>
            <a:endParaRPr lang="en-US" sz="1300" dirty="0"/>
          </a:p>
        </p:txBody>
      </p:sp>
      <p:sp>
        <p:nvSpPr>
          <p:cNvPr id="12" name="Shape 10"/>
          <p:cNvSpPr/>
          <p:nvPr/>
        </p:nvSpPr>
        <p:spPr>
          <a:xfrm>
            <a:off x="548640" y="2542032"/>
            <a:ext cx="8046720" cy="1463040"/>
          </a:xfrm>
          <a:prstGeom prst="rect">
            <a:avLst/>
          </a:prstGeom>
          <a:solidFill>
            <a:srgbClr val="EEF2F7"/>
          </a:solidFill>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548640" y="2542032"/>
            <a:ext cx="54864" cy="1463040"/>
          </a:xfrm>
          <a:prstGeom prst="rect">
            <a:avLst/>
          </a:prstGeom>
          <a:solidFill>
            <a:srgbClr val="C8962E"/>
          </a:solidFill>
          <a:ln w="12700">
            <a:solidFill>
              <a:srgbClr val="C8962E"/>
            </a:solidFill>
            <a:prstDash val="solid"/>
          </a:ln>
        </p:spPr>
        <p:txBody>
          <a:bodyPr/>
          <a:lstStyle/>
          <a:p>
            <a:endParaRPr lang="ko-KR" altLang="en-US"/>
          </a:p>
        </p:txBody>
      </p:sp>
      <p:sp>
        <p:nvSpPr>
          <p:cNvPr id="14" name="Text 12"/>
          <p:cNvSpPr/>
          <p:nvPr/>
        </p:nvSpPr>
        <p:spPr>
          <a:xfrm>
            <a:off x="685800" y="2633472"/>
            <a:ext cx="7772400" cy="1280160"/>
          </a:xfrm>
          <a:prstGeom prst="rect">
            <a:avLst/>
          </a:prstGeom>
          <a:noFill/>
          <a:ln/>
        </p:spPr>
        <p:txBody>
          <a:bodyPr wrap="square" lIns="25400" tIns="50800" rIns="50800" bIns="25400" rtlCol="0" anchor="t"/>
          <a:lstStyle/>
          <a:p>
            <a:pPr marL="0" indent="0" algn="l">
              <a:lnSpc>
                <a:spcPct val="160000"/>
              </a:lnSpc>
              <a:buNone/>
            </a:pPr>
            <a:r>
              <a:rPr lang="en-US" sz="1100" dirty="0">
                <a:solidFill>
                  <a:srgbClr val="2B2B2B"/>
                </a:solidFill>
                <a:latin typeface="맑은 고딕" pitchFamily="34" charset="0"/>
                <a:ea typeface="맑은 고딕" pitchFamily="34" charset="-122"/>
                <a:cs typeface="맑은 고딕" pitchFamily="34" charset="-120"/>
              </a:rPr>
              <a:t>"계약이 끝이 아니라, 이제 시작입니다. 앞으로 두 분의 라이프사이클이 변화할 때마다(출산, 주택 구매, 이직 등) 가장 먼저 이 재무 포트폴리오를 함께 점검하고 최적화해 나갈 것입니다. 가정의 모든 재무적 이벤트에 가장 먼저 상의할 수 있는 든든한 파트너가 되어드릴 것을 약속합니다."</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18</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부록 (Appendix) — 전문용어 설명 (1/2)</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맞춤형 컨설팅 특급보고서 — [맞벌이 30대 신혼부부] 보험, 결혼보다 중요한 리스크 계약</a:t>
            </a:r>
            <a:endParaRPr lang="en-US" sz="7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18 / 21</a:t>
            </a:r>
            <a:endParaRPr lang="en-US" sz="800" dirty="0"/>
          </a:p>
        </p:txBody>
      </p:sp>
      <p:sp>
        <p:nvSpPr>
          <p:cNvPr id="7" name="Text 5"/>
          <p:cNvSpPr/>
          <p:nvPr/>
        </p:nvSpPr>
        <p:spPr>
          <a:xfrm>
            <a:off x="548640" y="685800"/>
            <a:ext cx="8046720" cy="274320"/>
          </a:xfrm>
          <a:prstGeom prst="rect">
            <a:avLst/>
          </a:prstGeom>
          <a:noFill/>
          <a:ln/>
        </p:spPr>
        <p:txBody>
          <a:bodyPr wrap="square" lIns="25400" tIns="50800" rIns="50800" bIns="25400" rtlCol="0" anchor="t"/>
          <a:lstStyle/>
          <a:p>
            <a:pPr marL="0" indent="0" algn="l">
              <a:lnSpc>
                <a:spcPct val="115000"/>
              </a:lnSpc>
              <a:buNone/>
            </a:pPr>
            <a:r>
              <a:rPr lang="en-US" sz="1300" b="1" dirty="0">
                <a:solidFill>
                  <a:srgbClr val="1B2A4A"/>
                </a:solidFill>
                <a:latin typeface="맑은 고딕" pitchFamily="34" charset="0"/>
                <a:ea typeface="맑은 고딕" pitchFamily="34" charset="-122"/>
                <a:cs typeface="맑은 고딕" pitchFamily="34" charset="-120"/>
              </a:rPr>
              <a:t>전문용어 설명</a:t>
            </a:r>
            <a:endParaRPr lang="en-US" sz="1300" dirty="0"/>
          </a:p>
        </p:txBody>
      </p:sp>
      <p:sp>
        <p:nvSpPr>
          <p:cNvPr id="8" name="Shape 6"/>
          <p:cNvSpPr/>
          <p:nvPr/>
        </p:nvSpPr>
        <p:spPr>
          <a:xfrm>
            <a:off x="548640" y="1051560"/>
            <a:ext cx="8046720" cy="16002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548640" y="1051560"/>
            <a:ext cx="54864" cy="1600200"/>
          </a:xfrm>
          <a:prstGeom prst="rect">
            <a:avLst/>
          </a:prstGeom>
          <a:solidFill>
            <a:srgbClr val="C8962E"/>
          </a:solidFill>
          <a:ln w="12700">
            <a:solidFill>
              <a:srgbClr val="C8962E"/>
            </a:solidFill>
            <a:prstDash val="solid"/>
          </a:ln>
        </p:spPr>
        <p:txBody>
          <a:bodyPr/>
          <a:lstStyle/>
          <a:p>
            <a:endParaRPr lang="ko-KR" altLang="en-US"/>
          </a:p>
        </p:txBody>
      </p:sp>
      <p:sp>
        <p:nvSpPr>
          <p:cNvPr id="10" name="Text 8"/>
          <p:cNvSpPr/>
          <p:nvPr/>
        </p:nvSpPr>
        <p:spPr>
          <a:xfrm>
            <a:off x="685800" y="1097280"/>
            <a:ext cx="7772400" cy="201168"/>
          </a:xfrm>
          <a:prstGeom prst="rect">
            <a:avLst/>
          </a:prstGeom>
          <a:noFill/>
          <a:ln/>
        </p:spPr>
        <p:txBody>
          <a:bodyPr wrap="square" lIns="25400" tIns="50800" rIns="50800" bIns="25400" rtlCol="0" anchor="t"/>
          <a:lstStyle/>
          <a:p>
            <a:pPr marL="0" indent="0" algn="l">
              <a:lnSpc>
                <a:spcPct val="115000"/>
              </a:lnSpc>
              <a:buNone/>
            </a:pPr>
            <a:r>
              <a:rPr lang="en-US" sz="1100" b="1" dirty="0">
                <a:solidFill>
                  <a:srgbClr val="2B2B2B"/>
                </a:solidFill>
                <a:latin typeface="맑은 고딕" pitchFamily="34" charset="0"/>
                <a:ea typeface="맑은 고딕" pitchFamily="34" charset="-122"/>
                <a:cs typeface="맑은 고딕" pitchFamily="34" charset="-120"/>
              </a:rPr>
              <a:t>갱신형/비갱신형</a:t>
            </a:r>
            <a:endParaRPr lang="en-US" sz="1050" dirty="0"/>
          </a:p>
        </p:txBody>
      </p:sp>
      <p:sp>
        <p:nvSpPr>
          <p:cNvPr id="11" name="Text 9"/>
          <p:cNvSpPr/>
          <p:nvPr/>
        </p:nvSpPr>
        <p:spPr>
          <a:xfrm>
            <a:off x="685800" y="1325880"/>
            <a:ext cx="7772400" cy="1280160"/>
          </a:xfrm>
          <a:prstGeom prst="rect">
            <a:avLst/>
          </a:prstGeom>
          <a:noFill/>
          <a:ln/>
        </p:spPr>
        <p:txBody>
          <a:bodyPr wrap="square" lIns="25400" tIns="50800" rIns="50800" bIns="25400" rtlCol="0" anchor="t"/>
          <a:lstStyle/>
          <a:p>
            <a:pPr marL="0" indent="0" algn="l">
              <a:lnSpc>
                <a:spcPct val="115000"/>
              </a:lnSpc>
              <a:buNone/>
            </a:pPr>
            <a:r>
              <a:rPr lang="en-US" sz="900" b="1" dirty="0">
                <a:solidFill>
                  <a:srgbClr val="6B7280"/>
                </a:solidFill>
                <a:latin typeface="맑은 고딕" pitchFamily="34" charset="0"/>
                <a:ea typeface="맑은 고딕" pitchFamily="34" charset="-122"/>
                <a:cs typeface="맑은 고딕" pitchFamily="34" charset="-120"/>
              </a:rPr>
              <a:t>갱신형: </a:t>
            </a:r>
            <a:r>
              <a:rPr lang="en-US" sz="900" dirty="0">
                <a:solidFill>
                  <a:srgbClr val="2B2B2B"/>
                </a:solidFill>
                <a:latin typeface="맑은 고딕" pitchFamily="34" charset="0"/>
                <a:ea typeface="맑은 고딕" pitchFamily="34" charset="-122"/>
                <a:cs typeface="맑은 고딕" pitchFamily="34" charset="-120"/>
              </a:rPr>
              <a:t>초기 보험료가 저렴하지만, 정해진 주기(1년, 3년 등)마다 연령 및 위험률을 다시 계산해 보험료가 인상되는 구조입니다. 보장받는 기간 내내 보험료를 내야 합니다. 당장 보험료가 부담될 때 유리할 수 있지만, 장기적으로는 총 납입 보험료가 훨씬 많아질 수 있습니다.
</a:t>
            </a:r>
            <a:r>
              <a:rPr lang="en-US" sz="900" b="1" dirty="0">
                <a:solidFill>
                  <a:srgbClr val="6B7280"/>
                </a:solidFill>
                <a:latin typeface="맑은 고딕" pitchFamily="34" charset="0"/>
                <a:ea typeface="맑은 고딕" pitchFamily="34" charset="-122"/>
                <a:cs typeface="맑은 고딕" pitchFamily="34" charset="-120"/>
              </a:rPr>
              <a:t>비갱신형: </a:t>
            </a:r>
            <a:r>
              <a:rPr lang="en-US" sz="900" dirty="0">
                <a:solidFill>
                  <a:srgbClr val="2B2B2B"/>
                </a:solidFill>
                <a:latin typeface="맑은 고딕" pitchFamily="34" charset="0"/>
                <a:ea typeface="맑은 고딕" pitchFamily="34" charset="-122"/>
                <a:cs typeface="맑은 고딕" pitchFamily="34" charset="-120"/>
              </a:rPr>
              <a:t>가입 시점에 정해진 보험료를 납입 기간(예: 20년) 동안만 동일하게 내면, 보장 기간(예: 90세)까지 쭉 보장받는 구조입니다. 초기 보험료는 갱신형보다 비싸지만, 총 납입 보험료가 확정되어 장기적으로 안정적인 재무 계획이 가능합니다. 본 보고서에서는 핵심 보장을 모두 비갱신형으로 제안했습니다.</a:t>
            </a:r>
            <a:endParaRPr lang="en-US" sz="900" dirty="0"/>
          </a:p>
        </p:txBody>
      </p:sp>
      <p:sp>
        <p:nvSpPr>
          <p:cNvPr id="12" name="Shape 10"/>
          <p:cNvSpPr/>
          <p:nvPr/>
        </p:nvSpPr>
        <p:spPr>
          <a:xfrm>
            <a:off x="548640" y="2788920"/>
            <a:ext cx="8046720" cy="10515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548640" y="2788920"/>
            <a:ext cx="54864" cy="1051560"/>
          </a:xfrm>
          <a:prstGeom prst="rect">
            <a:avLst/>
          </a:prstGeom>
          <a:solidFill>
            <a:srgbClr val="C8962E"/>
          </a:solidFill>
          <a:ln w="12700">
            <a:solidFill>
              <a:srgbClr val="C8962E"/>
            </a:solidFill>
            <a:prstDash val="solid"/>
          </a:ln>
        </p:spPr>
        <p:txBody>
          <a:bodyPr/>
          <a:lstStyle/>
          <a:p>
            <a:endParaRPr lang="ko-KR" altLang="en-US"/>
          </a:p>
        </p:txBody>
      </p:sp>
      <p:sp>
        <p:nvSpPr>
          <p:cNvPr id="14" name="Text 12"/>
          <p:cNvSpPr/>
          <p:nvPr/>
        </p:nvSpPr>
        <p:spPr>
          <a:xfrm>
            <a:off x="685800" y="2834640"/>
            <a:ext cx="7772400" cy="201168"/>
          </a:xfrm>
          <a:prstGeom prst="rect">
            <a:avLst/>
          </a:prstGeom>
          <a:noFill/>
          <a:ln/>
        </p:spPr>
        <p:txBody>
          <a:bodyPr wrap="square" lIns="25400" tIns="50800" rIns="50800" bIns="25400" rtlCol="0" anchor="t"/>
          <a:lstStyle/>
          <a:p>
            <a:pPr marL="0" indent="0" algn="l">
              <a:lnSpc>
                <a:spcPct val="115000"/>
              </a:lnSpc>
              <a:buNone/>
            </a:pPr>
            <a:r>
              <a:rPr lang="en-US" sz="1100" b="1" dirty="0">
                <a:solidFill>
                  <a:srgbClr val="2B2B2B"/>
                </a:solidFill>
                <a:latin typeface="맑은 고딕" pitchFamily="34" charset="0"/>
                <a:ea typeface="맑은 고딕" pitchFamily="34" charset="-122"/>
                <a:cs typeface="맑은 고딕" pitchFamily="34" charset="-120"/>
              </a:rPr>
              <a:t>CI보험 (Critical Illness Insurance)</a:t>
            </a:r>
            <a:endParaRPr lang="en-US" sz="1050" dirty="0"/>
          </a:p>
        </p:txBody>
      </p:sp>
      <p:sp>
        <p:nvSpPr>
          <p:cNvPr id="15" name="Text 13"/>
          <p:cNvSpPr/>
          <p:nvPr/>
        </p:nvSpPr>
        <p:spPr>
          <a:xfrm>
            <a:off x="685800" y="3063240"/>
            <a:ext cx="7772400" cy="731520"/>
          </a:xfrm>
          <a:prstGeom prst="rect">
            <a:avLst/>
          </a:prstGeom>
          <a:noFill/>
          <a:ln/>
        </p:spPr>
        <p:txBody>
          <a:bodyPr wrap="square" lIns="25400" tIns="50800" rIns="50800" bIns="25400" rtlCol="0" anchor="t"/>
          <a:lstStyle/>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'중대한 질병' 발생 시 사망보험금의 일부(통상 50~80%)를 미리 지급하는 보험입니다. '중대한'의 기준이 약관에 매우 까다롭게 명시되어 있어, 같은 질병이라도 상태가 심각하지 않으면 보험금을 받지 못하는 경우가 많아 분쟁의 소지가 있습니다. (예: '중대한 뇌졸중'은 영구적인 신경학적 결손이 남아야 함)</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19</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부록 (Appendix) — 전문용어 설명 (2/2)</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맞춤형 컨설팅 특급보고서 — [맞벌이 30대 신혼부부] 보험, 결혼보다 중요한 리스크 계약</a:t>
            </a:r>
            <a:endParaRPr lang="en-US" sz="7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19 / 21</a:t>
            </a:r>
            <a:endParaRPr lang="en-US" sz="800" dirty="0"/>
          </a:p>
        </p:txBody>
      </p:sp>
      <p:sp>
        <p:nvSpPr>
          <p:cNvPr id="7" name="Shape 5"/>
          <p:cNvSpPr/>
          <p:nvPr/>
        </p:nvSpPr>
        <p:spPr>
          <a:xfrm>
            <a:off x="548640" y="685800"/>
            <a:ext cx="8046720" cy="123444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8" name="Shape 6"/>
          <p:cNvSpPr/>
          <p:nvPr/>
        </p:nvSpPr>
        <p:spPr>
          <a:xfrm>
            <a:off x="548640" y="685800"/>
            <a:ext cx="54864" cy="1234440"/>
          </a:xfrm>
          <a:prstGeom prst="rect">
            <a:avLst/>
          </a:prstGeom>
          <a:solidFill>
            <a:srgbClr val="C8962E"/>
          </a:solidFill>
          <a:ln w="12700">
            <a:solidFill>
              <a:srgbClr val="C8962E"/>
            </a:solidFill>
            <a:prstDash val="solid"/>
          </a:ln>
        </p:spPr>
        <p:txBody>
          <a:bodyPr/>
          <a:lstStyle/>
          <a:p>
            <a:endParaRPr lang="ko-KR" altLang="en-US"/>
          </a:p>
        </p:txBody>
      </p:sp>
      <p:sp>
        <p:nvSpPr>
          <p:cNvPr id="9" name="Text 7"/>
          <p:cNvSpPr/>
          <p:nvPr/>
        </p:nvSpPr>
        <p:spPr>
          <a:xfrm>
            <a:off x="685800" y="731520"/>
            <a:ext cx="7772400" cy="201168"/>
          </a:xfrm>
          <a:prstGeom prst="rect">
            <a:avLst/>
          </a:prstGeom>
          <a:noFill/>
          <a:ln/>
        </p:spPr>
        <p:txBody>
          <a:bodyPr wrap="square" lIns="25400" tIns="50800" rIns="50800" bIns="25400" rtlCol="0" anchor="t"/>
          <a:lstStyle/>
          <a:p>
            <a:pPr marL="0" indent="0" algn="l">
              <a:lnSpc>
                <a:spcPct val="115000"/>
              </a:lnSpc>
              <a:buNone/>
            </a:pPr>
            <a:r>
              <a:rPr lang="en-US" sz="1100" b="1" dirty="0">
                <a:solidFill>
                  <a:srgbClr val="2B2B2B"/>
                </a:solidFill>
                <a:latin typeface="맑은 고딕" pitchFamily="34" charset="0"/>
                <a:ea typeface="맑은 고딕" pitchFamily="34" charset="-122"/>
                <a:cs typeface="맑은 고딕" pitchFamily="34" charset="-120"/>
              </a:rPr>
              <a:t>질병후유장해 (Disability caused by Illness)</a:t>
            </a:r>
            <a:endParaRPr lang="en-US" sz="1050" dirty="0"/>
          </a:p>
        </p:txBody>
      </p:sp>
      <p:sp>
        <p:nvSpPr>
          <p:cNvPr id="10" name="Text 8"/>
          <p:cNvSpPr/>
          <p:nvPr/>
        </p:nvSpPr>
        <p:spPr>
          <a:xfrm>
            <a:off x="685800" y="960120"/>
            <a:ext cx="7772400" cy="914400"/>
          </a:xfrm>
          <a:prstGeom prst="rect">
            <a:avLst/>
          </a:prstGeom>
          <a:noFill/>
          <a:ln/>
        </p:spPr>
        <p:txBody>
          <a:bodyPr wrap="square" lIns="25400" tIns="50800" rIns="50800" bIns="25400" rtlCol="0" anchor="t"/>
          <a:lstStyle/>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질병으로 인해 신체에 영구적인 장해가 남았을 때, 장해율에 따라 가입금액을 지급하는 담보입니다. 암, 뇌, 심장 질환뿐만 아니라 당뇨 합병증, 디스크 등 다양한 질병의 후유증을 보장합니다. 사망이나 진단만큼이나 중요한 '소득 상실'에 대비하는 핵심 보장으로, '제2의 월급'이라 불리기도 합니다. (예: 가입금액 1억원, 장해율 20% 판정 시 2,000만원 지급)</a:t>
            </a:r>
            <a:endParaRPr lang="en-US" sz="900" dirty="0"/>
          </a:p>
        </p:txBody>
      </p:sp>
      <p:sp>
        <p:nvSpPr>
          <p:cNvPr id="11" name="Shape 9"/>
          <p:cNvSpPr/>
          <p:nvPr/>
        </p:nvSpPr>
        <p:spPr>
          <a:xfrm>
            <a:off x="548640" y="2057400"/>
            <a:ext cx="8046720" cy="11430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2" name="Shape 10"/>
          <p:cNvSpPr/>
          <p:nvPr/>
        </p:nvSpPr>
        <p:spPr>
          <a:xfrm>
            <a:off x="548640" y="2057400"/>
            <a:ext cx="54864" cy="1143000"/>
          </a:xfrm>
          <a:prstGeom prst="rect">
            <a:avLst/>
          </a:prstGeom>
          <a:solidFill>
            <a:srgbClr val="C8962E"/>
          </a:solidFill>
          <a:ln w="12700">
            <a:solidFill>
              <a:srgbClr val="C8962E"/>
            </a:solidFill>
            <a:prstDash val="solid"/>
          </a:ln>
        </p:spPr>
        <p:txBody>
          <a:bodyPr/>
          <a:lstStyle/>
          <a:p>
            <a:endParaRPr lang="ko-KR" altLang="en-US"/>
          </a:p>
        </p:txBody>
      </p:sp>
      <p:sp>
        <p:nvSpPr>
          <p:cNvPr id="13" name="Text 11"/>
          <p:cNvSpPr/>
          <p:nvPr/>
        </p:nvSpPr>
        <p:spPr>
          <a:xfrm>
            <a:off x="685800" y="2103120"/>
            <a:ext cx="7772400" cy="201168"/>
          </a:xfrm>
          <a:prstGeom prst="rect">
            <a:avLst/>
          </a:prstGeom>
          <a:noFill/>
          <a:ln/>
        </p:spPr>
        <p:txBody>
          <a:bodyPr wrap="square" lIns="25400" tIns="50800" rIns="50800" bIns="25400" rtlCol="0" anchor="t"/>
          <a:lstStyle/>
          <a:p>
            <a:pPr marL="0" indent="0" algn="l">
              <a:lnSpc>
                <a:spcPct val="115000"/>
              </a:lnSpc>
              <a:buNone/>
            </a:pPr>
            <a:r>
              <a:rPr lang="en-US" sz="1100" b="1" dirty="0">
                <a:solidFill>
                  <a:srgbClr val="2B2B2B"/>
                </a:solidFill>
                <a:latin typeface="맑은 고딕" pitchFamily="34" charset="0"/>
                <a:ea typeface="맑은 고딕" pitchFamily="34" charset="-122"/>
                <a:cs typeface="맑은 고딕" pitchFamily="34" charset="-120"/>
              </a:rPr>
              <a:t>보험 리모델링</a:t>
            </a:r>
            <a:endParaRPr lang="en-US" sz="1050" dirty="0"/>
          </a:p>
        </p:txBody>
      </p:sp>
      <p:sp>
        <p:nvSpPr>
          <p:cNvPr id="14" name="Text 12"/>
          <p:cNvSpPr/>
          <p:nvPr/>
        </p:nvSpPr>
        <p:spPr>
          <a:xfrm>
            <a:off x="685800" y="2331720"/>
            <a:ext cx="7772400" cy="822960"/>
          </a:xfrm>
          <a:prstGeom prst="rect">
            <a:avLst/>
          </a:prstGeom>
          <a:noFill/>
          <a:ln/>
        </p:spPr>
        <p:txBody>
          <a:bodyPr wrap="square" lIns="25400" tIns="50800" rIns="50800" bIns="25400" rtlCol="0" anchor="t"/>
          <a:lstStyle/>
          <a:p>
            <a:pPr marL="0" indent="0" algn="l">
              <a:lnSpc>
                <a:spcPct val="115000"/>
              </a:lnSpc>
              <a:buNone/>
            </a:pPr>
            <a:r>
              <a:rPr lang="en-US" sz="900" dirty="0">
                <a:solidFill>
                  <a:srgbClr val="2B2B2B"/>
                </a:solidFill>
                <a:latin typeface="맑은 고딕" pitchFamily="34" charset="0"/>
                <a:ea typeface="맑은 고딕" pitchFamily="34" charset="-122"/>
                <a:cs typeface="맑은 고딕" pitchFamily="34" charset="-120"/>
              </a:rPr>
              <a:t>기존에 가입한 보험을 현재의 재무 상황, 가족 구성, 인생 목표에 맞게 재구성하는 과정입니다. 단순히 보험을 해지하고 새로 가입하는 것이 아니라, 유지할 것과 조정할 것을 분석하여 불필요한 비용은 줄이고 부족한 보장은 채워 넣어 포트폴리오의 효율을 극대화하는 재무 컨설팅의 한 분야입니다.</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20</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부록 (Appendix) — FAQ (1/2)</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맞춤형 컨설팅 특급보고서 — [맞벌이 30대 신혼부부] 보험, 결혼보다 중요한 리스크 계약</a:t>
            </a:r>
            <a:endParaRPr lang="en-US" sz="7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20 / 21</a:t>
            </a:r>
            <a:endParaRPr lang="en-US" sz="800" dirty="0"/>
          </a:p>
        </p:txBody>
      </p:sp>
      <p:sp>
        <p:nvSpPr>
          <p:cNvPr id="7" name="Text 5"/>
          <p:cNvSpPr/>
          <p:nvPr/>
        </p:nvSpPr>
        <p:spPr>
          <a:xfrm>
            <a:off x="548640" y="685800"/>
            <a:ext cx="8046720" cy="274320"/>
          </a:xfrm>
          <a:prstGeom prst="rect">
            <a:avLst/>
          </a:prstGeom>
          <a:noFill/>
          <a:ln/>
        </p:spPr>
        <p:txBody>
          <a:bodyPr wrap="square" lIns="25400" tIns="50800" rIns="50800" bIns="25400" rtlCol="0" anchor="t"/>
          <a:lstStyle/>
          <a:p>
            <a:pPr marL="0" indent="0" algn="l">
              <a:lnSpc>
                <a:spcPct val="115000"/>
              </a:lnSpc>
              <a:buNone/>
            </a:pPr>
            <a:r>
              <a:rPr lang="en-US" sz="1300" b="1" dirty="0">
                <a:solidFill>
                  <a:srgbClr val="1B2A4A"/>
                </a:solidFill>
                <a:latin typeface="맑은 고딕" pitchFamily="34" charset="0"/>
                <a:ea typeface="맑은 고딕" pitchFamily="34" charset="-122"/>
                <a:cs typeface="맑은 고딕" pitchFamily="34" charset="-120"/>
              </a:rPr>
              <a:t>FAQ (자주 묻는 질문)</a:t>
            </a:r>
            <a:endParaRPr lang="en-US" sz="1300" dirty="0"/>
          </a:p>
        </p:txBody>
      </p:sp>
      <p:sp>
        <p:nvSpPr>
          <p:cNvPr id="8" name="Shape 6"/>
          <p:cNvSpPr/>
          <p:nvPr/>
        </p:nvSpPr>
        <p:spPr>
          <a:xfrm>
            <a:off x="548640" y="1051560"/>
            <a:ext cx="8046720" cy="18288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548640" y="1051560"/>
            <a:ext cx="54864" cy="1828800"/>
          </a:xfrm>
          <a:prstGeom prst="rect">
            <a:avLst/>
          </a:prstGeom>
          <a:solidFill>
            <a:srgbClr val="C8962E"/>
          </a:solidFill>
          <a:ln w="12700">
            <a:solidFill>
              <a:srgbClr val="C8962E"/>
            </a:solidFill>
            <a:prstDash val="solid"/>
          </a:ln>
        </p:spPr>
        <p:txBody>
          <a:bodyPr/>
          <a:lstStyle/>
          <a:p>
            <a:endParaRPr lang="ko-KR" altLang="en-US"/>
          </a:p>
        </p:txBody>
      </p:sp>
      <p:sp>
        <p:nvSpPr>
          <p:cNvPr id="10" name="Text 8"/>
          <p:cNvSpPr/>
          <p:nvPr/>
        </p:nvSpPr>
        <p:spPr>
          <a:xfrm>
            <a:off x="685800" y="1097280"/>
            <a:ext cx="7772400" cy="320040"/>
          </a:xfrm>
          <a:prstGeom prst="rect">
            <a:avLst/>
          </a:prstGeom>
          <a:noFill/>
          <a:ln/>
        </p:spPr>
        <p:txBody>
          <a:bodyPr wrap="square" lIns="25400" tIns="50800" rIns="50800" bIns="25400" rtlCol="0" anchor="t"/>
          <a:lstStyle/>
          <a:p>
            <a:pPr marL="0" indent="0" algn="l">
              <a:lnSpc>
                <a:spcPct val="115000"/>
              </a:lnSpc>
              <a:buNone/>
            </a:pPr>
            <a:r>
              <a:rPr lang="en-US" sz="1050" b="1" dirty="0">
                <a:solidFill>
                  <a:srgbClr val="2B2B2B"/>
                </a:solidFill>
                <a:latin typeface="맑은 고딕" pitchFamily="34" charset="0"/>
                <a:ea typeface="맑은 고딕" pitchFamily="34" charset="-122"/>
                <a:cs typeface="맑은 고딕" pitchFamily="34" charset="-120"/>
              </a:rPr>
              <a:t>Q1. 기존에 10년이나 부은 종신보험을 해지하거나 줄이면 너무 손해 아닌가요?</a:t>
            </a:r>
            <a:endParaRPr lang="en-US" sz="1050" dirty="0"/>
          </a:p>
        </p:txBody>
      </p:sp>
      <p:sp>
        <p:nvSpPr>
          <p:cNvPr id="11" name="Text 9"/>
          <p:cNvSpPr/>
          <p:nvPr/>
        </p:nvSpPr>
        <p:spPr>
          <a:xfrm>
            <a:off x="685800" y="1417320"/>
            <a:ext cx="7772400" cy="1371600"/>
          </a:xfrm>
          <a:prstGeom prst="rect">
            <a:avLst/>
          </a:prstGeom>
          <a:noFill/>
          <a:ln/>
        </p:spPr>
        <p:txBody>
          <a:bodyPr wrap="square" lIns="25400" tIns="50800" rIns="50800" bIns="25400" rtlCol="0" anchor="t"/>
          <a:lstStyle/>
          <a:p>
            <a:pPr marL="0" indent="0" algn="l">
              <a:lnSpc>
                <a:spcPct val="135000"/>
              </a:lnSpc>
              <a:buNone/>
            </a:pPr>
            <a:r>
              <a:rPr lang="en-US" sz="900" dirty="0">
                <a:solidFill>
                  <a:srgbClr val="4A5568"/>
                </a:solidFill>
                <a:latin typeface="맑은 고딕" pitchFamily="34" charset="0"/>
                <a:ea typeface="맑은 고딕" pitchFamily="34" charset="-122"/>
                <a:cs typeface="맑은 고딕" pitchFamily="34" charset="-120"/>
              </a:rPr>
              <a:t>A: 충분히 그렇게 생각하실 수 있습니다. 하지만 우리는 '매몰비용의 오류'를 경계해야 합니다. 지금까지 낸 돈이 아까워서 앞으로 더 큰 비효율을 감수하는 것은 현명하지 않습니다. 중요한 것은 '앞으로 낼 보험료'가 우리 가족에게 최선의 가치를 제공하는가입니다. 기존 보험의 사망 보장 위주 구조는 현재 두 분의 상황에 맞지 않는 옷입니다. 그 보험료를 살아있을 때 필요한 핵심 보장으로 전환하는 것이 장기적으로 훨씬 큰 이익이며, 이것이 바로 손해를 멈추고 이익을 만드는 길입니다.</a:t>
            </a:r>
            <a:endParaRPr lang="en-US" sz="900" dirty="0"/>
          </a:p>
        </p:txBody>
      </p:sp>
      <p:sp>
        <p:nvSpPr>
          <p:cNvPr id="12" name="Shape 10"/>
          <p:cNvSpPr/>
          <p:nvPr/>
        </p:nvSpPr>
        <p:spPr>
          <a:xfrm>
            <a:off x="548640" y="3017520"/>
            <a:ext cx="8046720" cy="169164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548640" y="3017520"/>
            <a:ext cx="54864" cy="1691640"/>
          </a:xfrm>
          <a:prstGeom prst="rect">
            <a:avLst/>
          </a:prstGeom>
          <a:solidFill>
            <a:srgbClr val="C8962E"/>
          </a:solidFill>
          <a:ln w="12700">
            <a:solidFill>
              <a:srgbClr val="C8962E"/>
            </a:solidFill>
            <a:prstDash val="solid"/>
          </a:ln>
        </p:spPr>
        <p:txBody>
          <a:bodyPr/>
          <a:lstStyle/>
          <a:p>
            <a:endParaRPr lang="ko-KR" altLang="en-US"/>
          </a:p>
        </p:txBody>
      </p:sp>
      <p:sp>
        <p:nvSpPr>
          <p:cNvPr id="14" name="Text 12"/>
          <p:cNvSpPr/>
          <p:nvPr/>
        </p:nvSpPr>
        <p:spPr>
          <a:xfrm>
            <a:off x="685800" y="3063240"/>
            <a:ext cx="7772400" cy="320040"/>
          </a:xfrm>
          <a:prstGeom prst="rect">
            <a:avLst/>
          </a:prstGeom>
          <a:noFill/>
          <a:ln/>
        </p:spPr>
        <p:txBody>
          <a:bodyPr wrap="square" lIns="25400" tIns="50800" rIns="50800" bIns="25400" rtlCol="0" anchor="t"/>
          <a:lstStyle/>
          <a:p>
            <a:pPr marL="0" indent="0" algn="l">
              <a:lnSpc>
                <a:spcPct val="115000"/>
              </a:lnSpc>
              <a:buNone/>
            </a:pPr>
            <a:r>
              <a:rPr lang="en-US" sz="1050" b="1" dirty="0">
                <a:solidFill>
                  <a:srgbClr val="2B2B2B"/>
                </a:solidFill>
                <a:latin typeface="맑은 고딕" pitchFamily="34" charset="0"/>
                <a:ea typeface="맑은 고딕" pitchFamily="34" charset="-122"/>
                <a:cs typeface="맑은 고딕" pitchFamily="34" charset="-120"/>
              </a:rPr>
              <a:t>Q2. 저희는 둘 다 젊고 건강한데, 이렇게 큰 보장이 지금 꼭 필요한가요?</a:t>
            </a:r>
            <a:endParaRPr lang="en-US" sz="1050" dirty="0"/>
          </a:p>
        </p:txBody>
      </p:sp>
      <p:sp>
        <p:nvSpPr>
          <p:cNvPr id="15" name="Text 13"/>
          <p:cNvSpPr/>
          <p:nvPr/>
        </p:nvSpPr>
        <p:spPr>
          <a:xfrm>
            <a:off x="685800" y="3383280"/>
            <a:ext cx="7772400" cy="1280160"/>
          </a:xfrm>
          <a:prstGeom prst="rect">
            <a:avLst/>
          </a:prstGeom>
          <a:noFill/>
          <a:ln/>
        </p:spPr>
        <p:txBody>
          <a:bodyPr wrap="square" lIns="25400" tIns="50800" rIns="50800" bIns="25400" rtlCol="0" anchor="t"/>
          <a:lstStyle/>
          <a:p>
            <a:pPr marL="0" indent="0" algn="l">
              <a:lnSpc>
                <a:spcPct val="135000"/>
              </a:lnSpc>
              <a:buNone/>
            </a:pPr>
            <a:r>
              <a:rPr lang="en-US" sz="900" dirty="0">
                <a:solidFill>
                  <a:srgbClr val="4A5568"/>
                </a:solidFill>
                <a:latin typeface="맑은 고딕" pitchFamily="34" charset="0"/>
                <a:ea typeface="맑은 고딕" pitchFamily="34" charset="-122"/>
                <a:cs typeface="맑은 고딕" pitchFamily="34" charset="-120"/>
              </a:rPr>
              <a:t>A: 바로 그렇기 때문에 지금이 보험 가입의 최적기입니다. 보험은 건강할 때, 젊을 때 가입해야 가장 저렴하고 폭넓게 가입할 수 있는 유일한 금융상품입니다. 아프고 난 뒤에는 가입하고 싶어도 할 수 없거나, 비싼 보험료와 제한된 보장만 가능한 '유병자 보험'에 가입해야 합니다. 자동차 사고가 날 것을 예상하고 자동차 보험에 가입하는 사람이 없듯이, 보험은 예측할 수 없는 미래의 위험에 대한 '최소한의 안전벨트'입니다.</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21</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500" b="1" dirty="0">
                <a:solidFill>
                  <a:srgbClr val="FFFFFF"/>
                </a:solidFill>
                <a:latin typeface="맑은 고딕" pitchFamily="34" charset="0"/>
                <a:ea typeface="맑은 고딕" pitchFamily="34" charset="-122"/>
                <a:cs typeface="맑은 고딕" pitchFamily="34" charset="-120"/>
              </a:rPr>
              <a:t>부록 (Appendix) — FAQ (2/2)</a:t>
            </a:r>
            <a:endParaRPr lang="en-US" sz="15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700" dirty="0">
                <a:solidFill>
                  <a:srgbClr val="4A5568"/>
                </a:solidFill>
                <a:latin typeface="맑은 고딕" pitchFamily="34" charset="0"/>
                <a:ea typeface="맑은 고딕" pitchFamily="34" charset="-122"/>
                <a:cs typeface="맑은 고딕" pitchFamily="34" charset="-120"/>
              </a:rPr>
              <a:t>맞춤형 컨설팅 특급보고서 — [맞벌이 30대 신혼부부] 보험, 결혼보다 중요한 리스크 계약</a:t>
            </a:r>
            <a:endParaRPr lang="en-US" sz="7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21 / 21</a:t>
            </a:r>
            <a:endParaRPr lang="en-US" sz="800" dirty="0"/>
          </a:p>
        </p:txBody>
      </p:sp>
      <p:sp>
        <p:nvSpPr>
          <p:cNvPr id="7" name="Shape 5"/>
          <p:cNvSpPr/>
          <p:nvPr/>
        </p:nvSpPr>
        <p:spPr>
          <a:xfrm>
            <a:off x="548640" y="685800"/>
            <a:ext cx="8046720" cy="214884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8" name="Shape 6"/>
          <p:cNvSpPr/>
          <p:nvPr/>
        </p:nvSpPr>
        <p:spPr>
          <a:xfrm>
            <a:off x="548640" y="685800"/>
            <a:ext cx="54864" cy="2148840"/>
          </a:xfrm>
          <a:prstGeom prst="rect">
            <a:avLst/>
          </a:prstGeom>
          <a:solidFill>
            <a:srgbClr val="C8962E"/>
          </a:solidFill>
          <a:ln w="12700">
            <a:solidFill>
              <a:srgbClr val="C8962E"/>
            </a:solidFill>
            <a:prstDash val="solid"/>
          </a:ln>
        </p:spPr>
        <p:txBody>
          <a:bodyPr/>
          <a:lstStyle/>
          <a:p>
            <a:endParaRPr lang="ko-KR" altLang="en-US"/>
          </a:p>
        </p:txBody>
      </p:sp>
      <p:sp>
        <p:nvSpPr>
          <p:cNvPr id="9" name="Text 7"/>
          <p:cNvSpPr/>
          <p:nvPr/>
        </p:nvSpPr>
        <p:spPr>
          <a:xfrm>
            <a:off x="685800" y="731520"/>
            <a:ext cx="7772400" cy="320040"/>
          </a:xfrm>
          <a:prstGeom prst="rect">
            <a:avLst/>
          </a:prstGeom>
          <a:noFill/>
          <a:ln/>
        </p:spPr>
        <p:txBody>
          <a:bodyPr wrap="square" lIns="25400" tIns="50800" rIns="50800" bIns="25400" rtlCol="0" anchor="t"/>
          <a:lstStyle/>
          <a:p>
            <a:pPr marL="0" indent="0" algn="l">
              <a:lnSpc>
                <a:spcPct val="115000"/>
              </a:lnSpc>
              <a:buNone/>
            </a:pPr>
            <a:r>
              <a:rPr lang="en-US" sz="1050" b="1" dirty="0">
                <a:solidFill>
                  <a:srgbClr val="2B2B2B"/>
                </a:solidFill>
                <a:latin typeface="맑은 고딕" pitchFamily="34" charset="0"/>
                <a:ea typeface="맑은 고딕" pitchFamily="34" charset="-122"/>
                <a:cs typeface="맑은 고딕" pitchFamily="34" charset="-120"/>
              </a:rPr>
              <a:t>Q3. 그 돈으로 차라리 주식이나 펀드에 투자해서 돈을 불리는 게 더 낫지 않을까요?</a:t>
            </a:r>
            <a:endParaRPr lang="en-US" sz="1050" dirty="0"/>
          </a:p>
        </p:txBody>
      </p:sp>
      <p:sp>
        <p:nvSpPr>
          <p:cNvPr id="10" name="Text 8"/>
          <p:cNvSpPr/>
          <p:nvPr/>
        </p:nvSpPr>
        <p:spPr>
          <a:xfrm>
            <a:off x="685800" y="1051560"/>
            <a:ext cx="7772400" cy="1691640"/>
          </a:xfrm>
          <a:prstGeom prst="rect">
            <a:avLst/>
          </a:prstGeom>
          <a:noFill/>
          <a:ln/>
        </p:spPr>
        <p:txBody>
          <a:bodyPr wrap="square" lIns="25400" tIns="50800" rIns="50800" bIns="25400" rtlCol="0" anchor="t"/>
          <a:lstStyle/>
          <a:p>
            <a:pPr marL="0" indent="0" algn="l">
              <a:lnSpc>
                <a:spcPct val="135000"/>
              </a:lnSpc>
              <a:buNone/>
            </a:pPr>
            <a:r>
              <a:rPr lang="en-US" sz="900" dirty="0">
                <a:solidFill>
                  <a:srgbClr val="4A5568"/>
                </a:solidFill>
                <a:latin typeface="맑은 고딕" pitchFamily="34" charset="0"/>
                <a:ea typeface="맑은 고딕" pitchFamily="34" charset="-122"/>
                <a:cs typeface="맑은 고딕" pitchFamily="34" charset="-120"/>
              </a:rPr>
              <a:t>A: 훌륭한 질문입니다. 투자와 보장은 목적이 전혀 다른, 우리 집을 지키는 두 개의 기둥과 같습니다. 투자는 '플러스'의 기회를 만드는 공격수이고, 보험은 '마이너스'를 막는 골키퍼입니다. 아무리 공격을 잘해도 골키퍼가 없으면 한 번의 역습에 무너질 수 있습니다. 큰 병에 걸려 모아둔 투자금을 치료비로 모두 써버린다면, 재무 목표는 다시 원점으로 돌아갑니다. 월 소득의 5~8% 내외를 '위험관리 비용'으로 사용하여 든든한 골키퍼를 세워두고, 나머지 자금으로 마음 편히 공격적인 투자를 하는 것이 가장 이상적인 전략입니다.</a:t>
            </a:r>
            <a:endParaRPr lang="en-US" sz="900" dirty="0"/>
          </a:p>
        </p:txBody>
      </p:sp>
      <p:sp>
        <p:nvSpPr>
          <p:cNvPr id="11" name="Shape 9"/>
          <p:cNvSpPr/>
          <p:nvPr/>
        </p:nvSpPr>
        <p:spPr>
          <a:xfrm>
            <a:off x="548640" y="2971800"/>
            <a:ext cx="8046720" cy="1005840"/>
          </a:xfrm>
          <a:prstGeom prst="rect">
            <a:avLst/>
          </a:prstGeom>
          <a:solidFill>
            <a:srgbClr val="FFFBEB"/>
          </a:solidFill>
          <a:ln w="12700">
            <a:solidFill>
              <a:srgbClr val="FDE68A"/>
            </a:solidFill>
            <a:prstDash val="solid"/>
          </a:ln>
        </p:spPr>
        <p:txBody>
          <a:bodyPr/>
          <a:lstStyle/>
          <a:p>
            <a:endParaRPr lang="ko-KR" altLang="en-US"/>
          </a:p>
        </p:txBody>
      </p:sp>
      <p:sp>
        <p:nvSpPr>
          <p:cNvPr id="12" name="Text 10"/>
          <p:cNvSpPr/>
          <p:nvPr/>
        </p:nvSpPr>
        <p:spPr>
          <a:xfrm>
            <a:off x="685800" y="3017520"/>
            <a:ext cx="7772400" cy="914400"/>
          </a:xfrm>
          <a:prstGeom prst="rect">
            <a:avLst/>
          </a:prstGeom>
          <a:noFill/>
          <a:ln/>
        </p:spPr>
        <p:txBody>
          <a:bodyPr wrap="square" lIns="25400" tIns="50800" rIns="50800" bIns="25400" rtlCol="0" anchor="t"/>
          <a:lstStyle/>
          <a:p>
            <a:pPr marL="0" indent="0" algn="l">
              <a:lnSpc>
                <a:spcPct val="130000"/>
              </a:lnSpc>
              <a:buNone/>
            </a:pPr>
            <a:r>
              <a:rPr lang="en-US" sz="800" dirty="0">
                <a:solidFill>
                  <a:srgbClr val="78350F"/>
                </a:solidFill>
                <a:latin typeface="맑은 고딕" pitchFamily="34" charset="0"/>
                <a:ea typeface="맑은 고딕" pitchFamily="34" charset="-122"/>
                <a:cs typeface="맑은 고딕" pitchFamily="34" charset="-120"/>
              </a:rPr>
              <a:t>본 보고서는 ㈜KFPC의 '이너서클 멤버십'과 '컨설턴트 홈페이지' 이용회원의 원활한 영업활동을 돕기 위해서 가상의 사례(회사, 개인 등의 정보 등...)를 설정하여 '인공지능'을 통해 제작되었습니다.</a:t>
            </a:r>
            <a:endParaRPr lang="en-US" sz="800" dirty="0"/>
          </a:p>
          <a:p>
            <a:pPr marL="0" indent="0" algn="l">
              <a:lnSpc>
                <a:spcPct val="130000"/>
              </a:lnSpc>
              <a:buNone/>
            </a:pPr>
            <a:r>
              <a:rPr lang="en-US" sz="800" dirty="0">
                <a:solidFill>
                  <a:srgbClr val="78350F"/>
                </a:solidFill>
                <a:latin typeface="맑은 고딕" pitchFamily="34" charset="0"/>
                <a:ea typeface="맑은 고딕" pitchFamily="34" charset="-122"/>
                <a:cs typeface="맑은 고딕" pitchFamily="34" charset="-120"/>
              </a:rPr>
              <a:t>AI는 언제든지 오류가 있을 수 있으므로 참고용으로 사용하여 주시고, 실무 사용시 세법을 포함한 모든 규정, 제도들은 반드시 분야별 전문가와 충분히 상담을 하신 후 진행하시기 바랍니다.</a:t>
            </a:r>
            <a:endParaRPr lang="en-US" sz="800" dirty="0"/>
          </a:p>
          <a:p>
            <a:pPr marL="0" indent="0" algn="l">
              <a:lnSpc>
                <a:spcPct val="130000"/>
              </a:lnSpc>
              <a:buNone/>
            </a:pPr>
            <a:r>
              <a:rPr lang="en-US" sz="800" dirty="0">
                <a:solidFill>
                  <a:srgbClr val="78350F"/>
                </a:solidFill>
                <a:latin typeface="맑은 고딕" pitchFamily="34" charset="0"/>
                <a:ea typeface="맑은 고딕" pitchFamily="34" charset="-122"/>
                <a:cs typeface="맑은 고딕" pitchFamily="34" charset="-120"/>
              </a:rPr>
              <a:t>사용에 따라 발생되는 문제에 대하여 제작처는 책임이 없음을 알려드립니다.</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3921</Words>
  <Application>Microsoft Office PowerPoint</Application>
  <PresentationFormat>화면 슬라이드 쇼(16:9)</PresentationFormat>
  <Paragraphs>341</Paragraphs>
  <Slides>22</Slides>
  <Notes>22</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22</vt:i4>
      </vt:variant>
    </vt:vector>
  </HeadingPairs>
  <TitlesOfParts>
    <vt:vector size="26" baseType="lpstr">
      <vt:lpstr>맑은 고딕</vt:lpstr>
      <vt:lpstr>Arial</vt:lpstr>
      <vt:lpstr>Georgia</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에프피센터 한국</cp:lastModifiedBy>
  <cp:revision>2</cp:revision>
  <dcterms:created xsi:type="dcterms:W3CDTF">2026-03-20T08:24:42Z</dcterms:created>
  <dcterms:modified xsi:type="dcterms:W3CDTF">2026-03-20T08:37:25Z</dcterms:modified>
</cp:coreProperties>
</file>