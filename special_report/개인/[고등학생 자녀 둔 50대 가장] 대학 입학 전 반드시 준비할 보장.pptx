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70065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C8962E"/>
          </a:solidFill>
          <a:ln w="12700">
            <a:solidFill>
              <a:srgbClr val="C8962E"/>
            </a:solidFill>
            <a:prstDash val="solid"/>
          </a:ln>
        </p:spPr>
        <p:txBody>
          <a:bodyPr/>
          <a:lstStyle/>
          <a:p>
            <a:endParaRPr lang="ko-KR" altLang="en-US"/>
          </a:p>
        </p:txBody>
      </p:sp>
      <p:sp>
        <p:nvSpPr>
          <p:cNvPr id="3" name="Text 1"/>
          <p:cNvSpPr/>
          <p:nvPr/>
        </p:nvSpPr>
        <p:spPr>
          <a:xfrm>
            <a:off x="731520" y="914400"/>
            <a:ext cx="7680960" cy="731520"/>
          </a:xfrm>
          <a:prstGeom prst="rect">
            <a:avLst/>
          </a:prstGeom>
          <a:noFill/>
          <a:ln/>
        </p:spPr>
        <p:txBody>
          <a:bodyPr wrap="square" rtlCol="0" anchor="ctr"/>
          <a:lstStyle/>
          <a:p>
            <a:pPr marL="0" indent="0" algn="ctr">
              <a:buNone/>
            </a:pPr>
            <a:r>
              <a:rPr lang="en-US" sz="2200" dirty="0">
                <a:solidFill>
                  <a:srgbClr val="CBD5E1"/>
                </a:solidFill>
                <a:latin typeface="맑은 고딕" pitchFamily="34" charset="0"/>
                <a:ea typeface="맑은 고딕" pitchFamily="34" charset="-122"/>
                <a:cs typeface="맑은 고딕" pitchFamily="34" charset="-120"/>
              </a:rPr>
              <a:t>고객의 안정된 미래를 위한 재무안전망 구축</a:t>
            </a:r>
            <a:endParaRPr lang="en-US" sz="2200" dirty="0"/>
          </a:p>
        </p:txBody>
      </p:sp>
      <p:sp>
        <p:nvSpPr>
          <p:cNvPr id="4" name="Text 2"/>
          <p:cNvSpPr/>
          <p:nvPr/>
        </p:nvSpPr>
        <p:spPr>
          <a:xfrm>
            <a:off x="731520" y="1645920"/>
            <a:ext cx="7680960" cy="1097280"/>
          </a:xfrm>
          <a:prstGeom prst="rect">
            <a:avLst/>
          </a:prstGeom>
          <a:noFill/>
          <a:ln/>
        </p:spPr>
        <p:txBody>
          <a:bodyPr wrap="square" rtlCol="0" anchor="ctr"/>
          <a:lstStyle/>
          <a:p>
            <a:pPr marL="0" indent="0" algn="ctr">
              <a:buNone/>
            </a:pPr>
            <a:r>
              <a:rPr lang="en-US" sz="3600" b="1" dirty="0">
                <a:solidFill>
                  <a:srgbClr val="C8962E"/>
                </a:solidFill>
                <a:latin typeface="맑은 고딕" pitchFamily="34" charset="0"/>
                <a:ea typeface="맑은 고딕" pitchFamily="34" charset="-122"/>
                <a:cs typeface="맑은 고딕" pitchFamily="34" charset="-120"/>
              </a:rPr>
              <a:t>『컨설팅 특급보고서』</a:t>
            </a:r>
            <a:endParaRPr lang="en-US" sz="3600" dirty="0"/>
          </a:p>
        </p:txBody>
      </p:sp>
      <p:sp>
        <p:nvSpPr>
          <p:cNvPr id="5" name="Text 3"/>
          <p:cNvSpPr/>
          <p:nvPr/>
        </p:nvSpPr>
        <p:spPr>
          <a:xfrm>
            <a:off x="731520" y="2926080"/>
            <a:ext cx="7680960" cy="640080"/>
          </a:xfrm>
          <a:prstGeom prst="rect">
            <a:avLst/>
          </a:prstGeom>
          <a:noFill/>
          <a:ln/>
        </p:spPr>
        <p:txBody>
          <a:bodyPr wrap="square" rtlCol="0" anchor="ctr"/>
          <a:lstStyle/>
          <a:p>
            <a:pPr marL="0" indent="0" algn="ctr">
              <a:buNone/>
            </a:pPr>
            <a:r>
              <a:rPr lang="en-US" sz="1600" dirty="0">
                <a:solidFill>
                  <a:srgbClr val="CBD5E1"/>
                </a:solidFill>
                <a:latin typeface="맑은 고딕" pitchFamily="34" charset="0"/>
                <a:ea typeface="맑은 고딕" pitchFamily="34" charset="-122"/>
                <a:cs typeface="맑은 고딕" pitchFamily="34" charset="-120"/>
              </a:rPr>
              <a:t>[고등학생 자녀 둔 50대 가장] 대학 입학 전 반드시 준비할 보장</a:t>
            </a:r>
            <a:endParaRPr lang="en-US" sz="1600" dirty="0"/>
          </a:p>
        </p:txBody>
      </p:sp>
      <p:sp>
        <p:nvSpPr>
          <p:cNvPr id="6" name="Text 4"/>
          <p:cNvSpPr/>
          <p:nvPr/>
        </p:nvSpPr>
        <p:spPr>
          <a:xfrm>
            <a:off x="731520" y="4434840"/>
            <a:ext cx="7680960" cy="274320"/>
          </a:xfrm>
          <a:prstGeom prst="rect">
            <a:avLst/>
          </a:prstGeom>
          <a:noFill/>
          <a:ln/>
        </p:spPr>
        <p:txBody>
          <a:bodyPr wrap="square" lIns="0" tIns="0" rIns="0" bIns="0" rtlCol="0" anchor="ctr"/>
          <a:lstStyle/>
          <a:p>
            <a:pPr marL="0" indent="0" algn="ctr">
              <a:buNone/>
            </a:pPr>
            <a:r>
              <a:rPr lang="en-US" sz="750" i="1" dirty="0">
                <a:solidFill>
                  <a:srgbClr val="1B2A4A"/>
                </a:solidFill>
                <a:latin typeface="맑은 고딕" pitchFamily="34" charset="0"/>
                <a:ea typeface="맑은 고딕" pitchFamily="34" charset="-122"/>
                <a:cs typeface="맑은 고딕" pitchFamily="34" charset="-120"/>
              </a:rPr>
              <a:t>본 자료는 AI를 활용하여 생성되었으며, 검증과정을 거쳤으나 참고용으로 사용하시기 바라며, 실무적용 시에는 분야별 전문가와 협의 후 사용하시기 바랍니다.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서론: 아버지의 이름으로 완수해야 할 마지막 책임, 자녀의 꿈을 지켜라 (1/2)</a:t>
            </a:r>
            <a:endParaRPr lang="en-US" sz="1500" dirty="0"/>
          </a:p>
        </p:txBody>
      </p:sp>
      <p:sp>
        <p:nvSpPr>
          <p:cNvPr id="5" name="Text 3"/>
          <p:cNvSpPr/>
          <p:nvPr/>
        </p:nvSpPr>
        <p:spPr>
          <a:xfrm>
            <a:off x="457200" y="685800"/>
            <a:ext cx="8229600" cy="1188720"/>
          </a:xfrm>
          <a:prstGeom prst="rect">
            <a:avLst/>
          </a:prstGeom>
          <a:noFill/>
          <a:ln/>
        </p:spPr>
        <p:txBody>
          <a:bodyPr wrap="square" lIns="0" tIns="0" rIns="0" bIns="0" rtlCol="0" anchor="t"/>
          <a:lstStyle/>
          <a:p>
            <a:pPr marL="0" indent="0" algn="l">
              <a:lnSpc>
                <a:spcPct val="135000"/>
              </a:lnSpc>
              <a:buNone/>
            </a:pPr>
            <a:r>
              <a:rPr lang="en-US" sz="1150" dirty="0">
                <a:solidFill>
                  <a:srgbClr val="2B2B2B"/>
                </a:solidFill>
                <a:latin typeface="맑은 고딕" pitchFamily="34" charset="0"/>
                <a:ea typeface="맑은 고딕" pitchFamily="34" charset="-122"/>
                <a:cs typeface="맑은 고딕" pitchFamily="34" charset="-120"/>
              </a:rPr>
              <a:t>아버님, 지난 20여 년간 한결같이 가족을 위해 헌신하며 달려오셨습니다. 그리고 이제 그 여정의 가장 중요하고도 벅찬 순간을 앞두고 있습니다. 바로 자녀의 대학 입학과 사회 진출이라는, 아버지로서 가장 큰 보람을 느끼게 될 '결실의 시기'입니다. 하지만 이 시기는 자녀의 교육비와 생활비 지출이 정점에 달하는 때이자, 동시에 아버님의 건강에 적신호가 켜질 확률이 가장 높아지는 때이기도 합니다.</a:t>
            </a:r>
            <a:endParaRPr lang="en-US" sz="1150" dirty="0"/>
          </a:p>
        </p:txBody>
      </p:sp>
      <p:sp>
        <p:nvSpPr>
          <p:cNvPr id="6" name="Text 4"/>
          <p:cNvSpPr/>
          <p:nvPr/>
        </p:nvSpPr>
        <p:spPr>
          <a:xfrm>
            <a:off x="457200" y="2011680"/>
            <a:ext cx="8229600" cy="1097280"/>
          </a:xfrm>
          <a:prstGeom prst="rect">
            <a:avLst/>
          </a:prstGeom>
          <a:noFill/>
          <a:ln/>
        </p:spPr>
        <p:txBody>
          <a:bodyPr wrap="square" lIns="0" tIns="0" rIns="0" bIns="0" rtlCol="0" anchor="t"/>
          <a:lstStyle/>
          <a:p>
            <a:pPr marL="0" indent="0" algn="l">
              <a:lnSpc>
                <a:spcPct val="135000"/>
              </a:lnSpc>
              <a:buNone/>
            </a:pPr>
            <a:r>
              <a:rPr lang="en-US" sz="1150" dirty="0">
                <a:solidFill>
                  <a:srgbClr val="2B2B2B"/>
                </a:solidFill>
                <a:latin typeface="맑은 고딕" pitchFamily="34" charset="0"/>
                <a:ea typeface="맑은 고딕" pitchFamily="34" charset="-122"/>
                <a:cs typeface="맑은 고딕" pitchFamily="34" charset="-120"/>
              </a:rPr>
              <a:t>본 보고서는 이처럼 '가계 지출'과 '가장의 건강 리스크'가 정점에서 만나는 인생의 가장 중요한 10년을 안전하게 지켜내기 위해 탄생했습니다. 평생을 바쳐 뒷바라지한 자녀가 드디어 꿈의 합격 통지서를 손에 쥐었을 때, 아버님의 건강 문제로 그 꿈을 포기하게 만드는 비극만큼은 반드시 막아야 합니다.</a:t>
            </a:r>
            <a:endParaRPr lang="en-US" sz="1150" dirty="0"/>
          </a:p>
        </p:txBody>
      </p:sp>
      <p:sp>
        <p:nvSpPr>
          <p:cNvPr id="7" name="Text 5"/>
          <p:cNvSpPr/>
          <p:nvPr/>
        </p:nvSpPr>
        <p:spPr>
          <a:xfrm>
            <a:off x="457200" y="3246120"/>
            <a:ext cx="8229600" cy="1097280"/>
          </a:xfrm>
          <a:prstGeom prst="rect">
            <a:avLst/>
          </a:prstGeom>
          <a:noFill/>
          <a:ln/>
        </p:spPr>
        <p:txBody>
          <a:bodyPr wrap="square" lIns="0" tIns="0" rIns="0" bIns="0" rtlCol="0" anchor="t"/>
          <a:lstStyle/>
          <a:p>
            <a:pPr marL="0" indent="0" algn="l">
              <a:lnSpc>
                <a:spcPct val="135000"/>
              </a:lnSpc>
              <a:buNone/>
            </a:pPr>
            <a:r>
              <a:rPr lang="en-US" sz="1150" dirty="0">
                <a:solidFill>
                  <a:srgbClr val="2B2B2B"/>
                </a:solidFill>
                <a:latin typeface="맑은 고딕" pitchFamily="34" charset="0"/>
                <a:ea typeface="맑은 고딕" pitchFamily="34" charset="-122"/>
                <a:cs typeface="맑은 고딕" pitchFamily="34" charset="-120"/>
              </a:rPr>
              <a:t>따라서 본 컨설팅은 막연한 노후 준비가 아닌, 오직 '자녀의 성공적인 독립'이라는 명확한 목표에 모든 초점을 맞춥니다. 가장의 유고 시 학비와 생활비를, 중대질병 발생 시 치료비와 간병비를 완벽하게 보전하여, 어떤 경우에도 자녀의 학업이 중단되지 않도록 하는 '10년 집중 교육비 보전 플랜'을 제시합니다.</a:t>
            </a:r>
            <a:endParaRPr lang="en-US" sz="115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 / 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서론: 아버지의 이름으로 완수해야 할 마지막 책임, 자녀의 꿈을 지켜라 (2/2)</a:t>
            </a:r>
            <a:endParaRPr lang="en-US" sz="1500" dirty="0"/>
          </a:p>
        </p:txBody>
      </p:sp>
      <p:sp>
        <p:nvSpPr>
          <p:cNvPr id="5" name="Text 3"/>
          <p:cNvSpPr/>
          <p:nvPr/>
        </p:nvSpPr>
        <p:spPr>
          <a:xfrm>
            <a:off x="457200" y="777240"/>
            <a:ext cx="8229600" cy="1005840"/>
          </a:xfrm>
          <a:prstGeom prst="rect">
            <a:avLst/>
          </a:prstGeom>
          <a:noFill/>
          <a:ln/>
        </p:spPr>
        <p:txBody>
          <a:bodyPr wrap="square" lIns="0" tIns="0" rIns="0" bIns="0" rtlCol="0" anchor="t"/>
          <a:lstStyle/>
          <a:p>
            <a:pPr marL="0" indent="0" algn="l">
              <a:lnSpc>
                <a:spcPct val="140000"/>
              </a:lnSpc>
              <a:buNone/>
            </a:pPr>
            <a:r>
              <a:rPr lang="en-US" sz="1200" dirty="0">
                <a:solidFill>
                  <a:srgbClr val="2B2B2B"/>
                </a:solidFill>
                <a:latin typeface="맑은 고딕" pitchFamily="34" charset="0"/>
                <a:ea typeface="맑은 고딕" pitchFamily="34" charset="-122"/>
                <a:cs typeface="맑은 고딕" pitchFamily="34" charset="-120"/>
              </a:rPr>
              <a:t>이 플랜을 통해 아버님께서는 '최소한의 비용으로 최대의 안심'을 얻게 되실 것입니다. 이는 단순한 보험 가입을 넘어, 아버님의 부재 시에도 자녀의 꿈을 끝까지 지켜주겠다는, 아버지의 이름으로 남기는 가장 위대하고 확실한 약속이 될 것입니다.</a:t>
            </a:r>
            <a:endParaRPr lang="en-US" sz="1200" dirty="0"/>
          </a:p>
        </p:txBody>
      </p:sp>
      <p:sp>
        <p:nvSpPr>
          <p:cNvPr id="6"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7"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 / 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 프로필 및 재무상황 분석 (Client Discovery) (1/4)</a:t>
            </a:r>
            <a:endParaRPr lang="en-US" sz="1500" dirty="0"/>
          </a:p>
        </p:txBody>
      </p:sp>
      <p:sp>
        <p:nvSpPr>
          <p:cNvPr id="5" name="Text 3"/>
          <p:cNvSpPr/>
          <p:nvPr/>
        </p:nvSpPr>
        <p:spPr>
          <a:xfrm>
            <a:off x="457200" y="640080"/>
            <a:ext cx="8229600" cy="320040"/>
          </a:xfrm>
          <a:prstGeom prst="rect">
            <a:avLst/>
          </a:prstGeom>
          <a:noFill/>
          <a:ln/>
        </p:spPr>
        <p:txBody>
          <a:bodyPr wrap="square" rtlCol="0" anchor="t"/>
          <a:lstStyle/>
          <a:p>
            <a:pPr marL="0" indent="0" algn="l">
              <a:buNone/>
            </a:pPr>
            <a:r>
              <a:rPr lang="en-US" sz="1100" dirty="0">
                <a:solidFill>
                  <a:srgbClr val="4A5568"/>
                </a:solidFill>
                <a:latin typeface="맑은 고딕" pitchFamily="34" charset="0"/>
                <a:ea typeface="맑은 고딕" pitchFamily="34" charset="-122"/>
                <a:cs typeface="맑은 고딕" pitchFamily="34" charset="-120"/>
              </a:rPr>
              <a:t>컨설팅의 성공은 상품이 아닌, 아버님의 삶과 고민을 깊이 이해하고 공감하는 것에서 시작됩니다.</a:t>
            </a:r>
            <a:endParaRPr lang="en-US" sz="1100" dirty="0"/>
          </a:p>
        </p:txBody>
      </p:sp>
      <p:sp>
        <p:nvSpPr>
          <p:cNvPr id="6" name="Text 4"/>
          <p:cNvSpPr/>
          <p:nvPr/>
        </p:nvSpPr>
        <p:spPr>
          <a:xfrm>
            <a:off x="457200" y="1051560"/>
            <a:ext cx="8229600" cy="274320"/>
          </a:xfrm>
          <a:prstGeom prst="rect">
            <a:avLst/>
          </a:prstGeom>
          <a:noFill/>
          <a:ln/>
        </p:spPr>
        <p:txBody>
          <a:bodyPr wrap="square" rtlCol="0" anchor="ctr"/>
          <a:lstStyle/>
          <a:p>
            <a:pPr marL="0" indent="0" algn="l">
              <a:buNone/>
            </a:pPr>
            <a:r>
              <a:rPr lang="en-US" sz="1300" b="1" dirty="0">
                <a:solidFill>
                  <a:srgbClr val="2B2B2B"/>
                </a:solidFill>
                <a:latin typeface="맑은 고딕" pitchFamily="34" charset="0"/>
                <a:ea typeface="맑은 고딕" pitchFamily="34" charset="-122"/>
                <a:cs typeface="맑은 고딕" pitchFamily="34" charset="-120"/>
              </a:rPr>
              <a:t>고객 프로필</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3257156572"/>
              </p:ext>
            </p:extLst>
          </p:nvPr>
        </p:nvGraphicFramePr>
        <p:xfrm>
          <a:off x="457200" y="1371600"/>
          <a:ext cx="8229600" cy="2194560"/>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항목</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성명</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박성진 (가명)</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연령</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만 52세</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직업</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중견 부품 제조사 생산관리팀 부장</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라이프스타일</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성실하고 책임감이 강하며, 모든 것을 가족 중심으로 생각함.</a:t>
                      </a:r>
                      <a:endParaRPr lang="en-US" sz="1000" dirty="0">
                        <a:latin typeface="맑은 고딕" charset="0"/>
                        <a:ea typeface="맑은 고딕" charset="0"/>
                        <a:cs typeface="맑은 고딕" charset="0"/>
                      </a:endParaRPr>
                    </a:p>
                    <a:p>
                      <a:pPr marL="0" indent="0">
                        <a:buNone/>
                      </a:pPr>
                      <a:r>
                        <a:rPr lang="en-US" sz="1000" dirty="0">
                          <a:solidFill>
                            <a:srgbClr val="000000"/>
                          </a:solidFill>
                          <a:latin typeface="맑은 고딕" pitchFamily="34" charset="0"/>
                          <a:ea typeface="맑은 고딕" pitchFamily="34" charset="-122"/>
                          <a:cs typeface="맑은 고딕" pitchFamily="34" charset="-120"/>
                        </a:rPr>
                        <a:t>최근 건강검진에서 고혈압 진단을 받았으며, 주변 친구들의 질병 소식에 부쩍 건강 염려가 늘어남.</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2004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가족 구성</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배우자(만 50세, 주부), 장남(만 18세, 고3 수험생)</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 / 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 프로필 및 재무상황 분석 (Client Discovery) (2/4)</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lgn="l">
              <a:buNone/>
            </a:pPr>
            <a:r>
              <a:rPr lang="en-US" sz="1500" b="1" dirty="0">
                <a:solidFill>
                  <a:srgbClr val="1B2A4A"/>
                </a:solidFill>
                <a:latin typeface="맑은 고딕" pitchFamily="34" charset="0"/>
                <a:ea typeface="맑은 고딕" pitchFamily="34" charset="-122"/>
                <a:cs typeface="맑은 고딕" pitchFamily="34" charset="-120"/>
              </a:rPr>
              <a:t>재무 현황 분석</a:t>
            </a:r>
            <a:endParaRPr lang="en-US" sz="1500" dirty="0"/>
          </a:p>
        </p:txBody>
      </p:sp>
      <p:sp>
        <p:nvSpPr>
          <p:cNvPr id="6" name="Text 4"/>
          <p:cNvSpPr/>
          <p:nvPr/>
        </p:nvSpPr>
        <p:spPr>
          <a:xfrm>
            <a:off x="457200" y="987552"/>
            <a:ext cx="8229600" cy="256032"/>
          </a:xfrm>
          <a:prstGeom prst="rect">
            <a:avLst/>
          </a:prstGeom>
          <a:noFill/>
          <a:ln/>
        </p:spPr>
        <p:txBody>
          <a:bodyPr wrap="square" rtlCol="0" anchor="ctr"/>
          <a:lstStyle/>
          <a:p>
            <a:pPr marL="0" indent="0" algn="l">
              <a:buNone/>
            </a:pPr>
            <a:r>
              <a:rPr lang="en-US" sz="1200" b="1" dirty="0">
                <a:solidFill>
                  <a:srgbClr val="2B2B2B"/>
                </a:solidFill>
                <a:latin typeface="맑은 고딕" pitchFamily="34" charset="0"/>
                <a:ea typeface="맑은 고딕" pitchFamily="34" charset="-122"/>
                <a:cs typeface="맑은 고딕" pitchFamily="34" charset="-120"/>
              </a:rPr>
              <a:t>수입·지출 구조 (가계 현금흐름)</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944124549"/>
              </p:ext>
            </p:extLst>
          </p:nvPr>
        </p:nvGraphicFramePr>
        <p:xfrm>
          <a:off x="457200" y="1289304"/>
          <a:ext cx="8229600" cy="1929384"/>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292608">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항목</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월 금액</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비고</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92608">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월 소득 (세후)</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6,000,000원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월 지출 합계</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4,800,000원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1148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  • 고정지출</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3,300,000원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주택담보대출 원리금(150), 관리비/공과금(50), 보험료(30), 통신/교통비(50), 부모님 용돈(50)</a:t>
                      </a:r>
                      <a:endParaRPr lang="en-US" sz="8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  • 변동지출</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1,500,000원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생활비 및 식비(100), 자녀 교육비(사교육)(50)</a:t>
                      </a:r>
                      <a:endParaRPr lang="en-US" sz="8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2004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월 잉여자금</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1,200,000원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buNone/>
                      </a:pPr>
                      <a:r>
                        <a:rPr lang="en-US" sz="800" dirty="0">
                          <a:solidFill>
                            <a:srgbClr val="000000"/>
                          </a:solidFill>
                          <a:latin typeface="맑은 고딕" pitchFamily="34" charset="0"/>
                          <a:ea typeface="맑은 고딕" pitchFamily="34" charset="-122"/>
                          <a:cs typeface="맑은 고딕" pitchFamily="34" charset="-120"/>
                        </a:rPr>
                        <a:t>전액 자녀 교육비 및 노후자금 목적으로 저축</a:t>
                      </a:r>
                      <a:endParaRPr lang="en-US" sz="8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extLst>
                  <a:ext uri="{0D108BD9-81ED-4DB2-BD59-A6C34878D82A}">
                    <a16:rowId xmlns:a16="http://schemas.microsoft.com/office/drawing/2014/main" val="10005"/>
                  </a:ext>
                </a:extLst>
              </a:tr>
            </a:tbl>
          </a:graphicData>
        </a:graphic>
      </p:graphicFrame>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 /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 프로필 및 재무상황 분석 (Client Discovery) (3/4)</a:t>
            </a:r>
            <a:endParaRPr lang="en-US" sz="1500" dirty="0"/>
          </a:p>
        </p:txBody>
      </p:sp>
      <p:sp>
        <p:nvSpPr>
          <p:cNvPr id="5" name="Text 3"/>
          <p:cNvSpPr/>
          <p:nvPr/>
        </p:nvSpPr>
        <p:spPr>
          <a:xfrm>
            <a:off x="457200" y="640080"/>
            <a:ext cx="8229600" cy="256032"/>
          </a:xfrm>
          <a:prstGeom prst="rect">
            <a:avLst/>
          </a:prstGeom>
          <a:noFill/>
          <a:ln/>
        </p:spPr>
        <p:txBody>
          <a:bodyPr wrap="square" rtlCol="0" anchor="ctr"/>
          <a:lstStyle/>
          <a:p>
            <a:pPr marL="0" indent="0" algn="l">
              <a:buNone/>
            </a:pPr>
            <a:r>
              <a:rPr lang="en-US" sz="1200" b="1" dirty="0">
                <a:solidFill>
                  <a:srgbClr val="2B2B2B"/>
                </a:solidFill>
                <a:latin typeface="맑은 고딕" pitchFamily="34" charset="0"/>
                <a:ea typeface="맑은 고딕" pitchFamily="34" charset="-122"/>
                <a:cs typeface="맑은 고딕" pitchFamily="34" charset="-120"/>
              </a:rPr>
              <a:t>자산·부채 구조 (가계 재무상태)</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863594157"/>
              </p:ext>
            </p:extLst>
          </p:nvPr>
        </p:nvGraphicFramePr>
        <p:xfrm>
          <a:off x="457200" y="960120"/>
          <a:ext cx="8229600" cy="2048256"/>
        </p:xfrm>
        <a:graphic>
          <a:graphicData uri="http://schemas.openxmlformats.org/drawingml/2006/table">
            <a:tbl>
              <a:tblPr/>
              <a:tblGrid>
                <a:gridCol w="11887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92608">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항목</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금액</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비고</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92608">
                <a:tc rowSpan="4">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자산</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거주 아파트 (경기도)</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800,000,000원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시세 기준</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vMerge="1">
                  <a:txBody>
                    <a:bodyPr/>
                    <a:lstStyle/>
                    <a:p>
                      <a:endParaRPr lang="ko-KR"/>
                    </a:p>
                  </a:txBody>
                  <a:tcPr/>
                </a:tc>
                <a:tc>
                  <a:txBody>
                    <a:bodyPr/>
                    <a:lstStyle/>
                    <a:p>
                      <a:pPr marL="0" indent="0" algn="ctr">
                        <a:buNone/>
                      </a:pPr>
                      <a:endParaRPr lang="en-US" sz="900" dirty="0"/>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예·적금</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30,000,000원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92608">
                <a:tc vMerge="1">
                  <a:txBody>
                    <a:bodyPr/>
                    <a:lstStyle/>
                    <a:p>
                      <a:endParaRPr lang="ko-KR"/>
                    </a:p>
                  </a:txBody>
                  <a:tcPr/>
                </a:tc>
                <a:tc>
                  <a:txBody>
                    <a:bodyPr/>
                    <a:lstStyle/>
                    <a:p>
                      <a:pPr marL="0" indent="0" algn="ctr">
                        <a:buNone/>
                      </a:pPr>
                      <a:endParaRPr lang="en-US" sz="900" dirty="0"/>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개인연금/IRP</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150,000,000원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vMerge="1">
                  <a:txBody>
                    <a:bodyPr/>
                    <a:lstStyle/>
                    <a:p>
                      <a:endParaRPr lang="ko-KR"/>
                    </a:p>
                  </a:txBody>
                  <a:tcPr/>
                </a:tc>
                <a:tc>
                  <a:txBody>
                    <a:bodyPr/>
                    <a:lstStyle/>
                    <a:p>
                      <a:pPr marL="0" indent="0" algn="ctr">
                        <a:buNone/>
                      </a:pPr>
                      <a:endParaRPr lang="en-US" sz="900" dirty="0"/>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자산 합계</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980,000,000원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292608">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부채</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주택담보대출 잔액</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250,000,000원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gridSpan="2">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순자산</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hMerge="1">
                  <a:txBody>
                    <a:bodyPr/>
                    <a:lstStyle/>
                    <a:p>
                      <a:endParaRPr lang="ko-KR"/>
                    </a:p>
                  </a:txBody>
                  <a:tcPr/>
                </a:tc>
                <a:tc>
                  <a:txBody>
                    <a:bodyPr/>
                    <a:lstStyle/>
                    <a:p>
                      <a:pPr marL="0" indent="0" algn="ctr">
                        <a:buNone/>
                      </a:pPr>
                      <a:endParaRPr lang="en-US" sz="900" dirty="0"/>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730,000,000원</a:t>
                      </a:r>
                      <a:endParaRPr lang="en-US" sz="9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extLst>
                  <a:ext uri="{0D108BD9-81ED-4DB2-BD59-A6C34878D82A}">
                    <a16:rowId xmlns:a16="http://schemas.microsoft.com/office/drawing/2014/main" val="10006"/>
                  </a:ext>
                </a:extLst>
              </a:tr>
            </a:tbl>
          </a:graphicData>
        </a:graphic>
      </p:graphicFrame>
      <p:sp>
        <p:nvSpPr>
          <p:cNvPr id="6"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5 / 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 프로필 및 재무상황 분석 (Client Discovery) (4/4)</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lgn="l">
              <a:buNone/>
            </a:pPr>
            <a:r>
              <a:rPr lang="en-US" sz="1500" b="1" dirty="0">
                <a:solidFill>
                  <a:srgbClr val="1B2A4A"/>
                </a:solidFill>
                <a:latin typeface="맑은 고딕" pitchFamily="34" charset="0"/>
                <a:ea typeface="맑은 고딕" pitchFamily="34" charset="-122"/>
                <a:cs typeface="맑은 고딕" pitchFamily="34" charset="-120"/>
              </a:rPr>
              <a:t>인생 목표 및 리스크 분석</a:t>
            </a:r>
            <a:endParaRPr lang="en-US" sz="1500" dirty="0"/>
          </a:p>
        </p:txBody>
      </p:sp>
      <p:sp>
        <p:nvSpPr>
          <p:cNvPr id="6" name="Text 4"/>
          <p:cNvSpPr/>
          <p:nvPr/>
        </p:nvSpPr>
        <p:spPr>
          <a:xfrm>
            <a:off x="457200" y="1005840"/>
            <a:ext cx="8229600" cy="411480"/>
          </a:xfrm>
          <a:prstGeom prst="rect">
            <a:avLst/>
          </a:prstGeom>
          <a:noFill/>
          <a:ln/>
        </p:spPr>
        <p:txBody>
          <a:bodyPr wrap="square" rtlCol="0" anchor="t"/>
          <a:lstStyle/>
          <a:p>
            <a:pPr marL="0" indent="0">
              <a:lnSpc>
                <a:spcPct val="120000"/>
              </a:lnSpc>
              <a:buNone/>
            </a:pPr>
            <a:r>
              <a:rPr lang="en-US" sz="1100" b="1" dirty="0">
                <a:solidFill>
                  <a:srgbClr val="2B2B2B"/>
                </a:solidFill>
                <a:latin typeface="맑은 고딕" pitchFamily="34" charset="0"/>
                <a:ea typeface="맑은 고딕" pitchFamily="34" charset="-122"/>
                <a:cs typeface="맑은 고딕" pitchFamily="34" charset="-120"/>
              </a:rPr>
              <a:t>• 최우선 단기 목표 (10년 내): </a:t>
            </a:r>
            <a:r>
              <a:rPr lang="en-US" sz="1100" dirty="0">
                <a:solidFill>
                  <a:srgbClr val="555555"/>
                </a:solidFill>
                <a:latin typeface="맑은 고딕" pitchFamily="34" charset="0"/>
                <a:ea typeface="맑은 고딕" pitchFamily="34" charset="-122"/>
                <a:cs typeface="맑은 고딕" pitchFamily="34" charset="-120"/>
              </a:rPr>
              <a:t>아들의 대학 등록금 및 서울 생활비 걱정 없이 지원. 성공적인 사회 진출의 발판 마련.</a:t>
            </a:r>
            <a:endParaRPr lang="en-US" sz="1100" dirty="0"/>
          </a:p>
        </p:txBody>
      </p:sp>
      <p:sp>
        <p:nvSpPr>
          <p:cNvPr id="7" name="Text 5"/>
          <p:cNvSpPr/>
          <p:nvPr/>
        </p:nvSpPr>
        <p:spPr>
          <a:xfrm>
            <a:off x="457200" y="1463040"/>
            <a:ext cx="8229600" cy="320040"/>
          </a:xfrm>
          <a:prstGeom prst="rect">
            <a:avLst/>
          </a:prstGeom>
          <a:noFill/>
          <a:ln/>
        </p:spPr>
        <p:txBody>
          <a:bodyPr wrap="square" rtlCol="0" anchor="t"/>
          <a:lstStyle/>
          <a:p>
            <a:pPr marL="0" indent="0">
              <a:lnSpc>
                <a:spcPct val="120000"/>
              </a:lnSpc>
              <a:buNone/>
            </a:pPr>
            <a:r>
              <a:rPr lang="en-US" sz="1100" b="1" dirty="0">
                <a:solidFill>
                  <a:srgbClr val="2B2B2B"/>
                </a:solidFill>
                <a:latin typeface="맑은 고딕" pitchFamily="34" charset="0"/>
                <a:ea typeface="맑은 고딕" pitchFamily="34" charset="-122"/>
                <a:cs typeface="맑은 고딕" pitchFamily="34" charset="-120"/>
              </a:rPr>
              <a:t>• 중기 목표 (10년 후): </a:t>
            </a:r>
            <a:r>
              <a:rPr lang="en-US" sz="1100" dirty="0">
                <a:solidFill>
                  <a:srgbClr val="555555"/>
                </a:solidFill>
                <a:latin typeface="맑은 고딕" pitchFamily="34" charset="0"/>
                <a:ea typeface="맑은 고딕" pitchFamily="34" charset="-122"/>
                <a:cs typeface="맑은 고딕" pitchFamily="34" charset="-120"/>
              </a:rPr>
              <a:t>자녀 독립 후, 본격적인 부부 노후 준비 및 은퇴 계획 수립.</a:t>
            </a:r>
            <a:endParaRPr lang="en-US" sz="1100" dirty="0"/>
          </a:p>
        </p:txBody>
      </p:sp>
      <p:sp>
        <p:nvSpPr>
          <p:cNvPr id="8" name="Text 6"/>
          <p:cNvSpPr/>
          <p:nvPr/>
        </p:nvSpPr>
        <p:spPr>
          <a:xfrm>
            <a:off x="457200" y="1874520"/>
            <a:ext cx="8229600" cy="274320"/>
          </a:xfrm>
          <a:prstGeom prst="rect">
            <a:avLst/>
          </a:prstGeom>
          <a:noFill/>
          <a:ln/>
        </p:spPr>
        <p:txBody>
          <a:bodyPr wrap="square" rtlCol="0" anchor="t"/>
          <a:lstStyle/>
          <a:p>
            <a:pPr marL="0" indent="0">
              <a:buNone/>
            </a:pPr>
            <a:r>
              <a:rPr lang="en-US" sz="1100" b="1" dirty="0">
                <a:solidFill>
                  <a:srgbClr val="2B2B2B"/>
                </a:solidFill>
                <a:latin typeface="맑은 고딕" pitchFamily="34" charset="0"/>
                <a:ea typeface="맑은 고딕" pitchFamily="34" charset="-122"/>
                <a:cs typeface="맑은 고딕" pitchFamily="34" charset="-120"/>
              </a:rPr>
              <a:t>• 생애주기별 핵심 리스크 진단:</a:t>
            </a:r>
            <a:endParaRPr lang="en-US" sz="1100" dirty="0"/>
          </a:p>
        </p:txBody>
      </p:sp>
      <p:sp>
        <p:nvSpPr>
          <p:cNvPr id="9" name="Text 7"/>
          <p:cNvSpPr/>
          <p:nvPr/>
        </p:nvSpPr>
        <p:spPr>
          <a:xfrm>
            <a:off x="640080" y="2167128"/>
            <a:ext cx="8046720" cy="77724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1. 현재 가장 큰 리스크: </a:t>
            </a:r>
            <a:r>
              <a:rPr lang="en-US" sz="1000" dirty="0">
                <a:solidFill>
                  <a:srgbClr val="555555"/>
                </a:solidFill>
                <a:latin typeface="맑은 고딕" pitchFamily="34" charset="0"/>
                <a:ea typeface="맑은 고딕" pitchFamily="34" charset="-122"/>
                <a:cs typeface="맑은 고딕" pitchFamily="34" charset="-120"/>
              </a:rPr>
              <a:t>가장의 건강 악화 및 유고로 인한 '교육 자금 확보 계획'의 실패. 현재 자녀 교육비 목적으로 모아둔 자산(3,000만 원)은 4년간의 대학 등록금과 생활비를 감당하기에 턱없이 부족. 가장의 소득 중단은 곧바로 자녀의 꿈을 포기해야 하는 상황으로 직결됨.</a:t>
            </a:r>
            <a:endParaRPr lang="en-US" sz="1000" dirty="0"/>
          </a:p>
        </p:txBody>
      </p:sp>
      <p:sp>
        <p:nvSpPr>
          <p:cNvPr id="10" name="Text 8"/>
          <p:cNvSpPr/>
          <p:nvPr/>
        </p:nvSpPr>
        <p:spPr>
          <a:xfrm>
            <a:off x="640080" y="2990088"/>
            <a:ext cx="8046720" cy="228600"/>
          </a:xfrm>
          <a:prstGeom prst="rect">
            <a:avLst/>
          </a:prstGeom>
          <a:noFill/>
          <a:ln/>
        </p:spPr>
        <p:txBody>
          <a:bodyPr wrap="square" rtlCol="0" anchor="t"/>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  2. 고객의 고민: </a:t>
            </a:r>
            <a:endParaRPr lang="en-US" sz="1000" dirty="0"/>
          </a:p>
        </p:txBody>
      </p:sp>
      <p:sp>
        <p:nvSpPr>
          <p:cNvPr id="11" name="Shape 9"/>
          <p:cNvSpPr/>
          <p:nvPr/>
        </p:nvSpPr>
        <p:spPr>
          <a:xfrm>
            <a:off x="731520" y="3246120"/>
            <a:ext cx="54864" cy="868680"/>
          </a:xfrm>
          <a:prstGeom prst="rect">
            <a:avLst/>
          </a:prstGeom>
          <a:solidFill>
            <a:srgbClr val="C8962E"/>
          </a:solidFill>
          <a:ln w="12700">
            <a:solidFill>
              <a:srgbClr val="C8962E"/>
            </a:solidFill>
            <a:prstDash val="solid"/>
          </a:ln>
        </p:spPr>
        <p:txBody>
          <a:bodyPr/>
          <a:lstStyle/>
          <a:p>
            <a:endParaRPr lang="ko-KR" altLang="en-US"/>
          </a:p>
        </p:txBody>
      </p:sp>
      <p:sp>
        <p:nvSpPr>
          <p:cNvPr id="12" name="Text 10"/>
          <p:cNvSpPr/>
          <p:nvPr/>
        </p:nvSpPr>
        <p:spPr>
          <a:xfrm>
            <a:off x="786384" y="3246120"/>
            <a:ext cx="7626096" cy="86868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r>
              <a:rPr lang="en-US" sz="1000" dirty="0">
                <a:solidFill>
                  <a:srgbClr val="555555"/>
                </a:solidFill>
                <a:latin typeface="맑은 고딕" pitchFamily="34" charset="0"/>
                <a:ea typeface="맑은 고딕" pitchFamily="34" charset="-122"/>
                <a:cs typeface="맑은 고딕" pitchFamily="34" charset="-120"/>
              </a:rPr>
              <a:t>"지금까지 아들 녀석 하나만 보고 달려왔습니다. 이제 곧 대학 갈 텐데, 요즘 부쩍 몸이 예전 같지 않아서 덜컥 겁이 납니다. 만약 내가 갑자기 쓰러지기라도 하면, 아내 혼자서 대출금 갚으면서 애 뒷바라지를 어떻게 하겠습니까. 아이 학업만큼은 무슨 일이 있어도 중단시키고 싶지 않습니다."</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6 / 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제안서 요약 (Executive Summary) (1/2)</a:t>
            </a:r>
            <a:endParaRPr lang="en-US" sz="1500" dirty="0"/>
          </a:p>
        </p:txBody>
      </p:sp>
      <p:sp>
        <p:nvSpPr>
          <p:cNvPr id="5" name="Shape 3"/>
          <p:cNvSpPr/>
          <p:nvPr/>
        </p:nvSpPr>
        <p:spPr>
          <a:xfrm>
            <a:off x="457200" y="685800"/>
            <a:ext cx="54864" cy="1417320"/>
          </a:xfrm>
          <a:prstGeom prst="rect">
            <a:avLst/>
          </a:prstGeom>
          <a:solidFill>
            <a:srgbClr val="D4382C"/>
          </a:solidFill>
          <a:ln w="12700">
            <a:solidFill>
              <a:srgbClr val="D4382C"/>
            </a:solidFill>
            <a:prstDash val="solid"/>
          </a:ln>
        </p:spPr>
        <p:txBody>
          <a:bodyPr/>
          <a:lstStyle/>
          <a:p>
            <a:endParaRPr lang="ko-KR" altLang="en-US"/>
          </a:p>
        </p:txBody>
      </p:sp>
      <p:sp>
        <p:nvSpPr>
          <p:cNvPr id="6" name="Text 4"/>
          <p:cNvSpPr/>
          <p:nvPr/>
        </p:nvSpPr>
        <p:spPr>
          <a:xfrm>
            <a:off x="512064" y="685800"/>
            <a:ext cx="8174736" cy="1417320"/>
          </a:xfrm>
          <a:prstGeom prst="rect">
            <a:avLst/>
          </a:prstGeom>
          <a:solidFill>
            <a:srgbClr val="F7F8FA"/>
          </a:solidFill>
          <a:ln/>
          <a:effectLst>
            <a:outerShdw blurRad="50800" dist="25400" dir="8100000" algn="bl" rotWithShape="0">
              <a:srgbClr val="000000">
                <a:alpha val="10000"/>
              </a:srgbClr>
            </a:outerShdw>
          </a:effectLst>
        </p:spPr>
        <p:txBody>
          <a:bodyPr wrap="square" lIns="76200" tIns="127000" rIns="127000" bIns="76200" rtlCol="0" anchor="t"/>
          <a:lstStyle/>
          <a:p>
            <a:pPr marL="0" indent="0" algn="l">
              <a:lnSpc>
                <a:spcPct val="130000"/>
              </a:lnSpc>
              <a:buNone/>
            </a:pPr>
            <a:r>
              <a:rPr lang="en-US" sz="1200" b="1" dirty="0">
                <a:solidFill>
                  <a:srgbClr val="2B2B2B"/>
                </a:solidFill>
                <a:latin typeface="맑은 고딕" pitchFamily="34" charset="0"/>
                <a:ea typeface="맑은 고딕" pitchFamily="34" charset="-122"/>
                <a:cs typeface="맑은 고딕" pitchFamily="34" charset="-120"/>
              </a:rPr>
              <a:t>핵심 재무과제: '자녀 교육비 지출 최고점'과 '가장 건강 리스크 최고점'의 충돌
</a:t>
            </a:r>
            <a:r>
              <a:rPr lang="en-US" sz="1050" dirty="0">
                <a:solidFill>
                  <a:srgbClr val="555555"/>
                </a:solidFill>
                <a:latin typeface="맑은 고딕" pitchFamily="34" charset="0"/>
                <a:ea typeface="맑은 고딕" pitchFamily="34" charset="-122"/>
                <a:cs typeface="맑은 고딕" pitchFamily="34" charset="-120"/>
              </a:rPr>
              <a:t>향후 10년간은 자녀 교육비와 생활비 지출이 극대화되는 시기이자, 50대 가장의 중대질병 발생률과 사망률이 급증하는 시기입니다. 현재의 보장자산(사망보험금 1억)은 주택담보대출 상환에도 부족하여, 가장의 유고 시 교육비 지원은 사실상 불가능한 '보장 공백' 상태입니다.</a:t>
            </a:r>
            <a:endParaRPr lang="en-US" sz="1200" dirty="0"/>
          </a:p>
        </p:txBody>
      </p:sp>
      <p:sp>
        <p:nvSpPr>
          <p:cNvPr id="7" name="Shape 5"/>
          <p:cNvSpPr/>
          <p:nvPr/>
        </p:nvSpPr>
        <p:spPr>
          <a:xfrm>
            <a:off x="457200" y="2240280"/>
            <a:ext cx="54864" cy="1417320"/>
          </a:xfrm>
          <a:prstGeom prst="rect">
            <a:avLst/>
          </a:prstGeom>
          <a:solidFill>
            <a:srgbClr val="1A6B4A"/>
          </a:solidFill>
          <a:ln w="12700">
            <a:solidFill>
              <a:srgbClr val="1A6B4A"/>
            </a:solidFill>
            <a:prstDash val="solid"/>
          </a:ln>
        </p:spPr>
        <p:txBody>
          <a:bodyPr/>
          <a:lstStyle/>
          <a:p>
            <a:endParaRPr lang="ko-KR" altLang="en-US"/>
          </a:p>
        </p:txBody>
      </p:sp>
      <p:sp>
        <p:nvSpPr>
          <p:cNvPr id="8" name="Text 6"/>
          <p:cNvSpPr/>
          <p:nvPr/>
        </p:nvSpPr>
        <p:spPr>
          <a:xfrm>
            <a:off x="512064" y="2240280"/>
            <a:ext cx="8174736" cy="1417320"/>
          </a:xfrm>
          <a:prstGeom prst="rect">
            <a:avLst/>
          </a:prstGeom>
          <a:solidFill>
            <a:srgbClr val="F7F8FA"/>
          </a:solidFill>
          <a:ln/>
          <a:effectLst>
            <a:outerShdw blurRad="50800" dist="25400" dir="8100000" algn="bl" rotWithShape="0">
              <a:srgbClr val="000000">
                <a:alpha val="10000"/>
              </a:srgbClr>
            </a:outerShdw>
          </a:effectLst>
        </p:spPr>
        <p:txBody>
          <a:bodyPr wrap="square" lIns="76200" tIns="127000" rIns="127000" bIns="76200" rtlCol="0" anchor="t"/>
          <a:lstStyle/>
          <a:p>
            <a:pPr marL="0" indent="0" algn="l">
              <a:lnSpc>
                <a:spcPct val="130000"/>
              </a:lnSpc>
              <a:buNone/>
            </a:pPr>
            <a:r>
              <a:rPr lang="en-US" sz="1200" b="1" dirty="0">
                <a:solidFill>
                  <a:srgbClr val="2B2B2B"/>
                </a:solidFill>
                <a:latin typeface="맑은 고딕" pitchFamily="34" charset="0"/>
                <a:ea typeface="맑은 고딕" pitchFamily="34" charset="-122"/>
                <a:cs typeface="맑은 고딕" pitchFamily="34" charset="-120"/>
              </a:rPr>
              <a:t>솔루션 요약: 향후 '10년'만 집중 보장하는 '자녀 교육비 지킴이 플랜'
</a:t>
            </a:r>
            <a:r>
              <a:rPr lang="en-US" sz="1050" dirty="0">
                <a:solidFill>
                  <a:srgbClr val="555555"/>
                </a:solidFill>
                <a:latin typeface="맑은 고딕" pitchFamily="34" charset="0"/>
                <a:ea typeface="맑은 고딕" pitchFamily="34" charset="-122"/>
                <a:cs typeface="맑은 고딕" pitchFamily="34" charset="-120"/>
              </a:rPr>
              <a:t>자녀가 경제적으로 독립할 때까지의 핵심 기간(10년)에 집중하여, 저렴한 보험료의 '정기보험'으로 사망 보장을 2억 원 강화하고, 50대 발병률이 높은 '3대 질병 진단비'를 5천만 원 이상 보강합니다. 이는 최소의 비용으로 가장 치명적인 리스크를 막는 가장 효율적인 전략입니다.</a:t>
            </a:r>
            <a:endParaRPr lang="en-US" sz="12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7 / 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제안서 요약 (Executive Summary) (2/2)</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buNone/>
            </a:pPr>
            <a:r>
              <a:rPr lang="en-US" sz="1300" b="1" dirty="0">
                <a:solidFill>
                  <a:srgbClr val="2B2B2B"/>
                </a:solidFill>
                <a:latin typeface="맑은 고딕" pitchFamily="34" charset="0"/>
                <a:ea typeface="맑은 고딕" pitchFamily="34" charset="-122"/>
                <a:cs typeface="맑은 고딕" pitchFamily="34" charset="-120"/>
              </a:rPr>
              <a:t>기대 변화:</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1709928"/>
        </p:xfrm>
        <a:graphic>
          <a:graphicData uri="http://schemas.openxmlformats.org/drawingml/2006/table">
            <a:tbl>
              <a:tblPr/>
              <a:tblGrid>
                <a:gridCol w="13716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292608">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솔루션 실행 전 (As-Is)</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솔루션 실행 후 (To-Be)</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가장 유고 시</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900" dirty="0">
                          <a:solidFill>
                            <a:srgbClr val="000000"/>
                          </a:solidFill>
                          <a:latin typeface="맑은 고딕" pitchFamily="34" charset="0"/>
                          <a:ea typeface="맑은 고딕" pitchFamily="34" charset="-122"/>
                          <a:cs typeface="맑은 고딕" pitchFamily="34" charset="-120"/>
                        </a:rPr>
                        <a:t>사망보험금 1억으로 대출금 상환도 버거움. 자녀 학업 중단 위기.</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900" b="1" dirty="0">
                          <a:solidFill>
                            <a:srgbClr val="2563EB"/>
                          </a:solidFill>
                          <a:latin typeface="맑은 고딕" pitchFamily="34" charset="0"/>
                          <a:ea typeface="맑은 고딕" pitchFamily="34" charset="-122"/>
                          <a:cs typeface="맑은 고딕" pitchFamily="34" charset="-120"/>
                        </a:rPr>
                        <a:t>총 3억 원의 사망보험금. 대출 상환 후에도 4년간의 교육비와 생활비 충분히 확보.</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중대질병 발생 시</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l">
                        <a:buNone/>
                      </a:pPr>
                      <a:r>
                        <a:rPr lang="en-US" sz="900" dirty="0">
                          <a:solidFill>
                            <a:srgbClr val="000000"/>
                          </a:solidFill>
                          <a:latin typeface="맑은 고딕" pitchFamily="34" charset="0"/>
                          <a:ea typeface="맑은 고딕" pitchFamily="34" charset="-122"/>
                          <a:cs typeface="맑은 고딕" pitchFamily="34" charset="-120"/>
                        </a:rPr>
                        <a:t>모아둔 교육비(3천만 원)를 치료비로 소진. 자녀의 꿈과 맞바꾼 치료.</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l">
                        <a:buNone/>
                      </a:pPr>
                      <a:r>
                        <a:rPr lang="en-US" sz="900" b="1" dirty="0">
                          <a:solidFill>
                            <a:srgbClr val="2563EB"/>
                          </a:solidFill>
                          <a:latin typeface="맑은 고딕" pitchFamily="34" charset="0"/>
                          <a:ea typeface="맑은 고딕" pitchFamily="34" charset="-122"/>
                          <a:cs typeface="맑은 고딕" pitchFamily="34" charset="-120"/>
                        </a:rPr>
                        <a:t>진단비 5천만 원 수령. 교육비 손실 없이 치료에만 집중. 자녀의 꿈 완벽 방어.</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1148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심리적 측면</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900" dirty="0">
                          <a:solidFill>
                            <a:srgbClr val="000000"/>
                          </a:solidFill>
                          <a:latin typeface="맑은 고딕" pitchFamily="34" charset="0"/>
                          <a:ea typeface="맑은 고딕" pitchFamily="34" charset="-122"/>
                          <a:cs typeface="맑은 고딕" pitchFamily="34" charset="-120"/>
                        </a:rPr>
                        <a:t>'내가 아프면 어쩌나' 하는 불안감.</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900" b="1" dirty="0">
                          <a:solidFill>
                            <a:srgbClr val="2563EB"/>
                          </a:solidFill>
                          <a:latin typeface="맑은 고딕" pitchFamily="34" charset="0"/>
                          <a:ea typeface="맑은 고딕" pitchFamily="34" charset="-122"/>
                          <a:cs typeface="맑은 고딕" pitchFamily="34" charset="-120"/>
                        </a:rPr>
                        <a:t>'무슨 일이 생겨도 아이 학비는 문제없다'는 든든한 자신감.</a:t>
                      </a:r>
                      <a:endParaRPr lang="en-US" sz="900" dirty="0">
                        <a:latin typeface="맑은 고딕" charset="0"/>
                        <a:ea typeface="맑은 고딕" charset="0"/>
                        <a:cs typeface="맑은 고딕" charset="0"/>
                      </a:endParaRPr>
                    </a:p>
                  </a:txBody>
                  <a:tcPr marL="76200" marR="76200" marT="50800" marB="508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8 / 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재무·보장자산 정밀 진단 (In-depth Diagnosis) (1/3)</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buNone/>
            </a:pPr>
            <a:r>
              <a:rPr lang="en-US" sz="1100" dirty="0">
                <a:solidFill>
                  <a:srgbClr val="4A5568"/>
                </a:solidFill>
                <a:latin typeface="맑은 고딕" pitchFamily="34" charset="0"/>
                <a:ea typeface="맑은 고딕" pitchFamily="34" charset="-122"/>
                <a:cs typeface="맑은 고딕" pitchFamily="34" charset="-120"/>
              </a:rPr>
              <a:t>'재무 건강검진'을 통해 보이지 않던 문제점을 수면 위로 끌어올리는 단계입니다.</a:t>
            </a:r>
            <a:endParaRPr lang="en-US" sz="1100" dirty="0"/>
          </a:p>
        </p:txBody>
      </p:sp>
      <p:sp>
        <p:nvSpPr>
          <p:cNvPr id="6" name="Text 4"/>
          <p:cNvSpPr/>
          <p:nvPr/>
        </p:nvSpPr>
        <p:spPr>
          <a:xfrm>
            <a:off x="457200" y="100584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금융 포트폴리오 분석</a:t>
            </a:r>
            <a:endParaRPr lang="en-US" sz="1400" dirty="0"/>
          </a:p>
        </p:txBody>
      </p:sp>
      <p:sp>
        <p:nvSpPr>
          <p:cNvPr id="7" name="Text 5"/>
          <p:cNvSpPr/>
          <p:nvPr/>
        </p:nvSpPr>
        <p:spPr>
          <a:xfrm>
            <a:off x="640080" y="1325880"/>
            <a:ext cx="8046720" cy="685800"/>
          </a:xfrm>
          <a:prstGeom prst="rect">
            <a:avLst/>
          </a:prstGeom>
          <a:noFill/>
          <a:ln/>
        </p:spPr>
        <p:txBody>
          <a:bodyPr wrap="square" rtlCol="0" anchor="t"/>
          <a:lstStyle/>
          <a:p>
            <a:pPr marL="0" indent="0">
              <a:lnSpc>
                <a:spcPct val="130000"/>
              </a:lnSpc>
              <a:buNone/>
            </a:pPr>
            <a:r>
              <a:rPr lang="en-US" sz="1050" b="1" dirty="0">
                <a:solidFill>
                  <a:srgbClr val="2B2B2B"/>
                </a:solidFill>
                <a:latin typeface="맑은 고딕" pitchFamily="34" charset="0"/>
                <a:ea typeface="맑은 고딕" pitchFamily="34" charset="-122"/>
                <a:cs typeface="맑은 고딕" pitchFamily="34" charset="-120"/>
              </a:rPr>
              <a:t>• 장점: </a:t>
            </a:r>
            <a:r>
              <a:rPr lang="en-US" sz="1050" dirty="0">
                <a:solidFill>
                  <a:srgbClr val="555555"/>
                </a:solidFill>
                <a:latin typeface="맑은 고딕" pitchFamily="34" charset="0"/>
                <a:ea typeface="맑은 고딕" pitchFamily="34" charset="-122"/>
                <a:cs typeface="맑은 고딕" pitchFamily="34" charset="-120"/>
              </a:rPr>
              <a:t>안정적인 직장을 기반으로 꾸준히 저축하며, 노후와 자녀 교육에 대한 명확한 목표를 가지고 계십니다.
</a:t>
            </a:r>
            <a:r>
              <a:rPr lang="en-US" sz="1050" b="1" dirty="0">
                <a:solidFill>
                  <a:srgbClr val="2B2B2B"/>
                </a:solidFill>
                <a:latin typeface="맑은 고딕" pitchFamily="34" charset="0"/>
                <a:ea typeface="맑은 고딕" pitchFamily="34" charset="-122"/>
                <a:cs typeface="맑은 고딕" pitchFamily="34" charset="-120"/>
              </a:rPr>
              <a:t>• 단점: </a:t>
            </a:r>
            <a:r>
              <a:rPr lang="en-US" sz="1050" dirty="0">
                <a:solidFill>
                  <a:srgbClr val="555555"/>
                </a:solidFill>
                <a:latin typeface="맑은 고딕" pitchFamily="34" charset="0"/>
                <a:ea typeface="맑은 고딕" pitchFamily="34" charset="-122"/>
                <a:cs typeface="맑은 고딕" pitchFamily="34" charset="-120"/>
              </a:rPr>
              <a:t>자산의 대부분이 부동산에 묶여 있으며, 인생의 가장 중요한 목표인 '자녀 교육'을 지켜줄 금융 안전장치가 매우 취약합니다.</a:t>
            </a:r>
            <a:endParaRPr lang="en-US" sz="1050" dirty="0"/>
          </a:p>
        </p:txBody>
      </p:sp>
      <p:sp>
        <p:nvSpPr>
          <p:cNvPr id="8" name="Text 6"/>
          <p:cNvSpPr/>
          <p:nvPr/>
        </p:nvSpPr>
        <p:spPr>
          <a:xfrm>
            <a:off x="457200" y="210312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기가입 보험 평가</a:t>
            </a:r>
            <a:endParaRPr lang="en-US" sz="1400" dirty="0"/>
          </a:p>
        </p:txBody>
      </p:sp>
      <p:sp>
        <p:nvSpPr>
          <p:cNvPr id="9" name="Text 7"/>
          <p:cNvSpPr/>
          <p:nvPr/>
        </p:nvSpPr>
        <p:spPr>
          <a:xfrm>
            <a:off x="640080" y="2423160"/>
            <a:ext cx="8046720" cy="201168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가입 내역: </a:t>
            </a:r>
            <a:r>
              <a:rPr lang="en-US" sz="1000" dirty="0">
                <a:solidFill>
                  <a:srgbClr val="555555"/>
                </a:solidFill>
                <a:latin typeface="맑은 고딕" pitchFamily="34" charset="0"/>
                <a:ea typeface="맑은 고딕" pitchFamily="34" charset="-122"/>
                <a:cs typeface="맑은 고딕" pitchFamily="34" charset="-120"/>
              </a:rPr>
              <a:t>C사 종신보험 (가입 15년 경과, 주계약 사망 1억 원, 소액의 입원/수술 특약)
</a:t>
            </a:r>
            <a:r>
              <a:rPr lang="en-US" sz="1000" b="1" dirty="0">
                <a:solidFill>
                  <a:srgbClr val="2B2B2B"/>
                </a:solidFill>
                <a:latin typeface="맑은 고딕" pitchFamily="34" charset="0"/>
                <a:ea typeface="맑은 고딕" pitchFamily="34" charset="-122"/>
                <a:cs typeface="맑은 고딕" pitchFamily="34" charset="-120"/>
              </a:rPr>
              <a:t>• 잘된 점 (칭찬): </a:t>
            </a:r>
            <a:r>
              <a:rPr lang="en-US" sz="1000" dirty="0">
                <a:solidFill>
                  <a:srgbClr val="555555"/>
                </a:solidFill>
                <a:latin typeface="맑은 고딕" pitchFamily="34" charset="0"/>
                <a:ea typeface="맑은 고딕" pitchFamily="34" charset="-122"/>
                <a:cs typeface="맑은 고딕" pitchFamily="34" charset="-120"/>
              </a:rPr>
              <a:t>젊은 시절부터 꾸준히 보험료를 납입하며 최소한의 보장 기반을 마련해두신 점은 매우 훌륭합니다. 이 보험은 노후의 장례비 등 평생에 걸쳐 요긴하게 쓰일 것입니다.
</a:t>
            </a:r>
            <a:r>
              <a:rPr lang="en-US" sz="1000" b="1" dirty="0">
                <a:solidFill>
                  <a:srgbClr val="2B2B2B"/>
                </a:solidFill>
                <a:latin typeface="맑은 고딕" pitchFamily="34" charset="0"/>
                <a:ea typeface="맑은 고딕" pitchFamily="34" charset="-122"/>
                <a:cs typeface="맑은 고딕" pitchFamily="34" charset="-120"/>
              </a:rPr>
              <a:t>• 부족한 점 (보완):
</a:t>
            </a:r>
            <a:r>
              <a:rPr lang="en-US" sz="1000" b="1" dirty="0">
                <a:solidFill>
                  <a:srgbClr val="DC2626"/>
                </a:solidFill>
                <a:latin typeface="맑은 고딕" pitchFamily="34" charset="0"/>
                <a:ea typeface="맑은 고딕" pitchFamily="34" charset="-122"/>
                <a:cs typeface="맑은 고딕" pitchFamily="34" charset="-120"/>
              </a:rPr>
              <a:t>  1. 사망보장금 부족: </a:t>
            </a:r>
            <a:r>
              <a:rPr lang="en-US" sz="1000" dirty="0">
                <a:solidFill>
                  <a:srgbClr val="DC2626"/>
                </a:solidFill>
                <a:latin typeface="맑은 고딕" pitchFamily="34" charset="0"/>
                <a:ea typeface="맑은 고딕" pitchFamily="34" charset="-122"/>
                <a:cs typeface="맑은 고딕" pitchFamily="34" charset="-120"/>
              </a:rPr>
              <a:t>사망보험금 1억 원은 현재 남은 주택담보대출(2.5억 원)을 상환하기에도 턱없이 부족합니다. 배우자의 거주 안정조차 위협받는 수준으로, 자녀 교육비를 위한 여력은 전혀 없습니다.
</a:t>
            </a:r>
            <a:r>
              <a:rPr lang="en-US" sz="1000" b="1" dirty="0">
                <a:solidFill>
                  <a:srgbClr val="DC2626"/>
                </a:solidFill>
                <a:latin typeface="맑은 고딕" pitchFamily="34" charset="0"/>
                <a:ea typeface="맑은 고딕" pitchFamily="34" charset="-122"/>
                <a:cs typeface="맑은 고딕" pitchFamily="34" charset="-120"/>
              </a:rPr>
              <a:t>  2. 핵심 진단비 부재: </a:t>
            </a:r>
            <a:r>
              <a:rPr lang="en-US" sz="1000" dirty="0">
                <a:solidFill>
                  <a:srgbClr val="DC2626"/>
                </a:solidFill>
                <a:latin typeface="맑은 고딕" pitchFamily="34" charset="0"/>
                <a:ea typeface="맑은 고딕" pitchFamily="34" charset="-122"/>
                <a:cs typeface="맑은 고딕" pitchFamily="34" charset="-120"/>
              </a:rPr>
              <a:t>50대 남성에게 가장 위협적인 암, 뇌혈관, 심혈관 질환 진단 시 목돈으로 받을 수 있는 진단 자금이 거의 없어, 발병 즉시 가계의 현금 흐름이 마비될 수 있습니다.</a:t>
            </a:r>
            <a:endParaRPr lang="en-US" sz="10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9 / 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재무·보장자산 정밀 진단 (In-depth Diagnosis) (2/3)</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보장 갭(Gap) 진단: '자녀 교육 책임액'</a:t>
            </a:r>
            <a:endParaRPr lang="en-US" sz="1400" dirty="0"/>
          </a:p>
        </p:txBody>
      </p:sp>
      <p:sp>
        <p:nvSpPr>
          <p:cNvPr id="6" name="Text 4"/>
          <p:cNvSpPr/>
          <p:nvPr/>
        </p:nvSpPr>
        <p:spPr>
          <a:xfrm>
            <a:off x="457200" y="960120"/>
            <a:ext cx="8229600" cy="228600"/>
          </a:xfrm>
          <a:prstGeom prst="rect">
            <a:avLst/>
          </a:prstGeom>
          <a:noFill/>
          <a:ln/>
        </p:spPr>
        <p:txBody>
          <a:bodyPr wrap="square" rtlCol="0" anchor="ctr"/>
          <a:lstStyle/>
          <a:p>
            <a:pPr marL="0" indent="0">
              <a:buNone/>
            </a:pPr>
            <a:r>
              <a:rPr lang="en-US" sz="1200" b="1" dirty="0">
                <a:solidFill>
                  <a:srgbClr val="2B2B2B"/>
                </a:solidFill>
                <a:latin typeface="맑은 고딕" pitchFamily="34" charset="0"/>
                <a:ea typeface="맑은 고딕" pitchFamily="34" charset="-122"/>
                <a:cs typeface="맑은 고딕" pitchFamily="34" charset="-120"/>
              </a:rPr>
              <a:t>자녀 1인 대학 졸업까지의 필요 자금 (최소 추정)</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128016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항목</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금액</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4년간 대학 등록금</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40,000,000원</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연 1,000만 원 기준</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4년간 월 생활비</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48,000,000원</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월 100만 원 기준 (서울 자취 가정)</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총 필요자금</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b="1" dirty="0">
                          <a:solidFill>
                            <a:srgbClr val="000000"/>
                          </a:solidFill>
                          <a:latin typeface="맑은 고딕" pitchFamily="34" charset="0"/>
                          <a:ea typeface="맑은 고딕" pitchFamily="34" charset="-122"/>
                          <a:cs typeface="맑은 고딕" pitchFamily="34" charset="-120"/>
                        </a:rPr>
                        <a:t>88,000,000원</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물가 상승분 미반영 최소 금액</a:t>
                      </a:r>
                      <a:endParaRPr lang="en-US" sz="1000" dirty="0">
                        <a:latin typeface="맑은 고딕" charset="0"/>
                        <a:ea typeface="맑은 고딕" charset="0"/>
                        <a:cs typeface="맑은 고딕" charset="0"/>
                      </a:endParaRPr>
                    </a:p>
                  </a:txBody>
                  <a:tcPr marL="76200" marR="762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bl>
          </a:graphicData>
        </a:graphic>
      </p:graphicFrame>
      <p:sp>
        <p:nvSpPr>
          <p:cNvPr id="8" name="Text 5"/>
          <p:cNvSpPr/>
          <p:nvPr/>
        </p:nvSpPr>
        <p:spPr>
          <a:xfrm>
            <a:off x="457200" y="2651760"/>
            <a:ext cx="8229600" cy="594360"/>
          </a:xfrm>
          <a:prstGeom prst="rect">
            <a:avLst/>
          </a:prstGeom>
          <a:noFill/>
          <a:ln/>
        </p:spPr>
        <p:txBody>
          <a:bodyPr wrap="square" rtlCol="0" anchor="ctr"/>
          <a:lstStyle/>
          <a:p>
            <a:pPr marL="0" indent="0" algn="ctr">
              <a:lnSpc>
                <a:spcPct val="130000"/>
              </a:lnSpc>
              <a:buNone/>
            </a:pPr>
            <a:r>
              <a:rPr lang="en-US" sz="1200" b="1" dirty="0">
                <a:solidFill>
                  <a:srgbClr val="D4382C"/>
                </a:solidFill>
                <a:latin typeface="맑은 고딕" pitchFamily="34" charset="0"/>
                <a:ea typeface="맑은 고딕" pitchFamily="34" charset="-122"/>
                <a:cs typeface="맑은 고딕" pitchFamily="34" charset="-120"/>
              </a:rPr>
              <a:t>결론: 가장 유고 시, 최소 약 1억 원의 교육비와 가족 생활비가 추가로 필요합니다.</a:t>
            </a:r>
            <a:endParaRPr lang="en-US" sz="1200" dirty="0"/>
          </a:p>
          <a:p>
            <a:pPr marL="0" indent="0" algn="ctr">
              <a:lnSpc>
                <a:spcPct val="130000"/>
              </a:lnSpc>
              <a:buNone/>
            </a:pPr>
            <a:r>
              <a:rPr lang="en-US" sz="1200" b="1" dirty="0">
                <a:solidFill>
                  <a:srgbClr val="D4382C"/>
                </a:solidFill>
                <a:latin typeface="맑은 고딕" pitchFamily="34" charset="0"/>
                <a:ea typeface="맑은 고딕" pitchFamily="34" charset="-122"/>
                <a:cs typeface="맑은 고딕" pitchFamily="34" charset="-120"/>
              </a:rPr>
              <a:t>현재 보장 자산으로는 이 금액을 전혀 감당할 수 없는, 1억 원 이상의 '보장 갭'이 존재합니다.</a:t>
            </a:r>
            <a:endParaRPr lang="en-US" sz="1200" dirty="0"/>
          </a:p>
        </p:txBody>
      </p:sp>
      <p:sp>
        <p:nvSpPr>
          <p:cNvPr id="9"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0"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10 / 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재무·보장자산 정밀 진단 (In-depth Diagnosis) (3/3)</a:t>
            </a:r>
            <a:endParaRPr lang="en-US" sz="1500" dirty="0"/>
          </a:p>
        </p:txBody>
      </p:sp>
      <p:sp>
        <p:nvSpPr>
          <p:cNvPr id="5" name="Text 3"/>
          <p:cNvSpPr/>
          <p:nvPr/>
        </p:nvSpPr>
        <p:spPr>
          <a:xfrm>
            <a:off x="457200" y="77724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[전문가 의견]</a:t>
            </a:r>
            <a:endParaRPr lang="en-US" sz="1400" dirty="0"/>
          </a:p>
        </p:txBody>
      </p:sp>
      <p:sp>
        <p:nvSpPr>
          <p:cNvPr id="6" name="Shape 4"/>
          <p:cNvSpPr/>
          <p:nvPr/>
        </p:nvSpPr>
        <p:spPr>
          <a:xfrm>
            <a:off x="457200" y="1143000"/>
            <a:ext cx="54864" cy="1463040"/>
          </a:xfrm>
          <a:prstGeom prst="rect">
            <a:avLst/>
          </a:prstGeom>
          <a:solidFill>
            <a:srgbClr val="C8962E"/>
          </a:solidFill>
          <a:ln w="12700">
            <a:solidFill>
              <a:srgbClr val="C8962E"/>
            </a:solidFill>
            <a:prstDash val="solid"/>
          </a:ln>
        </p:spPr>
        <p:txBody>
          <a:bodyPr/>
          <a:lstStyle/>
          <a:p>
            <a:endParaRPr lang="ko-KR" altLang="en-US"/>
          </a:p>
        </p:txBody>
      </p:sp>
      <p:sp>
        <p:nvSpPr>
          <p:cNvPr id="7" name="Text 5"/>
          <p:cNvSpPr/>
          <p:nvPr/>
        </p:nvSpPr>
        <p:spPr>
          <a:xfrm>
            <a:off x="512064" y="1143000"/>
            <a:ext cx="8174736" cy="146304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r>
              <a:rPr lang="en-US" sz="1100" dirty="0">
                <a:solidFill>
                  <a:srgbClr val="555555"/>
                </a:solidFill>
                <a:latin typeface="맑은 고딕" pitchFamily="34" charset="0"/>
                <a:ea typeface="맑은 고딕" pitchFamily="34" charset="-122"/>
                <a:cs typeface="맑은 고딕" pitchFamily="34" charset="-120"/>
              </a:rPr>
              <a:t>아버님, 지금 필요한 것은 평생을 보장하는 막연한 종신보험이 아닙니다. 자녀가 대학에 입학해서 졸업하고, 사회에 첫발을 내딛는 '앞으로의 10년'이라는 명확한 기간에 집중해야 합니다. 이 기간 동안만이라도 가장의 부재가 자녀의 미래에 전혀 영향을 미치지 않도록, 강력한 방어막을 저렴하고 효율적으로 구축하는 '기간 한정 집중 전략'이 가장 현명한 해법입니다.</a:t>
            </a:r>
            <a:endParaRPr lang="en-US" sz="11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11 / 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(Customized Solution) (1/3)</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buNone/>
            </a:pPr>
            <a:r>
              <a:rPr lang="en-US" sz="1100" dirty="0">
                <a:solidFill>
                  <a:srgbClr val="4A5568"/>
                </a:solidFill>
                <a:latin typeface="맑은 고딕" pitchFamily="34" charset="0"/>
                <a:ea typeface="맑은 고딕" pitchFamily="34" charset="-122"/>
                <a:cs typeface="맑은 고딕" pitchFamily="34" charset="-120"/>
              </a:rPr>
              <a:t>진단 결과를 바탕으로, 오직 아버님과 아드님을 위한 최적의 '교육비 지킴이 플랜'을 설계합니다.</a:t>
            </a:r>
            <a:endParaRPr lang="en-US" sz="1100" dirty="0"/>
          </a:p>
        </p:txBody>
      </p:sp>
      <p:sp>
        <p:nvSpPr>
          <p:cNvPr id="6" name="Text 4"/>
          <p:cNvSpPr/>
          <p:nvPr/>
        </p:nvSpPr>
        <p:spPr>
          <a:xfrm>
            <a:off x="457200" y="100584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설계 방향 및 원칙</a:t>
            </a:r>
            <a:endParaRPr lang="en-US" sz="1400" dirty="0"/>
          </a:p>
        </p:txBody>
      </p:sp>
      <p:sp>
        <p:nvSpPr>
          <p:cNvPr id="7" name="Text 5"/>
          <p:cNvSpPr/>
          <p:nvPr/>
        </p:nvSpPr>
        <p:spPr>
          <a:xfrm>
            <a:off x="640080" y="1325880"/>
            <a:ext cx="8046720" cy="1005840"/>
          </a:xfrm>
          <a:prstGeom prst="rect">
            <a:avLst/>
          </a:prstGeom>
          <a:noFill/>
          <a:ln/>
        </p:spPr>
        <p:txBody>
          <a:bodyPr wrap="square" rtlCol="0" anchor="t"/>
          <a:lstStyle/>
          <a:p>
            <a:pPr marL="0" indent="0">
              <a:lnSpc>
                <a:spcPct val="130000"/>
              </a:lnSpc>
              <a:buNone/>
            </a:pPr>
            <a:r>
              <a:rPr lang="en-US" sz="1050" b="1" dirty="0">
                <a:solidFill>
                  <a:srgbClr val="2B2B2B"/>
                </a:solidFill>
                <a:latin typeface="맑은 고딕" pitchFamily="34" charset="0"/>
                <a:ea typeface="맑은 고딕" pitchFamily="34" charset="-122"/>
                <a:cs typeface="맑은 고딕" pitchFamily="34" charset="-120"/>
              </a:rPr>
              <a:t>• 기간 집중: </a:t>
            </a:r>
            <a:r>
              <a:rPr lang="en-US" sz="1050" dirty="0">
                <a:solidFill>
                  <a:srgbClr val="555555"/>
                </a:solidFill>
                <a:latin typeface="맑은 고딕" pitchFamily="34" charset="0"/>
                <a:ea typeface="맑은 고딕" pitchFamily="34" charset="-122"/>
                <a:cs typeface="맑은 고딕" pitchFamily="34" charset="-120"/>
              </a:rPr>
              <a:t>보장 기간을 자녀의 경제적 독립기까지인 '10년'으로 한정하여 보험료 부담을 획기적으로 낮춥니다.
</a:t>
            </a:r>
            <a:r>
              <a:rPr lang="en-US" sz="1050" b="1" dirty="0">
                <a:solidFill>
                  <a:srgbClr val="2B2B2B"/>
                </a:solidFill>
                <a:latin typeface="맑은 고딕" pitchFamily="34" charset="0"/>
                <a:ea typeface="맑은 고딕" pitchFamily="34" charset="-122"/>
                <a:cs typeface="맑은 고딕" pitchFamily="34" charset="-120"/>
              </a:rPr>
              <a:t>• 핵심 위험 보장: </a:t>
            </a:r>
            <a:r>
              <a:rPr lang="en-US" sz="1050" dirty="0">
                <a:solidFill>
                  <a:srgbClr val="555555"/>
                </a:solidFill>
                <a:latin typeface="맑은 고딕" pitchFamily="34" charset="0"/>
                <a:ea typeface="맑은 고딕" pitchFamily="34" charset="-122"/>
                <a:cs typeface="맑은 고딕" pitchFamily="34" charset="-120"/>
              </a:rPr>
              <a:t>가장의 '사망'과 '중대질병'이라는, 교육비 플랜에 가장 치명적인 두 가지 리스크를 집중적으로 보강합니다.
</a:t>
            </a:r>
            <a:r>
              <a:rPr lang="en-US" sz="1050" b="1" dirty="0">
                <a:solidFill>
                  <a:srgbClr val="2B2B2B"/>
                </a:solidFill>
                <a:latin typeface="맑은 고딕" pitchFamily="34" charset="0"/>
                <a:ea typeface="맑은 고딕" pitchFamily="34" charset="-122"/>
                <a:cs typeface="맑은 고딕" pitchFamily="34" charset="-120"/>
              </a:rPr>
              <a:t>• 합리적 보험료: </a:t>
            </a:r>
            <a:r>
              <a:rPr lang="en-US" sz="1050" dirty="0">
                <a:solidFill>
                  <a:srgbClr val="555555"/>
                </a:solidFill>
                <a:latin typeface="맑은 고딕" pitchFamily="34" charset="0"/>
                <a:ea typeface="맑은 고딕" pitchFamily="34" charset="-122"/>
                <a:cs typeface="맑은 고딕" pitchFamily="34" charset="-120"/>
              </a:rPr>
              <a:t>현재의 저축 흐름을 해치지 않는 월 10~15만 원 수준에서 최대 효율의 포트폴리오를 구성합니다.</a:t>
            </a:r>
            <a:endParaRPr lang="en-US" sz="1050" dirty="0"/>
          </a:p>
        </p:txBody>
      </p:sp>
      <p:sp>
        <p:nvSpPr>
          <p:cNvPr id="8" name="Text 6"/>
          <p:cNvSpPr/>
          <p:nvPr/>
        </p:nvSpPr>
        <p:spPr>
          <a:xfrm>
            <a:off x="457200" y="246888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포트폴리오 리모델링</a:t>
            </a:r>
            <a:endParaRPr lang="en-US" sz="1400" dirty="0"/>
          </a:p>
        </p:txBody>
      </p:sp>
      <p:sp>
        <p:nvSpPr>
          <p:cNvPr id="9" name="Text 7"/>
          <p:cNvSpPr/>
          <p:nvPr/>
        </p:nvSpPr>
        <p:spPr>
          <a:xfrm>
            <a:off x="640080" y="2788920"/>
            <a:ext cx="8046720" cy="822960"/>
          </a:xfrm>
          <a:prstGeom prst="rect">
            <a:avLst/>
          </a:prstGeom>
          <a:noFill/>
          <a:ln/>
        </p:spPr>
        <p:txBody>
          <a:bodyPr wrap="square" rtlCol="0" anchor="t"/>
          <a:lstStyle/>
          <a:p>
            <a:pPr marL="0" indent="0">
              <a:lnSpc>
                <a:spcPct val="130000"/>
              </a:lnSpc>
              <a:buNone/>
            </a:pPr>
            <a:r>
              <a:rPr lang="en-US" sz="1050" b="1" dirty="0">
                <a:solidFill>
                  <a:srgbClr val="2B2B2B"/>
                </a:solidFill>
                <a:latin typeface="맑은 고딕" pitchFamily="34" charset="0"/>
                <a:ea typeface="맑은 고딕" pitchFamily="34" charset="-122"/>
                <a:cs typeface="맑은 고딕" pitchFamily="34" charset="-120"/>
              </a:rPr>
              <a:t>• 기존 보험 (종신보험): </a:t>
            </a:r>
            <a:r>
              <a:rPr lang="en-US" sz="1050" dirty="0">
                <a:solidFill>
                  <a:srgbClr val="555555"/>
                </a:solidFill>
                <a:latin typeface="맑은 고딕" pitchFamily="34" charset="0"/>
                <a:ea typeface="맑은 고딕" pitchFamily="34" charset="-122"/>
                <a:cs typeface="맑은 고딕" pitchFamily="34" charset="-120"/>
              </a:rPr>
              <a:t>그대로 유지하여 평생 보장의 기반으로 삼습니다.
</a:t>
            </a:r>
            <a:r>
              <a:rPr lang="en-US" sz="1050" b="1" dirty="0">
                <a:solidFill>
                  <a:srgbClr val="2B2B2B"/>
                </a:solidFill>
                <a:latin typeface="맑은 고딕" pitchFamily="34" charset="0"/>
                <a:ea typeface="맑은 고딕" pitchFamily="34" charset="-122"/>
                <a:cs typeface="맑은 고딕" pitchFamily="34" charset="-120"/>
              </a:rPr>
              <a:t>• 신규 핵심 솔루션: </a:t>
            </a:r>
            <a:r>
              <a:rPr lang="en-US" sz="1050" dirty="0">
                <a:solidFill>
                  <a:srgbClr val="555555"/>
                </a:solidFill>
                <a:latin typeface="맑은 고딕" pitchFamily="34" charset="0"/>
                <a:ea typeface="맑은 고딕" pitchFamily="34" charset="-122"/>
                <a:cs typeface="맑은 고딕" pitchFamily="34" charset="-120"/>
              </a:rPr>
              <a:t>'10년 만기 비갱신형 정기보험 + 건강보험 특약'
</a:t>
            </a:r>
            <a:r>
              <a:rPr lang="en-US" sz="1000" dirty="0">
                <a:solidFill>
                  <a:srgbClr val="2563EB"/>
                </a:solidFill>
                <a:latin typeface="맑은 고딕" pitchFamily="34" charset="0"/>
                <a:ea typeface="맑은 고딕" pitchFamily="34" charset="-122"/>
                <a:cs typeface="맑은 고딕" pitchFamily="34" charset="-120"/>
              </a:rPr>
              <a:t>  기존 보장에 부족한 부분을 정확히 메워주는 '핀셋' 전략입니다.</a:t>
            </a:r>
            <a:endParaRPr lang="en-US" sz="105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12 / 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(Customized Solution) (2/3)</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최종 제안 설계안 (예시)</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2740738930"/>
              </p:ext>
            </p:extLst>
          </p:nvPr>
        </p:nvGraphicFramePr>
        <p:xfrm>
          <a:off x="274320" y="960120"/>
          <a:ext cx="8595360" cy="2130552"/>
        </p:xfrm>
        <a:graphic>
          <a:graphicData uri="http://schemas.openxmlformats.org/drawingml/2006/table">
            <a:tbl>
              <a:tblPr/>
              <a:tblGrid>
                <a:gridCol w="10058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274320">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구분</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내용</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금액</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기간/납입</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월 보험료</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비고</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02920">
                <a:tc>
                  <a:txBody>
                    <a:bodyPr/>
                    <a:lstStyle/>
                    <a:p>
                      <a:pPr marL="0" indent="0" algn="ctr">
                        <a:buNone/>
                      </a:pPr>
                      <a:r>
                        <a:rPr lang="en-US" sz="800" b="1" dirty="0">
                          <a:solidFill>
                            <a:srgbClr val="2563EB"/>
                          </a:solidFill>
                          <a:latin typeface="맑은 고딕" pitchFamily="34" charset="0"/>
                          <a:ea typeface="맑은 고딕" pitchFamily="34" charset="-122"/>
                          <a:cs typeface="맑은 고딕" pitchFamily="34" charset="-120"/>
                        </a:rPr>
                        <a:t>정기보험</a:t>
                      </a:r>
                      <a:endParaRPr lang="en-US" sz="800" dirty="0">
                        <a:latin typeface="맑은 고딕" charset="0"/>
                        <a:ea typeface="맑은 고딕" charset="0"/>
                        <a:cs typeface="맑은 고딕" charset="0"/>
                      </a:endParaRPr>
                    </a:p>
                    <a:p>
                      <a:pPr marL="0" indent="0" algn="ctr">
                        <a:buNone/>
                      </a:pPr>
                      <a:r>
                        <a:rPr lang="en-US" sz="800" b="1" dirty="0">
                          <a:solidFill>
                            <a:srgbClr val="2563EB"/>
                          </a:solidFill>
                          <a:latin typeface="맑은 고딕" pitchFamily="34" charset="0"/>
                          <a:ea typeface="맑은 고딕" pitchFamily="34" charset="-122"/>
                          <a:cs typeface="맑은 고딕" pitchFamily="34" charset="-120"/>
                        </a:rPr>
                        <a:t>(주계약)</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재해/질병 사망보험금</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r">
                        <a:buNone/>
                      </a:pPr>
                      <a:r>
                        <a:rPr lang="en-US" sz="800" dirty="0">
                          <a:solidFill>
                            <a:srgbClr val="000000"/>
                          </a:solidFill>
                          <a:latin typeface="맑은 고딕" pitchFamily="34" charset="0"/>
                          <a:ea typeface="맑은 고딕" pitchFamily="34" charset="-122"/>
                          <a:cs typeface="맑은 고딕" pitchFamily="34" charset="-120"/>
                        </a:rPr>
                        <a:t>200,000,000원</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10년만기/</a:t>
                      </a:r>
                      <a:endParaRPr lang="en-US" sz="800" dirty="0">
                        <a:latin typeface="맑은 고딕" charset="0"/>
                        <a:ea typeface="맑은 고딕" charset="0"/>
                        <a:cs typeface="맑은 고딕" charset="0"/>
                      </a:endParaRPr>
                    </a:p>
                    <a:p>
                      <a:pPr marL="0" indent="0" algn="ctr">
                        <a:buNone/>
                      </a:pPr>
                      <a:r>
                        <a:rPr lang="en-US" sz="800" dirty="0">
                          <a:solidFill>
                            <a:srgbClr val="000000"/>
                          </a:solidFill>
                          <a:latin typeface="맑은 고딕" pitchFamily="34" charset="0"/>
                          <a:ea typeface="맑은 고딕" pitchFamily="34" charset="-122"/>
                          <a:cs typeface="맑은 고딕" pitchFamily="34" charset="-120"/>
                        </a:rPr>
                        <a:t>10년납</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r">
                        <a:buNone/>
                      </a:pPr>
                      <a:r>
                        <a:rPr lang="en-US" sz="800" dirty="0">
                          <a:solidFill>
                            <a:srgbClr val="000000"/>
                          </a:solidFill>
                          <a:latin typeface="맑은 고딕" pitchFamily="34" charset="0"/>
                          <a:ea typeface="맑은 고딕" pitchFamily="34" charset="-122"/>
                          <a:cs typeface="맑은 고딕" pitchFamily="34" charset="-120"/>
                        </a:rPr>
                        <a:t>약 80,000원</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lgn="l">
                        <a:buNone/>
                      </a:pPr>
                      <a:r>
                        <a:rPr lang="en-US" sz="750" dirty="0">
                          <a:solidFill>
                            <a:srgbClr val="000000"/>
                          </a:solidFill>
                          <a:latin typeface="맑은 고딕" pitchFamily="34" charset="0"/>
                          <a:ea typeface="맑은 고딕" pitchFamily="34" charset="-122"/>
                          <a:cs typeface="맑은 고딕" pitchFamily="34" charset="-120"/>
                        </a:rPr>
                        <a:t>가장 지출 많은 10년 집중 보장. 대출상환 및 교육비, 생활비 완벽 확보.</a:t>
                      </a:r>
                      <a:endParaRPr lang="en-US" sz="75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extLst>
                  <a:ext uri="{0D108BD9-81ED-4DB2-BD59-A6C34878D82A}">
                    <a16:rowId xmlns:a16="http://schemas.microsoft.com/office/drawing/2014/main" val="10001"/>
                  </a:ext>
                </a:extLst>
              </a:tr>
              <a:tr h="384048">
                <a:tc>
                  <a:txBody>
                    <a:bodyPr/>
                    <a:lstStyle/>
                    <a:p>
                      <a:pPr marL="0" indent="0" algn="ctr">
                        <a:buNone/>
                      </a:pPr>
                      <a:r>
                        <a:rPr lang="en-US" sz="800" b="1" dirty="0">
                          <a:solidFill>
                            <a:srgbClr val="555555"/>
                          </a:solidFill>
                          <a:latin typeface="맑은 고딕" pitchFamily="34" charset="0"/>
                          <a:ea typeface="맑은 고딕" pitchFamily="34" charset="-122"/>
                          <a:cs typeface="맑은 고딕" pitchFamily="34" charset="-120"/>
                        </a:rPr>
                        <a:t>건강보험</a:t>
                      </a:r>
                      <a:endParaRPr lang="en-US" sz="800" dirty="0">
                        <a:latin typeface="맑은 고딕" charset="0"/>
                        <a:ea typeface="맑은 고딕" charset="0"/>
                        <a:cs typeface="맑은 고딕" charset="0"/>
                      </a:endParaRPr>
                    </a:p>
                    <a:p>
                      <a:pPr marL="0" indent="0" algn="ctr">
                        <a:buNone/>
                      </a:pPr>
                      <a:r>
                        <a:rPr lang="en-US" sz="800" b="1" dirty="0">
                          <a:solidFill>
                            <a:srgbClr val="555555"/>
                          </a:solidFill>
                          <a:latin typeface="맑은 고딕" pitchFamily="34" charset="0"/>
                          <a:ea typeface="맑은 고딕" pitchFamily="34" charset="-122"/>
                          <a:cs typeface="맑은 고딕" pitchFamily="34" charset="-120"/>
                        </a:rPr>
                        <a:t>(특약)</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일반암 진단비</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r">
                        <a:buNone/>
                      </a:pPr>
                      <a:r>
                        <a:rPr lang="en-US" sz="800" dirty="0">
                          <a:solidFill>
                            <a:srgbClr val="000000"/>
                          </a:solidFill>
                          <a:latin typeface="맑은 고딕" pitchFamily="34" charset="0"/>
                          <a:ea typeface="맑은 고딕" pitchFamily="34" charset="-122"/>
                          <a:cs typeface="맑은 고딕" pitchFamily="34" charset="-120"/>
                        </a:rPr>
                        <a:t>50,000,000원</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10년만기/</a:t>
                      </a:r>
                      <a:endParaRPr lang="en-US" sz="800" dirty="0">
                        <a:latin typeface="맑은 고딕" charset="0"/>
                        <a:ea typeface="맑은 고딕" charset="0"/>
                        <a:cs typeface="맑은 고딕" charset="0"/>
                      </a:endParaRPr>
                    </a:p>
                    <a:p>
                      <a:pPr marL="0" indent="0" algn="ctr">
                        <a:buNone/>
                      </a:pPr>
                      <a:r>
                        <a:rPr lang="en-US" sz="800" dirty="0">
                          <a:solidFill>
                            <a:srgbClr val="000000"/>
                          </a:solidFill>
                          <a:latin typeface="맑은 고딕" pitchFamily="34" charset="0"/>
                          <a:ea typeface="맑은 고딕" pitchFamily="34" charset="-122"/>
                          <a:cs typeface="맑은 고딕" pitchFamily="34" charset="-120"/>
                        </a:rPr>
                        <a:t>10년납</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r">
                        <a:buNone/>
                      </a:pPr>
                      <a:r>
                        <a:rPr lang="en-US" sz="800" dirty="0">
                          <a:solidFill>
                            <a:srgbClr val="000000"/>
                          </a:solidFill>
                          <a:latin typeface="맑은 고딕" pitchFamily="34" charset="0"/>
                          <a:ea typeface="맑은 고딕" pitchFamily="34" charset="-122"/>
                          <a:cs typeface="맑은 고딕" pitchFamily="34" charset="-120"/>
                        </a:rPr>
                        <a:t>약 55,000원</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l">
                        <a:buNone/>
                      </a:pPr>
                      <a:r>
                        <a:rPr lang="en-US" sz="750" dirty="0">
                          <a:solidFill>
                            <a:srgbClr val="000000"/>
                          </a:solidFill>
                          <a:latin typeface="맑은 고딕" pitchFamily="34" charset="0"/>
                          <a:ea typeface="맑은 고딕" pitchFamily="34" charset="-122"/>
                          <a:cs typeface="맑은 고딕" pitchFamily="34" charset="-120"/>
                        </a:rPr>
                        <a:t>치료비 때문에 교육비 쓰는 일 방지. 연봉 이상의 진단비로 소득 공백까지 대비.</a:t>
                      </a:r>
                      <a:endParaRPr lang="en-US" sz="75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92608">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뇌혈관질환 진단비</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r">
                        <a:buNone/>
                      </a:pPr>
                      <a:r>
                        <a:rPr lang="en-US" sz="800" dirty="0">
                          <a:solidFill>
                            <a:srgbClr val="000000"/>
                          </a:solidFill>
                          <a:latin typeface="맑은 고딕" pitchFamily="34" charset="0"/>
                          <a:ea typeface="맑은 고딕" pitchFamily="34" charset="-122"/>
                          <a:cs typeface="맑은 고딕" pitchFamily="34" charset="-120"/>
                        </a:rPr>
                        <a:t>20,000,000원</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3"/>
                  </a:ext>
                </a:extLst>
              </a:tr>
              <a:tr h="292608">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허혈성심장질환 진단비</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lgn="r">
                        <a:buNone/>
                      </a:pPr>
                      <a:r>
                        <a:rPr lang="en-US" sz="800" dirty="0">
                          <a:solidFill>
                            <a:srgbClr val="000000"/>
                          </a:solidFill>
                          <a:latin typeface="맑은 고딕" pitchFamily="34" charset="0"/>
                          <a:ea typeface="맑은 고딕" pitchFamily="34" charset="-122"/>
                          <a:cs typeface="맑은 고딕" pitchFamily="34" charset="-120"/>
                        </a:rPr>
                        <a:t>20,000,000원</a:t>
                      </a:r>
                      <a:endParaRPr lang="en-US" sz="8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tc>
                  <a:txBody>
                    <a:bodyPr/>
                    <a:lstStyle/>
                    <a:p>
                      <a:pPr marL="0" indent="0">
                        <a:buNone/>
                      </a:pPr>
                      <a:endParaRPr lang="en-US" sz="8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84048">
                <a:tc gridSpan="4">
                  <a:txBody>
                    <a:bodyPr/>
                    <a:lstStyle/>
                    <a:p>
                      <a:pPr marL="0" indent="0" algn="ctr">
                        <a:buNone/>
                      </a:pPr>
                      <a:r>
                        <a:rPr lang="en-US" sz="900" b="1" dirty="0">
                          <a:solidFill>
                            <a:srgbClr val="1B2A4A"/>
                          </a:solidFill>
                          <a:latin typeface="맑은 고딕" pitchFamily="34" charset="0"/>
                          <a:ea typeface="맑은 고딕" pitchFamily="34" charset="-122"/>
                          <a:cs typeface="맑은 고딕" pitchFamily="34" charset="-120"/>
                        </a:rPr>
                        <a:t>합계</a:t>
                      </a:r>
                      <a:endParaRPr lang="en-US" sz="900" dirty="0">
                        <a:latin typeface="맑은 고딕" charset="0"/>
                        <a:ea typeface="맑은 고딕" charset="0"/>
                        <a:cs typeface="맑은 고딕"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hMerge="1">
                  <a:txBody>
                    <a:bodyPr/>
                    <a:lstStyle/>
                    <a:p>
                      <a:endParaRPr lang="ko-KR"/>
                    </a:p>
                  </a:txBody>
                  <a:tcPr/>
                </a:tc>
                <a:tc hMerge="1">
                  <a:txBody>
                    <a:bodyPr/>
                    <a:lstStyle/>
                    <a:p>
                      <a:endParaRPr lang="ko-KR"/>
                    </a:p>
                  </a:txBody>
                  <a:tcPr/>
                </a:tc>
                <a:tc hMerge="1">
                  <a:txBody>
                    <a:bodyPr/>
                    <a:lstStyle/>
                    <a:p>
                      <a:endParaRPr lang="ko-KR"/>
                    </a:p>
                  </a:txBody>
                  <a:tcPr/>
                </a:tc>
                <a:tc>
                  <a:txBody>
                    <a:bodyPr/>
                    <a:lstStyle/>
                    <a:p>
                      <a:pPr marL="0" indent="0">
                        <a:buNone/>
                      </a:pPr>
                      <a:endParaRPr lang="en-US" sz="12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tc>
                  <a:txBody>
                    <a:bodyPr/>
                    <a:lstStyle/>
                    <a:p>
                      <a:pPr marL="0" indent="0">
                        <a:buNone/>
                      </a:pPr>
                      <a:endParaRPr lang="en-US" sz="12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AF2FF"/>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13 / 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(Customized Solution) (3/3)</a:t>
            </a:r>
            <a:endParaRPr lang="en-US" sz="1500" dirty="0"/>
          </a:p>
        </p:txBody>
      </p:sp>
      <p:sp>
        <p:nvSpPr>
          <p:cNvPr id="5" name="Text 3"/>
          <p:cNvSpPr/>
          <p:nvPr/>
        </p:nvSpPr>
        <p:spPr>
          <a:xfrm>
            <a:off x="457200" y="64008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제안 이유 (Rationale)</a:t>
            </a:r>
            <a:endParaRPr lang="en-US" sz="1400" dirty="0"/>
          </a:p>
        </p:txBody>
      </p:sp>
      <p:sp>
        <p:nvSpPr>
          <p:cNvPr id="6" name="Text 4"/>
          <p:cNvSpPr/>
          <p:nvPr/>
        </p:nvSpPr>
        <p:spPr>
          <a:xfrm>
            <a:off x="640080" y="1005840"/>
            <a:ext cx="8046720" cy="320040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원칙 (정기보험의 효율성): </a:t>
            </a:r>
            <a:r>
              <a:rPr lang="en-US" sz="1000" dirty="0">
                <a:solidFill>
                  <a:srgbClr val="555555"/>
                </a:solidFill>
                <a:latin typeface="맑은 고딕" pitchFamily="34" charset="0"/>
                <a:ea typeface="맑은 고딕" pitchFamily="34" charset="-122"/>
                <a:cs typeface="맑은 고딕" pitchFamily="34" charset="-120"/>
              </a:rPr>
              <a:t>똑같은 2억 원의 사망 보장을 받더라도, 80세, 90세까지 평생을 보장하는 종신보험은 월 보험료가 수십만 원에 달합니다. 하지만 '10년'이라는 기간을 정해두면, 월 10만 원도 안 되는 비용으로 동일한 보장을 받을 수 있습니다. 이것이 바로 필요한 시기에 집중하는 '가성비' 전략입니다.
</a:t>
            </a:r>
            <a:r>
              <a:rPr lang="en-US" sz="1000" b="1" dirty="0">
                <a:solidFill>
                  <a:srgbClr val="2B2B2B"/>
                </a:solidFill>
                <a:latin typeface="맑은 고딕" pitchFamily="34" charset="0"/>
                <a:ea typeface="맑은 고딕" pitchFamily="34" charset="-122"/>
                <a:cs typeface="맑은 고딕" pitchFamily="34" charset="-120"/>
              </a:rPr>
              <a:t>• 예외 (보장 종료): </a:t>
            </a:r>
            <a:r>
              <a:rPr lang="en-US" sz="1000" dirty="0">
                <a:solidFill>
                  <a:srgbClr val="555555"/>
                </a:solidFill>
                <a:latin typeface="맑은 고딕" pitchFamily="34" charset="0"/>
                <a:ea typeface="맑은 고딕" pitchFamily="34" charset="-122"/>
                <a:cs typeface="맑은 고딕" pitchFamily="34" charset="-120"/>
              </a:rPr>
              <a:t>이 플랜은 10년 뒤에는 보장이 소멸됩니다. 하지만 그 시점에는 이미 자녀가 독립했고, 아버님의 가장 큰 책임도 끝났기에 더 이상 거액의 사망보험금이 필요하지 않습니다. 그때부터는 기존의 종신보험과 개인연금으로 노후를 준비하시면 됩니다.
</a:t>
            </a:r>
            <a:r>
              <a:rPr lang="en-US" sz="1000" b="1" dirty="0">
                <a:solidFill>
                  <a:srgbClr val="D4382C"/>
                </a:solidFill>
                <a:latin typeface="맑은 고딕" pitchFamily="34" charset="0"/>
                <a:ea typeface="맑은 고딕" pitchFamily="34" charset="-122"/>
                <a:cs typeface="맑은 고딕" pitchFamily="34" charset="-120"/>
              </a:rPr>
              <a:t>• 주의사항 (가입 시점): </a:t>
            </a:r>
            <a:r>
              <a:rPr lang="en-US" sz="1000" dirty="0">
                <a:solidFill>
                  <a:srgbClr val="D4382C"/>
                </a:solidFill>
                <a:latin typeface="맑은 고딕" pitchFamily="34" charset="0"/>
                <a:ea typeface="맑은 고딕" pitchFamily="34" charset="-122"/>
                <a:cs typeface="맑은 고딕" pitchFamily="34" charset="-120"/>
              </a:rPr>
              <a:t>정기보험과 건강보험은 가입 시점의 건강 상태가 매우 중요합니다. 현재 고혈압 소견이 있으시므로, 더 늦기 전에, 건강 상태가 더 나빠지기 전에 가입을 서두르는 것이 절대적으로 유리합니다. 시기를 놓치면 할증된 보험료를 내거나 최악의 경우 가입이 거절될 수 있습니다.</a:t>
            </a:r>
            <a:endParaRPr lang="en-US" sz="10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14 / 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기대 효과 (Expected Effects) (1/2)</a:t>
            </a:r>
            <a:endParaRPr lang="en-US" sz="1500" dirty="0"/>
          </a:p>
        </p:txBody>
      </p:sp>
      <p:sp>
        <p:nvSpPr>
          <p:cNvPr id="5" name="Text 3"/>
          <p:cNvSpPr/>
          <p:nvPr/>
        </p:nvSpPr>
        <p:spPr>
          <a:xfrm>
            <a:off x="457200" y="640080"/>
            <a:ext cx="8229600" cy="256032"/>
          </a:xfrm>
          <a:prstGeom prst="rect">
            <a:avLst/>
          </a:prstGeom>
          <a:noFill/>
          <a:ln/>
        </p:spPr>
        <p:txBody>
          <a:bodyPr wrap="square" rtlCol="0" anchor="ctr"/>
          <a:lstStyle/>
          <a:p>
            <a:pPr marL="0" indent="0">
              <a:buNone/>
            </a:pPr>
            <a:r>
              <a:rPr lang="en-US" sz="1100" dirty="0">
                <a:solidFill>
                  <a:srgbClr val="4A5568"/>
                </a:solidFill>
                <a:latin typeface="맑은 고딕" pitchFamily="34" charset="0"/>
                <a:ea typeface="맑은 고딕" pitchFamily="34" charset="-122"/>
                <a:cs typeface="맑은 고딕" pitchFamily="34" charset="-120"/>
              </a:rPr>
              <a:t>솔루션 실행 후 펼쳐질 아버님의 평온한 미래를 구체적으로 그려봅니다.</a:t>
            </a:r>
            <a:endParaRPr lang="en-US" sz="1100" dirty="0"/>
          </a:p>
        </p:txBody>
      </p:sp>
      <p:sp>
        <p:nvSpPr>
          <p:cNvPr id="6" name="Text 4"/>
          <p:cNvSpPr/>
          <p:nvPr/>
        </p:nvSpPr>
        <p:spPr>
          <a:xfrm>
            <a:off x="457200" y="960120"/>
            <a:ext cx="8229600" cy="32004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Before &amp; After 시뮬레이션: 3년 후, 아들이 대학에 합격했으나 아버님이 암 진단을 받은 상황</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8503920" cy="2057400"/>
        </p:xfrm>
        <a:graphic>
          <a:graphicData uri="http://schemas.openxmlformats.org/drawingml/2006/table">
            <a:tbl>
              <a:tblPr/>
              <a:tblGrid>
                <a:gridCol w="11887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274320">
                <a:tc>
                  <a:txBody>
                    <a:bodyP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구분</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솔루션 실행 전 (As-Is)</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솔루션 실행 후 (To-Be)</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94360">
                <a:tc>
                  <a:txBody>
                    <a:bodyPr/>
                    <a:lstStyle/>
                    <a:p>
                      <a:pPr marL="0" indent="0" algn="ctr">
                        <a:buNone/>
                      </a:pPr>
                      <a:r>
                        <a:rPr lang="en-US" sz="850" b="1" dirty="0">
                          <a:solidFill>
                            <a:srgbClr val="000000"/>
                          </a:solidFill>
                          <a:latin typeface="맑은 고딕" pitchFamily="34" charset="0"/>
                          <a:ea typeface="맑은 고딕" pitchFamily="34" charset="-122"/>
                          <a:cs typeface="맑은 고딕" pitchFamily="34" charset="-120"/>
                        </a:rPr>
                        <a:t>의료비/간병비</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tc>
                  <a:txBody>
                    <a:bodyPr/>
                    <a:lstStyle/>
                    <a:p>
                      <a:pPr marL="0" indent="0" algn="l">
                        <a:buNone/>
                      </a:pPr>
                      <a:r>
                        <a:rPr lang="en-US" sz="850" dirty="0">
                          <a:solidFill>
                            <a:srgbClr val="000000"/>
                          </a:solidFill>
                          <a:latin typeface="맑은 고딕" pitchFamily="34" charset="0"/>
                          <a:ea typeface="맑은 고딕" pitchFamily="34" charset="-122"/>
                          <a:cs typeface="맑은 고딕" pitchFamily="34" charset="-120"/>
                        </a:rPr>
                        <a:t>모아둔 교육비(3천만 원)와 예금을 깨서 사용. 치료가 길어지면 주택담보대출 추가 실행 고려.</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tc>
                  <a:txBody>
                    <a:bodyPr/>
                    <a:lstStyle/>
                    <a:p>
                      <a:pPr marL="0" indent="0" algn="l">
                        <a:buNone/>
                      </a:pPr>
                      <a:r>
                        <a:rPr lang="en-US" sz="850" b="1" dirty="0">
                          <a:solidFill>
                            <a:srgbClr val="2563EB"/>
                          </a:solidFill>
                          <a:latin typeface="맑은 고딕" pitchFamily="34" charset="0"/>
                          <a:ea typeface="맑은 고딕" pitchFamily="34" charset="-122"/>
                          <a:cs typeface="맑은 고딕" pitchFamily="34" charset="-120"/>
                        </a:rPr>
                        <a:t>암 진단비 5천만 원 수령. 가계에 부담 없이 최신 치료를 받고 요양에 집중. 교육비 통장 완벽 보전.</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594360">
                <a:tc>
                  <a:txBody>
                    <a:bodyPr/>
                    <a:lstStyle/>
                    <a:p>
                      <a:pPr marL="0" indent="0" algn="ctr">
                        <a:buNone/>
                      </a:pPr>
                      <a:r>
                        <a:rPr lang="en-US" sz="850" b="1" dirty="0">
                          <a:solidFill>
                            <a:srgbClr val="000000"/>
                          </a:solidFill>
                          <a:latin typeface="맑은 고딕" pitchFamily="34" charset="0"/>
                          <a:ea typeface="맑은 고딕" pitchFamily="34" charset="-122"/>
                          <a:cs typeface="맑은 고딕" pitchFamily="34" charset="-120"/>
                        </a:rPr>
                        <a:t>자녀의 진학</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tc>
                  <a:txBody>
                    <a:bodyPr/>
                    <a:lstStyle/>
                    <a:p>
                      <a:pPr marL="0" indent="0" algn="l">
                        <a:buNone/>
                      </a:pPr>
                      <a:r>
                        <a:rPr lang="en-US" sz="850" dirty="0">
                          <a:solidFill>
                            <a:srgbClr val="000000"/>
                          </a:solidFill>
                          <a:latin typeface="맑은 고딕" pitchFamily="34" charset="0"/>
                          <a:ea typeface="맑은 고딕" pitchFamily="34" charset="-122"/>
                          <a:cs typeface="맑은 고딕" pitchFamily="34" charset="-120"/>
                        </a:rPr>
                        <a:t>등록금 마련이 불투명해져, 아들은 가고 싶은 대학 대신 등록금이 저렴한 곳을 알아보거나 휴학을 고민.</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tc>
                  <a:txBody>
                    <a:bodyPr/>
                    <a:lstStyle/>
                    <a:p>
                      <a:pPr marL="0" indent="0" algn="l">
                        <a:buNone/>
                      </a:pPr>
                      <a:r>
                        <a:rPr lang="en-US" sz="850" b="1" dirty="0">
                          <a:solidFill>
                            <a:srgbClr val="2563EB"/>
                          </a:solidFill>
                          <a:latin typeface="맑은 고딕" pitchFamily="34" charset="0"/>
                          <a:ea typeface="맑은 고딕" pitchFamily="34" charset="-122"/>
                          <a:cs typeface="맑은 고딕" pitchFamily="34" charset="-120"/>
                        </a:rPr>
                        <a:t>아무런 걱정 없이 합격의 기쁨을 만끽. 계획대로 서울 생활을 시작하며 꿈을 키워나감.</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extLst>
                  <a:ext uri="{0D108BD9-81ED-4DB2-BD59-A6C34878D82A}">
                    <a16:rowId xmlns:a16="http://schemas.microsoft.com/office/drawing/2014/main" val="10002"/>
                  </a:ext>
                </a:extLst>
              </a:tr>
              <a:tr h="594360">
                <a:tc>
                  <a:txBody>
                    <a:bodyPr/>
                    <a:lstStyle/>
                    <a:p>
                      <a:pPr marL="0" indent="0" algn="ctr">
                        <a:buNone/>
                      </a:pPr>
                      <a:r>
                        <a:rPr lang="en-US" sz="850" b="1" dirty="0">
                          <a:solidFill>
                            <a:srgbClr val="000000"/>
                          </a:solidFill>
                          <a:latin typeface="맑은 고딕" pitchFamily="34" charset="0"/>
                          <a:ea typeface="맑은 고딕" pitchFamily="34" charset="-122"/>
                          <a:cs typeface="맑은 고딕" pitchFamily="34" charset="-120"/>
                        </a:rPr>
                        <a:t>가족의 미래</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tc>
                  <a:txBody>
                    <a:bodyPr/>
                    <a:lstStyle/>
                    <a:p>
                      <a:pPr marL="0" indent="0" algn="l">
                        <a:buNone/>
                      </a:pPr>
                      <a:r>
                        <a:rPr lang="en-US" sz="850" dirty="0">
                          <a:solidFill>
                            <a:srgbClr val="000000"/>
                          </a:solidFill>
                          <a:latin typeface="맑은 고딕" pitchFamily="34" charset="0"/>
                          <a:ea typeface="맑은 고딕" pitchFamily="34" charset="-122"/>
                          <a:cs typeface="맑은 고딕" pitchFamily="34" charset="-120"/>
                        </a:rPr>
                        <a:t>온 가족이 경제적 어려움과 심리적 불안감에 휩싸임.</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tc>
                  <a:txBody>
                    <a:bodyPr/>
                    <a:lstStyle/>
                    <a:p>
                      <a:pPr marL="0" indent="0" algn="l">
                        <a:buNone/>
                      </a:pPr>
                      <a:r>
                        <a:rPr lang="en-US" sz="850" b="1" dirty="0">
                          <a:solidFill>
                            <a:srgbClr val="2563EB"/>
                          </a:solidFill>
                          <a:latin typeface="맑은 고딕" pitchFamily="34" charset="0"/>
                          <a:ea typeface="맑은 고딕" pitchFamily="34" charset="-122"/>
                          <a:cs typeface="맑은 고딕" pitchFamily="34" charset="-120"/>
                        </a:rPr>
                        <a:t>아버지는 치료에 전념, 아들은 학업에 전념, 어머니는 두 사람을 안정적으로 돌볼 수 있음. 가족의 일상이 무너지지 않음.</a:t>
                      </a:r>
                      <a:endParaRPr lang="en-US" sz="850" dirty="0">
                        <a:latin typeface="맑은 고딕" charset="0"/>
                        <a:ea typeface="맑은 고딕" charset="0"/>
                        <a:cs typeface="맑은 고딕"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2F2"/>
                    </a:solidFill>
                  </a:tcPr>
                </a:tc>
                <a:extLst>
                  <a:ext uri="{0D108BD9-81ED-4DB2-BD59-A6C34878D82A}">
                    <a16:rowId xmlns:a16="http://schemas.microsoft.com/office/drawing/2014/main" val="10003"/>
                  </a:ext>
                </a:extLst>
              </a:tr>
            </a:tbl>
          </a:graphicData>
        </a:graphic>
      </p:graphicFrame>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15 / 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기대 효과 (Expected Effects) (2/2)</a:t>
            </a:r>
            <a:endParaRPr lang="en-US" sz="1500" dirty="0"/>
          </a:p>
        </p:txBody>
      </p:sp>
      <p:sp>
        <p:nvSpPr>
          <p:cNvPr id="5" name="Text 3"/>
          <p:cNvSpPr/>
          <p:nvPr/>
        </p:nvSpPr>
        <p:spPr>
          <a:xfrm>
            <a:off x="457200" y="777240"/>
            <a:ext cx="8229600" cy="274320"/>
          </a:xfrm>
          <a:prstGeom prst="rect">
            <a:avLst/>
          </a:prstGeom>
          <a:noFill/>
          <a:ln/>
        </p:spPr>
        <p:txBody>
          <a:bodyPr wrap="square" rtlCol="0" anchor="ctr"/>
          <a:lstStyle/>
          <a:p>
            <a:pPr marL="0" indent="0">
              <a:buNone/>
            </a:pPr>
            <a:r>
              <a:rPr lang="en-US" sz="1500" b="1" dirty="0">
                <a:solidFill>
                  <a:srgbClr val="1B2A4A"/>
                </a:solidFill>
                <a:latin typeface="맑은 고딕" pitchFamily="34" charset="0"/>
                <a:ea typeface="맑은 고딕" pitchFamily="34" charset="-122"/>
                <a:cs typeface="맑은 고딕" pitchFamily="34" charset="-120"/>
              </a:rPr>
              <a:t>가족·심리적 변화</a:t>
            </a:r>
            <a:endParaRPr lang="en-US" sz="1500" dirty="0"/>
          </a:p>
        </p:txBody>
      </p:sp>
      <p:sp>
        <p:nvSpPr>
          <p:cNvPr id="6" name="Shape 4"/>
          <p:cNvSpPr/>
          <p:nvPr/>
        </p:nvSpPr>
        <p:spPr>
          <a:xfrm>
            <a:off x="457200" y="1188720"/>
            <a:ext cx="54864" cy="1828800"/>
          </a:xfrm>
          <a:prstGeom prst="rect">
            <a:avLst/>
          </a:prstGeom>
          <a:solidFill>
            <a:srgbClr val="C8962E"/>
          </a:solidFill>
          <a:ln w="12700">
            <a:solidFill>
              <a:srgbClr val="C8962E"/>
            </a:solidFill>
            <a:prstDash val="solid"/>
          </a:ln>
        </p:spPr>
        <p:txBody>
          <a:bodyPr/>
          <a:lstStyle/>
          <a:p>
            <a:endParaRPr lang="ko-KR" altLang="en-US"/>
          </a:p>
        </p:txBody>
      </p:sp>
      <p:sp>
        <p:nvSpPr>
          <p:cNvPr id="7" name="Text 5"/>
          <p:cNvSpPr/>
          <p:nvPr/>
        </p:nvSpPr>
        <p:spPr>
          <a:xfrm>
            <a:off x="512064" y="1188720"/>
            <a:ext cx="8174736" cy="182880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r>
              <a:rPr lang="en-US" sz="1150" dirty="0">
                <a:solidFill>
                  <a:srgbClr val="555555"/>
                </a:solidFill>
                <a:latin typeface="맑은 고딕" pitchFamily="34" charset="0"/>
                <a:ea typeface="맑은 고딕" pitchFamily="34" charset="-122"/>
                <a:cs typeface="맑은 고딕" pitchFamily="34" charset="-120"/>
              </a:rPr>
              <a:t>더 이상 막연한 불안감에 밤잠 설치지 않으셔도 됩니다. '무슨 일이 생겨도 우리 아들 대학 공부는 내가 끝까지 책임진다'는 확고한 자신감을 갖게 됩니다. 이는 아들에게도 전달되어, 아버지를 향한 존경과 감사, 그리고 자신의 꿈에 대한 확신을 더욱 굳건히 하는 계기가 될 것입니다. 아버지가 아들에게 줄 수 있는 최고의 선물은 '재산'이 아니라, 어떤 상황에서도 꿈을 포기하지 않아도 된다는 '믿음'입니다.</a:t>
            </a:r>
            <a:endParaRPr lang="en-US" sz="115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16 / 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종합 제언 및 다음 단계 (Final Recommendation &amp; Action Plan) (1/2)</a:t>
            </a:r>
            <a:endParaRPr lang="en-US" sz="1500" dirty="0"/>
          </a:p>
        </p:txBody>
      </p:sp>
      <p:sp>
        <p:nvSpPr>
          <p:cNvPr id="5" name="Text 3"/>
          <p:cNvSpPr/>
          <p:nvPr/>
        </p:nvSpPr>
        <p:spPr>
          <a:xfrm>
            <a:off x="457200" y="68580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전문가 최종 의견</a:t>
            </a:r>
            <a:endParaRPr lang="en-US" sz="1400" dirty="0"/>
          </a:p>
        </p:txBody>
      </p:sp>
      <p:sp>
        <p:nvSpPr>
          <p:cNvPr id="6" name="Text 4"/>
          <p:cNvSpPr/>
          <p:nvPr/>
        </p:nvSpPr>
        <p:spPr>
          <a:xfrm>
            <a:off x="457200" y="1005840"/>
            <a:ext cx="8229600" cy="1097280"/>
          </a:xfrm>
          <a:prstGeom prst="rect">
            <a:avLst/>
          </a:prstGeom>
          <a:noFill/>
          <a:ln/>
        </p:spPr>
        <p:txBody>
          <a:bodyPr wrap="square" rtlCol="0" anchor="t"/>
          <a:lstStyle/>
          <a:p>
            <a:pPr marL="0" indent="0">
              <a:lnSpc>
                <a:spcPct val="135000"/>
              </a:lnSpc>
              <a:buNone/>
            </a:pPr>
            <a:r>
              <a:rPr lang="en-US" sz="1100" i="1" dirty="0">
                <a:solidFill>
                  <a:srgbClr val="555555"/>
                </a:solidFill>
                <a:latin typeface="맑은 고딕" pitchFamily="34" charset="0"/>
                <a:ea typeface="맑은 고딕" pitchFamily="34" charset="-122"/>
                <a:cs typeface="맑은 고딕" pitchFamily="34" charset="-120"/>
              </a:rPr>
              <a:t>"아버님, 자녀를 위한 아버님의 사랑과 헌신은 그 무엇으로도 값을 매길 수 없습니다. 오늘 제가 제안 드린 월 13만 5천 원의 플랜은, 그 위대한 사랑에 '확실성'이라는 날개를 달아드리는 일입니다. 앞으로 10년, 아드님이 가장 빛나는 별이 될 수 있도록, 아버님께서는 가장 든든한 밤하늘이 되어 주십시오. 예측 불가능한 비구름은 이 '교육비 지킴이 플랜'이 완벽하게 막아낼 것입니다."</a:t>
            </a:r>
            <a:endParaRPr lang="en-US" sz="1100" dirty="0"/>
          </a:p>
        </p:txBody>
      </p:sp>
      <p:sp>
        <p:nvSpPr>
          <p:cNvPr id="7" name="Text 5"/>
          <p:cNvSpPr/>
          <p:nvPr/>
        </p:nvSpPr>
        <p:spPr>
          <a:xfrm>
            <a:off x="457200" y="224028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실행 플랜 (Action Plan)</a:t>
            </a:r>
            <a:endParaRPr lang="en-US" sz="1400" dirty="0"/>
          </a:p>
        </p:txBody>
      </p:sp>
      <p:sp>
        <p:nvSpPr>
          <p:cNvPr id="8" name="Text 6"/>
          <p:cNvSpPr/>
          <p:nvPr/>
        </p:nvSpPr>
        <p:spPr>
          <a:xfrm>
            <a:off x="640080" y="2560320"/>
            <a:ext cx="8046720" cy="1005840"/>
          </a:xfrm>
          <a:prstGeom prst="rect">
            <a:avLst/>
          </a:prstGeom>
          <a:noFill/>
          <a:ln/>
        </p:spPr>
        <p:txBody>
          <a:bodyPr wrap="square" rtlCol="0" anchor="t"/>
          <a:lstStyle/>
          <a:p>
            <a:pPr marL="0" indent="0">
              <a:lnSpc>
                <a:spcPct val="135000"/>
              </a:lnSpc>
              <a:buNone/>
            </a:pPr>
            <a:r>
              <a:rPr lang="en-US" sz="1050" b="1" dirty="0">
                <a:solidFill>
                  <a:srgbClr val="2B2B2B"/>
                </a:solidFill>
                <a:latin typeface="맑은 고딕" pitchFamily="34" charset="0"/>
                <a:ea typeface="맑은 고딕" pitchFamily="34" charset="-122"/>
                <a:cs typeface="맑은 고딕" pitchFamily="34" charset="-120"/>
              </a:rPr>
              <a:t>1. 건강상태 고지 및 심사: </a:t>
            </a:r>
            <a:r>
              <a:rPr lang="en-US" sz="1050" dirty="0">
                <a:solidFill>
                  <a:srgbClr val="555555"/>
                </a:solidFill>
                <a:latin typeface="맑은 고딕" pitchFamily="34" charset="0"/>
                <a:ea typeface="맑은 고딕" pitchFamily="34" charset="-122"/>
                <a:cs typeface="맑은 고딕" pitchFamily="34" charset="-120"/>
              </a:rPr>
              <a:t>현재 건강 상태를 바탕으로 가장 유리한 조건으로 가입 가능한 보험사를 선정하고, 신속하게 심사를 진행합니다.
</a:t>
            </a:r>
            <a:r>
              <a:rPr lang="en-US" sz="1050" b="1" dirty="0">
                <a:solidFill>
                  <a:srgbClr val="2B2B2B"/>
                </a:solidFill>
                <a:latin typeface="맑은 고딕" pitchFamily="34" charset="0"/>
                <a:ea typeface="맑은 고딕" pitchFamily="34" charset="-122"/>
                <a:cs typeface="맑은 고딕" pitchFamily="34" charset="-120"/>
              </a:rPr>
              <a:t>2. 세부 설계안 확정: </a:t>
            </a:r>
            <a:r>
              <a:rPr lang="en-US" sz="1050" dirty="0">
                <a:solidFill>
                  <a:srgbClr val="555555"/>
                </a:solidFill>
                <a:latin typeface="맑은 고딕" pitchFamily="34" charset="0"/>
                <a:ea typeface="맑은 고딕" pitchFamily="34" charset="-122"/>
                <a:cs typeface="맑은 고딕" pitchFamily="34" charset="-120"/>
              </a:rPr>
              <a:t>심사 통과 후, 최종 보장 내용과 보험료를 확정합니다.
</a:t>
            </a:r>
            <a:r>
              <a:rPr lang="en-US" sz="1050" b="1" dirty="0">
                <a:solidFill>
                  <a:srgbClr val="2B2B2B"/>
                </a:solidFill>
                <a:latin typeface="맑은 고딕" pitchFamily="34" charset="0"/>
                <a:ea typeface="맑은 고딕" pitchFamily="34" charset="-122"/>
                <a:cs typeface="맑은 고딕" pitchFamily="34" charset="-120"/>
              </a:rPr>
              <a:t>3. 계약 진행: </a:t>
            </a:r>
            <a:r>
              <a:rPr lang="en-US" sz="1050" dirty="0">
                <a:solidFill>
                  <a:srgbClr val="555555"/>
                </a:solidFill>
                <a:latin typeface="맑은 고딕" pitchFamily="34" charset="0"/>
                <a:ea typeface="맑은 고딕" pitchFamily="34" charset="-122"/>
                <a:cs typeface="맑은 고딕" pitchFamily="34" charset="-120"/>
              </a:rPr>
              <a:t>청약 절차를 진행하고, 가족에게 이 든든한 약속에 대해 설명합니다.</a:t>
            </a:r>
            <a:endParaRPr lang="en-US" sz="105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17 / 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종합 제언 및 다음 단계 (Final Recommendation &amp; Action Plan) (2/2)</a:t>
            </a:r>
            <a:endParaRPr lang="en-US" sz="1500" dirty="0"/>
          </a:p>
        </p:txBody>
      </p:sp>
      <p:sp>
        <p:nvSpPr>
          <p:cNvPr id="5" name="Text 3"/>
          <p:cNvSpPr/>
          <p:nvPr/>
        </p:nvSpPr>
        <p:spPr>
          <a:xfrm>
            <a:off x="457200" y="777240"/>
            <a:ext cx="8229600" cy="274320"/>
          </a:xfrm>
          <a:prstGeom prst="rect">
            <a:avLst/>
          </a:prstGeom>
          <a:noFill/>
          <a:ln/>
        </p:spPr>
        <p:txBody>
          <a:bodyPr wrap="square" rtlCol="0" anchor="ctr"/>
          <a:lstStyle/>
          <a:p>
            <a:pPr marL="0" indent="0">
              <a:buNone/>
            </a:pPr>
            <a:r>
              <a:rPr lang="en-US" sz="1500" b="1" dirty="0">
                <a:solidFill>
                  <a:srgbClr val="1B2A4A"/>
                </a:solidFill>
                <a:latin typeface="맑은 고딕" pitchFamily="34" charset="0"/>
                <a:ea typeface="맑은 고딕" pitchFamily="34" charset="-122"/>
                <a:cs typeface="맑은 고딕" pitchFamily="34" charset="-120"/>
              </a:rPr>
              <a:t>평생 파트너 약속</a:t>
            </a:r>
            <a:endParaRPr lang="en-US" sz="1500" dirty="0"/>
          </a:p>
        </p:txBody>
      </p:sp>
      <p:sp>
        <p:nvSpPr>
          <p:cNvPr id="6" name="Shape 4"/>
          <p:cNvSpPr/>
          <p:nvPr/>
        </p:nvSpPr>
        <p:spPr>
          <a:xfrm>
            <a:off x="457200" y="1188720"/>
            <a:ext cx="54864" cy="1188720"/>
          </a:xfrm>
          <a:prstGeom prst="rect">
            <a:avLst/>
          </a:prstGeom>
          <a:solidFill>
            <a:srgbClr val="C8962E"/>
          </a:solidFill>
          <a:ln w="12700">
            <a:solidFill>
              <a:srgbClr val="C8962E"/>
            </a:solidFill>
            <a:prstDash val="solid"/>
          </a:ln>
        </p:spPr>
        <p:txBody>
          <a:bodyPr/>
          <a:lstStyle/>
          <a:p>
            <a:endParaRPr lang="ko-KR" altLang="en-US"/>
          </a:p>
        </p:txBody>
      </p:sp>
      <p:sp>
        <p:nvSpPr>
          <p:cNvPr id="7" name="Text 5"/>
          <p:cNvSpPr/>
          <p:nvPr/>
        </p:nvSpPr>
        <p:spPr>
          <a:xfrm>
            <a:off x="512064" y="1188720"/>
            <a:ext cx="8174736" cy="11887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r>
              <a:rPr lang="en-US" sz="1150" dirty="0">
                <a:solidFill>
                  <a:srgbClr val="555555"/>
                </a:solidFill>
                <a:latin typeface="맑은 고딕" pitchFamily="34" charset="0"/>
                <a:ea typeface="맑은 고딕" pitchFamily="34" charset="-122"/>
                <a:cs typeface="맑은 고딕" pitchFamily="34" charset="-120"/>
              </a:rPr>
              <a:t>"10년 후 이 플랜의 역할이 끝나면, 그때는 아버님과 어머님의 행복한 노후를 위한 새로운 재무 플랜을 함께 고민하는 든든한 파트너가 되어 드리겠습니다. 계약은 끝이 아니라, 인생의 다음 단계를 함께 준비하는 새로운 시작입니다."</a:t>
            </a:r>
            <a:endParaRPr lang="en-US" sz="115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18 / 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marL="0" indent="0">
              <a:buNone/>
            </a:pPr>
            <a:r>
              <a:rPr lang="en-US" sz="1500" b="1" dirty="0">
                <a:solidFill>
                  <a:srgbClr val="1B2A4A"/>
                </a:solidFill>
                <a:latin typeface="맑은 고딕" pitchFamily="34" charset="0"/>
                <a:ea typeface="맑은 고딕" pitchFamily="34" charset="-122"/>
                <a:cs typeface="맑은 고딕" pitchFamily="34" charset="-120"/>
              </a:rPr>
              <a:t>VII. 컨설팅 시나리오 (Consulting Scenarios)</a:t>
            </a:r>
            <a:endParaRPr lang="en-US" sz="1500" dirty="0"/>
          </a:p>
        </p:txBody>
      </p:sp>
      <p:sp>
        <p:nvSpPr>
          <p:cNvPr id="5" name="Text 3"/>
          <p:cNvSpPr/>
          <p:nvPr/>
        </p:nvSpPr>
        <p:spPr>
          <a:xfrm>
            <a:off x="457200" y="914400"/>
            <a:ext cx="8229600" cy="27432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상담주제1 : 자녀의 합격 통지서를 '진짜 입학 허가서'로 만드는 약속</a:t>
            </a:r>
            <a:endParaRPr lang="en-US" sz="1300" dirty="0"/>
          </a:p>
        </p:txBody>
      </p:sp>
      <p:sp>
        <p:nvSpPr>
          <p:cNvPr id="6" name="Text 4"/>
          <p:cNvSpPr/>
          <p:nvPr/>
        </p:nvSpPr>
        <p:spPr>
          <a:xfrm>
            <a:off x="548640" y="1280160"/>
            <a:ext cx="8046720" cy="41148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리스크 진단 (As-Is파악): </a:t>
            </a:r>
            <a:r>
              <a:rPr lang="en-US" sz="950" dirty="0">
                <a:solidFill>
                  <a:srgbClr val="555555"/>
                </a:solidFill>
                <a:latin typeface="맑은 고딕" pitchFamily="34" charset="0"/>
                <a:ea typeface="맑은 고딕" pitchFamily="34" charset="-122"/>
                <a:cs typeface="맑은 고딕" pitchFamily="34" charset="-120"/>
              </a:rPr>
              <a:t>"아드님이 그토록 원하는 대학의 합격 통지서를 받아왔을 때, 아버님께서 병상에 누워 등록금을 걱정해야 하는 상황을 상상해 보셨습니까? 합격의 기쁨이 눈물로 바뀌는 순간, 그게 우리가 막아야 할 가장 안타까운 미래입니다."</a:t>
            </a:r>
            <a:endParaRPr lang="en-US" sz="950" dirty="0"/>
          </a:p>
        </p:txBody>
      </p:sp>
      <p:sp>
        <p:nvSpPr>
          <p:cNvPr id="7" name="Text 5"/>
          <p:cNvSpPr/>
          <p:nvPr/>
        </p:nvSpPr>
        <p:spPr>
          <a:xfrm>
            <a:off x="548640" y="1737360"/>
            <a:ext cx="8046720" cy="59436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전략 제안 (To-Be 플랜): </a:t>
            </a:r>
            <a:r>
              <a:rPr lang="en-US" sz="950" dirty="0">
                <a:solidFill>
                  <a:srgbClr val="555555"/>
                </a:solidFill>
                <a:latin typeface="맑은 고딕" pitchFamily="34" charset="0"/>
                <a:ea typeface="맑은 고딕" pitchFamily="34" charset="-122"/>
                <a:cs typeface="맑은 고딕" pitchFamily="34" charset="-120"/>
              </a:rPr>
              <a:t>"아버님께 무슨 일이 생겨도, 합격 통지서가 등록금 영수증으로, 그리고 최종적으로 '입학 허가서'로 바뀔 수 있도록 하는 '자동이체 시스템'을 만드는 겁니다. 아버님의 부재 시, 매년 천만 원 이상의 교육비와 생활비가 가족에게 자동으로 지급되는 약속의 통장을 만드는 것입니다."</a:t>
            </a:r>
            <a:endParaRPr lang="en-US" sz="950" dirty="0"/>
          </a:p>
        </p:txBody>
      </p:sp>
      <p:sp>
        <p:nvSpPr>
          <p:cNvPr id="8" name="Text 6"/>
          <p:cNvSpPr/>
          <p:nvPr/>
        </p:nvSpPr>
        <p:spPr>
          <a:xfrm>
            <a:off x="548640" y="2377440"/>
            <a:ext cx="8046720" cy="41148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기대 효과 요약 (ROI설명): </a:t>
            </a:r>
            <a:r>
              <a:rPr lang="en-US" sz="950" dirty="0">
                <a:solidFill>
                  <a:srgbClr val="555555"/>
                </a:solidFill>
                <a:latin typeface="맑은 고딕" pitchFamily="34" charset="0"/>
                <a:ea typeface="맑은 고딕" pitchFamily="34" charset="-122"/>
                <a:cs typeface="맑은 고딕" pitchFamily="34" charset="-120"/>
              </a:rPr>
              <a:t>"월 13만 5천 원, 하루 4,500원입니다. 이 커피 한 잔 값으로, 아들의 미래 4년과 꿈 전체를 보증하는 것입니다. 세상에 이보다 더 확실하고 수익률 높은 투자는 없습니다."</a:t>
            </a:r>
            <a:endParaRPr lang="en-US" sz="950" dirty="0"/>
          </a:p>
        </p:txBody>
      </p:sp>
      <p:sp>
        <p:nvSpPr>
          <p:cNvPr id="9" name="Text 7"/>
          <p:cNvSpPr/>
          <p:nvPr/>
        </p:nvSpPr>
        <p:spPr>
          <a:xfrm>
            <a:off x="548640" y="2834640"/>
            <a:ext cx="8046720" cy="59436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자주 묻는 질문: </a:t>
            </a:r>
            <a:r>
              <a:rPr lang="en-US" sz="950" dirty="0">
                <a:solidFill>
                  <a:srgbClr val="555555"/>
                </a:solidFill>
                <a:latin typeface="맑은 고딕" pitchFamily="34" charset="0"/>
                <a:ea typeface="맑은 고딕" pitchFamily="34" charset="-122"/>
                <a:cs typeface="맑은 고딕" pitchFamily="34" charset="-120"/>
              </a:rPr>
              <a:t>"10년 뒤에 보험이 없어지면 아깝지 않은가?" -&gt; "전혀 아깝지 않습니다. 자동차 보험을 10년 동안 사고 없이 탔다고 해서 보험료가 아깝다고 하지 않는 것과 같습니다. 이 보험은 지난 10년간 '우리 가족의 가장 위험한 시기'를 완벽하게 지켜줬다는 임무를 100% 완수한 것입니다. 그 역할만으로도 제값을 몇십, 몇백 배는 한 것입니다."</a:t>
            </a:r>
            <a:endParaRPr lang="en-US" sz="950" dirty="0"/>
          </a:p>
        </p:txBody>
      </p:sp>
      <p:sp>
        <p:nvSpPr>
          <p:cNvPr id="10" name="Text 8"/>
          <p:cNvSpPr/>
          <p:nvPr/>
        </p:nvSpPr>
        <p:spPr>
          <a:xfrm>
            <a:off x="548640" y="3474720"/>
            <a:ext cx="8046720" cy="41148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결론: </a:t>
            </a:r>
            <a:r>
              <a:rPr lang="en-US" sz="950" dirty="0">
                <a:solidFill>
                  <a:srgbClr val="555555"/>
                </a:solidFill>
                <a:latin typeface="맑은 고딕" pitchFamily="34" charset="0"/>
                <a:ea typeface="맑은 고딕" pitchFamily="34" charset="-122"/>
                <a:cs typeface="맑은 고딕" pitchFamily="34" charset="-120"/>
              </a:rPr>
              <a:t>자녀의 미래는 기다려주지 않습니다. 리스크에 대한 대비를 더 이상 미룰 수 없는 이유입니다.</a:t>
            </a:r>
            <a:endParaRPr lang="en-US" sz="950" dirty="0"/>
          </a:p>
        </p:txBody>
      </p:sp>
      <p:sp>
        <p:nvSpPr>
          <p:cNvPr id="11" name="Text 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2" name="Text 10"/>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19 / 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실무상담 스크립트(대화체구성) — 상담주제1</a:t>
            </a:r>
            <a:endParaRPr lang="en-US" sz="1300" dirty="0"/>
          </a:p>
        </p:txBody>
      </p:sp>
      <p:sp>
        <p:nvSpPr>
          <p:cNvPr id="5" name="Text 3"/>
          <p:cNvSpPr/>
          <p:nvPr/>
        </p:nvSpPr>
        <p:spPr>
          <a:xfrm>
            <a:off x="548640" y="886968"/>
            <a:ext cx="8046720" cy="59436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"아버님, 내년에 아드님이 대학 합격 통지서를 들고 와서 '아빠, 저 합격했어요!'라고 외치는 모습을 상상만 해도 가슴 벅차시죠? 온 가족의 축제일 겁니다. 그런데 만약 그때, 아버님께서 병상에 누워 계신다면 어떨까요?"</a:t>
            </a:r>
            <a:endParaRPr lang="en-US" sz="900" dirty="0"/>
          </a:p>
        </p:txBody>
      </p:sp>
      <p:sp>
        <p:nvSpPr>
          <p:cNvPr id="6" name="Text 4"/>
          <p:cNvSpPr/>
          <p:nvPr/>
        </p:nvSpPr>
        <p:spPr>
          <a:xfrm>
            <a:off x="548640" y="1527048"/>
            <a:ext cx="8046720" cy="77724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"합격의 기쁨도 잠시, '당장 다음 달 등록금은 어떡하지?', '치료비는 어떡하고...' 이런 현실적인 걱정이 가족 모두를 짓누를 겁니다. 아드님의 합격 통지서가, 돈 걱정 때문에 '입학 포기 각서'가 될 수도 있는 상황. 아버님께서 평생을 헌신한 이유가 이런 모습을 보기 위함은 아니실 겁니다. 우리가 막아야 할 미래가 바로 이 모습입니다."</a:t>
            </a:r>
            <a:endParaRPr lang="en-US" sz="900" dirty="0"/>
          </a:p>
        </p:txBody>
      </p:sp>
      <p:sp>
        <p:nvSpPr>
          <p:cNvPr id="7" name="Text 5"/>
          <p:cNvSpPr/>
          <p:nvPr/>
        </p:nvSpPr>
        <p:spPr>
          <a:xfrm>
            <a:off x="548640" y="2350008"/>
            <a:ext cx="8046720" cy="77724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"그래서 제가 제안 드리는 플랜은, 아버님께 어떤 일이 생겨도 아드님의 합격 통지서를 '진짜 입학 허가서'로 바꿔주는 가장 확실한 약속입니다. 만약의 경우, 3억 원이라는 든든한 자금이 즉시 가족에게 지급되어 대출금을 갚고도, 남은 돈으로 아드님이 4년간 공부하고 생활하는 데 전혀 부족함이 없도록 만들어 드리는 겁니다. 아버님의 월급 통장이 사라져도, '제2의 월급 통장'이 그 자리를 대신하는 시스템입니다."</a:t>
            </a:r>
            <a:endParaRPr lang="en-US" sz="900" dirty="0"/>
          </a:p>
        </p:txBody>
      </p:sp>
      <p:sp>
        <p:nvSpPr>
          <p:cNvPr id="8" name="Text 6"/>
          <p:cNvSpPr/>
          <p:nvPr/>
        </p:nvSpPr>
        <p:spPr>
          <a:xfrm>
            <a:off x="548640" y="3172968"/>
            <a:ext cx="8046720" cy="59436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"아버님, 월 13만 5천 원으로 아들의 미래 10년을 보증하시겠습니까? 이것은 단순한 지출이 아니라, 아들의 인생에서 가장 중요한 순간을 지켜주겠다는 아버지의 가장 위대한 약속이자 투자입니다. 제가 그 약속의 증인이 되어 드리겠습니다."</a:t>
            </a:r>
            <a:endParaRPr lang="en-US" sz="9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20 / 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상담주제2 : 가성비 최고의 '10년 집중 방어 플랜'</a:t>
            </a:r>
            <a:endParaRPr lang="en-US" sz="1300" dirty="0"/>
          </a:p>
        </p:txBody>
      </p:sp>
      <p:sp>
        <p:nvSpPr>
          <p:cNvPr id="5" name="Text 3"/>
          <p:cNvSpPr/>
          <p:nvPr/>
        </p:nvSpPr>
        <p:spPr>
          <a:xfrm>
            <a:off x="548640" y="886968"/>
            <a:ext cx="8046720" cy="54864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리스크 진단 (As-Is파악): </a:t>
            </a:r>
            <a:r>
              <a:rPr lang="en-US" sz="950" dirty="0">
                <a:solidFill>
                  <a:srgbClr val="555555"/>
                </a:solidFill>
                <a:latin typeface="맑은 고딕" pitchFamily="34" charset="0"/>
                <a:ea typeface="맑은 고딕" pitchFamily="34" charset="-122"/>
                <a:cs typeface="맑은 고딕" pitchFamily="34" charset="-120"/>
              </a:rPr>
              <a:t>"아버님, 우리 인생에서 돈이 가장 많이 들고, 책임이 가장 무거운 시기가 언제일까요? 바로 지금부터 자녀가 독립하기까지의 '앞으로 10년'입니다. 그런데 이 시기를 넘기고 나면, 큰돈 들어갈 일이 지금보다는 훨씬 줄어듭니다."</a:t>
            </a:r>
            <a:endParaRPr lang="en-US" sz="950" dirty="0"/>
          </a:p>
        </p:txBody>
      </p:sp>
      <p:sp>
        <p:nvSpPr>
          <p:cNvPr id="6" name="Text 4"/>
          <p:cNvSpPr/>
          <p:nvPr/>
        </p:nvSpPr>
        <p:spPr>
          <a:xfrm>
            <a:off x="548640" y="1481328"/>
            <a:ext cx="8046720" cy="54864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전략 제안 (To-Be 플랜): </a:t>
            </a:r>
            <a:r>
              <a:rPr lang="en-US" sz="950" dirty="0">
                <a:solidFill>
                  <a:srgbClr val="555555"/>
                </a:solidFill>
                <a:latin typeface="맑은 고딕" pitchFamily="34" charset="0"/>
                <a:ea typeface="맑은 고딕" pitchFamily="34" charset="-122"/>
                <a:cs typeface="맑은 고딕" pitchFamily="34" charset="-120"/>
              </a:rPr>
              <a:t>"그렇다면, 평생을 비싼 보험료 내며 보장받을 필요가 있을까요? 가장 위험한 '10년'만 집중적으로, 그러나 강력하게 방어하는 것이 가장 현명합니다. 제가 제안하는 '10년 만기 정기보험'은 바로 그런 '가성비' 최고의 전략입니다. 저렴한 비용으로, 가장 필요할 때, 가장 큰 보장을 받는 것입니다."</a:t>
            </a:r>
            <a:endParaRPr lang="en-US" sz="950" dirty="0"/>
          </a:p>
        </p:txBody>
      </p:sp>
      <p:sp>
        <p:nvSpPr>
          <p:cNvPr id="7" name="Text 5"/>
          <p:cNvSpPr/>
          <p:nvPr/>
        </p:nvSpPr>
        <p:spPr>
          <a:xfrm>
            <a:off x="548640" y="2075688"/>
            <a:ext cx="8046720" cy="54864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기대 효과 요약 (ROI설명): </a:t>
            </a:r>
            <a:r>
              <a:rPr lang="en-US" sz="950" dirty="0">
                <a:solidFill>
                  <a:srgbClr val="555555"/>
                </a:solidFill>
                <a:latin typeface="맑은 고딕" pitchFamily="34" charset="0"/>
                <a:ea typeface="맑은 고딕" pitchFamily="34" charset="-122"/>
                <a:cs typeface="맑은 고딕" pitchFamily="34" charset="-120"/>
              </a:rPr>
              <a:t>"종신보험으로 2억을 보장받으려면 월 수십만 원을 내셔야 하지만, 10년 정기보험은 월 8만 원이면 충분합니다. 같은 보장을 1/3도 안 되는 비용으로 준비하는 것입니다. 아낀 돈으로 자녀에게 용돈을 더 주시거나, 아버님 건강관리에 쓰시는 게 훨씬 남는 장사 아닐까요?"</a:t>
            </a:r>
            <a:endParaRPr lang="en-US" sz="950" dirty="0"/>
          </a:p>
        </p:txBody>
      </p:sp>
      <p:sp>
        <p:nvSpPr>
          <p:cNvPr id="8" name="Text 6"/>
          <p:cNvSpPr/>
          <p:nvPr/>
        </p:nvSpPr>
        <p:spPr>
          <a:xfrm>
            <a:off x="548640" y="2670048"/>
            <a:ext cx="8046720" cy="548640"/>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자주 묻는 질문: </a:t>
            </a:r>
            <a:r>
              <a:rPr lang="en-US" sz="950" dirty="0">
                <a:solidFill>
                  <a:srgbClr val="555555"/>
                </a:solidFill>
                <a:latin typeface="맑은 고딕" pitchFamily="34" charset="0"/>
                <a:ea typeface="맑은 고딕" pitchFamily="34" charset="-122"/>
                <a:cs typeface="맑은 고딕" pitchFamily="34" charset="-120"/>
              </a:rPr>
              <a:t>"나는 죽는 것보다, 아파서 돈 들어가는 게 더 걱정인데?" -&gt; "정확한 지적이십니다. 그래서 이 플랜에는 사망 보장뿐만 아니라, 50대 남성에게 가장 위협적인 암/뇌/심장질환 진단 시 5천만 원 이상의 목돈을 지급하는 '건강보험 특약'을 함께 설계했습니다. 사망이라는 최악의 상황과, 아파서 소득이 끊기는 최악의 상황 모두를 대비하는 것입니다."</a:t>
            </a:r>
            <a:endParaRPr lang="en-US" sz="950" dirty="0"/>
          </a:p>
        </p:txBody>
      </p:sp>
      <p:sp>
        <p:nvSpPr>
          <p:cNvPr id="9" name="Text 7"/>
          <p:cNvSpPr/>
          <p:nvPr/>
        </p:nvSpPr>
        <p:spPr>
          <a:xfrm>
            <a:off x="548640" y="3264408"/>
            <a:ext cx="8046720" cy="384048"/>
          </a:xfrm>
          <a:prstGeom prst="rect">
            <a:avLst/>
          </a:prstGeom>
          <a:noFill/>
          <a:ln/>
        </p:spPr>
        <p:txBody>
          <a:bodyPr wrap="square" rtlCol="0" anchor="t"/>
          <a:lstStyle/>
          <a:p>
            <a:pPr marL="0" indent="0">
              <a:lnSpc>
                <a:spcPct val="120000"/>
              </a:lnSpc>
              <a:buNone/>
            </a:pPr>
            <a:r>
              <a:rPr lang="en-US" sz="950" b="1" dirty="0">
                <a:solidFill>
                  <a:srgbClr val="2B2B2B"/>
                </a:solidFill>
                <a:latin typeface="맑은 고딕" pitchFamily="34" charset="0"/>
                <a:ea typeface="맑은 고딕" pitchFamily="34" charset="-122"/>
                <a:cs typeface="맑은 고딕" pitchFamily="34" charset="-120"/>
              </a:rPr>
              <a:t>결론: </a:t>
            </a:r>
            <a:r>
              <a:rPr lang="en-US" sz="950" dirty="0">
                <a:solidFill>
                  <a:srgbClr val="555555"/>
                </a:solidFill>
                <a:latin typeface="맑은 고딕" pitchFamily="34" charset="0"/>
                <a:ea typeface="맑은 고딕" pitchFamily="34" charset="-122"/>
                <a:cs typeface="맑은 고딕" pitchFamily="34" charset="-120"/>
              </a:rPr>
              <a:t>현명한 소비는, 필요한 곳에 집중하는 것입니다. 보험도 마찬가지입니다. 가장 필요한 10년에 집중하여, 최소 비용으로 최대 효과를 누리십시오.</a:t>
            </a:r>
            <a:endParaRPr lang="en-US" sz="95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21 / 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실무상담 스크립트(대화체구성) — 상담주제2</a:t>
            </a:r>
            <a:endParaRPr lang="en-US" sz="1300" dirty="0"/>
          </a:p>
        </p:txBody>
      </p:sp>
      <p:sp>
        <p:nvSpPr>
          <p:cNvPr id="5" name="Text 3"/>
          <p:cNvSpPr/>
          <p:nvPr/>
        </p:nvSpPr>
        <p:spPr>
          <a:xfrm>
            <a:off x="548640" y="886968"/>
            <a:ext cx="8046720" cy="59436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"아버님, 우리가 보통 보험 하면 평생 보장받는 걸 생각하지 않습니까? 그런데 한번 여쭤보겠습니다. 아버님 인생에서 가장 돈이 많이 필요하고, 어깨가 가장 무거운 시기가 언제일까요? 아마 지금부터 아드님이 대학 졸업하고 취직하기까지, 딱 '앞으로 10년'일 겁니다."</a:t>
            </a:r>
            <a:endParaRPr lang="en-US" sz="900" dirty="0"/>
          </a:p>
        </p:txBody>
      </p:sp>
      <p:sp>
        <p:nvSpPr>
          <p:cNvPr id="6" name="Text 4"/>
          <p:cNvSpPr/>
          <p:nvPr/>
        </p:nvSpPr>
        <p:spPr>
          <a:xfrm>
            <a:off x="548640" y="1527048"/>
            <a:ext cx="8046720" cy="59436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"그렇다면 굳이 비싼 돈을 내가며 80세, 90세까지 거액의 사망보험금을 준비할 필요가 있을까요? 10년 뒤에는 자녀도 독립했고, 주택담보대출도 거의 갚았을 텐데요. 지금 우리에게 필요한 것은 막연한 미래가 아니라, 당장 눈앞의 가장 위험한 10년의 파도를 넘을 튼튼한 배입니다."</a:t>
            </a:r>
            <a:endParaRPr lang="en-US" sz="900" dirty="0"/>
          </a:p>
        </p:txBody>
      </p:sp>
      <p:sp>
        <p:nvSpPr>
          <p:cNvPr id="7" name="Text 5"/>
          <p:cNvSpPr/>
          <p:nvPr/>
        </p:nvSpPr>
        <p:spPr>
          <a:xfrm>
            <a:off x="548640" y="2167128"/>
            <a:ext cx="8046720" cy="77724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"그래서 가장 '가성비' 높은 전략을 제안합니다. 바로 '10년 집중 방어 플랜'입니다. 보장 기간을 딱 10년으로 정해서, 월 보험료는 획기적으로 낮추고, 보장 금액은 지금 꼭 필요한 만큼 최대로 끌어올리는 겁니다. 같은 2억 원을 보장받더라도, 평생을 보장받으려면 월 40~50만 원이 필요하지만, 딱 10년만 보장받으면 월 8만 원이면 충분합니다. 이것이 바로 현명한 소비입니다."</a:t>
            </a:r>
            <a:endParaRPr lang="en-US" sz="900" dirty="0"/>
          </a:p>
        </p:txBody>
      </p:sp>
      <p:sp>
        <p:nvSpPr>
          <p:cNvPr id="8" name="Text 6"/>
          <p:cNvSpPr/>
          <p:nvPr/>
        </p:nvSpPr>
        <p:spPr>
          <a:xfrm>
            <a:off x="548640" y="2990088"/>
            <a:ext cx="8046720" cy="594360"/>
          </a:xfrm>
          <a:prstGeom prst="rect">
            <a:avLst/>
          </a:prstGeom>
          <a:noFill/>
          <a:ln/>
        </p:spPr>
        <p:txBody>
          <a:bodyPr wrap="square" rtlCol="0" anchor="t"/>
          <a:lstStyle/>
          <a:p>
            <a:pPr marL="0" indent="0">
              <a:lnSpc>
                <a:spcPct val="125000"/>
              </a:lnSpc>
              <a:buNone/>
            </a:pPr>
            <a:r>
              <a:rPr lang="en-US" sz="900" i="1" dirty="0">
                <a:solidFill>
                  <a:srgbClr val="555555"/>
                </a:solidFill>
                <a:latin typeface="맑은 고딕" pitchFamily="34" charset="0"/>
                <a:ea typeface="맑은 고딕" pitchFamily="34" charset="-122"/>
                <a:cs typeface="맑은 고딕" pitchFamily="34" charset="-120"/>
              </a:rPr>
              <a:t>"아낀 돈으로 아드님 맛있는 거 한번 더 사주시고, 사모님과 외식 한번 더 하시는 게 좋지 않겠습니까? 불필요한 거품은 빼고, 가장 핵심적인 위험만 골라서 막는 것. 최소의 비용으로 최대의 안심을 사는 이 현명한 플랜에 오늘 함께하시길 제안 드립니다."</a:t>
            </a:r>
            <a:endParaRPr lang="en-US" sz="9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22 / 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VIII. 부록 (Appendix) (1/3)</a:t>
            </a:r>
            <a:endParaRPr lang="en-US" sz="1500" dirty="0"/>
          </a:p>
        </p:txBody>
      </p:sp>
      <p:sp>
        <p:nvSpPr>
          <p:cNvPr id="5" name="Text 3"/>
          <p:cNvSpPr/>
          <p:nvPr/>
        </p:nvSpPr>
        <p:spPr>
          <a:xfrm>
            <a:off x="457200" y="68580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전문용어 설명</a:t>
            </a:r>
            <a:endParaRPr lang="en-US" sz="1400" dirty="0"/>
          </a:p>
        </p:txBody>
      </p:sp>
      <p:sp>
        <p:nvSpPr>
          <p:cNvPr id="6" name="Shape 4"/>
          <p:cNvSpPr/>
          <p:nvPr/>
        </p:nvSpPr>
        <p:spPr>
          <a:xfrm>
            <a:off x="457200" y="1033272"/>
            <a:ext cx="54864" cy="731520"/>
          </a:xfrm>
          <a:prstGeom prst="rect">
            <a:avLst/>
          </a:prstGeom>
          <a:solidFill>
            <a:srgbClr val="C8962E"/>
          </a:solidFill>
          <a:ln w="12700">
            <a:solidFill>
              <a:srgbClr val="C8962E"/>
            </a:solidFill>
            <a:prstDash val="solid"/>
          </a:ln>
        </p:spPr>
        <p:txBody>
          <a:bodyPr/>
          <a:lstStyle/>
          <a:p>
            <a:endParaRPr lang="ko-KR" altLang="en-US"/>
          </a:p>
        </p:txBody>
      </p:sp>
      <p:sp>
        <p:nvSpPr>
          <p:cNvPr id="7" name="Text 5"/>
          <p:cNvSpPr/>
          <p:nvPr/>
        </p:nvSpPr>
        <p:spPr>
          <a:xfrm>
            <a:off x="512064" y="1033272"/>
            <a:ext cx="8174736" cy="7315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8" name="Text 6"/>
          <p:cNvSpPr/>
          <p:nvPr/>
        </p:nvSpPr>
        <p:spPr>
          <a:xfrm>
            <a:off x="566928" y="1069848"/>
            <a:ext cx="8065008" cy="658368"/>
          </a:xfrm>
          <a:prstGeom prst="rect">
            <a:avLst/>
          </a:prstGeom>
          <a:noFill/>
          <a:ln/>
        </p:spPr>
        <p:txBody>
          <a:bodyPr wrap="square" lIns="25400" tIns="76200" rIns="76200" bIns="25400" rtlCol="0" anchor="t"/>
          <a:lstStyle/>
          <a:p>
            <a:pPr marL="0" indent="0">
              <a:lnSpc>
                <a:spcPct val="120000"/>
              </a:lnSpc>
              <a:buNone/>
            </a:pPr>
            <a:r>
              <a:rPr lang="en-US" sz="1000" b="1" dirty="0">
                <a:solidFill>
                  <a:srgbClr val="2B2B2B"/>
                </a:solidFill>
                <a:latin typeface="맑은 고딕" pitchFamily="34" charset="0"/>
                <a:ea typeface="맑은 고딕" pitchFamily="34" charset="-122"/>
                <a:cs typeface="맑은 고딕" pitchFamily="34" charset="-120"/>
              </a:rPr>
              <a:t>정기보험(Term Life Insurance)
</a:t>
            </a:r>
            <a:r>
              <a:rPr lang="en-US" sz="900" dirty="0">
                <a:solidFill>
                  <a:srgbClr val="555555"/>
                </a:solidFill>
                <a:latin typeface="맑은 고딕" pitchFamily="34" charset="0"/>
                <a:ea typeface="맑은 고딕" pitchFamily="34" charset="-122"/>
                <a:cs typeface="맑은 고딕" pitchFamily="34" charset="-120"/>
              </a:rPr>
              <a:t>고객이 정한 특정 기간(예: 10년, 20년, 60세 등) 내에 사망할 경우에만 사망보험금을 지급하는 순수보장성 보험. 보장 기간이 한정적인 대신, 동일한 보장 금액의 종신보험에 비해 보험료가 매우 저렴하여 특정 기간의 집중 보장에 적합함.</a:t>
            </a:r>
            <a:endParaRPr lang="en-US" sz="1000" dirty="0"/>
          </a:p>
        </p:txBody>
      </p:sp>
      <p:sp>
        <p:nvSpPr>
          <p:cNvPr id="9" name="Shape 7"/>
          <p:cNvSpPr/>
          <p:nvPr/>
        </p:nvSpPr>
        <p:spPr>
          <a:xfrm>
            <a:off x="457200" y="1837944"/>
            <a:ext cx="54864" cy="73152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512064" y="1837944"/>
            <a:ext cx="8174736" cy="7315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11" name="Text 9"/>
          <p:cNvSpPr/>
          <p:nvPr/>
        </p:nvSpPr>
        <p:spPr>
          <a:xfrm>
            <a:off x="566928" y="1874520"/>
            <a:ext cx="8065008" cy="658368"/>
          </a:xfrm>
          <a:prstGeom prst="rect">
            <a:avLst/>
          </a:prstGeom>
          <a:noFill/>
          <a:ln/>
        </p:spPr>
        <p:txBody>
          <a:bodyPr wrap="square" lIns="25400" tIns="76200" rIns="76200" bIns="25400" rtlCol="0" anchor="t"/>
          <a:lstStyle/>
          <a:p>
            <a:pPr marL="0" indent="0">
              <a:lnSpc>
                <a:spcPct val="120000"/>
              </a:lnSpc>
              <a:buNone/>
            </a:pPr>
            <a:r>
              <a:rPr lang="en-US" sz="1000" b="1" dirty="0">
                <a:solidFill>
                  <a:srgbClr val="2B2B2B"/>
                </a:solidFill>
                <a:latin typeface="맑은 고딕" pitchFamily="34" charset="0"/>
                <a:ea typeface="맑은 고딕" pitchFamily="34" charset="-122"/>
                <a:cs typeface="맑은 고딕" pitchFamily="34" charset="-120"/>
              </a:rPr>
              <a:t>종신보험(Whole Life Insurance)
</a:t>
            </a:r>
            <a:r>
              <a:rPr lang="en-US" sz="900" dirty="0">
                <a:solidFill>
                  <a:srgbClr val="555555"/>
                </a:solidFill>
                <a:latin typeface="맑은 고딕" pitchFamily="34" charset="0"/>
                <a:ea typeface="맑은 고딕" pitchFamily="34" charset="-122"/>
                <a:cs typeface="맑은 고딕" pitchFamily="34" charset="-120"/>
              </a:rPr>
              <a:t>피보험자가 사망할 때까지 평생 동안을 보장 기간으로 하여, 사망 시 약정한 보험금을 지급하는 보험. 보장 기간이 평생인 만큼 정기보험에 비해 보험료가 비쌈.</a:t>
            </a:r>
            <a:endParaRPr lang="en-US" sz="1000" dirty="0"/>
          </a:p>
        </p:txBody>
      </p:sp>
      <p:sp>
        <p:nvSpPr>
          <p:cNvPr id="12" name="Shape 10"/>
          <p:cNvSpPr/>
          <p:nvPr/>
        </p:nvSpPr>
        <p:spPr>
          <a:xfrm>
            <a:off x="457200" y="2642616"/>
            <a:ext cx="54864" cy="731520"/>
          </a:xfrm>
          <a:prstGeom prst="rect">
            <a:avLst/>
          </a:prstGeom>
          <a:solidFill>
            <a:srgbClr val="C8962E"/>
          </a:solidFill>
          <a:ln w="12700">
            <a:solidFill>
              <a:srgbClr val="C8962E"/>
            </a:solidFill>
            <a:prstDash val="solid"/>
          </a:ln>
        </p:spPr>
        <p:txBody>
          <a:bodyPr/>
          <a:lstStyle/>
          <a:p>
            <a:endParaRPr lang="ko-KR" altLang="en-US"/>
          </a:p>
        </p:txBody>
      </p:sp>
      <p:sp>
        <p:nvSpPr>
          <p:cNvPr id="13" name="Text 11"/>
          <p:cNvSpPr/>
          <p:nvPr/>
        </p:nvSpPr>
        <p:spPr>
          <a:xfrm>
            <a:off x="512064" y="2642616"/>
            <a:ext cx="8174736" cy="7315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14" name="Text 12"/>
          <p:cNvSpPr/>
          <p:nvPr/>
        </p:nvSpPr>
        <p:spPr>
          <a:xfrm>
            <a:off x="566928" y="2679192"/>
            <a:ext cx="8065008" cy="658368"/>
          </a:xfrm>
          <a:prstGeom prst="rect">
            <a:avLst/>
          </a:prstGeom>
          <a:noFill/>
          <a:ln/>
        </p:spPr>
        <p:txBody>
          <a:bodyPr wrap="square" lIns="25400" tIns="76200" rIns="76200" bIns="25400" rtlCol="0" anchor="t"/>
          <a:lstStyle/>
          <a:p>
            <a:pPr marL="0" indent="0">
              <a:lnSpc>
                <a:spcPct val="120000"/>
              </a:lnSpc>
              <a:buNone/>
            </a:pPr>
            <a:r>
              <a:rPr lang="en-US" sz="1000" b="1" dirty="0">
                <a:solidFill>
                  <a:srgbClr val="2B2B2B"/>
                </a:solidFill>
                <a:latin typeface="맑은 고딕" pitchFamily="34" charset="0"/>
                <a:ea typeface="맑은 고딕" pitchFamily="34" charset="-122"/>
                <a:cs typeface="맑은 고딕" pitchFamily="34" charset="-120"/>
              </a:rPr>
              <a:t>3대 질병
</a:t>
            </a:r>
            <a:r>
              <a:rPr lang="en-US" sz="900" dirty="0">
                <a:solidFill>
                  <a:srgbClr val="555555"/>
                </a:solidFill>
                <a:latin typeface="맑은 고딕" pitchFamily="34" charset="0"/>
                <a:ea typeface="맑은 고딕" pitchFamily="34" charset="-122"/>
                <a:cs typeface="맑은 고딕" pitchFamily="34" charset="-120"/>
              </a:rPr>
              <a:t>한국인의 주요 사망 및 중증질환 원인인 암, 뇌혈관질환, 심장질환을 통칭함. 50대 이후 발병률이 급증하며, 고액의 치료비와 장기적인 소득 단절을 유발하므로 목돈 형태의 진단비 준비가 필수적임.</a:t>
            </a:r>
            <a:endParaRPr lang="en-US" sz="1000" dirty="0"/>
          </a:p>
        </p:txBody>
      </p:sp>
      <p:sp>
        <p:nvSpPr>
          <p:cNvPr id="15" name="Shape 13"/>
          <p:cNvSpPr/>
          <p:nvPr/>
        </p:nvSpPr>
        <p:spPr>
          <a:xfrm>
            <a:off x="457200" y="3447288"/>
            <a:ext cx="54864" cy="731520"/>
          </a:xfrm>
          <a:prstGeom prst="rect">
            <a:avLst/>
          </a:prstGeom>
          <a:solidFill>
            <a:srgbClr val="C8962E"/>
          </a:solidFill>
          <a:ln w="12700">
            <a:solidFill>
              <a:srgbClr val="C8962E"/>
            </a:solidFill>
            <a:prstDash val="solid"/>
          </a:ln>
        </p:spPr>
        <p:txBody>
          <a:bodyPr/>
          <a:lstStyle/>
          <a:p>
            <a:endParaRPr lang="ko-KR" altLang="en-US"/>
          </a:p>
        </p:txBody>
      </p:sp>
      <p:sp>
        <p:nvSpPr>
          <p:cNvPr id="16" name="Text 14"/>
          <p:cNvSpPr/>
          <p:nvPr/>
        </p:nvSpPr>
        <p:spPr>
          <a:xfrm>
            <a:off x="512064" y="3447288"/>
            <a:ext cx="8174736" cy="7315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17" name="Text 15"/>
          <p:cNvSpPr/>
          <p:nvPr/>
        </p:nvSpPr>
        <p:spPr>
          <a:xfrm>
            <a:off x="566928" y="3483864"/>
            <a:ext cx="8065008" cy="658368"/>
          </a:xfrm>
          <a:prstGeom prst="rect">
            <a:avLst/>
          </a:prstGeom>
          <a:noFill/>
          <a:ln/>
        </p:spPr>
        <p:txBody>
          <a:bodyPr wrap="square" lIns="25400" tIns="76200" rIns="76200" bIns="25400" rtlCol="0" anchor="t"/>
          <a:lstStyle/>
          <a:p>
            <a:pPr marL="0" indent="0">
              <a:lnSpc>
                <a:spcPct val="120000"/>
              </a:lnSpc>
              <a:buNone/>
            </a:pPr>
            <a:r>
              <a:rPr lang="en-US" sz="1000" b="1" dirty="0">
                <a:solidFill>
                  <a:srgbClr val="2B2B2B"/>
                </a:solidFill>
                <a:latin typeface="맑은 고딕" pitchFamily="34" charset="0"/>
                <a:ea typeface="맑은 고딕" pitchFamily="34" charset="-122"/>
                <a:cs typeface="맑은 고딕" pitchFamily="34" charset="-120"/>
              </a:rPr>
              <a:t>교육비 지급 특약
</a:t>
            </a:r>
            <a:r>
              <a:rPr lang="en-US" sz="900" dirty="0">
                <a:solidFill>
                  <a:srgbClr val="555555"/>
                </a:solidFill>
                <a:latin typeface="맑은 고딕" pitchFamily="34" charset="0"/>
                <a:ea typeface="맑은 고딕" pitchFamily="34" charset="-122"/>
                <a:cs typeface="맑은 고딕" pitchFamily="34" charset="-120"/>
              </a:rPr>
              <a:t>주계약의 피보험자(부모)가 사망하거나 특정 장해상태가 되었을 때, 자녀에게 매년 또는 매월 일정 금액을 학자금 형태로 지급하는 특별약관. 보장의 목적을 '자녀 교육'으로 명확히 할 수 있음.</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23 / 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VIII. 부록 (Appendix) (2/3)</a:t>
            </a:r>
            <a:endParaRPr lang="en-US" sz="1500" dirty="0"/>
          </a:p>
        </p:txBody>
      </p:sp>
      <p:sp>
        <p:nvSpPr>
          <p:cNvPr id="5" name="Text 3"/>
          <p:cNvSpPr/>
          <p:nvPr/>
        </p:nvSpPr>
        <p:spPr>
          <a:xfrm>
            <a:off x="457200" y="685800"/>
            <a:ext cx="8229600" cy="27432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FAQ: 아버님들이 가장 자주 묻는 질문</a:t>
            </a:r>
            <a:endParaRPr lang="en-US" sz="1400" dirty="0"/>
          </a:p>
        </p:txBody>
      </p:sp>
      <p:sp>
        <p:nvSpPr>
          <p:cNvPr id="6" name="Shape 4"/>
          <p:cNvSpPr/>
          <p:nvPr/>
        </p:nvSpPr>
        <p:spPr>
          <a:xfrm>
            <a:off x="457200" y="1069848"/>
            <a:ext cx="54864" cy="1188720"/>
          </a:xfrm>
          <a:prstGeom prst="rect">
            <a:avLst/>
          </a:prstGeom>
          <a:solidFill>
            <a:srgbClr val="C8962E"/>
          </a:solidFill>
          <a:ln w="12700">
            <a:solidFill>
              <a:srgbClr val="C8962E"/>
            </a:solidFill>
            <a:prstDash val="solid"/>
          </a:ln>
        </p:spPr>
        <p:txBody>
          <a:bodyPr/>
          <a:lstStyle/>
          <a:p>
            <a:endParaRPr lang="ko-KR" altLang="en-US"/>
          </a:p>
        </p:txBody>
      </p:sp>
      <p:sp>
        <p:nvSpPr>
          <p:cNvPr id="7" name="Text 5"/>
          <p:cNvSpPr/>
          <p:nvPr/>
        </p:nvSpPr>
        <p:spPr>
          <a:xfrm>
            <a:off x="512064" y="1069848"/>
            <a:ext cx="8174736" cy="11887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8" name="Text 6"/>
          <p:cNvSpPr/>
          <p:nvPr/>
        </p:nvSpPr>
        <p:spPr>
          <a:xfrm>
            <a:off x="566928" y="1106424"/>
            <a:ext cx="8065008" cy="1115568"/>
          </a:xfrm>
          <a:prstGeom prst="rect">
            <a:avLst/>
          </a:prstGeom>
          <a:noFill/>
          <a:ln/>
        </p:spPr>
        <p:txBody>
          <a:bodyPr wrap="square" lIns="25400" tIns="76200" rIns="76200" bIns="25400" rtlCol="0" anchor="t"/>
          <a:lstStyle/>
          <a:p>
            <a:pPr marL="0" indent="0">
              <a:lnSpc>
                <a:spcPct val="125000"/>
              </a:lnSpc>
              <a:buNone/>
            </a:pPr>
            <a:r>
              <a:rPr lang="en-US" sz="1100" b="1" dirty="0">
                <a:solidFill>
                  <a:srgbClr val="2B2B2B"/>
                </a:solidFill>
                <a:latin typeface="맑은 고딕" pitchFamily="34" charset="0"/>
                <a:ea typeface="맑은 고딕" pitchFamily="34" charset="-122"/>
                <a:cs typeface="맑은 고딕" pitchFamily="34" charset="-120"/>
              </a:rPr>
              <a:t>Q1: 고혈압 약을 먹고 있는데, 가입이 가능한가요?
</a:t>
            </a:r>
            <a:r>
              <a:rPr lang="en-US" sz="950" dirty="0">
                <a:solidFill>
                  <a:srgbClr val="555555"/>
                </a:solidFill>
                <a:latin typeface="맑은 고딕" pitchFamily="34" charset="0"/>
                <a:ea typeface="맑은 고딕" pitchFamily="34" charset="-122"/>
                <a:cs typeface="맑은 고딕" pitchFamily="34" charset="-120"/>
              </a:rPr>
              <a:t>A: 네, 가능할 확률이 높습니다. 최근에는 고혈압이나 당뇨 등 만성질환이 있어도 약으로 잘 관리되고 있다면, 부담보(특정 부위나 질병을 보장에서 제외) 조건이나 소액의 할증으로 가입 가능한 '유병자 간편심사 보험' 상품이 많이 있습니다. 더 늦기 전에, 더 건강이 나빠지기 전에 심사를 받아보는 것이 중요합니다.</a:t>
            </a:r>
            <a:endParaRPr lang="en-US" sz="1100" dirty="0"/>
          </a:p>
        </p:txBody>
      </p:sp>
      <p:sp>
        <p:nvSpPr>
          <p:cNvPr id="9" name="Shape 7"/>
          <p:cNvSpPr/>
          <p:nvPr/>
        </p:nvSpPr>
        <p:spPr>
          <a:xfrm>
            <a:off x="457200" y="2350008"/>
            <a:ext cx="54864" cy="118872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512064" y="2350008"/>
            <a:ext cx="8174736" cy="118872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11" name="Text 9"/>
          <p:cNvSpPr/>
          <p:nvPr/>
        </p:nvSpPr>
        <p:spPr>
          <a:xfrm>
            <a:off x="566928" y="2386584"/>
            <a:ext cx="8065008" cy="1115568"/>
          </a:xfrm>
          <a:prstGeom prst="rect">
            <a:avLst/>
          </a:prstGeom>
          <a:noFill/>
          <a:ln/>
        </p:spPr>
        <p:txBody>
          <a:bodyPr wrap="square" lIns="25400" tIns="76200" rIns="76200" bIns="25400" rtlCol="0" anchor="t"/>
          <a:lstStyle/>
          <a:p>
            <a:pPr marL="0" indent="0">
              <a:lnSpc>
                <a:spcPct val="125000"/>
              </a:lnSpc>
              <a:buNone/>
            </a:pPr>
            <a:r>
              <a:rPr lang="en-US" sz="1100" b="1" dirty="0">
                <a:solidFill>
                  <a:srgbClr val="2B2B2B"/>
                </a:solidFill>
                <a:latin typeface="맑은 고딕" pitchFamily="34" charset="0"/>
                <a:ea typeface="맑은 고딕" pitchFamily="34" charset="-122"/>
                <a:cs typeface="맑은 고딕" pitchFamily="34" charset="-120"/>
              </a:rPr>
              <a:t>Q2: 10년 뒤에 보장이 끝나면, 그 후에 다시 보험에 가입할 수 있나요?
</a:t>
            </a:r>
            <a:r>
              <a:rPr lang="en-US" sz="950" dirty="0">
                <a:solidFill>
                  <a:srgbClr val="555555"/>
                </a:solidFill>
                <a:latin typeface="맑은 고딕" pitchFamily="34" charset="0"/>
                <a:ea typeface="맑은 고딕" pitchFamily="34" charset="-122"/>
                <a:cs typeface="맑은 고딕" pitchFamily="34" charset="-120"/>
              </a:rPr>
              <a:t>A: 10년 뒤(62세)의 건강 상태에 따라 달라집니다. 건강하시다면 새로운 보험 가입이 가능하지만, 지금보다 보험료는 비싸지고 가입 조건은 까다로워질 것입니다. 그래서 이 플랜은 '10년 집중 보장'과 함께, 이미 가입해두신 '종신보험'을 끝까지 유지하여 평생 보장의 기반을 지키는 '투트랙 전략'을 사용하는 것입니다.</a:t>
            </a:r>
            <a:endParaRPr lang="en-US" sz="11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24 / 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VIII. 부록 (Appendix) (3/3)</a:t>
            </a:r>
            <a:endParaRPr lang="en-US" sz="1500" dirty="0"/>
          </a:p>
        </p:txBody>
      </p:sp>
      <p:sp>
        <p:nvSpPr>
          <p:cNvPr id="5" name="Shape 3"/>
          <p:cNvSpPr/>
          <p:nvPr/>
        </p:nvSpPr>
        <p:spPr>
          <a:xfrm>
            <a:off x="457200" y="685800"/>
            <a:ext cx="54864" cy="1051560"/>
          </a:xfrm>
          <a:prstGeom prst="rect">
            <a:avLst/>
          </a:prstGeom>
          <a:solidFill>
            <a:srgbClr val="C8962E"/>
          </a:solidFill>
          <a:ln w="12700">
            <a:solidFill>
              <a:srgbClr val="C8962E"/>
            </a:solidFill>
            <a:prstDash val="solid"/>
          </a:ln>
        </p:spPr>
        <p:txBody>
          <a:bodyPr/>
          <a:lstStyle/>
          <a:p>
            <a:endParaRPr lang="ko-KR" altLang="en-US"/>
          </a:p>
        </p:txBody>
      </p:sp>
      <p:sp>
        <p:nvSpPr>
          <p:cNvPr id="6" name="Text 4"/>
          <p:cNvSpPr/>
          <p:nvPr/>
        </p:nvSpPr>
        <p:spPr>
          <a:xfrm>
            <a:off x="512064" y="685800"/>
            <a:ext cx="8174736" cy="105156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7" name="Text 5"/>
          <p:cNvSpPr/>
          <p:nvPr/>
        </p:nvSpPr>
        <p:spPr>
          <a:xfrm>
            <a:off x="566928" y="722376"/>
            <a:ext cx="8065008" cy="978408"/>
          </a:xfrm>
          <a:prstGeom prst="rect">
            <a:avLst/>
          </a:prstGeom>
          <a:noFill/>
          <a:ln/>
        </p:spPr>
        <p:txBody>
          <a:bodyPr wrap="square" lIns="25400" tIns="76200" rIns="76200" bIns="25400" rtlCol="0" anchor="t"/>
          <a:lstStyle/>
          <a:p>
            <a:pPr marL="0" indent="0">
              <a:lnSpc>
                <a:spcPct val="125000"/>
              </a:lnSpc>
              <a:buNone/>
            </a:pPr>
            <a:r>
              <a:rPr lang="en-US" sz="1100" b="1" dirty="0">
                <a:solidFill>
                  <a:srgbClr val="2B2B2B"/>
                </a:solidFill>
                <a:latin typeface="맑은 고딕" pitchFamily="34" charset="0"/>
                <a:ea typeface="맑은 고딕" pitchFamily="34" charset="-122"/>
                <a:cs typeface="맑은 고딕" pitchFamily="34" charset="-120"/>
              </a:rPr>
              <a:t>Q3: 사망보험금이나 진단비는 세금이 없나요?
</a:t>
            </a:r>
            <a:r>
              <a:rPr lang="en-US" sz="950" dirty="0">
                <a:solidFill>
                  <a:srgbClr val="555555"/>
                </a:solidFill>
                <a:latin typeface="맑은 고딕" pitchFamily="34" charset="0"/>
                <a:ea typeface="맑은 고딕" pitchFamily="34" charset="-122"/>
                <a:cs typeface="맑은 고딕" pitchFamily="34" charset="-120"/>
              </a:rPr>
              <a:t>A: 네, 맞습니다. 보험수익자가 본인 또는 법정상속인일 경우, 수령하는 사망보험금이나 질병 진단비에는 소득세가 과세되지 않습니다. (단, 계약자와 수익자가 달라 증여세 문제가 발생하는 경우는 예외). 따라서 플랜에 따라 지급되는 모든 보험금은 세금 차감 없이 그대로 수령하여 온전히 치료비와 교육비로 사용하실 수 있습니다.</a:t>
            </a:r>
            <a:endParaRPr lang="en-US" sz="1100" dirty="0"/>
          </a:p>
        </p:txBody>
      </p:sp>
      <p:sp>
        <p:nvSpPr>
          <p:cNvPr id="8" name="Text 6"/>
          <p:cNvSpPr/>
          <p:nvPr/>
        </p:nvSpPr>
        <p:spPr>
          <a:xfrm>
            <a:off x="457200" y="1856232"/>
            <a:ext cx="8229600" cy="27432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관련 법규·출처</a:t>
            </a:r>
            <a:endParaRPr lang="en-US" sz="1300" dirty="0"/>
          </a:p>
        </p:txBody>
      </p:sp>
      <p:sp>
        <p:nvSpPr>
          <p:cNvPr id="9" name="Shape 7"/>
          <p:cNvSpPr/>
          <p:nvPr/>
        </p:nvSpPr>
        <p:spPr>
          <a:xfrm>
            <a:off x="457200" y="2176272"/>
            <a:ext cx="54864" cy="77724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512064" y="2176272"/>
            <a:ext cx="8174736" cy="77724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11" name="Text 9"/>
          <p:cNvSpPr/>
          <p:nvPr/>
        </p:nvSpPr>
        <p:spPr>
          <a:xfrm>
            <a:off x="566928" y="2203704"/>
            <a:ext cx="8065008" cy="722376"/>
          </a:xfrm>
          <a:prstGeom prst="rect">
            <a:avLst/>
          </a:prstGeom>
          <a:noFill/>
          <a:ln/>
        </p:spPr>
        <p:txBody>
          <a:bodyPr wrap="square" lIns="25400" tIns="76200" rIns="76200" bIns="25400" rtlCol="0" anchor="t"/>
          <a:lstStyle/>
          <a:p>
            <a:pPr marL="0" indent="0">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상법 제730조 (보험계약의 의의) 및 제737조 (보험금액지급의무)
</a:t>
            </a:r>
            <a:r>
              <a:rPr lang="en-US" sz="800" dirty="0">
                <a:solidFill>
                  <a:srgbClr val="555555"/>
                </a:solidFill>
                <a:latin typeface="맑은 고딕" pitchFamily="34" charset="0"/>
                <a:ea typeface="맑은 고딕" pitchFamily="34" charset="-122"/>
                <a:cs typeface="맑은 고딕" pitchFamily="34" charset="-120"/>
              </a:rPr>
              <a:t>내용: 생명보험 계약은 피보험자의 생명에 관한 보험사고가 생길 경우에 약정한 보험금액을 지급할 효력이 있음을 규정함.</a:t>
            </a:r>
            <a:endParaRPr lang="en-US" sz="900" dirty="0"/>
          </a:p>
          <a:p>
            <a:pPr marL="0" indent="0">
              <a:lnSpc>
                <a:spcPct val="115000"/>
              </a:lnSpc>
              <a:buNone/>
            </a:pPr>
            <a:r>
              <a:rPr lang="en-US" sz="800" dirty="0">
                <a:solidFill>
                  <a:srgbClr val="555555"/>
                </a:solidFill>
                <a:latin typeface="맑은 고딕" pitchFamily="34" charset="0"/>
                <a:ea typeface="맑은 고딕" pitchFamily="34" charset="-122"/>
                <a:cs typeface="맑은 고딕" pitchFamily="34" charset="-120"/>
              </a:rPr>
              <a:t>시사점: 보험금 지급은 보험사의 선의가 아닌, 상법에 명시된 계약상의 '의무'입니다. 따라서 약관에 명시된 조건이 충족되면, 고객은 당연한 권리로서 약속된 보험금을 청구하고 수령할 수 있습니다.</a:t>
            </a:r>
            <a:endParaRPr lang="en-US" sz="900" dirty="0"/>
          </a:p>
        </p:txBody>
      </p:sp>
      <p:sp>
        <p:nvSpPr>
          <p:cNvPr id="12" name="Shape 10"/>
          <p:cNvSpPr/>
          <p:nvPr/>
        </p:nvSpPr>
        <p:spPr>
          <a:xfrm>
            <a:off x="457200" y="3017520"/>
            <a:ext cx="54864" cy="777240"/>
          </a:xfrm>
          <a:prstGeom prst="rect">
            <a:avLst/>
          </a:prstGeom>
          <a:solidFill>
            <a:srgbClr val="C8962E"/>
          </a:solidFill>
          <a:ln w="12700">
            <a:solidFill>
              <a:srgbClr val="C8962E"/>
            </a:solidFill>
            <a:prstDash val="solid"/>
          </a:ln>
        </p:spPr>
        <p:txBody>
          <a:bodyPr/>
          <a:lstStyle/>
          <a:p>
            <a:endParaRPr lang="ko-KR" altLang="en-US"/>
          </a:p>
        </p:txBody>
      </p:sp>
      <p:sp>
        <p:nvSpPr>
          <p:cNvPr id="13" name="Text 11"/>
          <p:cNvSpPr/>
          <p:nvPr/>
        </p:nvSpPr>
        <p:spPr>
          <a:xfrm>
            <a:off x="512064" y="3017520"/>
            <a:ext cx="8174736" cy="777240"/>
          </a:xfrm>
          <a:prstGeom prst="rect">
            <a:avLst/>
          </a:prstGeom>
          <a:solidFill>
            <a:srgbClr val="F7F8FA"/>
          </a:solidFill>
          <a:ln/>
          <a:effectLst>
            <a:outerShdw blurRad="50800" dist="25400" dir="8100000" algn="bl" rotWithShape="0">
              <a:srgbClr val="000000">
                <a:alpha val="10000"/>
              </a:srgbClr>
            </a:outerShdw>
          </a:effectLst>
        </p:spPr>
        <p:txBody>
          <a:bodyPr wrap="square" lIns="50800" tIns="101600" rIns="101600" bIns="50800" rtlCol="0" anchor="t"/>
          <a:lstStyle/>
          <a:p>
            <a:pPr marL="0" indent="0" algn="l">
              <a:lnSpc>
                <a:spcPct val="115000"/>
              </a:lnSpc>
              <a:spcAft>
                <a:spcPts val="400"/>
              </a:spcAft>
              <a:buNone/>
            </a:pPr>
            <a:endParaRPr lang="en-US" sz="900" dirty="0"/>
          </a:p>
        </p:txBody>
      </p:sp>
      <p:sp>
        <p:nvSpPr>
          <p:cNvPr id="14" name="Text 12"/>
          <p:cNvSpPr/>
          <p:nvPr/>
        </p:nvSpPr>
        <p:spPr>
          <a:xfrm>
            <a:off x="566928" y="3044952"/>
            <a:ext cx="8065008" cy="722376"/>
          </a:xfrm>
          <a:prstGeom prst="rect">
            <a:avLst/>
          </a:prstGeom>
          <a:noFill/>
          <a:ln/>
        </p:spPr>
        <p:txBody>
          <a:bodyPr wrap="square" lIns="25400" tIns="76200" rIns="76200" bIns="25400" rtlCol="0" anchor="t"/>
          <a:lstStyle/>
          <a:p>
            <a:pPr marL="0" indent="0">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소득세법 제12조 (비과세소득)
</a:t>
            </a:r>
            <a:r>
              <a:rPr lang="en-US" sz="800" dirty="0">
                <a:solidFill>
                  <a:srgbClr val="555555"/>
                </a:solidFill>
                <a:latin typeface="맑은 고딕" pitchFamily="34" charset="0"/>
                <a:ea typeface="맑은 고딕" pitchFamily="34" charset="-122"/>
                <a:cs typeface="맑은 고딕" pitchFamily="34" charset="-120"/>
              </a:rPr>
              <a:t>내용: '보험업법에 따른 보험계약의 보험급여' 등 특정 소득에 대해서는 소득세를 과세하지 않음을 명시하고 있습니다.</a:t>
            </a:r>
            <a:endParaRPr lang="en-US" sz="900" dirty="0"/>
          </a:p>
          <a:p>
            <a:pPr marL="0" indent="0">
              <a:lnSpc>
                <a:spcPct val="115000"/>
              </a:lnSpc>
              <a:buNone/>
            </a:pPr>
            <a:r>
              <a:rPr lang="en-US" sz="800" dirty="0">
                <a:solidFill>
                  <a:srgbClr val="555555"/>
                </a:solidFill>
                <a:latin typeface="맑은 고딕" pitchFamily="34" charset="0"/>
                <a:ea typeface="맑은 고딕" pitchFamily="34" charset="-122"/>
                <a:cs typeface="맑은 고딕" pitchFamily="34" charset="-120"/>
              </a:rPr>
              <a:t>시사점: 고객 본인이 계약하고 본인 또는 가족이 수령하는 대부분의 보장성 보험금(사망, 진단, 입원, 수술 등)은 비과세 대상입니다. 따라서 세금 걱정 없이, 설계된 보장 금액 전액을 수령하여 가장 필요한 곳에 사용할 수 있다는 세무적 장점이 있습니다.</a:t>
            </a:r>
            <a:endParaRPr lang="en-US" sz="9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25 / 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면책고지</a:t>
            </a:r>
            <a:endParaRPr lang="en-US" sz="1500" dirty="0"/>
          </a:p>
        </p:txBody>
      </p:sp>
      <p:sp>
        <p:nvSpPr>
          <p:cNvPr id="5" name="Text 3"/>
          <p:cNvSpPr/>
          <p:nvPr/>
        </p:nvSpPr>
        <p:spPr>
          <a:xfrm>
            <a:off x="731520" y="1371600"/>
            <a:ext cx="7680960" cy="1828800"/>
          </a:xfrm>
          <a:prstGeom prst="rect">
            <a:avLst/>
          </a:prstGeom>
          <a:solidFill>
            <a:srgbClr val="FFF9EB"/>
          </a:solidFill>
          <a:ln/>
          <a:effectLst>
            <a:outerShdw blurRad="50800" dist="25400" dir="8100000" algn="bl" rotWithShape="0">
              <a:srgbClr val="000000">
                <a:alpha val="10000"/>
              </a:srgbClr>
            </a:outerShdw>
          </a:effectLst>
        </p:spPr>
        <p:txBody>
          <a:bodyPr wrap="square" rtlCol="0" anchor="ctr"/>
          <a:lstStyle/>
          <a:p>
            <a:pPr marL="0" indent="0" algn="ctr">
              <a:lnSpc>
                <a:spcPct val="150000"/>
              </a:lnSpc>
              <a:buNone/>
            </a:pPr>
            <a:r>
              <a:rPr lang="en-US" sz="1100" dirty="0">
                <a:solidFill>
                  <a:srgbClr val="555555"/>
                </a:solidFill>
                <a:latin typeface="맑은 고딕" pitchFamily="34" charset="0"/>
                <a:ea typeface="맑은 고딕" pitchFamily="34" charset="-122"/>
                <a:cs typeface="맑은 고딕" pitchFamily="34" charset="-120"/>
              </a:rPr>
              <a:t>본 보고서는 ㈜KFPC의 '이너서클 멤버십'과 '컨설턴트 홈페이지' 이용회원의 원활한 영업활동을 돕기 위해서 가상의 사례(회사, 개인 등의 정보 등...)를 설정하여 '인공지능'을 통해 제작되었습니다.</a:t>
            </a:r>
            <a:endParaRPr lang="en-US" sz="1100" dirty="0"/>
          </a:p>
          <a:p>
            <a:pPr marL="0" indent="0" algn="ctr">
              <a:lnSpc>
                <a:spcPct val="150000"/>
              </a:lnSpc>
              <a:buNone/>
            </a:pPr>
            <a:r>
              <a:rPr lang="en-US" sz="1100" dirty="0">
                <a:solidFill>
                  <a:srgbClr val="555555"/>
                </a:solidFill>
                <a:latin typeface="맑은 고딕" pitchFamily="34" charset="0"/>
                <a:ea typeface="맑은 고딕" pitchFamily="34" charset="-122"/>
                <a:cs typeface="맑은 고딕" pitchFamily="34" charset="-120"/>
              </a:rPr>
              <a:t>AI는 언제든지 오류가 있을 수 있으므로 참고용으로 사용하여 주시고, 실무 사용시 세법을 포함한 모든 규정, 제도들은 반드시 분야별 전문가와 충분히 상담을 하신 후 진행하시기 바랍니다.</a:t>
            </a:r>
            <a:endParaRPr lang="en-US" sz="1100" dirty="0"/>
          </a:p>
          <a:p>
            <a:pPr marL="0" indent="0" algn="ctr">
              <a:lnSpc>
                <a:spcPct val="150000"/>
              </a:lnSpc>
              <a:buNone/>
            </a:pPr>
            <a:r>
              <a:rPr lang="en-US" sz="1100" dirty="0">
                <a:solidFill>
                  <a:srgbClr val="555555"/>
                </a:solidFill>
                <a:latin typeface="맑은 고딕" pitchFamily="34" charset="0"/>
                <a:ea typeface="맑은 고딕" pitchFamily="34" charset="-122"/>
                <a:cs typeface="맑은 고딕" pitchFamily="34" charset="-120"/>
              </a:rPr>
              <a:t>사용에 따라 발생되는 문제에 대하여 제작처는 책임이 없음을 알려드립니다.</a:t>
            </a:r>
            <a:endParaRPr lang="en-US" sz="1100" dirty="0"/>
          </a:p>
        </p:txBody>
      </p:sp>
      <p:sp>
        <p:nvSpPr>
          <p:cNvPr id="6"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컨설팅 특급보고서 - 50대 가장 자녀 교육비 플랜</a:t>
            </a:r>
            <a:endParaRPr lang="en-US" sz="800" dirty="0"/>
          </a:p>
        </p:txBody>
      </p:sp>
      <p:sp>
        <p:nvSpPr>
          <p:cNvPr id="7"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26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4188</Words>
  <Application>Microsoft Office PowerPoint</Application>
  <PresentationFormat>화면 슬라이드 쇼(16:9)</PresentationFormat>
  <Paragraphs>330</Paragraphs>
  <Slides>27</Slides>
  <Notes>27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27</vt:i4>
      </vt:variant>
    </vt:vector>
  </HeadingPairs>
  <TitlesOfParts>
    <vt:vector size="31"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에프피센터 한국</cp:lastModifiedBy>
  <cp:revision>2</cp:revision>
  <dcterms:created xsi:type="dcterms:W3CDTF">2026-02-27T01:47:08Z</dcterms:created>
  <dcterms:modified xsi:type="dcterms:W3CDTF">2026-02-27T04:35:13Z</dcterms:modified>
</cp:coreProperties>
</file>