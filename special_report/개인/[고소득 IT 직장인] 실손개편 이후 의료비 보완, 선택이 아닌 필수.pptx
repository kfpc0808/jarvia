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1" d="100"/>
          <a:sy n="141" d="100"/>
        </p:scale>
        <p:origin x="66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45537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C8962E"/>
          </a:solidFill>
          <a:ln w="12700">
            <a:solidFill>
              <a:srgbClr val="C896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고객의 안정된 미래를 위한 재무안전망 구축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89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『컨설팅 특급보고서』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[고소득 IT 직장인] 실손개편 이후 의료비 보완, 선택이 아닌 필수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44348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1B2A4A"/>
                </a:solidFill>
              </a:rPr>
              <a:t>본 자료는 AI를 활용하여 생성되었으며, 검증과정을 거쳤으나 참고용으로 사용하시기 바라며, 실무적용 시에는 분야별 전문가와 협의 후 사용하시기 바랍니다.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137160" y="4572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8962E"/>
                </a:solidFill>
              </a:rPr>
              <a:t>02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572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💡 자료 읽기에 앞서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91947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A5568"/>
                </a:solidFill>
              </a:rPr>
              <a:t>[고소득 IT 직장인] 실손개편 이후 의료비 보완, 선택이 아닌 필수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0" y="491947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5568"/>
                </a:solidFill>
              </a:rPr>
              <a:t>2 / 30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IT업계의 리더들은 데이터를 기반으로 의사결정하고, 시스템의 취약점을 찾아 선제적으로 보완하는 데 익숙합니다. 본 보고서는 바로 그 관점에서, 우리 삶의 가장 중요한 시스템인 '건강 리스크 관리'를 다루고자 합니다.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325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많은 분들이 '실손보험 하나면 되겠지'라고 생각하지만, 2021년 7월에 출시된 4세대 실손보험은 과거와 완전히 다른 구조를 가진, 새로운 운영체제(OS)와 같습니다.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920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새로운 OS는 보험료를 낮춘 대신, '비급여' 항목에 대한 개인의 책임을 대폭 강화했습니다. 특히, 고소득 직장인의 경우 의료비 지출을 막아주는 최후의 보루였던 '본인부담상한제'가 비급여 항목에는 적용되지 않는다는 치명적인 '버그(Bug)'를 안고 있습니다.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697480"/>
            <a:ext cx="8229600" cy="1554480"/>
          </a:xfrm>
          <a:prstGeom prst="rect">
            <a:avLst/>
          </a:prstGeom>
          <a:solidFill>
            <a:srgbClr val="F7F8F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457200" y="2697480"/>
            <a:ext cx="54864" cy="1554480"/>
          </a:xfrm>
          <a:prstGeom prst="rect">
            <a:avLst/>
          </a:prstGeom>
          <a:solidFill>
            <a:srgbClr val="C8962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40080" y="2770632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⭐ 보고서의 핵심 전략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3044952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보고서는 4세대 실손보험이라는 시스템의 근본적인 변화를 데이터에 기반하여 명확히 분석하고, 이로 인해 발생할 수 있는 '재무적 손실'이라는 시스템 다운을 방지하기 위한 필수적인 '보안 패치(Security Patch)' 프로그램을 제안합니다.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361188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'정액 보장'이라는 강력한 보완 솔루션을 통해, 고객님의 건강보험 포트폴리오를 최신 위협에도 끄떡없는 가장 안정적인 버전으로 업그레이드하는 것이 이번 컨설팅의 핵심 목표입니다.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137160" y="4572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8962E"/>
                </a:solidFill>
              </a:rPr>
              <a:t>03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572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I. 고객 프로필 및 재무상황 분석 (Client Discovery)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91947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A5568"/>
                </a:solidFill>
              </a:rPr>
              <a:t>[고소득 IT 직장인] 실손개편 이후 의료비 보완, 선택이 아닌 필수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0" y="491947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5568"/>
                </a:solidFill>
              </a:rPr>
              <a:t>3 / 30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고객 프로필 (가상 고객)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9758003"/>
              </p:ext>
            </p:extLst>
          </p:nvPr>
        </p:nvGraphicFramePr>
        <p:xfrm>
          <a:off x="457200" y="1051560"/>
          <a:ext cx="8229600" cy="22860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구분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내용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비고 (컨설팅 시사점)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성명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김민준 (가명)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연령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만 38세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건강하지만, 높은 스트레스와 불규칙한 생활로 잠재적 건강 리스크 노출. 보험 가입의 최적기.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직업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국내 IT 플랫폼 'N-Platform' AI 개발팀장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고소득 전문직. 논리적이고 데이터 기반의 설명에 높은 신뢰를 보임.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라이프스타일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장시간 앉아서 근무, 잦은 야근. 주말에는 가족과 캠핑.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만성적인 목/허리 통증(거북목 증후군)으로 도수치료 경험 有.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가족 구성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배우자(만 37세, 디자이너), 자녀 1명(만 5세)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가장으로서의 책임감이 매우 강하며, 본인의 유고 시 가족의 경제적 안정을 최우선으로 고려.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137160" y="4572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8962E"/>
                </a:solidFill>
              </a:rPr>
              <a:t>04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572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I. 고객 프로필 및 재무상황 분석 (Client Discovery)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91947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A5568"/>
                </a:solidFill>
              </a:rPr>
              <a:t>[고소득 IT 직장인] 실손개편 이후 의료비 보완, 선택이 아닌 필수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0" y="491947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5568"/>
                </a:solidFill>
              </a:rPr>
              <a:t>4 / 30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재무 현황 분석 (2025년 12월 기준) — [자산·부채 구조]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5199680"/>
              </p:ext>
            </p:extLst>
          </p:nvPr>
        </p:nvGraphicFramePr>
        <p:xfrm>
          <a:off x="457200" y="1051560"/>
          <a:ext cx="8229600" cy="2029968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구분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항목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금액 (원)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비고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자산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거주 아파트 (시세)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1,500,000,000</a:t>
                      </a:r>
                      <a:endParaRPr lang="en-US" sz="9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주택담보대출 7억 원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주식 및 ETF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200,000,000</a:t>
                      </a:r>
                      <a:endParaRPr lang="en-US" sz="9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적극적인 투자 성향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예금·적금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100,000,000</a:t>
                      </a:r>
                      <a:endParaRPr lang="en-US" sz="9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유동성 자금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총 자산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1,800,000,000</a:t>
                      </a:r>
                      <a:endParaRPr lang="en-US" sz="9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부채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주택담보대출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700,000,000</a:t>
                      </a:r>
                      <a:endParaRPr lang="en-US" sz="9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순자산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1,100,000,000</a:t>
                      </a:r>
                      <a:endParaRPr lang="en-US" sz="9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137160" y="4572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8962E"/>
                </a:solidFill>
              </a:rPr>
              <a:t>05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572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I. 고객 프로필 및 재무상황 분석 (Client Discovery)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91947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A5568"/>
                </a:solidFill>
              </a:rPr>
              <a:t>[고소득 IT 직장인] 실손개편 이후 의료비 보완, 선택이 아닌 필수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0" y="491947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5568"/>
                </a:solidFill>
              </a:rPr>
              <a:t>5 / 30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재무 현황 분석 — [현금 흐름 구조]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1255149"/>
              </p:ext>
            </p:extLst>
          </p:nvPr>
        </p:nvGraphicFramePr>
        <p:xfrm>
          <a:off x="457200" y="1051560"/>
          <a:ext cx="8229600" cy="2029968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구분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항목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월 금액 (원)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비고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수입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급여 (세후)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8,000,000</a:t>
                      </a:r>
                      <a:endParaRPr lang="en-US" sz="9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연봉 1.2억 원 수준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총 수입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8,000,000</a:t>
                      </a:r>
                      <a:endParaRPr lang="en-US" sz="9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지출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대출 원리금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2,500,000</a:t>
                      </a:r>
                      <a:endParaRPr lang="en-US" sz="9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생활비 및 교육비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3,000,000</a:t>
                      </a:r>
                      <a:endParaRPr lang="en-US" sz="9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저축 및 투자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1,500,000</a:t>
                      </a:r>
                      <a:endParaRPr lang="en-US" sz="9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월 잉여 자금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2A41A8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1,000,000</a:t>
                      </a:r>
                      <a:endParaRPr lang="en-US" sz="9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137160" y="4572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8962E"/>
                </a:solidFill>
              </a:rPr>
              <a:t>06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572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I. 고객 프로필 및 재무상황 분석 (Client Discovery)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91947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A5568"/>
                </a:solidFill>
              </a:rPr>
              <a:t>[고소득 IT 직장인] 실손개편 이후 의료비 보완, 선택이 아닌 필수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0" y="491947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5568"/>
                </a:solidFill>
              </a:rPr>
              <a:t>6 / 30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인생 목표 및 리스크 분석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8229600" cy="822960"/>
          </a:xfrm>
          <a:prstGeom prst="rect">
            <a:avLst/>
          </a:prstGeom>
          <a:solidFill>
            <a:srgbClr val="F7F8F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57200" y="1051560"/>
            <a:ext cx="54864" cy="822960"/>
          </a:xfrm>
          <a:prstGeom prst="rect">
            <a:avLst/>
          </a:prstGeom>
          <a:solidFill>
            <a:srgbClr val="C8962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40080" y="1106424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🎯 인생 목표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137160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단기 목표 (~5년): </a:t>
            </a:r>
            <a:r>
              <a:rPr lang="en-US" sz="10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자산 포트폴리오 5억 원 달성, 자녀 초등학교 입학 준비.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장기 목표 (은퇴 후): </a:t>
            </a:r>
            <a:r>
              <a:rPr lang="en-US" sz="10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경제적 자유를 통한 조기 은퇴(50대 후반), 안정적인 현금흐름 구축.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011680"/>
            <a:ext cx="8229600" cy="1828800"/>
          </a:xfrm>
          <a:prstGeom prst="rect">
            <a:avLst/>
          </a:prstGeom>
          <a:solidFill>
            <a:srgbClr val="F7F8F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457200" y="2011680"/>
            <a:ext cx="54864" cy="1828800"/>
          </a:xfrm>
          <a:prstGeom prst="rect">
            <a:avLst/>
          </a:prstGeom>
          <a:solidFill>
            <a:srgbClr val="D4382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40080" y="2066544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38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🚨 핵심 리스크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2331720"/>
            <a:ext cx="7955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D438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👾 건강 리스크: </a:t>
            </a:r>
            <a:r>
              <a:rPr lang="en-US" sz="10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과도한 업무 스트레스로 인한 중대질병(암, 뇌/심장질환) 발생 시, 소득이 중단되고 고액의 의료비가 발생하여 모든 재무 목표가 중단될 위험.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D438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👾 보장 공백 리스크: </a:t>
            </a:r>
            <a:r>
              <a:rPr lang="en-US" sz="10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4세대 실손보험만 믿고 있다가, 고가의 비급여 치료 시 발생하는 수천만 원의 본인부담금으로 인해 투자 자산을 매도해야 하는 상황.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D438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👾 소득 상실 리스크: </a:t>
            </a:r>
            <a:r>
              <a:rPr lang="en-US" sz="10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가장의 질병은 곧 가계 소득의 치명적인 하락으로 직결됨.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137160" y="4572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8962E"/>
                </a:solidFill>
              </a:rPr>
              <a:t>07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572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II. 제안서 요약 (Executive Summary)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91947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A5568"/>
                </a:solidFill>
              </a:rPr>
              <a:t>[고소득 IT 직장인] 실손개편 이후 의료비 보완, 선택이 아닌 필수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0" y="491947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5568"/>
                </a:solidFill>
              </a:rPr>
              <a:t>7 / 30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685800"/>
            <a:ext cx="8229600" cy="1234440"/>
          </a:xfrm>
          <a:prstGeom prst="rect">
            <a:avLst/>
          </a:prstGeom>
          <a:solidFill>
            <a:srgbClr val="F7F8F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457200" y="685800"/>
            <a:ext cx="54864" cy="1234440"/>
          </a:xfrm>
          <a:prstGeom prst="rect">
            <a:avLst/>
          </a:prstGeom>
          <a:solidFill>
            <a:srgbClr val="D4382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40080" y="740664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38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재무과제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987552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38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4세대 실손보험의 '보장 공백'으로 인한 예상치 못한 의료비 지출 리스크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1234440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고객님은 비급여 의료비의 기본 30%를 직접 부담해야 하며(실제로는 공제금액 및 급여 연계 구조에 따라 추가 부담 발생 가능), 연봉 수준으로 인해 사실상 '급여 본인부담상한제'의 혜택을 충분히 받지 못합니다. 암 치료 등으로 5,000만 원의 비급여 의료비 발생 시, 실손 처리 후에도 1,500만 원 이상의 현금을 지출해야 하는 심각한 보장 틈새가 존재합니다.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2057400"/>
            <a:ext cx="8229600" cy="1051560"/>
          </a:xfrm>
          <a:prstGeom prst="rect">
            <a:avLst/>
          </a:prstGeom>
          <a:solidFill>
            <a:srgbClr val="F7F8F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457200" y="2057400"/>
            <a:ext cx="54864" cy="1051560"/>
          </a:xfrm>
          <a:prstGeom prst="rect">
            <a:avLst/>
          </a:prstGeom>
          <a:solidFill>
            <a:srgbClr val="1A6B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40080" y="2112264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6B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솔루션 요약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2359152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6B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'정액 보장' 플랜을 통한 '실손보험의 빈틈' 보완적 기능 강화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260604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실손보험이 해결해주지 못하는 영역을 보완하는 플랜입니다. ① 3대 질병 진단비 1억 원으로 고액 비급여 치료비와 소득 상실을 일부 보완하고, ② 각종 수술비와 입원일당으로 도수치료, 상급병실료 등 추가 발생하는 비용을 보완합니다.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3246120"/>
            <a:ext cx="8229600" cy="1152144"/>
          </a:xfrm>
          <a:prstGeom prst="rect">
            <a:avLst/>
          </a:prstGeom>
          <a:solidFill>
            <a:srgbClr val="F7F8F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457200" y="3246120"/>
            <a:ext cx="54864" cy="1152144"/>
          </a:xfrm>
          <a:prstGeom prst="rect">
            <a:avLst/>
          </a:prstGeom>
          <a:solidFill>
            <a:srgbClr val="C8962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40080" y="3300984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기대 변화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3547872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'불안한 반쪽짜리 보장'에서 '보완적 안전망이 갖춰진 보장'으로 업그레이드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379476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3B5BD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✔ 재무적: </a:t>
            </a:r>
            <a:r>
              <a:rPr lang="en-US" sz="9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의료비가 발생할 때, 진단 즉시 지급되는 1억 원의 현금으로 치료비, 대출금, 생활비 부담을 크게 완화하고 투자 자산을 보호할 수 있습니다.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3B5BD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✔ 심리적: </a:t>
            </a:r>
            <a:r>
              <a:rPr lang="en-US" sz="9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'내 실손은 예전 같지 않다'는 불안감을 해소하고, 데이터에 기반한 합리적인 대비를 했다는 '스마트 컨슈머'로서의 만족감을 얻게 됩니다.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137160" y="4572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8962E"/>
                </a:solidFill>
              </a:rPr>
              <a:t>08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572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II. 제안서 요약 — 핵심 지표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91947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A5568"/>
                </a:solidFill>
              </a:rPr>
              <a:t>[고소득 IT 직장인] 실손개편 이후 의료비 보완, 선택이 아닌 필수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0" y="491947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5568"/>
                </a:solidFill>
              </a:rPr>
              <a:t>8 / 30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2560320" cy="1645920"/>
          </a:xfrm>
          <a:prstGeom prst="rect">
            <a:avLst/>
          </a:prstGeom>
          <a:solidFill>
            <a:srgbClr val="1B2A4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457200" y="12344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실손 비급여 본인부담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5544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</a:t>
            </a: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% + α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57200" y="22860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비용 발생 리스크 (As-Is)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91840" y="1097280"/>
            <a:ext cx="2560320" cy="1645920"/>
          </a:xfrm>
          <a:prstGeom prst="rect">
            <a:avLst/>
          </a:prstGeom>
          <a:solidFill>
            <a:srgbClr val="1B2A4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3291840" y="12344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솔루션 확보 자산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91840" y="15544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억 원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3291840" y="22860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진단 시 즉시 현금 지급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126480" y="1097280"/>
            <a:ext cx="2560320" cy="1645920"/>
          </a:xfrm>
          <a:prstGeom prst="rect">
            <a:avLst/>
          </a:prstGeom>
          <a:solidFill>
            <a:srgbClr val="1B2A4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126480" y="12344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보장 범위 확대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126480" y="15544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Level</a:t>
            </a: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6126480" y="22860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실손 빈틈 완벽 보완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137160" y="4572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8962E"/>
                </a:solidFill>
              </a:rPr>
              <a:t>09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572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III. 재무·보장자산 정밀 진단 (In-depth Diagnosis)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91947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A5568"/>
                </a:solidFill>
              </a:rPr>
              <a:t>[고소득 IT 직장인] 실손개편 이후 의료비 보완, 선택이 아닌 필수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0" y="491947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5568"/>
                </a:solidFill>
              </a:rPr>
              <a:t>9 / 30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금융 포트폴리오 분석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8229600" cy="777240"/>
          </a:xfrm>
          <a:prstGeom prst="rect">
            <a:avLst/>
          </a:prstGeom>
          <a:solidFill>
            <a:srgbClr val="F7F8F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57200" y="1051560"/>
            <a:ext cx="54864" cy="777240"/>
          </a:xfrm>
          <a:prstGeom prst="rect">
            <a:avLst/>
          </a:prstGeom>
          <a:solidFill>
            <a:srgbClr val="C8962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40080" y="1106424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📊 총평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1353312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소득 대비 저축 및 투자 비중이 높아 자산 형성 속도가 빠릅니다. 그러나 공격적인 투자 성향에 비해, 자산의 근간을 지켜줄 '방어 자산'으로서의 보장 포트폴리오가 매우 취약합니다. 현재 구조는 '잘 벌 때'는 문제가 없지만, '아파서 못 벌 때'는 모든 것이 무너질 수 있는 사상누각과 같습니다.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1965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기가입 보험 평가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331720"/>
            <a:ext cx="8229600" cy="1554480"/>
          </a:xfrm>
          <a:prstGeom prst="rect">
            <a:avLst/>
          </a:prstGeom>
          <a:solidFill>
            <a:srgbClr val="F7F8F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457200" y="2331720"/>
            <a:ext cx="54864" cy="1554480"/>
          </a:xfrm>
          <a:prstGeom prst="rect">
            <a:avLst/>
          </a:prstGeom>
          <a:solidFill>
            <a:srgbClr val="C8962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40080" y="2404872"/>
            <a:ext cx="7955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👍 칭찬: </a:t>
            </a:r>
            <a:r>
              <a:rPr lang="en-US" sz="10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회사 단체보험을 통해 4세대 실손의료보험에 가입되어 있어, 기본적인 의료비 대비는 시작하셨습니다.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🩺 보완: </a:t>
            </a:r>
            <a:r>
              <a:rPr lang="en-US" sz="10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'실손'이 만능이라는 착각이 가장 큰 문제입니다. 현재 보장은 질병 발생 시 발생하는 '직접 치료비'의 일부만 보전해 줄 뿐, 아래 항목에 대해서는 완벽한 무방비 상태입니다.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• 고액의 비급여 본인부담금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• 소득 상실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• 기타 부대비용(간병, 생활비)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137160" y="4572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8962E"/>
                </a:solidFill>
              </a:rPr>
              <a:t>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572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III. 정밀 진단 — 보장 갭(Gap) 진단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91947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A5568"/>
                </a:solidFill>
              </a:rPr>
              <a:t>[고소득 IT 직장인] 실손개편 이후 의료비 보완, 선택이 아닌 필수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0" y="491947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5568"/>
                </a:solidFill>
              </a:rPr>
              <a:t>10 / 30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보장 갭(Gap) 진단: 4세대 실손의 2가지 함정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📉 GAP 1: '급여 본인부담상한제'의 착시 효과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417320"/>
            <a:ext cx="8229600" cy="2468880"/>
          </a:xfrm>
          <a:prstGeom prst="rect">
            <a:avLst/>
          </a:prstGeom>
          <a:solidFill>
            <a:srgbClr val="F7F8F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57200" y="1417320"/>
            <a:ext cx="54864" cy="2468880"/>
          </a:xfrm>
          <a:prstGeom prst="rect">
            <a:avLst/>
          </a:prstGeom>
          <a:solidFill>
            <a:srgbClr val="C8962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40080" y="1490472"/>
            <a:ext cx="79552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원칙: </a:t>
            </a:r>
            <a:r>
              <a:rPr lang="en-US" sz="10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국민건강보험 가입자는 연간 의료비(급여 항목)가 소득 수준에 따른 상한액을 넘으면, 초과분을 공단에서 환급해 줍니다.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D438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예외: </a:t>
            </a:r>
            <a:r>
              <a:rPr lang="en-US" sz="10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제도는 '비급여' 항목에는 전혀 적용되지 않습니다. 또한, 고객님의 연봉(1.2억)은 소득 10분위(최상위)에 해당하여 2025년 기준 상한액이 연간 약 8백만 원대 수준(연도·유형별로 변동)에 달합니다. 웬만한 질병으로는 이 혜택을 받기 어렵습니다.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주의사항 (결론): </a:t>
            </a:r>
            <a:r>
              <a:rPr lang="en-US" sz="10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고소득자인 고객님께 본인부담상한제는 사실상 큰 의미가 없으며, 고가의 항암치료, 로봇수술 등 비급여 치료비는 상한선 없이 고객님이 직접 부담해야 합니다.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본인부담상한제 기준액은 매년 보건복지부 고시로 변동되므로, 최신 기준을 확인하시기 바랍니다.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137160" y="4572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8962E"/>
                </a:solidFill>
              </a:rPr>
              <a:t>11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572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III. 정밀 진단 — GAP 2: 실제 의료비 발생 시뮬레이션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91947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A5568"/>
                </a:solidFill>
              </a:rPr>
              <a:t>[고소득 IT 직장인] 실손개편 이후 의료비 보완, 선택이 아닌 필수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0" y="491947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5568"/>
                </a:solidFill>
              </a:rPr>
              <a:t>11 / 30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38667" y="685800"/>
            <a:ext cx="8348133" cy="594360"/>
          </a:xfrm>
          <a:prstGeom prst="rect">
            <a:avLst/>
          </a:prstGeom>
          <a:solidFill>
            <a:srgbClr val="FFF5F5"/>
          </a:solidFill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4세대 실손의 구조적 부담: </a:t>
            </a:r>
            <a:r>
              <a:rPr lang="en-US" sz="10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비급여 항목은 공제금액 20만원에 더해 나머지의 30%를 본인이 부담해야 합니다. 예를 들어 비급여 100만 원 발생 시, [20만 + (80만 × 30%) = 44만 원]이 본인부담금입니다.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실제 본인부담금은 공제금액, 특약 구조, 급여-비급여 연계 방식 등에 따라 달라질 수 있으므로, 아래 시뮬레이션은 일반적인 경우를 가정한 예시입니다 (±10% 변동 가능).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4963348"/>
              </p:ext>
            </p:extLst>
          </p:nvPr>
        </p:nvGraphicFramePr>
        <p:xfrm>
          <a:off x="274320" y="1560576"/>
          <a:ext cx="8595360" cy="230124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상황 가정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총 의료비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4세대 실손 처리 후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본인부담금 (예상)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비고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1. 허리 디스크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(도수치료 20회,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비급여 주사 5회)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300만 원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(전액 비급여)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급여: 0원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비급여: 300만 원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합계: 약 104만 원 ±10%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(공제 20만 + 30% 부담)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과거 실손(10%)이었다면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30만 원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※ 도수치료는 건강보험 급여화 검토 중이며, 치료 횟수 제한이 있을 수 있음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2. 위암 초기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(로봇수술, 입원 7일)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2,000만 원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(급여 500,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비급여 1,500)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급여: 약 102만 원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비급여: 약 464만 원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합계: 약 566만 원 ±10%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소득 상실, 생활비는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별도 문제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※ 실제로는 공제금 및 특약 구조에 따라 변동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 심근경색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(스텐트 삽입,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상급병실 5일)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1,500만 원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(급여 1,400,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비급여 100)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급여: 약 280만 원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비급여: 약 44만 원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기타: 약 25만 원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합계: 약 349만 원 ±10%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심장질환은 재발 및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관리 비용이 더 큼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137160" y="4572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8962E"/>
                </a:solidFill>
              </a:rPr>
              <a:t>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572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III. 정밀 진단 — 전문가 의견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91947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A5568"/>
                </a:solidFill>
              </a:rPr>
              <a:t>[고소득 IT 직장인] 실손개편 이후 의료비 보완, 선택이 아닌 필수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0" y="491947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5568"/>
                </a:solidFill>
              </a:rPr>
              <a:t>12 / 30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777240"/>
            <a:ext cx="8229600" cy="2468880"/>
          </a:xfrm>
          <a:prstGeom prst="rect">
            <a:avLst/>
          </a:prstGeom>
          <a:solidFill>
            <a:srgbClr val="F7F8F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457200" y="777240"/>
            <a:ext cx="54864" cy="2468880"/>
          </a:xfrm>
          <a:prstGeom prst="rect">
            <a:avLst/>
          </a:prstGeom>
          <a:solidFill>
            <a:srgbClr val="3B5BD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40080" y="850392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💬 [전문가 의견]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1124712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 데이터가 보여주듯, 4세대 실손은 더 이상 '만능키'가 아닙니다. 질병이 발생하면 최소 수백만 원에서, 암과 같은 중병에는 수천만 원의 현금을 내 통장에서 직접 꺼내야 하는 구조로 바뀌었습니다.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97280" y="1737360"/>
            <a:ext cx="7132320" cy="411480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열심히 모은 고객님의 투자금이, 아픈 내 몸의 치료비로 사라지게 둘 수는 없습니다.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228600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중요: 실손보험의 본인부담금은 단순히 "급여 20%, 비급여 30%"로만 계산되지 않으며, 공제금액(통상 20만원), 특약별 보장 구조 등에 따라 실제 부담액이 달라질 수 있습니다. 위 시뮬레이션은 일반적인 예시입니다.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137160" y="4572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8962E"/>
                </a:solidFill>
              </a:rPr>
              <a:t>13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572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IV. 맞춤형 솔루션 제안 (Customized Solution)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91947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A5568"/>
                </a:solidFill>
              </a:rPr>
              <a:t>[고소득 IT 직장인] 실손개편 이후 의료비 보완, 선택이 아닌 필수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0" y="491947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5568"/>
                </a:solidFill>
              </a:rPr>
              <a:t>13 / 30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설계 방향 및 원칙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8229600" cy="2468880"/>
          </a:xfrm>
          <a:prstGeom prst="rect">
            <a:avLst/>
          </a:prstGeom>
          <a:solidFill>
            <a:srgbClr val="F7F8F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57200" y="1051560"/>
            <a:ext cx="54864" cy="2468880"/>
          </a:xfrm>
          <a:prstGeom prst="rect">
            <a:avLst/>
          </a:prstGeom>
          <a:solidFill>
            <a:srgbClr val="C8962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40080" y="1106424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🛡️ 솔루션 4대 원칙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1371600"/>
            <a:ext cx="7955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2A41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정액 보장: </a:t>
            </a:r>
            <a:r>
              <a:rPr lang="en-US" sz="10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손해액을 따지는 실손과 달리, 약속된 상황(진단, 수술) 발생 시 약속된 금액(정액)을 즉시 지급하는 상품으로 '현금 유동성'을 확보한다.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2A41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핵심 리스크 집중: </a:t>
            </a:r>
            <a:r>
              <a:rPr lang="en-US" sz="10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발생 시 재무적 타격이 가장 큰 3대 질병(암, 뇌, 심장)을 중심으로, 가성비 높은 특약을 조합하여 보장 효율을 극대화한다.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2A41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합리적 비용: </a:t>
            </a:r>
            <a:r>
              <a:rPr lang="en-US" sz="10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 잉여 자금 내에서 충분히 감당 가능한 보험료로, '지속가능성'을 최우선으로 고려한다.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2A41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보완적 기능: </a:t>
            </a:r>
            <a:r>
              <a:rPr lang="en-US" sz="10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정액 보장은 실손보험을 완전히 대체하는 것이 아니라, 실손보험이 커버하지 못하는 부분을 보완하는 역할임을 명확히 한다.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137160" y="4572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8962E"/>
                </a:solidFill>
              </a:rPr>
              <a:t>14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572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IV. 솔루션 제안 — 포트폴리오 리모델링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91947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A5568"/>
                </a:solidFill>
              </a:rPr>
              <a:t>[고소득 IT 직장인] 실손개편 이후 의료비 보완, 선택이 아닌 필수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0" y="491947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5568"/>
                </a:solidFill>
              </a:rPr>
              <a:t>14 / 30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포트폴리오 리모델링: '4세대 실손 보완' 종합건강플랜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8229600" cy="2011680"/>
          </a:xfrm>
          <a:prstGeom prst="rect">
            <a:avLst/>
          </a:prstGeom>
          <a:solidFill>
            <a:srgbClr val="F0FDF4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40080" y="1106424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65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🧩 핵심 전략: 빈틈 메우기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1371600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"진단비로 '큰 손실'을 보완하고, 수술비/입원비로 '잔여 부담'을 경감한다."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1645920"/>
            <a:ext cx="3794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158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진단비 (1억 원)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암 진단 시 1억 원이 즉시 지급됩니다. 이 돈으로 본인부담금(약 550만 원)을 내고도 9,450만 원이 남습니다. 이 자금은 소득 상실 보완, 간병비 충당, 가족 생활비 등 실손이 해결 못 하는 영역을 커버합니다. 단, 정액 보장이 의료비를 완전히 대체하는 것은 아니며, 실손보험과 함께 사용하여 보완적 기능을 극대화하는 것이 핵심입니다.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663440" y="1645920"/>
            <a:ext cx="3794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158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수술비/입원비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도수치료, 주사치료 등 비급여 치료와 입원 시 발생하는 추가 부담을 경감하여, 소중한 월급이 병원비로 과도하게 지출되는 것을 방어합니다.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137160" y="4572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8962E"/>
                </a:solidFill>
              </a:rPr>
              <a:t>15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572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IV. 솔루션 제안 — 3. 최종 제안 설계안 (현실적 수정안)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91947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A5568"/>
                </a:solidFill>
              </a:rPr>
              <a:t>[고소득 IT 직장인] 실손개편 이후 의료비 보완, 선택이 아닌 필수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0" y="491947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5568"/>
                </a:solidFill>
              </a:rPr>
              <a:t>15 / 30</a:t>
            </a:r>
            <a:endParaRPr lang="en-US" sz="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762927"/>
              </p:ext>
            </p:extLst>
          </p:nvPr>
        </p:nvGraphicFramePr>
        <p:xfrm>
          <a:off x="274320" y="685800"/>
          <a:ext cx="8595360" cy="2496312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보장 구분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보장 내용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가입 금액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월 보험료 (원)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비고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3B5BD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핵심보장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일반암 진단비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100,000,000</a:t>
                      </a:r>
                      <a:endParaRPr lang="en-US" sz="8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80,000~120,000</a:t>
                      </a:r>
                      <a:endParaRPr lang="en-US" sz="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(평균 100,000)</a:t>
                      </a:r>
                      <a:endParaRPr lang="en-US" sz="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고액 비급여 치료 및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소득 상실 보완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(38세 남성 기준)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뇌혈관질환 진단비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50,000,000</a:t>
                      </a:r>
                      <a:endParaRPr lang="en-US" sz="8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50,000</a:t>
                      </a:r>
                      <a:endParaRPr lang="en-US" sz="8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뇌경색, 뇌출혈 등 포함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허혈성심장질환 진단비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50,000,000</a:t>
                      </a:r>
                      <a:endParaRPr lang="en-US" sz="8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30,000</a:t>
                      </a:r>
                      <a:endParaRPr lang="en-US" sz="8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협심증, 심근경색 등 포함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4A556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보완보장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질병/상해 수술비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(1-5종)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10만~1,000만</a:t>
                      </a:r>
                      <a:endParaRPr lang="en-US" sz="8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30,000</a:t>
                      </a:r>
                      <a:endParaRPr lang="en-US" sz="8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비급여 수술 시 일부 보완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질병/상해 입원일당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(첫날부터)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50,000</a:t>
                      </a:r>
                      <a:endParaRPr lang="en-US" sz="8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20,000</a:t>
                      </a:r>
                      <a:endParaRPr lang="en-US" sz="8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상급병실료, 간병비 대비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2A41A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합계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2A41A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(20년납 90세만기)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2A41A8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약 230,000원</a:t>
                      </a:r>
                      <a:endParaRPr lang="en-US" sz="9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월 잉여 자금 내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(보험사별 ±20% 변동)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3273552"/>
            <a:ext cx="8229600" cy="640080"/>
          </a:xfrm>
          <a:prstGeom prst="rect">
            <a:avLst/>
          </a:prstGeom>
          <a:solidFill>
            <a:srgbClr val="FFF5F5"/>
          </a:solidFill>
          <a:ln/>
        </p:spPr>
        <p:txBody>
          <a:bodyPr wrap="square" lIns="50800" tIns="101600" rIns="101600" bIns="5080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B91C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중요 유의사항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7F1D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위 보험료는 30대 후반 남성 기준 시장 평균이며, 실제 보험료는 보험사별, 상품별로 ±20% 정도 변동될 수 있습니다.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7F1D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특히 암 진단비 1억 원은 월 8만~12만 원 수준이 일반적이며, 건강상태에 따라 추가 할증이 있을 수 있습니다.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7F1D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보험료는 가입 시점의 나이, 성별, 건강상태, 납입기간, 보장기간 등에 따라 달라집니다.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137160" y="4572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8962E"/>
                </a:solidFill>
              </a:rPr>
              <a:t>16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572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IV. 솔루션 제안 — 4. 제안 이유 (Rationale)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91947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A5568"/>
                </a:solidFill>
              </a:rPr>
              <a:t>[고소득 IT 직장인] 실손개편 이후 의료비 보완, 선택이 아닌 필수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0" y="491947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5568"/>
                </a:solidFill>
              </a:rPr>
              <a:t>16 / 30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685800"/>
            <a:ext cx="8229600" cy="3200400"/>
          </a:xfrm>
          <a:prstGeom prst="rect">
            <a:avLst/>
          </a:prstGeom>
          <a:solidFill>
            <a:srgbClr val="F7F8F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457200" y="685800"/>
            <a:ext cx="54864" cy="3200400"/>
          </a:xfrm>
          <a:prstGeom prst="rect">
            <a:avLst/>
          </a:prstGeom>
          <a:solidFill>
            <a:srgbClr val="1A6B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40080" y="740664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6B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💡 왜 이 플랜이 합리적인가?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1005840"/>
            <a:ext cx="795528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1A6B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✔ 논리적 완결성: </a:t>
            </a:r>
            <a:r>
              <a:rPr lang="en-US" sz="10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4세대 실손의 구조적 약점(비급여 본인부담 증가, 상한제 미적용)을, '정액보장'이라는 보완적 방법으로 보강합니다.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1A6B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✔ 현금 유동성 확보: </a:t>
            </a:r>
            <a:r>
              <a:rPr lang="en-US" sz="10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아프면 돈이 없는 게 아니라, '쓸 수 있는 현금'이 없는 게 문제입니다. 진단비 1억 원은 그 어떤 적금, 주식보다 빠르고 확실하게 현금을 확보하여 치료의 '골든타임'을 지켜줍니다.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1A6B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✔ 합리적인 리스크 헤지: </a:t>
            </a:r>
            <a:r>
              <a:rPr lang="en-US" sz="10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 23만 원의 비용으로 수억 원의 잠재적 손실을 완화하는 것은 효율적인 '리스크 헤지(Hedge)' 수단입니다. 불확실한 주식 시장보다 훨씬 예측 가능한 재무 안정성을 제공합니다.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1A6B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✔ 보완적 기능: </a:t>
            </a:r>
            <a:r>
              <a:rPr lang="en-US" sz="10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정액 보장은 실손보험을 대체하는 것이 아니라, 실손이 커버하지 못하는 소득 상실, 생활비, 간병비 등을 보완하는 역할을 합니다. 두 보험을 함께 활용할 때 가장 효과적입니다.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137160" y="4572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8962E"/>
                </a:solidFill>
              </a:rPr>
              <a:t>17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572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V. 기대 효과 (Expected Effects)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91947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A5568"/>
                </a:solidFill>
              </a:rPr>
              <a:t>[고소득 IT 직장인] 실손개편 이후 의료비 보완, 선택이 아닌 필수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0" y="491947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5568"/>
                </a:solidFill>
              </a:rPr>
              <a:t>17 / 30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Before &amp; After 시뮬레이션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solidFill>
            <a:srgbClr val="F7F8FA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🏥 상황 가정: 위암 초기, 로봇수술 진행  |  비급여 수술비 약 1,500만 원 발생 시 (총 의료비 약 2,000만 원)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1417320"/>
            <a:ext cx="3931920" cy="2834640"/>
          </a:xfrm>
          <a:prstGeom prst="rect">
            <a:avLst/>
          </a:prstGeom>
          <a:solidFill>
            <a:srgbClr val="DC2626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48640" y="147218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❌ Before (4세대 실손만 보유)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1783080"/>
            <a:ext cx="3657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본인부담 의료비: 약 5,500,000원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지급받는 보험금: 약 1,450만 원 (실손보험금)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600" dirty="0">
                <a:solidFill>
                  <a:srgbClr val="FFFFFF"/>
                </a:solidFill>
              </a:rPr>
              <a:t>──────────────────────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최종 재무 결과: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내 통장에서 약 550만 원 순유출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(치료 기간 소득 감소는 별개)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심리적 상태: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"병원비 걱정에 치료 망설여짐"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54880" y="1417320"/>
            <a:ext cx="3931920" cy="2834640"/>
          </a:xfrm>
          <a:prstGeom prst="rect">
            <a:avLst/>
          </a:prstGeom>
          <a:solidFill>
            <a:srgbClr val="16A34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4846320" y="147218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✅ After (보완 플랜 추가)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37760" y="1783080"/>
            <a:ext cx="3657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본인부담 의료비: 약 5,500,000원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지급받는 보험금: 총 약 1억 1,985만 원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(실손 1450만+진단비 1억+수술/입원비)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600" dirty="0">
                <a:solidFill>
                  <a:srgbClr val="FFFFFF"/>
                </a:solidFill>
              </a:rPr>
              <a:t>──────────────────────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최종 재무 결과: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의료비 지출 후에도 약 1억 원 이상의 현금 확보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(치료비, 생활비, 대출상환 활용 가능)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심리적 상태: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"재무 부담 완화로 치료에 집중 가능"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7200" y="43891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위 시뮬레이션은 일반적인 경우를 가정한 예시이며, 실제 상황에서는 의료기관, 치료 방법, 보험약관 등에 따라 ±10%정도 변동될 수 있습니다.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137160" y="4572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8962E"/>
                </a:solidFill>
              </a:rPr>
              <a:t>18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572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V. 기대 효과 — 2. 가족·심리적 변화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91947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A5568"/>
                </a:solidFill>
              </a:rPr>
              <a:t>[고소득 IT 직장인] 실손개편 이후 의료비 보완, 선택이 아닌 필수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0" y="491947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5568"/>
                </a:solidFill>
              </a:rPr>
              <a:t>18 / 30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777240"/>
            <a:ext cx="8229600" cy="2286000"/>
          </a:xfrm>
          <a:prstGeom prst="rect">
            <a:avLst/>
          </a:prstGeom>
          <a:solidFill>
            <a:srgbClr val="F7F8F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457200" y="777240"/>
            <a:ext cx="54864" cy="2286000"/>
          </a:xfrm>
          <a:prstGeom prst="rect">
            <a:avLst/>
          </a:prstGeom>
          <a:solidFill>
            <a:srgbClr val="C8962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40080" y="868680"/>
            <a:ext cx="7955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👨‍👩‍👧‍👦 가장의 책임 완수: </a:t>
            </a:r>
            <a:r>
              <a:rPr lang="en-US" sz="10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가장의 부재나 질병이 가족의 경제적 붕괴로 이어지지 않도록 하는 안전장치. 이는 가족에게 줄 수 있는 가장 큰 사랑이자 책임감의 표현입니다.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🧠 합리적 선택에 대한 만족감: </a:t>
            </a:r>
            <a:r>
              <a:rPr lang="en-US" sz="10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감성에 호소하는 불필요한 보험이 아닌, 데이터와 논리에 기반하여 꼭 필요한 보장을 스스로 판단하고 준비했다는 '스마트한 가장'으로서의 만족감을 얻습니다.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🛡️ 불안감의 완화: </a:t>
            </a:r>
            <a:r>
              <a:rPr lang="en-US" sz="10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'나는 4세대 실손이라 보장이 약하다'는 막연한 불안감에서 벗어나, 어떤 질병이 와도 재무적 부담을 크게 완화할 수 있다는 자신감을 갖게 됩니다.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137160" y="4572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8962E"/>
                </a:solidFill>
              </a:rPr>
              <a:t>19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572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VI. 종합 제언 및 다음 단계 (Final Recommendation)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91947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A5568"/>
                </a:solidFill>
              </a:rPr>
              <a:t>[고소득 IT 직장인] 실손개편 이후 의료비 보완, 선택이 아닌 필수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0" y="491947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5568"/>
                </a:solidFill>
              </a:rPr>
              <a:t>19 / 30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전문가 최종 의견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8229600" cy="3246120"/>
          </a:xfrm>
          <a:prstGeom prst="rect">
            <a:avLst/>
          </a:prstGeom>
          <a:solidFill>
            <a:srgbClr val="F7F8F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57200" y="1051560"/>
            <a:ext cx="54864" cy="3246120"/>
          </a:xfrm>
          <a:prstGeom prst="rect">
            <a:avLst/>
          </a:prstGeom>
          <a:solidFill>
            <a:srgbClr val="3B5BD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40080" y="110642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💬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1371600"/>
            <a:ext cx="79552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"팀장님, 최고의 개발자는 완벽한 코드를 짜는 사람이 아니라, 예외 상황과 버그를 예측하고 미리 대비하는 사람이라고 들었습니다. 재무 설계도 마찬가지입니다."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"4세대 실손보험은 분명 좋은 기본 제도이지만, '고액 비급여'와 '소득 상실'이라는 예외 상황에 대한 대비책이 없다면, 결정적인 순간에 시스템 전체가 흔들릴 수 있습니다."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"오늘 제안 드린 플랜은 불필요한 기능을 추가하는 것이 아니라, 팀장님의 인생이라는 핵심 시스템에 가장 필수적인 '예외 처리(Exception Handling)' 구문을 추가하는 것과 같습니다."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"월 23만 원이라는 비용은, 수억 원의 자산과 가족의 미래가 걸린 시스템이 흔들릴 위험을 완화하는 합리적인 '백업 솔루션(Backup Solution)' 입니다. 논리적으로 판단하고, 합리적으로 준비하십시오. 그것이 최고의 전문가인 팀장님께 가장 어울리는 선택입니다."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137160" y="4572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8962E"/>
                </a:solidFill>
              </a:rPr>
              <a:t>20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572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VI. 종합 제언 — 2. 실행 플랜 (Action Plan)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91947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A5568"/>
                </a:solidFill>
              </a:rPr>
              <a:t>[고소득 IT 직장인] 실손개편 이후 의료비 보완, 선택이 아닌 필수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0" y="491947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5568"/>
                </a:solidFill>
              </a:rPr>
              <a:t>20 / 30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828800" y="914400"/>
            <a:ext cx="5486400" cy="0"/>
          </a:xfrm>
          <a:prstGeom prst="line">
            <a:avLst/>
          </a:prstGeom>
          <a:noFill/>
          <a:ln w="381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1188720" y="731520"/>
            <a:ext cx="365760" cy="365760"/>
          </a:xfrm>
          <a:prstGeom prst="ellipse">
            <a:avLst/>
          </a:prstGeom>
          <a:solidFill>
            <a:srgbClr val="3B5BD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188720" y="731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11430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55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 비교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931920" y="731520"/>
            <a:ext cx="365760" cy="365760"/>
          </a:xfrm>
          <a:prstGeom prst="ellipse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3931920" y="731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5568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0" y="11430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55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건강 고지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675120" y="731520"/>
            <a:ext cx="365760" cy="365760"/>
          </a:xfrm>
          <a:prstGeom prst="ellipse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675120" y="731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5568"/>
                </a:solidFill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0" y="11430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55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청약/분석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1508760"/>
            <a:ext cx="8229600" cy="2194560"/>
          </a:xfrm>
          <a:prstGeom prst="rect">
            <a:avLst/>
          </a:prstGeom>
          <a:solidFill>
            <a:srgbClr val="F7F8F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457200" y="1508760"/>
            <a:ext cx="54864" cy="2194560"/>
          </a:xfrm>
          <a:prstGeom prst="rect">
            <a:avLst/>
          </a:prstGeom>
          <a:solidFill>
            <a:srgbClr val="C8962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40080" y="1581912"/>
            <a:ext cx="79552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2A41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1단계: 상품 비교 및 맞춤 설계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2~3개 주요 보험사의 상품을 비교하여, 고객님의 필요와 예산에 가장 부합하는 최적의 특약 조합을 최종 설계합니다. (실제 보험료는 보험사별로 ±15% 정도 차이가 날 수 있습니다.)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2A41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2단계: 건강 고지 및 심사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 건강 상태를 정확히 고지하고, 보험사의 인수 심사를 진행합니다. (기존 도수치료 이력 등이 있으면 심사에 영향을 줄 수 있으므로 정확한 고지가 필요합니다.)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2A41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3단계: 청약 및 증권 분석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청약 완료 후, 증권을 전달하며 각 보장 항목이 어떤 리스크를 어떻게 보완하는지 다시 한번 명확히 설명해 드립니다.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38404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6B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🤝 3. 평생 파트너 약속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114800"/>
            <a:ext cx="8229600" cy="411480"/>
          </a:xfrm>
          <a:prstGeom prst="rect">
            <a:avLst/>
          </a:prstGeom>
          <a:solidFill>
            <a:srgbClr val="F0FDF4"/>
          </a:solidFill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계약은 관계의 시작입니다. 앞으로 변화하는 의료 환경과 고객님의 생애 주기에 맞춰, 이 포트폴리오가 항상 최적의 상태를 유지할 수 있도록 제가 평생의 '재무 주치의'가 되어 관리해 드릴 것을 약속드립니다.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 컨설턴트 참고용 — 고객 비공개 ]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411480"/>
            <a:ext cx="9144000" cy="4114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137160" y="438912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8962E"/>
                </a:solidFill>
              </a:rPr>
              <a:t>21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3891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VII. 컨설팅 시나리오 (Consulting Scenarios)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491947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A5568"/>
                </a:solidFill>
              </a:rPr>
              <a:t>[고소득 IT 직장인] 실손개편 이후 의료비 보완, 선택이 아닌 필수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2400" y="491947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5568"/>
                </a:solidFill>
              </a:rPr>
              <a:t>21 / 30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상담주제  </a:t>
            </a:r>
            <a:r>
              <a:rPr lang="en-US" sz="10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"4세대 실손의 '숨겨진 지출', 데이터로 완화하는 재무 방어 시스템 구축"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1325880"/>
            <a:ext cx="2743200" cy="228600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A41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[1단계: 상담 시작 - 공감대 형성]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1645920"/>
            <a:ext cx="54864" cy="868680"/>
          </a:xfrm>
          <a:prstGeom prst="rect">
            <a:avLst/>
          </a:prstGeom>
          <a:solidFill>
            <a:srgbClr val="3B5BD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40080" y="1673352"/>
            <a:ext cx="7955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💼 컨설턴트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"팀장님, AI 개발하시면서 가장 중요하게 생각하시는 게 아마 '예외 처리(Exception Handling)'일 것 같습니다. 예측 못한 데이터가 들어왔을 때 시스템이 멈추지 않게 하는 안전장치 말입니다. 사실 우리 인생의 재무 관리도 똑같습니다. '질병'이라는 예측 못한 데이터가 발생했을 때, 우리 가정이 흔들리지 않게 하는 안전장치가 필요하죠."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2606040"/>
            <a:ext cx="2743200" cy="228600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A41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[2단계: 문제 인식 - 데이터 제시]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926080"/>
            <a:ext cx="54864" cy="1234440"/>
          </a:xfrm>
          <a:prstGeom prst="rect">
            <a:avLst/>
          </a:prstGeom>
          <a:solidFill>
            <a:srgbClr val="3B5BD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40080" y="2953512"/>
            <a:ext cx="7955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💼 컨설턴트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"팀장님께서 가진 4세대 실손, 좋은 보험입니다. 하지만 딱 두 가지 구조적 약점이 있습니다."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"첫째, 비급여 항목은 기본적으로 30%를 본인이 내야 합니다. 실제로는 공제금액과 특약 구조에 따라 더 나갈 수도 있습니다. 둘째, 연봉이 높으셔서 급여 항목의 본인부담상한제 혜택이 거의 없습니다. 2025년 기준으로 연간 약 800만 원대 수준인데, 이 기준은 매년 변동됩니다."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"만약 비급여 항암치료비가 5천만 원 나오면, 실손 처리를 받아도 팀장님 통장에서 현금 약 1,500만 원이 빠져나갈 수 있습니다. 이건 제가 만든 말이 아니라, 약관과 제도에 기반한 추정치입니다."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 컨설턴트 참고용 — 고객 비공개 ]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411480"/>
            <a:ext cx="9144000" cy="4114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137160" y="438912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8962E"/>
                </a:solidFill>
              </a:rPr>
              <a:t>22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3891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VII. 컨설팅 시나리오 (계속)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491947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A5568"/>
                </a:solidFill>
              </a:rPr>
              <a:t>[고소득 IT 직장인] 실손개편 이후 의료비 보완, 선택이 아닌 필수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2400" y="491947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5568"/>
                </a:solidFill>
              </a:rPr>
              <a:t>22 / 30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43200" y="960120"/>
            <a:ext cx="5943600" cy="411480"/>
          </a:xfrm>
          <a:prstGeom prst="rect">
            <a:avLst/>
          </a:prstGeom>
          <a:solidFill>
            <a:srgbClr val="FDF4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2743200" y="960120"/>
            <a:ext cx="54864" cy="411480"/>
          </a:xfrm>
          <a:prstGeom prst="rect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2926080" y="96012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👤 CEO: "잠깐만요, 비급여 30%면... 항암치료 5천만 원에 1,500만 원이요? 생각보다 꽤 크네요."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1508760"/>
            <a:ext cx="2743200" cy="228600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A41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[3단계: 솔루션 제안 - 논리적 대안]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1828800"/>
            <a:ext cx="54864" cy="1005840"/>
          </a:xfrm>
          <a:prstGeom prst="rect">
            <a:avLst/>
          </a:prstGeom>
          <a:solidFill>
            <a:srgbClr val="3B5BD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40080" y="1856232"/>
            <a:ext cx="7955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💼 컨설턴트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"이 재무적 부담을 완화할 방법은 명확합니다. '손실이 발생한 다음에 메워주는' 실손 방식이 아니라, '문제가 발생하면 목돈을 먼저 주는' 정액 보장 방식을 추가하는 겁니다."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"예를 들어, 암 진단 시 1억 원을 먼저 통장에 넣어드립니다. 그럼 병원비 본인부담금 약 1,500만 원을 내셔도 8,500만 원이 남습니다. 이 돈은 팀장님이 치료받느라 일하지 못하는 동안에도, 가족의 생활비와 대출금을 해결해 줄 중요한 재원이 되는 거죠."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"다만, 이것이 의료비를 완전히 대체하는 것은 아니고, 실손보험과 함께 사용하여 재무적 부담을 크게 완화하는 보완적 역할을 합니다."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2926080"/>
            <a:ext cx="2286000" cy="228600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A41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[4단계: 현실성 강조]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3246120"/>
            <a:ext cx="54864" cy="777240"/>
          </a:xfrm>
          <a:prstGeom prst="rect">
            <a:avLst/>
          </a:prstGeom>
          <a:solidFill>
            <a:srgbClr val="3B5BD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640080" y="3273552"/>
            <a:ext cx="7955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💼 컨설턴트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"다만, 솔직히 말씀드리면 이런 보장에는 비용이 듭니다. 30대 후반 남성 기준으로 암 진단비 1억 원은 월 약 10만 원 정도가 필요합니다. 뇌, 심장 보장과 수술비, 입원비까지 합치면 월 약 23만 원 수준입니다."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"보험사마다 상품마다 차이가 있어서 ±15% 정도는 변동될 수 있습니다. 하지만 이 23만 원이, 팀장님의 1억 넘는 연봉과 수억 원의 자산을 지키기 위한 합리적인 비용인지는 팀장님께서 판단하실 문제입니다."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 컨설턴트 참고용 — 고객 비공개 ]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411480"/>
            <a:ext cx="9144000" cy="4114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137160" y="438912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8962E"/>
                </a:solidFill>
              </a:rPr>
              <a:t>23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3891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VII. 컨설팅 시나리오 (계속)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491947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A5568"/>
                </a:solidFill>
              </a:rPr>
              <a:t>[고소득 IT 직장인] 실손개편 이후 의료비 보완, 선택이 아닌 필수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2400" y="491947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5568"/>
                </a:solidFill>
              </a:rPr>
              <a:t>23 / 30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43200" y="960120"/>
            <a:ext cx="5943600" cy="411480"/>
          </a:xfrm>
          <a:prstGeom prst="rect">
            <a:avLst/>
          </a:prstGeom>
          <a:solidFill>
            <a:srgbClr val="FDF4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2743200" y="960120"/>
            <a:ext cx="54864" cy="411480"/>
          </a:xfrm>
          <a:prstGeom prst="rect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2926080" y="96012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👤 CEO: "월 23만 원... 1년이면 거의 280만 원인데, 솔직히 안 아프면 좀 아깝지 않을까요?"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1508760"/>
            <a:ext cx="2743200" cy="228600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A41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[5단계: 동의 유도 - 합리적 결론]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1828800"/>
            <a:ext cx="54864" cy="1051560"/>
          </a:xfrm>
          <a:prstGeom prst="rect">
            <a:avLst/>
          </a:prstGeom>
          <a:solidFill>
            <a:srgbClr val="3B5BD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40080" y="1856232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💼 컨설턴트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"그 고민, 충분히 이해합니다. 사실 저도 처음엔 그렇게 생각했거든요."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"그런데 팀장님, 이렇게 생각해보시면 어떨까요? 서버 다운될 확률 낮다고 백업 시스템 안 돌리시진 않으시잖아요. 280만 원은 '쓰지 않길 바라면서 내는 시스템 유지비'입니다. 정작 필요할 때 1억이 들어오면, 그동안 낸 보험료는 전혀 아깝지 않으실 거예요."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"팀장님, 시스템의 취약점을 발견하셨는데, 그대로 방치하시겠습니까? 아니면 지금 바로 '패치(Patch)'하시겠습니까?"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30632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심화 응대 기법 (Objection Handling)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383280"/>
            <a:ext cx="8229600" cy="1234440"/>
          </a:xfrm>
          <a:prstGeom prst="rect">
            <a:avLst/>
          </a:prstGeom>
          <a:solidFill>
            <a:srgbClr val="F7F8F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457200" y="3383280"/>
            <a:ext cx="54864" cy="1234440"/>
          </a:xfrm>
          <a:prstGeom prst="rect">
            <a:avLst/>
          </a:prstGeom>
          <a:solidFill>
            <a:srgbClr val="C8962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40080" y="3438144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🏢 단체보험 반론: "회사 단체보험이 빵빵해서 개인보험은 필요 없는데요?"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40080" y="3703320"/>
            <a:ext cx="7955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응대법: "팀장님, 회사 노트북 반납하실 때 안에 있는 데이터 다 백업하시죠? 단체보험은 '회사 노트북' 같은 겁니다. 퇴사하거나 이직하시는 순간, 그 좋은 보장도 반납하셔야 합니다. 가장 위험한 건 50대 이후 퇴직하시고 나서입니다. 그때 가서 가입하려면 병력 때문에 거절되거나 보험료가 너무 비쌉니다. 퇴사 후에도 사라지지 않는 '개인 백업(Personal Backup)'을 지금 미리 만들어두셔야 합니다."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 컨설턴트 참고용 — 고객 비공개 ]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411480"/>
            <a:ext cx="9144000" cy="4114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137160" y="438912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8962E"/>
                </a:solidFill>
              </a:rPr>
              <a:t>24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3891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VII. 심화 응대 기법 (계속)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491947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A5568"/>
                </a:solidFill>
              </a:rPr>
              <a:t>[고소득 IT 직장인] 실손개편 이후 의료비 보완, 선택이 아닌 필수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2400" y="491947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5568"/>
                </a:solidFill>
              </a:rPr>
              <a:t>24 / 30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960120"/>
            <a:ext cx="8229600" cy="1280160"/>
          </a:xfrm>
          <a:prstGeom prst="rect">
            <a:avLst/>
          </a:prstGeom>
          <a:solidFill>
            <a:srgbClr val="F7F8F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57200" y="960120"/>
            <a:ext cx="54864" cy="1280160"/>
          </a:xfrm>
          <a:prstGeom prst="rect">
            <a:avLst/>
          </a:prstGeom>
          <a:solidFill>
            <a:srgbClr val="C8962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40080" y="1014984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💰 자산가 반론: "저 돈 많습니다. 아프면 그냥 제 돈(주식/예금)으로 내면 됩니다."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40080" y="1280160"/>
            <a:ext cx="7955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응대법: "맞습니다. 팀장님 자산이면 충분히 감당되시죠. 하지만 '타이밍'이 문제입니다. 만약 팀장님이 아프신 시점에 주식 시장이 폭락해 있다면요? 병원비 때문에 -30% 손실 난 주식을 눈물을 머금고 파셔야 할 수도 있습니다. 보험은 자산이 없어서 드는 게 아니라, '내 알짜 자산을 헐값에 팔지 않기 위해' 드는 유동성 헷지(Liquidity Hedge) 수단입니다. 병원비는 보험사 돈으로 내시고, 팀장님 자산은 계속 복리로 불려나가세요."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57200" y="2377440"/>
            <a:ext cx="8229600" cy="1280160"/>
          </a:xfrm>
          <a:prstGeom prst="rect">
            <a:avLst/>
          </a:prstGeom>
          <a:solidFill>
            <a:srgbClr val="F7F8F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457200" y="2377440"/>
            <a:ext cx="54864" cy="1280160"/>
          </a:xfrm>
          <a:prstGeom prst="rect">
            <a:avLst/>
          </a:prstGeom>
          <a:solidFill>
            <a:srgbClr val="C8962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40080" y="2432304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🎲 확률 반론: "저는 건강해서 병원 갈 일이 거의 없어요. 보험료가 아깝습니다."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40080" y="2697480"/>
            <a:ext cx="7955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응대법: "서버가 다운될 확률이 낮다고 해서 백업 서버를 안 두지는 않으시죠? 보험은 '확률'이 아니라 '임팩트(Impact)'를 보고 가입하는 겁니다. 월 23만 원은 1년이면 276만 원입니다. 이 비용으로 1억 원 이상의 재무적 리스크를 방어하는 건, 비용 대비 효과(ROI)가 매우 높은 '리스크 관리 비용'입니다. 소비가 아니라, 팀장님 인생 시스템의 안정성을 높이는 투자라고 생각해 주세요."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137160" y="4572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8962E"/>
                </a:solidFill>
              </a:rPr>
              <a:t>25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572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VIII. 부록 (Appendix) — 1. 전문용어 설명 (1/2)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91947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A5568"/>
                </a:solidFill>
              </a:rPr>
              <a:t>[고소득 IT 직장인] 실손개편 이후 의료비 보완, 선택이 아닌 필수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0" y="491947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5568"/>
                </a:solidFill>
              </a:rPr>
              <a:t>25 / 30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4세대 실손의료보험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051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2021년 7월 1일부터 판매된 표준화된 실손의료보험. 급여와 비급여 보장을 분리하고, 비급여 의료 이용량에 따라 보험료가 할인·할증되는 구조로, 비급여 부분의 자기부담률이 30%로 높아진 것이 특징입니다.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554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438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다만, 실제 본인부담금은 공제금액(비급여의 경우 통상 20만원), 특약 구조, 급여-비급여 연계 방식 등에 따라 달라질 수 있습니다.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1920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비급여 / 급여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'급여'는 국민건강보험이 적용되어 비용의 일부를 공단이 부담하는 항목이며, '비급여'는 건강보험이 적용되지 않아 환자가 비용 전액을 부담하는 항목입니다. (예: 최신 항암제, 로봇수술, 도수치료, 영양주사 등)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8229600" cy="1005840"/>
          </a:xfrm>
          <a:prstGeom prst="rect">
            <a:avLst/>
          </a:prstGeom>
          <a:solidFill>
            <a:srgbClr val="F7F8F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457200" y="2834640"/>
            <a:ext cx="54864" cy="1005840"/>
          </a:xfrm>
          <a:prstGeom prst="rect">
            <a:avLst/>
          </a:prstGeom>
          <a:solidFill>
            <a:srgbClr val="4A55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40080" y="2889504"/>
            <a:ext cx="7955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[참고] 도수치료 급여화 관련 최신 동향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3108960"/>
            <a:ext cx="7955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일부 질환에 한해 건강보험 급여 적용 논의 중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횟수 제한 및 인정 기준 엄격 예상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전면 급여화 시기 불확실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따라서 현재 시점에서는 비급여로 가정하여 보장 공백을 대비하는 것이 합리적입니다.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137160" y="4572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8962E"/>
                </a:solidFill>
              </a:rPr>
              <a:t>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572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VIII. 부록 — 1. 전문용어 설명 (2/2)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91947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A5568"/>
                </a:solidFill>
              </a:rPr>
              <a:t>[고소득 IT 직장인] 실손개편 이후 의료비 보완, 선택이 아닌 필수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0" y="491947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5568"/>
                </a:solidFill>
              </a:rPr>
              <a:t>26 / 30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본인부담상한제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0515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'급여' 항목에 대해, 가입자의 소득 수준에 따라 연간 본인부담금 총액이 일정 기준을 넘지 않도록 하는 제도. 초과 금액은 국민건강보험공단이 부담합니다. 상한액 기준은 매년 보건복지부 고시로 변동되므로 최신 정보를 확인해야 합니다.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645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정액보장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20116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보험 가입 시 약정한 조건(예: 암 진단, 뇌졸중 진단)이 충족되면, 실제 발생한 손해액과 관계없이 약속된 금액(가입금액)을 그대로 지급하는 보상 방식입니다. 실손보험과 달리 의료비 사용 내역과 무관하게 지급됩니다.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137160" y="4572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8962E"/>
                </a:solidFill>
              </a:rPr>
              <a:t>27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572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VIII. 부록 — 2. FAQ (자주 묻는 질문) (1/2)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91947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A5568"/>
                </a:solidFill>
              </a:rPr>
              <a:t>[고소득 IT 직장인] 실손개편 이후 의료비 보완, 선택이 아닌 필수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0" y="491947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5568"/>
                </a:solidFill>
              </a:rPr>
              <a:t>27 / 30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Q1. 회사 단체보험에도 진단비가 있는데, 굳이 개인적으로 또 가입해야 하나요?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0515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A1. 매우 중요한 질문입니다. 단체보험은 '재직 중'에만 보장되는 경우가 대부분이라, 이직이나 퇴사 시 보장이 중단되는 치명적인 단점이 있습니다. 또한, 보장 금액도 1~2천만 원 수준으로, 실제 중대질병 발생 시에는 턱없이 부족합니다. 개인 보험은 퇴사나 이직과 상관없이 평생 보장을 이어갈 수 있는 '나만의 자산'입니다.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783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Q2. 저는 건강해서 병원에 잘 안 갑니다. 보험료가 아깝지 않을까요?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21488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A2. 보험은 '사용할 확률'이 아니라 '발생 시 재무적 충격'을 기준으로 가입하는 금융 상품입니다. 자동차 사고가 날 확률은 낮지만 모두가 자동차 보험에 가입하는 것과 같습니다. 월 23만 원의 비용은, 단 한 번의 중대질병으로 수억 원의 자산이 훼손되는 것을 완화하는 합리적인 '위험 관리 비용(Cost)'입니다.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Q3. 진단비 1억 원은 너무 과한 것 아닌가요? 5천만 원 정도면 충분하지 않나요?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32461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A3. 3대 질병 진단비는 단순히 치료비만을 위한 돈이 아닙니다. 진단비의 진짜 가치는 '소득 상실 보완' 기능에 있습니다. 팀장님의 월 소득이 800만 원임을 감안할 때, 1년간의 연봉(약 1억 원)에 해당하는 진단비를 확보해야, 치료에 전념하는 동안에도 대출 이자를 내고 가족의 생활 수준을 유지할 수 있는 최소한의 안전장치가 됩니다.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137160" y="4572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8962E"/>
                </a:solidFill>
              </a:rPr>
              <a:t>28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572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VIII. 부록 — 2. FAQ (자주 묻는 질문) (2/2)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91947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A5568"/>
                </a:solidFill>
              </a:rPr>
              <a:t>[고소득 IT 직장인] 실손개편 이후 의료비 보완, 선택이 아닌 필수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0" y="491947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5568"/>
                </a:solidFill>
              </a:rPr>
              <a:t>28 / 30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Q4. 실제 보험료는 얼마나 되나요?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0515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A4. 제시된 월 23만 원은 30대 후반 남성 기준 시장 평균이며, 실제 보험료는 보험사별, 상품별로 ±15% 정도 변동될 수 있습니다. 특히 암 진단비 1억 원은 월 8만~12만 원 수준이 일반적입니다. 정확한 보험료는 가입 시점의 나이, 성별, 건강상태, 납입기간, 보장기간 등을 고려하여 여러 보험사의 견적을 비교해 보시기를 권장합니다.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783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Q5. 정액 보장만으로 의료비를 다 해결할 수 있나요?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21488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A5. 아닙니다. 정액 보장은 실손보험을 대체하는 것이 아니라 보완하는 역할을 합니다. 실손보험은 실제 발생한 의료비를 기준으로 보상하고, 정액 보장은 진단 시 목돈을 지급하여 소득 상실, 생활비, 간병비 등을 보완합니다. 두 보험을 함께 활용할 때 가장 효과적인 재무 방어가 가능합니다.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137160" y="4572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8962E"/>
                </a:solidFill>
              </a:rPr>
              <a:t>29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572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VIII. 부록 — 3. 관련 법규·출처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91947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A5568"/>
                </a:solidFill>
              </a:rPr>
              <a:t>[고소득 IT 직장인] 실손개편 이후 의료비 보완, 선택이 아닌 필수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0" y="491947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5568"/>
                </a:solidFill>
              </a:rPr>
              <a:t>29 / 30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실손의료보험 제도 변경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0515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근거: </a:t>
            </a:r>
            <a:r>
              <a:rPr lang="en-US" sz="10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금융위원회 보도자료 ("새로운 실손의료보험 상품이 7.1일 출시됩니다.", 2021.06.28)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내용: </a:t>
            </a:r>
            <a:r>
              <a:rPr lang="en-US" sz="9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해당 자료는 4세대 실손보험의 출시 배경과 목적, 주요 개편 내용을 명시하고 있습니다. 특히 '비급여'에 대한 보장 체계 개편(자기부담률 상향, 보험료 차등제)을 통해 가입자 간 보험료 부담의 형평성을 제고하고, 과잉 의료를 억제하는 것이 주된 목표임을 밝히고 있습니다. 이는 4세대 실손의 보장 구조 변화가 정부 정책의 방향성임을 명확히 보여줍니다.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057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국민건강보험의 법정 본인부담금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24231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근거: </a:t>
            </a:r>
            <a:r>
              <a:rPr lang="en-US" sz="10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국민건강보험법 제44조 (비용의 일부부담) 및 동법 시행령 제19조 (비용의 본인부담)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내용: </a:t>
            </a:r>
            <a:r>
              <a:rPr lang="en-US" sz="9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요양급여 비용의 일부를 가입자 본인이 부담하도록 규정하고 있으며, 구체적인 부담률(예: 입원 20%)과 본인부담상한액에 대한 기준을 제시하고 있습니다. 이 법 조항을 통해 '급여' 항목에 대한 국가의 지원 범위와 한계를 명확히 이해하고, '비급여' 항목에 대한 사적 대비의 필요성을 역설할 수 있습니다.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3429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본인부담상한제 기준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37947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근거: </a:t>
            </a:r>
            <a:r>
              <a:rPr lang="en-US" sz="10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국민건강보험법 제44조 제3항 및 보건복지부 고시 "본인일부부담금 산정특례에 관한 기준"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내용: </a:t>
            </a:r>
            <a:r>
              <a:rPr lang="en-US" sz="9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본인부담상한액은 가입자의 소득수준(건강보험료 부과점수 기준)에 따라 차등 적용되며, 매년 보건복지부 고시로 기준이 변동됩니다. 2025년 기준 소득 10분위(최상위)의 상한액은 연간 약 8백만 원대 수준(연도·유형별로 변동)이나, 이는 행정지침으로 매년 조정되므로 상담 시 최신 기준을 확인해야 합니다.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137160" y="4572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8962E"/>
                </a:solidFill>
              </a:rPr>
              <a:t>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572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VIII. 부록 — 4-5. 인터랙티브 도구 안내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91947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A5568"/>
                </a:solidFill>
              </a:rPr>
              <a:t>[고소득 IT 직장인] 실손개편 이후 의료비 보완, 선택이 아닌 필수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0" y="491947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5568"/>
                </a:solidFill>
              </a:rPr>
              <a:t>30 / 30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777240"/>
            <a:ext cx="8229600" cy="2121747"/>
          </a:xfrm>
          <a:prstGeom prst="rect">
            <a:avLst/>
          </a:prstGeom>
          <a:solidFill>
            <a:srgbClr val="F7F8F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457200" y="777240"/>
            <a:ext cx="54864" cy="2121747"/>
          </a:xfrm>
          <a:prstGeom prst="rect">
            <a:avLst/>
          </a:prstGeom>
          <a:solidFill>
            <a:srgbClr val="C8962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40080" y="893064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📊 4. 4세대 실손 본인부담 시뮬레이터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115824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원본 HTML 인터랙티브 계산기 활용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총 의료비와 비급여 비율을 입력하면 4세대 실손보험의 본인부담금을 자동 계산합니다.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(허리 디스크 300만 / 위암 로봇수술 2천만 / 심근경색 1천5백만 시나리오 포함)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1909572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💰 5. 3대 질병 진단비 권장금액 계산기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2183892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원본 HTML 인터랙티브 계산기 활용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세후 월소득, 소득 공백 기간, 추가 버퍼를 입력하면 권장 진단비를 자동 계산합니다.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(1년 안심 시나리오 / 2년 안심 시나리오 포함)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5166</Words>
  <Application>Microsoft Office PowerPoint</Application>
  <PresentationFormat>화면 슬라이드 쇼(16:9)</PresentationFormat>
  <Paragraphs>511</Paragraphs>
  <Slides>30</Slides>
  <Notes>30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34" baseType="lpstr">
      <vt:lpstr>맑은 고딕</vt:lpstr>
      <vt:lpstr>Arial</vt:lpstr>
      <vt:lpstr>Georgia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컨설팅 특급보고서 | [고소득 IT 직장인] 실손개편 이후 의료비 보완, 선택이 아닌 필수</dc:title>
  <dc:subject>PptxGenJS Presentation</dc:subject>
  <dc:creator>KFPC</dc:creator>
  <cp:lastModifiedBy>에프피센터 한국</cp:lastModifiedBy>
  <cp:revision>2</cp:revision>
  <dcterms:created xsi:type="dcterms:W3CDTF">2026-03-04T05:30:14Z</dcterms:created>
  <dcterms:modified xsi:type="dcterms:W3CDTF">2026-03-04T06:14:09Z</dcterms:modified>
</cp:coreProperties>
</file>