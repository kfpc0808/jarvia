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1" d="100"/>
          <a:sy n="141" d="100"/>
        </p:scale>
        <p:origin x="66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93435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C8962E"/>
          </a:solidFill>
          <a:ln w="12700">
            <a:solidFill>
              <a:srgbClr val="C8962E"/>
            </a:solidFill>
            <a:prstDash val="solid"/>
          </a:ln>
        </p:spPr>
        <p:txBody>
          <a:bodyPr/>
          <a:lstStyle/>
          <a:p>
            <a:endParaRPr lang="ko-KR" altLang="en-US"/>
          </a:p>
        </p:txBody>
      </p:sp>
      <p:sp>
        <p:nvSpPr>
          <p:cNvPr id="3" name="Text 1"/>
          <p:cNvSpPr/>
          <p:nvPr/>
        </p:nvSpPr>
        <p:spPr>
          <a:xfrm>
            <a:off x="731520" y="731520"/>
            <a:ext cx="7680960" cy="457200"/>
          </a:xfrm>
          <a:prstGeom prst="rect">
            <a:avLst/>
          </a:prstGeom>
          <a:noFill/>
          <a:ln/>
        </p:spPr>
        <p:txBody>
          <a:bodyPr wrap="square" rtlCol="0" anchor="ctr"/>
          <a:lstStyle/>
          <a:p>
            <a:pPr marL="0" indent="0" algn="ctr">
              <a:buNone/>
            </a:pPr>
            <a:r>
              <a:rPr lang="en-US" sz="1400" b="1" dirty="0">
                <a:solidFill>
                  <a:srgbClr val="C8962E"/>
                </a:solidFill>
                <a:latin typeface="맑은 고딕" pitchFamily="34" charset="0"/>
                <a:ea typeface="맑은 고딕" pitchFamily="34" charset="-122"/>
                <a:cs typeface="맑은 고딕" pitchFamily="34" charset="-120"/>
              </a:rPr>
              <a:t>컨설팅 특급보고서</a:t>
            </a:r>
            <a:endParaRPr lang="en-US" sz="1400" dirty="0"/>
          </a:p>
        </p:txBody>
      </p:sp>
      <p:sp>
        <p:nvSpPr>
          <p:cNvPr id="4" name="Text 2"/>
          <p:cNvSpPr/>
          <p:nvPr/>
        </p:nvSpPr>
        <p:spPr>
          <a:xfrm>
            <a:off x="731520" y="1371600"/>
            <a:ext cx="7680960" cy="1280160"/>
          </a:xfrm>
          <a:prstGeom prst="rect">
            <a:avLst/>
          </a:prstGeom>
          <a:noFill/>
          <a:ln/>
        </p:spPr>
        <p:txBody>
          <a:bodyPr wrap="square" rtlCol="0" anchor="ctr"/>
          <a:lstStyle/>
          <a:p>
            <a:pPr marL="0" indent="0" algn="ctr">
              <a:lnSpc>
                <a:spcPct val="120000"/>
              </a:lnSpc>
              <a:buNone/>
            </a:pPr>
            <a:r>
              <a:rPr lang="en-US" sz="3200" b="1" dirty="0">
                <a:solidFill>
                  <a:srgbClr val="C8962E"/>
                </a:solidFill>
                <a:latin typeface="맑은 고딕" pitchFamily="34" charset="0"/>
                <a:ea typeface="맑은 고딕" pitchFamily="34" charset="-122"/>
                <a:cs typeface="맑은 고딕" pitchFamily="34" charset="-120"/>
              </a:rPr>
              <a:t>고객의 안정된 미래를 위한</a:t>
            </a:r>
            <a:endParaRPr lang="en-US" sz="3200" dirty="0"/>
          </a:p>
          <a:p>
            <a:pPr marL="0" indent="0" algn="ctr">
              <a:lnSpc>
                <a:spcPct val="120000"/>
              </a:lnSpc>
              <a:buNone/>
            </a:pPr>
            <a:r>
              <a:rPr lang="en-US" sz="3200" b="1" dirty="0">
                <a:solidFill>
                  <a:srgbClr val="C8962E"/>
                </a:solidFill>
                <a:latin typeface="맑은 고딕" pitchFamily="34" charset="0"/>
                <a:ea typeface="맑은 고딕" pitchFamily="34" charset="-122"/>
                <a:cs typeface="맑은 고딕" pitchFamily="34" charset="-120"/>
              </a:rPr>
              <a:t>재무안전망 구축</a:t>
            </a:r>
            <a:endParaRPr lang="en-US" sz="3200" dirty="0"/>
          </a:p>
        </p:txBody>
      </p:sp>
      <p:sp>
        <p:nvSpPr>
          <p:cNvPr id="5" name="Text 3"/>
          <p:cNvSpPr/>
          <p:nvPr/>
        </p:nvSpPr>
        <p:spPr>
          <a:xfrm>
            <a:off x="731520" y="2834640"/>
            <a:ext cx="7680960" cy="640080"/>
          </a:xfrm>
          <a:prstGeom prst="rect">
            <a:avLst/>
          </a:prstGeom>
          <a:noFill/>
          <a:ln/>
        </p:spPr>
        <p:txBody>
          <a:bodyPr wrap="square" rtlCol="0" anchor="ctr"/>
          <a:lstStyle/>
          <a:p>
            <a:pPr marL="0" indent="0" algn="ctr">
              <a:buNone/>
            </a:pPr>
            <a:r>
              <a:rPr lang="en-US" sz="1800" dirty="0">
                <a:solidFill>
                  <a:srgbClr val="CBD5E1"/>
                </a:solidFill>
                <a:latin typeface="맑은 고딕" pitchFamily="34" charset="0"/>
                <a:ea typeface="맑은 고딕" pitchFamily="34" charset="-122"/>
                <a:cs typeface="맑은 고딕" pitchFamily="34" charset="-120"/>
              </a:rPr>
              <a:t>[30대초반 건강한 직장인] 지금이 가장 저렴하게 가입할 수 있는 때</a:t>
            </a:r>
            <a:endParaRPr lang="en-US" sz="1800" dirty="0"/>
          </a:p>
        </p:txBody>
      </p:sp>
      <p:sp>
        <p:nvSpPr>
          <p:cNvPr id="6" name="Text 4"/>
          <p:cNvSpPr/>
          <p:nvPr/>
        </p:nvSpPr>
        <p:spPr>
          <a:xfrm>
            <a:off x="731520" y="3657600"/>
            <a:ext cx="7680960" cy="365760"/>
          </a:xfrm>
          <a:prstGeom prst="rect">
            <a:avLst/>
          </a:prstGeom>
          <a:noFill/>
          <a:ln/>
        </p:spPr>
        <p:txBody>
          <a:bodyPr wrap="square" rtlCol="0" anchor="ctr"/>
          <a:lstStyle/>
          <a:p>
            <a:pPr marL="0" indent="0" algn="ctr">
              <a:buNone/>
            </a:pPr>
            <a:r>
              <a:rPr lang="en-US" sz="1300" dirty="0">
                <a:solidFill>
                  <a:srgbClr val="AABBCC"/>
                </a:solidFill>
                <a:latin typeface="맑은 고딕" pitchFamily="34" charset="0"/>
                <a:ea typeface="맑은 고딕" pitchFamily="34" charset="-122"/>
                <a:cs typeface="맑은 고딕" pitchFamily="34" charset="-120"/>
              </a:rPr>
              <a:t>㈜한국FP센터 KFPC Co., Ltd.</a:t>
            </a:r>
            <a:endParaRPr lang="en-US" sz="1300" dirty="0"/>
          </a:p>
        </p:txBody>
      </p:sp>
      <p:sp>
        <p:nvSpPr>
          <p:cNvPr id="7" name="Text 5"/>
          <p:cNvSpPr/>
          <p:nvPr/>
        </p:nvSpPr>
        <p:spPr>
          <a:xfrm>
            <a:off x="731520" y="4434840"/>
            <a:ext cx="7680960" cy="274320"/>
          </a:xfrm>
          <a:prstGeom prst="rect">
            <a:avLst/>
          </a:prstGeom>
          <a:noFill/>
          <a:ln/>
        </p:spPr>
        <p:txBody>
          <a:bodyPr wrap="square" lIns="0" tIns="0" rIns="0" bIns="0" rtlCol="0" anchor="ctr"/>
          <a:lstStyle/>
          <a:p>
            <a:pPr marL="0" indent="0" algn="ctr">
              <a:buNone/>
            </a:pPr>
            <a:r>
              <a:rPr lang="en-US" sz="750" i="1" dirty="0">
                <a:solidFill>
                  <a:srgbClr val="1B2A4A"/>
                </a:solidFill>
                <a:latin typeface="맑은 고딕" pitchFamily="34" charset="0"/>
                <a:ea typeface="맑은 고딕" pitchFamily="34" charset="-122"/>
                <a:cs typeface="맑은 고딕" pitchFamily="34" charset="-120"/>
              </a:rPr>
              <a:t>본 자료는 AI를 활용하여 생성되었으며, 검증과정을 거쳤으나 참고용으로 사용하시기 바라며, 실무적용 시에는 분야별 전문가와 협의 후 사용하시기 바랍니다.</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548640" y="502920"/>
            <a:ext cx="8412480" cy="411480"/>
          </a:xfrm>
          <a:prstGeom prst="rect">
            <a:avLst/>
          </a:prstGeom>
          <a:noFill/>
          <a:ln/>
        </p:spPr>
        <p:txBody>
          <a:bodyPr wrap="square" lIns="0" tIns="0" rIns="0" bIns="0" rtlCol="0" anchor="ctr"/>
          <a:lstStyle/>
          <a:p>
            <a:pPr marL="0" indent="0" algn="l">
              <a:buNone/>
            </a:pPr>
            <a:r>
              <a:rPr lang="en-US" sz="1600" b="1" dirty="0">
                <a:solidFill>
                  <a:srgbClr val="1B2A4A"/>
                </a:solidFill>
                <a:latin typeface="맑은 고딕" pitchFamily="34" charset="0"/>
                <a:ea typeface="맑은 고딕" pitchFamily="34" charset="-122"/>
                <a:cs typeface="맑은 고딕" pitchFamily="34" charset="-120"/>
              </a:rPr>
              <a:t>자료 읽기에 앞서 / 중요 안내</a:t>
            </a:r>
            <a:endParaRPr lang="en-US" sz="1600" dirty="0"/>
          </a:p>
        </p:txBody>
      </p:sp>
      <p:sp>
        <p:nvSpPr>
          <p:cNvPr id="5" name="Shape 3"/>
          <p:cNvSpPr/>
          <p:nvPr/>
        </p:nvSpPr>
        <p:spPr>
          <a:xfrm>
            <a:off x="457200" y="1051560"/>
            <a:ext cx="8229600" cy="14630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457200" y="1051560"/>
            <a:ext cx="54864" cy="1463040"/>
          </a:xfrm>
          <a:prstGeom prst="rect">
            <a:avLst/>
          </a:prstGeom>
          <a:solidFill>
            <a:srgbClr val="C8962E"/>
          </a:solidFill>
          <a:ln/>
        </p:spPr>
        <p:txBody>
          <a:bodyPr/>
          <a:lstStyle/>
          <a:p>
            <a:endParaRPr lang="ko-KR" altLang="en-US"/>
          </a:p>
        </p:txBody>
      </p:sp>
      <p:sp>
        <p:nvSpPr>
          <p:cNvPr id="7" name="Text 5"/>
          <p:cNvSpPr/>
          <p:nvPr/>
        </p:nvSpPr>
        <p:spPr>
          <a:xfrm>
            <a:off x="640080" y="1124712"/>
            <a:ext cx="7863840" cy="274320"/>
          </a:xfrm>
          <a:prstGeom prst="rect">
            <a:avLst/>
          </a:prstGeom>
          <a:noFill/>
          <a:ln/>
        </p:spPr>
        <p:txBody>
          <a:bodyPr wrap="square" lIns="0" tIns="0" rIns="0" bIns="0" rtlCol="0" anchor="ctr"/>
          <a:lstStyle/>
          <a:p>
            <a:pPr marL="0" indent="0">
              <a:buNone/>
            </a:pPr>
            <a:r>
              <a:rPr lang="en-US" sz="1200" b="1" dirty="0">
                <a:solidFill>
                  <a:srgbClr val="C8962E"/>
                </a:solidFill>
                <a:latin typeface="맑은 고딕" pitchFamily="34" charset="0"/>
                <a:ea typeface="맑은 고딕" pitchFamily="34" charset="-122"/>
                <a:cs typeface="맑은 고딕" pitchFamily="34" charset="-120"/>
              </a:rPr>
              <a:t>자료 읽기에 앞서</a:t>
            </a:r>
            <a:endParaRPr lang="en-US" sz="1200" dirty="0"/>
          </a:p>
        </p:txBody>
      </p:sp>
      <p:sp>
        <p:nvSpPr>
          <p:cNvPr id="8" name="Text 6"/>
          <p:cNvSpPr/>
          <p:nvPr/>
        </p:nvSpPr>
        <p:spPr>
          <a:xfrm>
            <a:off x="640080" y="1417320"/>
            <a:ext cx="7863840" cy="1005840"/>
          </a:xfrm>
          <a:prstGeom prst="rect">
            <a:avLst/>
          </a:prstGeom>
          <a:noFill/>
          <a:ln/>
        </p:spPr>
        <p:txBody>
          <a:bodyPr wrap="square" lIns="0" tIns="0" rIns="0" bIns="0" rtlCol="0" anchor="t"/>
          <a:lstStyle/>
          <a:p>
            <a:pPr marL="0" indent="0">
              <a:lnSpc>
                <a:spcPct val="130000"/>
              </a:lnSpc>
              <a:buNone/>
            </a:pPr>
            <a:r>
              <a:rPr lang="en-US" sz="950" dirty="0">
                <a:solidFill>
                  <a:srgbClr val="2B2B2B"/>
                </a:solidFill>
                <a:latin typeface="맑은 고딕" pitchFamily="34" charset="0"/>
                <a:ea typeface="맑은 고딕" pitchFamily="34" charset="-122"/>
                <a:cs typeface="맑은 고딕" pitchFamily="34" charset="-120"/>
              </a:rPr>
              <a:t>컨설턴트 여러분, 30대 고객은 논리적이고 합리적인 근거를 중시합니다. 단순히 "위험하니까 가입하세요"라는 공포 마케팅보다는, "오늘 가입하지 않으면 내일은 더 비싼 비용을 지불해야 한다"는 기회비용 측면에서 접근해야 합니다. 본 자료는 시장 평균 데이터와 정량적 분석을 통해 고객이 스스로 '지금이 최적기'임을 깨닫게 하는 데 초점을 맞추었습니다. 이 보고서를 활용해 고객의 '건강'이라는 자산을 '경제적 가치'로 전환해 주는 전문적인 상담을 이끄시길 바랍니다.</a:t>
            </a:r>
            <a:endParaRPr lang="en-US" sz="950" dirty="0"/>
          </a:p>
        </p:txBody>
      </p:sp>
      <p:sp>
        <p:nvSpPr>
          <p:cNvPr id="9" name="Shape 7"/>
          <p:cNvSpPr/>
          <p:nvPr/>
        </p:nvSpPr>
        <p:spPr>
          <a:xfrm>
            <a:off x="457200" y="2697480"/>
            <a:ext cx="8229600" cy="16459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0" name="Shape 8"/>
          <p:cNvSpPr/>
          <p:nvPr/>
        </p:nvSpPr>
        <p:spPr>
          <a:xfrm>
            <a:off x="457200" y="2697480"/>
            <a:ext cx="54864" cy="1645920"/>
          </a:xfrm>
          <a:prstGeom prst="rect">
            <a:avLst/>
          </a:prstGeom>
          <a:solidFill>
            <a:srgbClr val="D4382C"/>
          </a:solidFill>
          <a:ln/>
        </p:spPr>
        <p:txBody>
          <a:bodyPr/>
          <a:lstStyle/>
          <a:p>
            <a:endParaRPr lang="ko-KR" altLang="en-US"/>
          </a:p>
        </p:txBody>
      </p:sp>
      <p:sp>
        <p:nvSpPr>
          <p:cNvPr id="11" name="Text 9"/>
          <p:cNvSpPr/>
          <p:nvPr/>
        </p:nvSpPr>
        <p:spPr>
          <a:xfrm>
            <a:off x="640080" y="2770632"/>
            <a:ext cx="7863840" cy="274320"/>
          </a:xfrm>
          <a:prstGeom prst="rect">
            <a:avLst/>
          </a:prstGeom>
          <a:noFill/>
          <a:ln/>
        </p:spPr>
        <p:txBody>
          <a:bodyPr wrap="square" lIns="0" tIns="0" rIns="0" bIns="0" rtlCol="0" anchor="ctr"/>
          <a:lstStyle/>
          <a:p>
            <a:pPr marL="0" indent="0">
              <a:buNone/>
            </a:pPr>
            <a:r>
              <a:rPr lang="en-US" sz="1200" b="1" dirty="0">
                <a:solidFill>
                  <a:srgbClr val="D4382C"/>
                </a:solidFill>
                <a:latin typeface="맑은 고딕" pitchFamily="34" charset="0"/>
                <a:ea typeface="맑은 고딕" pitchFamily="34" charset="-122"/>
                <a:cs typeface="맑은 고딕" pitchFamily="34" charset="-120"/>
              </a:rPr>
              <a:t>【중요 안내】</a:t>
            </a:r>
            <a:endParaRPr lang="en-US" sz="1200" dirty="0"/>
          </a:p>
        </p:txBody>
      </p:sp>
      <p:sp>
        <p:nvSpPr>
          <p:cNvPr id="12" name="Text 10"/>
          <p:cNvSpPr/>
          <p:nvPr/>
        </p:nvSpPr>
        <p:spPr>
          <a:xfrm>
            <a:off x="640080" y="3063240"/>
            <a:ext cx="7863840" cy="1188720"/>
          </a:xfrm>
          <a:prstGeom prst="rect">
            <a:avLst/>
          </a:prstGeom>
          <a:noFill/>
          <a:ln/>
        </p:spPr>
        <p:txBody>
          <a:bodyPr wrap="square" lIns="0" tIns="0" rIns="0" bIns="0" rtlCol="0" anchor="t"/>
          <a:lstStyle/>
          <a:p>
            <a:pPr marL="0" indent="0">
              <a:lnSpc>
                <a:spcPct val="130000"/>
              </a:lnSpc>
              <a:buNone/>
            </a:pPr>
            <a:r>
              <a:rPr lang="en-US" sz="950" dirty="0">
                <a:solidFill>
                  <a:srgbClr val="2B2B2B"/>
                </a:solidFill>
                <a:latin typeface="맑은 고딕" pitchFamily="34" charset="0"/>
                <a:ea typeface="맑은 고딕" pitchFamily="34" charset="-122"/>
                <a:cs typeface="맑은 고딕" pitchFamily="34" charset="-120"/>
              </a:rPr>
              <a:t>본 보고서는 컨설팅 참고자료로 작성되었으며, 실제 보험 가입 및 재무 의사결정 시에는 반드시 보험사 약관, 상품설명서를 확인하고, 세무사·변호사 등 관련 전문가와 협의 후 진행하시기 바랍니다. 본 자료에 제시된 보험료, 보장 내용, 세제 혜택 등은 예시이며, 실제 적용 시 개인별 상황과 보험사 인수 기준, 관련 법령 개정 여부에 따라 달라질 수 있습니다.</a:t>
            </a:r>
            <a:endParaRPr lang="en-US" sz="950" dirty="0"/>
          </a:p>
        </p:txBody>
      </p:sp>
      <p:sp>
        <p:nvSpPr>
          <p:cNvPr id="13" name="Text 11"/>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30대초반 건강한 직장인 | 컨설팅 특급보고서</a:t>
            </a:r>
            <a:endParaRPr lang="en-US" sz="800" dirty="0"/>
          </a:p>
        </p:txBody>
      </p:sp>
      <p:sp>
        <p:nvSpPr>
          <p:cNvPr id="14" name="Text 12"/>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 / 22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02</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서론</a:t>
            </a:r>
            <a:endParaRPr lang="en-US" sz="16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30대초반 건강한 직장인 | 컨설팅 특급보고서</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 / 22</a:t>
            </a:r>
            <a:endParaRPr lang="en-US" sz="800" dirty="0"/>
          </a:p>
        </p:txBody>
      </p:sp>
      <p:sp>
        <p:nvSpPr>
          <p:cNvPr id="7" name="Text 5"/>
          <p:cNvSpPr/>
          <p:nvPr/>
        </p:nvSpPr>
        <p:spPr>
          <a:xfrm>
            <a:off x="457200" y="777240"/>
            <a:ext cx="8229600" cy="1188720"/>
          </a:xfrm>
          <a:prstGeom prst="rect">
            <a:avLst/>
          </a:prstGeom>
          <a:noFill/>
          <a:ln/>
        </p:spPr>
        <p:txBody>
          <a:bodyPr wrap="square" lIns="0" tIns="0" rIns="0" bIns="0" rtlCol="0" anchor="t"/>
          <a:lstStyle/>
          <a:p>
            <a:pPr marL="0" indent="0">
              <a:lnSpc>
                <a:spcPct val="150000"/>
              </a:lnSpc>
              <a:buNone/>
            </a:pPr>
            <a:r>
              <a:rPr lang="en-US" sz="1200" dirty="0">
                <a:solidFill>
                  <a:srgbClr val="2B2B2B"/>
                </a:solidFill>
                <a:latin typeface="맑은 고딕" pitchFamily="34" charset="0"/>
                <a:ea typeface="맑은 고딕" pitchFamily="34" charset="-122"/>
                <a:cs typeface="맑은 고딕" pitchFamily="34" charset="-120"/>
              </a:rPr>
              <a:t>사회초년생을 지나 경제적 자립을 공고히 하는 30대 초반, 이 시기의 고객들에게 '보험'은 우선순위에서 밀리기 일쑤입니다. 당장 눈앞의 재테크나 주거 마련이 더 시급해 보이기 때문입니다. 하지만 금융 전문가의 시각에서 30대 초반의 '건강'과 '젊음'은 그 어떤 금융 상품으로도 살 수 없는 가장 강력한 할인 쿠폰입니다.</a:t>
            </a:r>
            <a:endParaRPr lang="en-US" sz="1200" dirty="0"/>
          </a:p>
        </p:txBody>
      </p:sp>
      <p:sp>
        <p:nvSpPr>
          <p:cNvPr id="8" name="Text 6"/>
          <p:cNvSpPr/>
          <p:nvPr/>
        </p:nvSpPr>
        <p:spPr>
          <a:xfrm>
            <a:off x="457200" y="2103120"/>
            <a:ext cx="8229600" cy="1828800"/>
          </a:xfrm>
          <a:prstGeom prst="rect">
            <a:avLst/>
          </a:prstGeom>
          <a:noFill/>
          <a:ln/>
        </p:spPr>
        <p:txBody>
          <a:bodyPr wrap="square" lIns="0" tIns="0" rIns="0" bIns="0" rtlCol="0" anchor="t"/>
          <a:lstStyle/>
          <a:p>
            <a:pPr marL="0" indent="0">
              <a:lnSpc>
                <a:spcPct val="150000"/>
              </a:lnSpc>
              <a:buNone/>
            </a:pPr>
            <a:r>
              <a:rPr lang="en-US" sz="1200" dirty="0">
                <a:solidFill>
                  <a:srgbClr val="2B2B2B"/>
                </a:solidFill>
                <a:latin typeface="맑은 고딕" pitchFamily="34" charset="0"/>
                <a:ea typeface="맑은 고딕" pitchFamily="34" charset="-122"/>
                <a:cs typeface="맑은 고딕" pitchFamily="34" charset="-120"/>
              </a:rPr>
              <a:t>본 보고서는 보험을 단순한 비용이 아닌, '시간의 가치'를 선점하는 전략적 자산으로 정의합니다. 나이가 들수록, 혹은 병원 기록이 하나라도 생길수록 보험료는 가파르게 상승하며 가입 조건은 까다로워집니다. 오늘 가장 저렴한 가격으로 평생의 보장 뼈대를 구축하고, 이를 통해 미래의 불확실성을 최소 비용으로 통제하는 '생애 주기별 맞춤형 보장 로드맵'을 제시합니다. 본 컨설팅을 통해 고객은 가장 효율적인 방식으로 재무 안전망을 완성하고, 본업과 자산 증식에만 전념할 수 있는 심리적 여유를 얻게 될 것입니다.</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03</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Ⅰ. 고객 프로필 및 재무상황 분석 (1/2)</a:t>
            </a:r>
            <a:endParaRPr lang="en-US" sz="16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30대초반 건강한 직장인 | 컨설팅 특급보고서</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3 / 22</a:t>
            </a:r>
            <a:endParaRPr lang="en-US" sz="800" dirty="0"/>
          </a:p>
        </p:txBody>
      </p:sp>
      <p:sp>
        <p:nvSpPr>
          <p:cNvPr id="7" name="Text 5"/>
          <p:cNvSpPr/>
          <p:nvPr/>
        </p:nvSpPr>
        <p:spPr>
          <a:xfrm>
            <a:off x="457200" y="77724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고객 프로필</a:t>
            </a:r>
            <a:endParaRPr lang="en-US" sz="1400" dirty="0"/>
          </a:p>
        </p:txBody>
      </p:sp>
      <p:sp>
        <p:nvSpPr>
          <p:cNvPr id="8" name="Shape 6"/>
          <p:cNvSpPr/>
          <p:nvPr/>
        </p:nvSpPr>
        <p:spPr>
          <a:xfrm>
            <a:off x="457200" y="1188720"/>
            <a:ext cx="8229600" cy="13716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457200" y="1188720"/>
            <a:ext cx="54864" cy="1371600"/>
          </a:xfrm>
          <a:prstGeom prst="rect">
            <a:avLst/>
          </a:prstGeom>
          <a:solidFill>
            <a:srgbClr val="C8962E"/>
          </a:solidFill>
          <a:ln/>
        </p:spPr>
        <p:txBody>
          <a:bodyPr/>
          <a:lstStyle/>
          <a:p>
            <a:endParaRPr lang="ko-KR" altLang="en-US"/>
          </a:p>
        </p:txBody>
      </p:sp>
      <p:sp>
        <p:nvSpPr>
          <p:cNvPr id="10" name="Text 8"/>
          <p:cNvSpPr/>
          <p:nvPr/>
        </p:nvSpPr>
        <p:spPr>
          <a:xfrm>
            <a:off x="640080" y="1280160"/>
            <a:ext cx="7863840" cy="1188720"/>
          </a:xfrm>
          <a:prstGeom prst="rect">
            <a:avLst/>
          </a:prstGeom>
          <a:noFill/>
          <a:ln/>
        </p:spPr>
        <p:txBody>
          <a:bodyPr wrap="square" lIns="0" tIns="0" rIns="0" bIns="0" rtlCol="0" anchor="t"/>
          <a:lstStyle/>
          <a:p>
            <a:pPr>
              <a:lnSpc>
                <a:spcPct val="140000"/>
              </a:lnSpc>
              <a:buSzPct val="100000"/>
            </a:pPr>
            <a:r>
              <a:rPr lang="en-US" sz="1100" b="1" dirty="0" err="1">
                <a:solidFill>
                  <a:srgbClr val="1B2A4A"/>
                </a:solidFill>
                <a:latin typeface="맑은 고딕" pitchFamily="34" charset="0"/>
                <a:ea typeface="맑은 고딕" pitchFamily="34" charset="-122"/>
                <a:cs typeface="맑은 고딕" pitchFamily="34" charset="-120"/>
              </a:rPr>
              <a:t>성명</a:t>
            </a:r>
            <a:r>
              <a:rPr lang="en-US" sz="1100" b="1" dirty="0">
                <a:solidFill>
                  <a:srgbClr val="1B2A4A"/>
                </a:solidFill>
                <a:latin typeface="맑은 고딕" pitchFamily="34" charset="0"/>
                <a:ea typeface="맑은 고딕" pitchFamily="34" charset="-122"/>
                <a:cs typeface="맑은 고딕" pitchFamily="34" charset="-120"/>
              </a:rPr>
              <a:t>: </a:t>
            </a:r>
            <a:r>
              <a:rPr lang="en-US" sz="1100" dirty="0">
                <a:solidFill>
                  <a:srgbClr val="2B2B2B"/>
                </a:solidFill>
                <a:latin typeface="맑은 고딕" pitchFamily="34" charset="0"/>
                <a:ea typeface="맑은 고딕" pitchFamily="34" charset="-122"/>
                <a:cs typeface="맑은 고딕" pitchFamily="34" charset="-120"/>
              </a:rPr>
              <a:t>김도훈 (가명, 만 32세)</a:t>
            </a:r>
            <a:endParaRPr lang="en-US" sz="1100" dirty="0"/>
          </a:p>
          <a:p>
            <a:pPr marL="0" indent="0">
              <a:lnSpc>
                <a:spcPct val="140000"/>
              </a:lnSpc>
              <a:buNone/>
            </a:pPr>
            <a:r>
              <a:rPr lang="en-US" sz="1100" b="1" dirty="0">
                <a:solidFill>
                  <a:srgbClr val="1B2A4A"/>
                </a:solidFill>
                <a:latin typeface="맑은 고딕" pitchFamily="34" charset="0"/>
                <a:ea typeface="맑은 고딕" pitchFamily="34" charset="-122"/>
                <a:cs typeface="맑은 고딕" pitchFamily="34" charset="-120"/>
              </a:rPr>
              <a:t>직업: </a:t>
            </a:r>
            <a:r>
              <a:rPr lang="en-US" sz="1100" dirty="0">
                <a:solidFill>
                  <a:srgbClr val="2B2B2B"/>
                </a:solidFill>
                <a:latin typeface="맑은 고딕" pitchFamily="34" charset="0"/>
                <a:ea typeface="맑은 고딕" pitchFamily="34" charset="-122"/>
                <a:cs typeface="맑은 고딕" pitchFamily="34" charset="-120"/>
              </a:rPr>
              <a:t>IT 기업 소프트웨어 엔지니어 (근로소득자)</a:t>
            </a:r>
            <a:endParaRPr lang="en-US" sz="1100" dirty="0"/>
          </a:p>
          <a:p>
            <a:pPr marL="0" indent="0">
              <a:lnSpc>
                <a:spcPct val="140000"/>
              </a:lnSpc>
              <a:buNone/>
            </a:pPr>
            <a:r>
              <a:rPr lang="en-US" sz="1100" b="1" dirty="0">
                <a:solidFill>
                  <a:srgbClr val="1B2A4A"/>
                </a:solidFill>
                <a:latin typeface="맑은 고딕" pitchFamily="34" charset="0"/>
                <a:ea typeface="맑은 고딕" pitchFamily="34" charset="-122"/>
                <a:cs typeface="맑은 고딕" pitchFamily="34" charset="-120"/>
              </a:rPr>
              <a:t>라이프스타일: </a:t>
            </a:r>
            <a:r>
              <a:rPr lang="en-US" sz="1100" dirty="0">
                <a:solidFill>
                  <a:srgbClr val="2B2B2B"/>
                </a:solidFill>
                <a:latin typeface="맑은 고딕" pitchFamily="34" charset="0"/>
                <a:ea typeface="맑은 고딕" pitchFamily="34" charset="-122"/>
                <a:cs typeface="맑은 고딕" pitchFamily="34" charset="-120"/>
              </a:rPr>
              <a:t>미혼, 1인 가구. 자기계발과 여행에 관심이 많으며 건강 상태 양호(최근 5년 내 수술/입원력 없음).</a:t>
            </a:r>
            <a:endParaRPr lang="en-US" sz="1100" dirty="0"/>
          </a:p>
          <a:p>
            <a:pPr marL="0" indent="0">
              <a:lnSpc>
                <a:spcPct val="140000"/>
              </a:lnSpc>
              <a:buNone/>
            </a:pPr>
            <a:r>
              <a:rPr lang="en-US" sz="1100" b="1" dirty="0">
                <a:solidFill>
                  <a:srgbClr val="1B2A4A"/>
                </a:solidFill>
                <a:latin typeface="맑은 고딕" pitchFamily="34" charset="0"/>
                <a:ea typeface="맑은 고딕" pitchFamily="34" charset="-122"/>
                <a:cs typeface="맑은 고딕" pitchFamily="34" charset="-120"/>
              </a:rPr>
              <a:t>가족 관계: </a:t>
            </a:r>
            <a:r>
              <a:rPr lang="en-US" sz="1100" dirty="0">
                <a:solidFill>
                  <a:srgbClr val="2B2B2B"/>
                </a:solidFill>
                <a:latin typeface="맑은 고딕" pitchFamily="34" charset="0"/>
                <a:ea typeface="맑은 고딕" pitchFamily="34" charset="-122"/>
                <a:cs typeface="맑은 고딕" pitchFamily="34" charset="-120"/>
              </a:rPr>
              <a:t>부모님(60대, 경제적 자립 상태)</a:t>
            </a:r>
            <a:endParaRPr lang="en-US" sz="1100" dirty="0"/>
          </a:p>
        </p:txBody>
      </p:sp>
      <p:sp>
        <p:nvSpPr>
          <p:cNvPr id="11" name="Text 9"/>
          <p:cNvSpPr/>
          <p:nvPr/>
        </p:nvSpPr>
        <p:spPr>
          <a:xfrm>
            <a:off x="457200" y="274320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재무 현황 분석 (시장평균 및 전문가 분석 기준)</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9545086"/>
              </p:ext>
            </p:extLst>
          </p:nvPr>
        </p:nvGraphicFramePr>
        <p:xfrm>
          <a:off x="457200" y="3154680"/>
          <a:ext cx="8229600" cy="1527048"/>
        </p:xfrm>
        <a:graphic>
          <a:graphicData uri="http://schemas.openxmlformats.org/drawingml/2006/table">
            <a:tbl>
              <a:tblPr/>
              <a:tblGrid>
                <a:gridCol w="22860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20040">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항목</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금액 (월평균)</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비고</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01752">
                <a:tc>
                  <a:txBody>
                    <a:bodyPr/>
                    <a:lstStyle/>
                    <a:p>
                      <a:pPr marL="0" indent="0">
                        <a:buNone/>
                      </a:pPr>
                      <a:r>
                        <a:rPr lang="en-US" sz="1000" b="1" dirty="0">
                          <a:solidFill>
                            <a:srgbClr val="000000"/>
                          </a:solidFill>
                          <a:latin typeface="맑은 고딕" pitchFamily="34" charset="0"/>
                          <a:ea typeface="맑은 고딕" pitchFamily="34" charset="-122"/>
                          <a:cs typeface="맑은 고딕" pitchFamily="34" charset="-120"/>
                        </a:rPr>
                        <a:t>월 총수입</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4,500,000원</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세후 실수령액 기준</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buNone/>
                      </a:pPr>
                      <a:r>
                        <a:rPr lang="en-US" sz="1000" b="1" dirty="0">
                          <a:solidFill>
                            <a:srgbClr val="000000"/>
                          </a:solidFill>
                          <a:latin typeface="맑은 고딕" pitchFamily="34" charset="0"/>
                          <a:ea typeface="맑은 고딕" pitchFamily="34" charset="-122"/>
                          <a:cs typeface="맑은 고딕" pitchFamily="34" charset="-120"/>
                        </a:rPr>
                        <a:t>고정 지출</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2,200,000원</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주거비, 생활비, 통신비 등</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01752">
                <a:tc>
                  <a:txBody>
                    <a:bodyPr/>
                    <a:lstStyle/>
                    <a:p>
                      <a:pPr marL="0" indent="0">
                        <a:buNone/>
                      </a:pPr>
                      <a:r>
                        <a:rPr lang="en-US" sz="1000" b="1" dirty="0">
                          <a:solidFill>
                            <a:srgbClr val="000000"/>
                          </a:solidFill>
                          <a:latin typeface="맑은 고딕" pitchFamily="34" charset="0"/>
                          <a:ea typeface="맑은 고딕" pitchFamily="34" charset="-122"/>
                          <a:cs typeface="맑은 고딕" pitchFamily="34" charset="-120"/>
                        </a:rPr>
                        <a:t>저축 및 투자</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2,000,000원</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적금, 주식, 연금저축 등</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buNone/>
                      </a:pPr>
                      <a:r>
                        <a:rPr lang="en-US" sz="1000" b="1" dirty="0">
                          <a:solidFill>
                            <a:srgbClr val="000000"/>
                          </a:solidFill>
                          <a:latin typeface="맑은 고딕" pitchFamily="34" charset="0"/>
                          <a:ea typeface="맑은 고딕" pitchFamily="34" charset="-122"/>
                          <a:cs typeface="맑은 고딕" pitchFamily="34" charset="-120"/>
                        </a:rPr>
                        <a:t>가용 재무 여력</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tc>
                  <a:txBody>
                    <a:bodyPr/>
                    <a:lstStyle/>
                    <a:p>
                      <a:pPr marL="0" indent="0">
                        <a:buNone/>
                      </a:pPr>
                      <a:r>
                        <a:rPr lang="en-US" sz="1000" b="1" dirty="0">
                          <a:solidFill>
                            <a:srgbClr val="000000"/>
                          </a:solidFill>
                          <a:latin typeface="맑은 고딕" pitchFamily="34" charset="0"/>
                          <a:ea typeface="맑은 고딕" pitchFamily="34" charset="-122"/>
                          <a:cs typeface="맑은 고딕" pitchFamily="34" charset="-120"/>
                        </a:rPr>
                        <a:t>300,000원</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보장 자산 구축 가능 예산</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04</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Ⅰ. 고객 프로필 및 재무상황 분석 (2/2)</a:t>
            </a:r>
            <a:endParaRPr lang="en-US" sz="16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30대초반 건강한 직장인 | 컨설팅 특급보고서</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4 / 22</a:t>
            </a:r>
            <a:endParaRPr lang="en-US" sz="800" dirty="0"/>
          </a:p>
        </p:txBody>
      </p:sp>
      <p:sp>
        <p:nvSpPr>
          <p:cNvPr id="7" name="Text 5"/>
          <p:cNvSpPr/>
          <p:nvPr/>
        </p:nvSpPr>
        <p:spPr>
          <a:xfrm>
            <a:off x="457200" y="77724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3. 인생 목표 및 리스크 분석</a:t>
            </a:r>
            <a:endParaRPr lang="en-US" sz="1400" dirty="0"/>
          </a:p>
        </p:txBody>
      </p:sp>
      <p:sp>
        <p:nvSpPr>
          <p:cNvPr id="8" name="Text 6"/>
          <p:cNvSpPr/>
          <p:nvPr/>
        </p:nvSpPr>
        <p:spPr>
          <a:xfrm>
            <a:off x="640080" y="1188720"/>
            <a:ext cx="7863840" cy="640080"/>
          </a:xfrm>
          <a:prstGeom prst="rect">
            <a:avLst/>
          </a:prstGeom>
          <a:noFill/>
          <a:ln/>
        </p:spPr>
        <p:txBody>
          <a:bodyPr wrap="square" lIns="0" tIns="0" rIns="0" bIns="0" rtlCol="0" anchor="t"/>
          <a:lstStyle/>
          <a:p>
            <a:pPr>
              <a:lnSpc>
                <a:spcPct val="150000"/>
              </a:lnSpc>
              <a:buSzPct val="100000"/>
            </a:pPr>
            <a:r>
              <a:rPr lang="en-US" sz="1100" b="1" dirty="0">
                <a:solidFill>
                  <a:srgbClr val="1B2A4A"/>
                </a:solidFill>
                <a:latin typeface="맑은 고딕" pitchFamily="34" charset="0"/>
                <a:ea typeface="맑은 고딕" pitchFamily="34" charset="-122"/>
                <a:cs typeface="맑은 고딕" pitchFamily="34" charset="-120"/>
              </a:rPr>
              <a:t>단기/중기 목표: </a:t>
            </a:r>
            <a:r>
              <a:rPr lang="en-US" sz="1100" dirty="0">
                <a:solidFill>
                  <a:srgbClr val="2B2B2B"/>
                </a:solidFill>
                <a:latin typeface="맑은 고딕" pitchFamily="34" charset="0"/>
                <a:ea typeface="맑은 고딕" pitchFamily="34" charset="-122"/>
                <a:cs typeface="맑은 고딕" pitchFamily="34" charset="-120"/>
              </a:rPr>
              <a:t>5년 내 결혼 및 전세 자금 상향 이동.</a:t>
            </a:r>
            <a:endParaRPr lang="en-US" sz="1100" dirty="0"/>
          </a:p>
          <a:p>
            <a:pPr marL="0" indent="0">
              <a:lnSpc>
                <a:spcPct val="150000"/>
              </a:lnSpc>
              <a:buNone/>
            </a:pPr>
            <a:r>
              <a:rPr lang="en-US" sz="1100" b="1" dirty="0">
                <a:solidFill>
                  <a:srgbClr val="1B2A4A"/>
                </a:solidFill>
                <a:latin typeface="맑은 고딕" pitchFamily="34" charset="0"/>
                <a:ea typeface="맑은 고딕" pitchFamily="34" charset="-122"/>
                <a:cs typeface="맑은 고딕" pitchFamily="34" charset="-120"/>
              </a:rPr>
              <a:t>장기 목표: </a:t>
            </a:r>
            <a:r>
              <a:rPr lang="en-US" sz="1100" dirty="0">
                <a:solidFill>
                  <a:srgbClr val="2B2B2B"/>
                </a:solidFill>
                <a:latin typeface="맑은 고딕" pitchFamily="34" charset="0"/>
                <a:ea typeface="맑은 고딕" pitchFamily="34" charset="-122"/>
                <a:cs typeface="맑은 고딕" pitchFamily="34" charset="-120"/>
              </a:rPr>
              <a:t>50대 조기 은퇴(Fire족) 및 안정적인 노후 자산 확보.</a:t>
            </a:r>
            <a:endParaRPr lang="en-US" sz="1100" dirty="0"/>
          </a:p>
        </p:txBody>
      </p:sp>
      <p:sp>
        <p:nvSpPr>
          <p:cNvPr id="9" name="Text 7"/>
          <p:cNvSpPr/>
          <p:nvPr/>
        </p:nvSpPr>
        <p:spPr>
          <a:xfrm>
            <a:off x="457200" y="2011680"/>
            <a:ext cx="8229600" cy="320040"/>
          </a:xfrm>
          <a:prstGeom prst="rect">
            <a:avLst/>
          </a:prstGeom>
          <a:noFill/>
          <a:ln/>
        </p:spPr>
        <p:txBody>
          <a:bodyPr wrap="square" lIns="0" tIns="0" rIns="0" bIns="0" rtlCol="0" anchor="ctr"/>
          <a:lstStyle/>
          <a:p>
            <a:pPr marL="0" indent="0">
              <a:buNone/>
            </a:pPr>
            <a:r>
              <a:rPr lang="en-US" sz="1300" b="1" dirty="0">
                <a:solidFill>
                  <a:srgbClr val="1B2A4A"/>
                </a:solidFill>
                <a:latin typeface="맑은 고딕" pitchFamily="34" charset="0"/>
                <a:ea typeface="맑은 고딕" pitchFamily="34" charset="-122"/>
                <a:cs typeface="맑은 고딕" pitchFamily="34" charset="-120"/>
              </a:rPr>
              <a:t>핵심 리스크 진단:</a:t>
            </a:r>
            <a:endParaRPr lang="en-US" sz="1300" dirty="0"/>
          </a:p>
        </p:txBody>
      </p:sp>
      <p:sp>
        <p:nvSpPr>
          <p:cNvPr id="10" name="Shape 8"/>
          <p:cNvSpPr/>
          <p:nvPr/>
        </p:nvSpPr>
        <p:spPr>
          <a:xfrm>
            <a:off x="457200" y="2423160"/>
            <a:ext cx="8229600" cy="5943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2423160"/>
            <a:ext cx="54864" cy="594360"/>
          </a:xfrm>
          <a:prstGeom prst="rect">
            <a:avLst/>
          </a:prstGeom>
          <a:solidFill>
            <a:srgbClr val="D4382C"/>
          </a:solidFill>
          <a:ln/>
        </p:spPr>
        <p:txBody>
          <a:bodyPr/>
          <a:lstStyle/>
          <a:p>
            <a:endParaRPr lang="ko-KR" altLang="en-US"/>
          </a:p>
        </p:txBody>
      </p:sp>
      <p:sp>
        <p:nvSpPr>
          <p:cNvPr id="12" name="Text 10"/>
          <p:cNvSpPr/>
          <p:nvPr/>
        </p:nvSpPr>
        <p:spPr>
          <a:xfrm>
            <a:off x="640080" y="2514600"/>
            <a:ext cx="7863840" cy="411480"/>
          </a:xfrm>
          <a:prstGeom prst="rect">
            <a:avLst/>
          </a:prstGeom>
          <a:noFill/>
          <a:ln/>
        </p:spPr>
        <p:txBody>
          <a:bodyPr wrap="square" lIns="0" tIns="0" rIns="0" bIns="0" rtlCol="0" anchor="t"/>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신체적 리스크: </a:t>
            </a:r>
            <a:r>
              <a:rPr lang="en-US" sz="1100" dirty="0">
                <a:solidFill>
                  <a:srgbClr val="2B2B2B"/>
                </a:solidFill>
                <a:latin typeface="맑은 고딕" pitchFamily="34" charset="0"/>
                <a:ea typeface="맑은 고딕" pitchFamily="34" charset="-122"/>
                <a:cs typeface="맑은 고딕" pitchFamily="34" charset="-120"/>
              </a:rPr>
              <a:t>젊은 층에서 급증하는 '중증 질병(암 등)' 발생 시 고수입 단절 및 자산 형성 중단.</a:t>
            </a:r>
            <a:endParaRPr lang="en-US" sz="1100" dirty="0"/>
          </a:p>
        </p:txBody>
      </p:sp>
      <p:sp>
        <p:nvSpPr>
          <p:cNvPr id="13" name="Shape 11"/>
          <p:cNvSpPr/>
          <p:nvPr/>
        </p:nvSpPr>
        <p:spPr>
          <a:xfrm>
            <a:off x="457200" y="3200400"/>
            <a:ext cx="8229600" cy="5943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4" name="Shape 12"/>
          <p:cNvSpPr/>
          <p:nvPr/>
        </p:nvSpPr>
        <p:spPr>
          <a:xfrm>
            <a:off x="457200" y="3200400"/>
            <a:ext cx="54864" cy="594360"/>
          </a:xfrm>
          <a:prstGeom prst="rect">
            <a:avLst/>
          </a:prstGeom>
          <a:solidFill>
            <a:srgbClr val="D4382C"/>
          </a:solidFill>
          <a:ln/>
        </p:spPr>
        <p:txBody>
          <a:bodyPr/>
          <a:lstStyle/>
          <a:p>
            <a:endParaRPr lang="ko-KR" altLang="en-US"/>
          </a:p>
        </p:txBody>
      </p:sp>
      <p:sp>
        <p:nvSpPr>
          <p:cNvPr id="15" name="Text 13"/>
          <p:cNvSpPr/>
          <p:nvPr/>
        </p:nvSpPr>
        <p:spPr>
          <a:xfrm>
            <a:off x="640080" y="3291840"/>
            <a:ext cx="7863840" cy="411480"/>
          </a:xfrm>
          <a:prstGeom prst="rect">
            <a:avLst/>
          </a:prstGeom>
          <a:noFill/>
          <a:ln/>
        </p:spPr>
        <p:txBody>
          <a:bodyPr wrap="square" lIns="0" tIns="0" rIns="0" bIns="0" rtlCol="0" anchor="t"/>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경제적 리스크: </a:t>
            </a:r>
            <a:r>
              <a:rPr lang="en-US" sz="1100" dirty="0">
                <a:solidFill>
                  <a:srgbClr val="2B2B2B"/>
                </a:solidFill>
                <a:latin typeface="맑은 고딕" pitchFamily="34" charset="0"/>
                <a:ea typeface="맑은 고딕" pitchFamily="34" charset="-122"/>
                <a:cs typeface="맑은 고딕" pitchFamily="34" charset="-120"/>
              </a:rPr>
              <a:t>의료비 상승 및 고령화에 따른 장기 간병 리스크 대비 부재.</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05</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Ⅱ. 제안서 요약 (Executive Summary) (1/2)</a:t>
            </a:r>
            <a:endParaRPr lang="en-US" sz="16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30대초반 건강한 직장인 | 컨설팅 특급보고서</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5 / 22</a:t>
            </a:r>
            <a:endParaRPr lang="en-US" sz="800" dirty="0"/>
          </a:p>
        </p:txBody>
      </p:sp>
      <p:sp>
        <p:nvSpPr>
          <p:cNvPr id="7" name="Text 5"/>
          <p:cNvSpPr/>
          <p:nvPr/>
        </p:nvSpPr>
        <p:spPr>
          <a:xfrm>
            <a:off x="457200" y="77724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핵심 재무과제</a:t>
            </a:r>
            <a:endParaRPr lang="en-US" sz="1400" dirty="0"/>
          </a:p>
        </p:txBody>
      </p:sp>
      <p:sp>
        <p:nvSpPr>
          <p:cNvPr id="8" name="Text 6"/>
          <p:cNvSpPr/>
          <p:nvPr/>
        </p:nvSpPr>
        <p:spPr>
          <a:xfrm>
            <a:off x="457200" y="1188720"/>
            <a:ext cx="8229600" cy="594360"/>
          </a:xfrm>
          <a:prstGeom prst="rect">
            <a:avLst/>
          </a:prstGeom>
          <a:noFill/>
          <a:ln/>
        </p:spPr>
        <p:txBody>
          <a:bodyPr wrap="square" lIns="0" tIns="0" rIns="0" bIns="0" rtlCol="0" anchor="t"/>
          <a:lstStyle/>
          <a:p>
            <a:pPr marL="0" indent="0">
              <a:lnSpc>
                <a:spcPct val="140000"/>
              </a:lnSpc>
              <a:buNone/>
            </a:pPr>
            <a:r>
              <a:rPr lang="en-US" sz="1100" dirty="0">
                <a:solidFill>
                  <a:srgbClr val="2B2B2B"/>
                </a:solidFill>
                <a:latin typeface="맑은 고딕" pitchFamily="34" charset="0"/>
                <a:ea typeface="맑은 고딕" pitchFamily="34" charset="-122"/>
                <a:cs typeface="맑은 고딕" pitchFamily="34" charset="-120"/>
              </a:rPr>
              <a:t>현재 김도훈 고객님은 건강과 소득은 안정적이나, 예상치 못한 질병/사고 발생 시 공든 탑처럼 쌓아온 저축 계획이 한순간에 무너질 수 있는 '재무적 보장 공백 상태'입니다.</a:t>
            </a:r>
            <a:endParaRPr lang="en-US" sz="1100" dirty="0"/>
          </a:p>
        </p:txBody>
      </p:sp>
      <p:sp>
        <p:nvSpPr>
          <p:cNvPr id="9" name="Text 7"/>
          <p:cNvSpPr/>
          <p:nvPr/>
        </p:nvSpPr>
        <p:spPr>
          <a:xfrm>
            <a:off x="457200" y="187452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솔루션 요약</a:t>
            </a:r>
            <a:endParaRPr lang="en-US" sz="1400" dirty="0"/>
          </a:p>
        </p:txBody>
      </p:sp>
      <p:sp>
        <p:nvSpPr>
          <p:cNvPr id="10" name="Text 8"/>
          <p:cNvSpPr/>
          <p:nvPr/>
        </p:nvSpPr>
        <p:spPr>
          <a:xfrm>
            <a:off x="640080" y="2240280"/>
            <a:ext cx="7863840" cy="1463040"/>
          </a:xfrm>
          <a:prstGeom prst="rect">
            <a:avLst/>
          </a:prstGeom>
          <a:noFill/>
          <a:ln/>
        </p:spPr>
        <p:txBody>
          <a:bodyPr wrap="square" lIns="0" tIns="0" rIns="0" bIns="0" rtlCol="0" anchor="t"/>
          <a:lstStyle/>
          <a:p>
            <a:pPr>
              <a:lnSpc>
                <a:spcPct val="130000"/>
              </a:lnSpc>
              <a:buSzPct val="100000"/>
            </a:pPr>
            <a:r>
              <a:rPr lang="en-US" sz="1050" b="1" dirty="0">
                <a:solidFill>
                  <a:srgbClr val="1B2A4A"/>
                </a:solidFill>
                <a:latin typeface="맑은 고딕" pitchFamily="34" charset="0"/>
                <a:ea typeface="맑은 고딕" pitchFamily="34" charset="-122"/>
                <a:cs typeface="맑은 고딕" pitchFamily="34" charset="-120"/>
              </a:rPr>
              <a:t>뼈대 구축: </a:t>
            </a:r>
            <a:r>
              <a:rPr lang="en-US" sz="1050" dirty="0">
                <a:solidFill>
                  <a:srgbClr val="2B2B2B"/>
                </a:solidFill>
                <a:latin typeface="맑은 고딕" pitchFamily="34" charset="0"/>
                <a:ea typeface="맑은 고딕" pitchFamily="34" charset="-122"/>
                <a:cs typeface="맑은 고딕" pitchFamily="34" charset="-120"/>
              </a:rPr>
              <a:t>실손의료비(갱신형) + 3대 질병(암·뇌혈관질환·허혈성심장질환) 진단비 중심의 핵심 보장 구성.</a:t>
            </a:r>
            <a:endParaRPr lang="en-US" sz="1050" dirty="0"/>
          </a:p>
          <a:p>
            <a:pPr marL="0" indent="0">
              <a:lnSpc>
                <a:spcPct val="130000"/>
              </a:lnSpc>
              <a:buNone/>
            </a:pPr>
            <a:r>
              <a:rPr lang="en-US" sz="1050" b="1" dirty="0">
                <a:solidFill>
                  <a:srgbClr val="1B2A4A"/>
                </a:solidFill>
                <a:latin typeface="맑은 고딕" pitchFamily="34" charset="0"/>
                <a:ea typeface="맑은 고딕" pitchFamily="34" charset="-122"/>
                <a:cs typeface="맑은 고딕" pitchFamily="34" charset="-120"/>
              </a:rPr>
              <a:t>가성비 극대화: </a:t>
            </a:r>
            <a:r>
              <a:rPr lang="en-US" sz="1050" dirty="0">
                <a:solidFill>
                  <a:srgbClr val="2B2B2B"/>
                </a:solidFill>
                <a:latin typeface="맑은 고딕" pitchFamily="34" charset="0"/>
                <a:ea typeface="맑은 고딕" pitchFamily="34" charset="-122"/>
                <a:cs typeface="맑은 고딕" pitchFamily="34" charset="-120"/>
              </a:rPr>
              <a:t>진단비/수술비는 보험료 변동 없는 비갱신형으로 확정, 실손의료비는 갱신형(연령·손해율에 따라 변동 가능)</a:t>
            </a:r>
            <a:r>
              <a:rPr lang="en-US" sz="1050" dirty="0" err="1">
                <a:solidFill>
                  <a:srgbClr val="2B2B2B"/>
                </a:solidFill>
                <a:latin typeface="맑은 고딕" pitchFamily="34" charset="0"/>
                <a:ea typeface="맑은 고딕" pitchFamily="34" charset="-122"/>
                <a:cs typeface="맑은 고딕" pitchFamily="34" charset="-120"/>
              </a:rPr>
              <a:t>으로</a:t>
            </a:r>
            <a:endParaRPr lang="en-US" sz="1050" dirty="0">
              <a:solidFill>
                <a:srgbClr val="2B2B2B"/>
              </a:solidFill>
              <a:latin typeface="맑은 고딕" pitchFamily="34" charset="0"/>
              <a:ea typeface="맑은 고딕" pitchFamily="34" charset="-122"/>
              <a:cs typeface="맑은 고딕" pitchFamily="34" charset="-120"/>
            </a:endParaRPr>
          </a:p>
          <a:p>
            <a:pPr marL="0" indent="0">
              <a:lnSpc>
                <a:spcPct val="130000"/>
              </a:lnSpc>
              <a:buNone/>
            </a:pPr>
            <a:r>
              <a:rPr lang="en-US" sz="1050" dirty="0" err="1">
                <a:solidFill>
                  <a:srgbClr val="2B2B2B"/>
                </a:solidFill>
                <a:latin typeface="맑은 고딕" pitchFamily="34" charset="0"/>
                <a:ea typeface="맑은 고딕" pitchFamily="34" charset="-122"/>
                <a:cs typeface="맑은 고딕" pitchFamily="34" charset="-120"/>
              </a:rPr>
              <a:t>분리</a:t>
            </a:r>
            <a:r>
              <a:rPr lang="en-US" sz="1050" dirty="0">
                <a:solidFill>
                  <a:srgbClr val="2B2B2B"/>
                </a:solidFill>
                <a:latin typeface="맑은 고딕" pitchFamily="34" charset="0"/>
                <a:ea typeface="맑은 고딕" pitchFamily="34" charset="-122"/>
                <a:cs typeface="맑은 고딕" pitchFamily="34" charset="-120"/>
              </a:rPr>
              <a:t> 설계. 일반 상품 대비 저렴한 무해지환급형 조합.</a:t>
            </a:r>
            <a:endParaRPr lang="en-US" sz="1050" dirty="0"/>
          </a:p>
          <a:p>
            <a:pPr marL="0" indent="0">
              <a:lnSpc>
                <a:spcPct val="130000"/>
              </a:lnSpc>
              <a:buNone/>
            </a:pPr>
            <a:r>
              <a:rPr lang="en-US" sz="1050" b="1" dirty="0">
                <a:solidFill>
                  <a:srgbClr val="1B2A4A"/>
                </a:solidFill>
                <a:latin typeface="맑은 고딕" pitchFamily="34" charset="0"/>
                <a:ea typeface="맑은 고딕" pitchFamily="34" charset="-122"/>
                <a:cs typeface="맑은 고딕" pitchFamily="34" charset="-120"/>
              </a:rPr>
              <a:t>유연한 설계: </a:t>
            </a:r>
            <a:r>
              <a:rPr lang="en-US" sz="1050" dirty="0">
                <a:solidFill>
                  <a:srgbClr val="2B2B2B"/>
                </a:solidFill>
                <a:latin typeface="맑은 고딕" pitchFamily="34" charset="0"/>
                <a:ea typeface="맑은 고딕" pitchFamily="34" charset="-122"/>
                <a:cs typeface="맑은 고딕" pitchFamily="34" charset="-120"/>
              </a:rPr>
              <a:t>현재는 핵심 보장에 집중하고, 향후 결혼 등 라이프 이벤트 시점에 맞춰 보장을 보완하는 단계적 플랜.</a:t>
            </a:r>
            <a:endParaRPr lang="en-US" sz="1050" dirty="0"/>
          </a:p>
        </p:txBody>
      </p:sp>
      <p:sp>
        <p:nvSpPr>
          <p:cNvPr id="11" name="Text 9"/>
          <p:cNvSpPr/>
          <p:nvPr/>
        </p:nvSpPr>
        <p:spPr>
          <a:xfrm>
            <a:off x="457200" y="379476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3. 기대 변화</a:t>
            </a:r>
            <a:endParaRPr lang="en-US" sz="1400" dirty="0"/>
          </a:p>
        </p:txBody>
      </p:sp>
      <p:sp>
        <p:nvSpPr>
          <p:cNvPr id="12" name="Text 10"/>
          <p:cNvSpPr/>
          <p:nvPr/>
        </p:nvSpPr>
        <p:spPr>
          <a:xfrm>
            <a:off x="640080" y="4160520"/>
            <a:ext cx="7863840" cy="914400"/>
          </a:xfrm>
          <a:prstGeom prst="rect">
            <a:avLst/>
          </a:prstGeom>
          <a:noFill/>
          <a:ln/>
        </p:spPr>
        <p:txBody>
          <a:bodyPr wrap="square" lIns="0" tIns="0" rIns="0" bIns="0" rtlCol="0" anchor="t"/>
          <a:lstStyle/>
          <a:p>
            <a:pPr>
              <a:lnSpc>
                <a:spcPct val="130000"/>
              </a:lnSpc>
              <a:buSzPct val="100000"/>
            </a:pPr>
            <a:r>
              <a:rPr lang="en-US" sz="1050" b="1" dirty="0">
                <a:solidFill>
                  <a:srgbClr val="1B2A4A"/>
                </a:solidFill>
                <a:latin typeface="맑은 고딕" pitchFamily="34" charset="0"/>
                <a:ea typeface="맑은 고딕" pitchFamily="34" charset="-122"/>
                <a:cs typeface="맑은 고딕" pitchFamily="34" charset="-120"/>
              </a:rPr>
              <a:t>정량적: </a:t>
            </a:r>
            <a:r>
              <a:rPr lang="en-US" sz="1050" dirty="0">
                <a:solidFill>
                  <a:srgbClr val="2B2B2B"/>
                </a:solidFill>
                <a:latin typeface="맑은 고딕" pitchFamily="34" charset="0"/>
                <a:ea typeface="맑은 고딕" pitchFamily="34" charset="-122"/>
                <a:cs typeface="맑은 고딕" pitchFamily="34" charset="-120"/>
              </a:rPr>
              <a:t>10년 뒤 가입 대비 총 납입 보험료 약 1,300만 원 이상의 비용 절감 효과 예상(가정: 표준체 기준, 20년납 비갱신 </a:t>
            </a:r>
            <a:r>
              <a:rPr lang="en-US" sz="1050" dirty="0" err="1">
                <a:solidFill>
                  <a:srgbClr val="2B2B2B"/>
                </a:solidFill>
                <a:latin typeface="맑은 고딕" pitchFamily="34" charset="0"/>
                <a:ea typeface="맑은 고딕" pitchFamily="34" charset="-122"/>
                <a:cs typeface="맑은 고딕" pitchFamily="34" charset="-120"/>
              </a:rPr>
              <a:t>담보</a:t>
            </a:r>
            <a:r>
              <a:rPr lang="en-US" sz="1050" dirty="0">
                <a:solidFill>
                  <a:srgbClr val="2B2B2B"/>
                </a:solidFill>
                <a:latin typeface="맑은 고딕" pitchFamily="34" charset="0"/>
                <a:ea typeface="맑은 고딕" pitchFamily="34" charset="-122"/>
                <a:cs typeface="맑은 고딕" pitchFamily="34" charset="-120"/>
              </a:rPr>
              <a:t>,</a:t>
            </a:r>
          </a:p>
          <a:p>
            <a:pPr>
              <a:lnSpc>
                <a:spcPct val="130000"/>
              </a:lnSpc>
              <a:buSzPct val="100000"/>
            </a:pPr>
            <a:r>
              <a:rPr lang="en-US" sz="1050" dirty="0" err="1">
                <a:solidFill>
                  <a:srgbClr val="2B2B2B"/>
                </a:solidFill>
                <a:latin typeface="맑은 고딕" pitchFamily="34" charset="0"/>
                <a:ea typeface="맑은 고딕" pitchFamily="34" charset="-122"/>
                <a:cs typeface="맑은 고딕" pitchFamily="34" charset="-120"/>
              </a:rPr>
              <a:t>업계</a:t>
            </a:r>
            <a:r>
              <a:rPr lang="en-US" sz="1050" dirty="0">
                <a:solidFill>
                  <a:srgbClr val="2B2B2B"/>
                </a:solidFill>
                <a:latin typeface="맑은 고딕" pitchFamily="34" charset="0"/>
                <a:ea typeface="맑은 고딕" pitchFamily="34" charset="-122"/>
                <a:cs typeface="맑은 고딕" pitchFamily="34" charset="-120"/>
              </a:rPr>
              <a:t> 평균 연령별 가산율 적용 시. 실제 금액은 가입 시점 보험료, 담보 구성, 보험사별 요율에 따라 상이할 수 있음).</a:t>
            </a:r>
            <a:endParaRPr lang="en-US" sz="1050" dirty="0"/>
          </a:p>
          <a:p>
            <a:pPr marL="0" indent="0">
              <a:lnSpc>
                <a:spcPct val="130000"/>
              </a:lnSpc>
              <a:buNone/>
            </a:pPr>
            <a:r>
              <a:rPr lang="en-US" sz="1050" b="1" dirty="0">
                <a:solidFill>
                  <a:srgbClr val="1B2A4A"/>
                </a:solidFill>
                <a:latin typeface="맑은 고딕" pitchFamily="34" charset="0"/>
                <a:ea typeface="맑은 고딕" pitchFamily="34" charset="-122"/>
                <a:cs typeface="맑은 고딕" pitchFamily="34" charset="-120"/>
              </a:rPr>
              <a:t>정성적: </a:t>
            </a:r>
            <a:r>
              <a:rPr lang="en-US" sz="1050" dirty="0">
                <a:solidFill>
                  <a:srgbClr val="2B2B2B"/>
                </a:solidFill>
                <a:latin typeface="맑은 고딕" pitchFamily="34" charset="0"/>
                <a:ea typeface="맑은 고딕" pitchFamily="34" charset="-122"/>
                <a:cs typeface="맑은 고딕" pitchFamily="34" charset="-120"/>
              </a:rPr>
              <a:t>어떤 상황에서도 나의 저축과 투자가 보호받는다는 '재무적 자신감' 확보.</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06</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Ⅱ. 제안서 요약 (Executive Summary) (2/2)</a:t>
            </a:r>
            <a:endParaRPr lang="en-US" sz="16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30대초반 건강한 직장인 | 컨설팅 특급보고서</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6 / 22</a:t>
            </a:r>
            <a:endParaRPr lang="en-US" sz="800" dirty="0"/>
          </a:p>
        </p:txBody>
      </p:sp>
      <p:sp>
        <p:nvSpPr>
          <p:cNvPr id="7" name="Shape 5"/>
          <p:cNvSpPr/>
          <p:nvPr/>
        </p:nvSpPr>
        <p:spPr>
          <a:xfrm>
            <a:off x="457200" y="777240"/>
            <a:ext cx="8229600" cy="14630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8" name="Shape 6"/>
          <p:cNvSpPr/>
          <p:nvPr/>
        </p:nvSpPr>
        <p:spPr>
          <a:xfrm>
            <a:off x="457200" y="777240"/>
            <a:ext cx="54864" cy="1463040"/>
          </a:xfrm>
          <a:prstGeom prst="rect">
            <a:avLst/>
          </a:prstGeom>
          <a:solidFill>
            <a:srgbClr val="C8962E"/>
          </a:solidFill>
          <a:ln/>
        </p:spPr>
        <p:txBody>
          <a:bodyPr/>
          <a:lstStyle/>
          <a:p>
            <a:endParaRPr lang="ko-KR" altLang="en-US"/>
          </a:p>
        </p:txBody>
      </p:sp>
      <p:sp>
        <p:nvSpPr>
          <p:cNvPr id="9" name="Text 7"/>
          <p:cNvSpPr/>
          <p:nvPr/>
        </p:nvSpPr>
        <p:spPr>
          <a:xfrm>
            <a:off x="640080" y="850392"/>
            <a:ext cx="7863840" cy="256032"/>
          </a:xfrm>
          <a:prstGeom prst="rect">
            <a:avLst/>
          </a:prstGeom>
          <a:noFill/>
          <a:ln/>
        </p:spPr>
        <p:txBody>
          <a:bodyPr wrap="square" lIns="0" tIns="0" rIns="0" bIns="0" rtlCol="0" anchor="ctr"/>
          <a:lstStyle/>
          <a:p>
            <a:pPr marL="0" indent="0">
              <a:buNone/>
            </a:pPr>
            <a:r>
              <a:rPr lang="en-US" sz="1200" b="1" dirty="0">
                <a:solidFill>
                  <a:srgbClr val="C8962E"/>
                </a:solidFill>
                <a:latin typeface="맑은 고딕" pitchFamily="34" charset="0"/>
                <a:ea typeface="맑은 고딕" pitchFamily="34" charset="-122"/>
                <a:cs typeface="맑은 고딕" pitchFamily="34" charset="-120"/>
              </a:rPr>
              <a:t>※ 세테크 포인트:</a:t>
            </a:r>
            <a:endParaRPr lang="en-US" sz="1200" dirty="0"/>
          </a:p>
        </p:txBody>
      </p:sp>
      <p:sp>
        <p:nvSpPr>
          <p:cNvPr id="10" name="Text 8"/>
          <p:cNvSpPr/>
          <p:nvPr/>
        </p:nvSpPr>
        <p:spPr>
          <a:xfrm>
            <a:off x="640080" y="1124712"/>
            <a:ext cx="7863840" cy="594360"/>
          </a:xfrm>
          <a:prstGeom prst="rect">
            <a:avLst/>
          </a:prstGeom>
          <a:noFill/>
          <a:ln/>
        </p:spPr>
        <p:txBody>
          <a:bodyPr wrap="square" lIns="0" tIns="0" rIns="0" bIns="0"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이 플랜은 연말정산 시 보장성 보험료 세액공제 혜택(연 100만 원 한도, 일반 보장성보험료는 12%(지방소득세 포함 효과 통상 13.2% 수준), 장애인전용보장성보험료는 15%(지방소득세 포함 효과 통상 16.5% 수준) 적용, 최대 약 16.5만 원 환급 가능)도 챙길 수 있습니다.</a:t>
            </a:r>
            <a:endParaRPr lang="en-US" sz="1000" dirty="0"/>
          </a:p>
        </p:txBody>
      </p:sp>
      <p:sp>
        <p:nvSpPr>
          <p:cNvPr id="11" name="Text 9"/>
          <p:cNvSpPr/>
          <p:nvPr/>
        </p:nvSpPr>
        <p:spPr>
          <a:xfrm>
            <a:off x="640080" y="1737360"/>
            <a:ext cx="7863840" cy="411480"/>
          </a:xfrm>
          <a:prstGeom prst="rect">
            <a:avLst/>
          </a:prstGeom>
          <a:noFill/>
          <a:ln/>
        </p:spPr>
        <p:txBody>
          <a:bodyPr wrap="square" lIns="0" tIns="0" rIns="0" bIns="0" rtlCol="0" anchor="t"/>
          <a:lstStyle/>
          <a:p>
            <a:pPr marL="0" indent="0">
              <a:lnSpc>
                <a:spcPct val="120000"/>
              </a:lnSpc>
              <a:buNone/>
            </a:pPr>
            <a:r>
              <a:rPr lang="en-US" sz="900" i="1" dirty="0">
                <a:solidFill>
                  <a:srgbClr val="6B7280"/>
                </a:solidFill>
                <a:latin typeface="맑은 고딕" pitchFamily="34" charset="0"/>
                <a:ea typeface="맑은 고딕" pitchFamily="34" charset="-122"/>
                <a:cs typeface="맑은 고딕" pitchFamily="34" charset="-120"/>
              </a:rPr>
              <a:t>※ 세액공제율(12%/15%)은 보험료 유형(일반/장애인전용) 등 요건에 따라 달라질 수 있으며, 정확한 환급액은 연말정산 기준에 따라 산정되며, 정확한 환급액은 세무사와 상담하시기 바랍니다.</a:t>
            </a:r>
            <a:endParaRPr lang="en-US" sz="900" dirty="0"/>
          </a:p>
        </p:txBody>
      </p:sp>
      <p:sp>
        <p:nvSpPr>
          <p:cNvPr id="12" name="Text 10"/>
          <p:cNvSpPr/>
          <p:nvPr/>
        </p:nvSpPr>
        <p:spPr>
          <a:xfrm>
            <a:off x="457200" y="2423160"/>
            <a:ext cx="8229600" cy="320040"/>
          </a:xfrm>
          <a:prstGeom prst="rect">
            <a:avLst/>
          </a:prstGeom>
          <a:noFill/>
          <a:ln/>
        </p:spPr>
        <p:txBody>
          <a:bodyPr wrap="square" lIns="0" tIns="0" rIns="0" bIns="0" rtlCol="0" anchor="ctr"/>
          <a:lstStyle/>
          <a:p>
            <a:pPr marL="0" indent="0">
              <a:buNone/>
            </a:pPr>
            <a:r>
              <a:rPr lang="en-US" sz="900" dirty="0">
                <a:solidFill>
                  <a:srgbClr val="6B7280"/>
                </a:solidFill>
                <a:latin typeface="맑은 고딕" pitchFamily="34" charset="0"/>
                <a:ea typeface="맑은 고딕" pitchFamily="34" charset="-122"/>
                <a:cs typeface="맑은 고딕" pitchFamily="34" charset="-120"/>
              </a:rPr>
              <a:t>【법적 근거】 소득세법 제59조의4 제1항(특별세액공제 - 보장성보험료), 지방세법(지방소득세 관련 규정) (2025년 기준)</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07</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Ⅲ. 재무·보장자산 정밀 진단 (1/2)</a:t>
            </a:r>
            <a:endParaRPr lang="en-US" sz="16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30대초반 건강한 직장인 | 컨설팅 특급보고서</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7 / 22</a:t>
            </a:r>
            <a:endParaRPr lang="en-US" sz="800" dirty="0"/>
          </a:p>
        </p:txBody>
      </p:sp>
      <p:sp>
        <p:nvSpPr>
          <p:cNvPr id="7" name="Text 5"/>
          <p:cNvSpPr/>
          <p:nvPr/>
        </p:nvSpPr>
        <p:spPr>
          <a:xfrm>
            <a:off x="457200" y="77724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금융 포트폴리오 분석</a:t>
            </a:r>
            <a:endParaRPr lang="en-US" sz="1400" dirty="0"/>
          </a:p>
        </p:txBody>
      </p:sp>
      <p:sp>
        <p:nvSpPr>
          <p:cNvPr id="8" name="Text 6"/>
          <p:cNvSpPr/>
          <p:nvPr/>
        </p:nvSpPr>
        <p:spPr>
          <a:xfrm>
            <a:off x="457200" y="1188720"/>
            <a:ext cx="8229600" cy="640080"/>
          </a:xfrm>
          <a:prstGeom prst="rect">
            <a:avLst/>
          </a:prstGeom>
          <a:noFill/>
          <a:ln/>
        </p:spPr>
        <p:txBody>
          <a:bodyPr wrap="square" lIns="0" tIns="0" rIns="0" bIns="0" rtlCol="0" anchor="t"/>
          <a:lstStyle/>
          <a:p>
            <a:pPr marL="0" indent="0">
              <a:lnSpc>
                <a:spcPct val="140000"/>
              </a:lnSpc>
              <a:buNone/>
            </a:pPr>
            <a:r>
              <a:rPr lang="en-US" sz="1100" dirty="0">
                <a:solidFill>
                  <a:srgbClr val="2B2B2B"/>
                </a:solidFill>
                <a:latin typeface="맑은 고딕" pitchFamily="34" charset="0"/>
                <a:ea typeface="맑은 고딕" pitchFamily="34" charset="-122"/>
                <a:cs typeface="맑은 고딕" pitchFamily="34" charset="-120"/>
              </a:rPr>
              <a:t>자산의 대부분이 주식 및 예적금에 치중되어 있어 수익성은 높으나, 위기 발생 시 자산을 현금화해야 하는 유동성 리스크가 큼. '수비 자산(보험)'의 부재로 인해 '공격 자산(투자)'이 위험에 노출된 상태임.</a:t>
            </a:r>
            <a:endParaRPr lang="en-US" sz="1100" dirty="0"/>
          </a:p>
        </p:txBody>
      </p:sp>
      <p:sp>
        <p:nvSpPr>
          <p:cNvPr id="9" name="Text 7"/>
          <p:cNvSpPr/>
          <p:nvPr/>
        </p:nvSpPr>
        <p:spPr>
          <a:xfrm>
            <a:off x="457200" y="192024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기가입 보험 평가</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3476368094"/>
              </p:ext>
            </p:extLst>
          </p:nvPr>
        </p:nvGraphicFramePr>
        <p:xfrm>
          <a:off x="457200" y="2286000"/>
          <a:ext cx="8229600" cy="1508760"/>
        </p:xfrm>
        <a:graphic>
          <a:graphicData uri="http://schemas.openxmlformats.org/drawingml/2006/table">
            <a:tbl>
              <a:tblPr/>
              <a:tblGrid>
                <a:gridCol w="13716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320040">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구분</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내용</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진단 결과</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20040">
                <a:tc>
                  <a:txBody>
                    <a:bodyPr/>
                    <a:lstStyle/>
                    <a:p>
                      <a:pPr marL="0" indent="0">
                        <a:buNone/>
                      </a:pPr>
                      <a:r>
                        <a:rPr lang="en-US" sz="1000" b="1" dirty="0">
                          <a:solidFill>
                            <a:srgbClr val="000000"/>
                          </a:solidFill>
                          <a:latin typeface="맑은 고딕" pitchFamily="34" charset="0"/>
                          <a:ea typeface="맑은 고딕" pitchFamily="34" charset="-122"/>
                          <a:cs typeface="맑은 고딕" pitchFamily="34" charset="-120"/>
                        </a:rPr>
                        <a:t>잘된 점</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회사 단체보험 가입 중</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근무 중 발생하는 기초 의료비 보완 가능</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000" b="1" dirty="0">
                          <a:solidFill>
                            <a:srgbClr val="000000"/>
                          </a:solidFill>
                          <a:latin typeface="맑은 고딕" pitchFamily="34" charset="0"/>
                          <a:ea typeface="맑은 고딕" pitchFamily="34" charset="-122"/>
                          <a:cs typeface="맑은 고딕" pitchFamily="34" charset="-120"/>
                        </a:rPr>
                        <a:t>조정할 점</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개인 보험 전무</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tc>
                  <a:txBody>
                    <a:bodyPr/>
                    <a:lstStyle/>
                    <a:p>
                      <a:pPr marL="0" indent="0">
                        <a:buNone/>
                      </a:pPr>
                      <a:r>
                        <a:rPr lang="en-US" sz="900" dirty="0">
                          <a:solidFill>
                            <a:srgbClr val="000000"/>
                          </a:solidFill>
                          <a:latin typeface="맑은 고딕" pitchFamily="34" charset="0"/>
                          <a:ea typeface="맑은 고딕" pitchFamily="34" charset="-122"/>
                          <a:cs typeface="맑은 고딕" pitchFamily="34" charset="-120"/>
                        </a:rPr>
                        <a:t>단체보험은 퇴사 시 종료되므로 개인의 영구적 보장 자산 필요 (※ 일부 회사는 퇴직 시 개인보험 전환 제도가 있으므로 해당 여부 확인 권장)</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20040">
                <a:tc>
                  <a:txBody>
                    <a:bodyPr/>
                    <a:lstStyle/>
                    <a:p>
                      <a:pPr marL="0" indent="0">
                        <a:buNone/>
                      </a:pPr>
                      <a:r>
                        <a:rPr lang="en-US" sz="1000" b="1" dirty="0">
                          <a:solidFill>
                            <a:srgbClr val="000000"/>
                          </a:solidFill>
                          <a:latin typeface="맑은 고딕" pitchFamily="34" charset="0"/>
                          <a:ea typeface="맑은 고딕" pitchFamily="34" charset="-122"/>
                          <a:cs typeface="맑은 고딕" pitchFamily="34" charset="-120"/>
                        </a:rPr>
                        <a:t>보완할 점</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3대 진단비 공백</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암, 뇌혈관질환, 허혈성심장질환 등 고액 치료비 대비책 없음</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08</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Ⅲ. 재무·보장자산 정밀 진단 (2/2)</a:t>
            </a:r>
            <a:endParaRPr lang="en-US" sz="16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30대초반 건강한 직장인 | 컨설팅 특급보고서</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8 / 22</a:t>
            </a:r>
            <a:endParaRPr lang="en-US" sz="800" dirty="0"/>
          </a:p>
        </p:txBody>
      </p:sp>
      <p:sp>
        <p:nvSpPr>
          <p:cNvPr id="7" name="Text 5"/>
          <p:cNvSpPr/>
          <p:nvPr/>
        </p:nvSpPr>
        <p:spPr>
          <a:xfrm>
            <a:off x="457200" y="77724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3. 보장 갭(Gap) 진단 (계량화 분석)</a:t>
            </a:r>
            <a:endParaRPr lang="en-US" sz="1400" dirty="0"/>
          </a:p>
        </p:txBody>
      </p:sp>
      <p:sp>
        <p:nvSpPr>
          <p:cNvPr id="8" name="Text 6"/>
          <p:cNvSpPr/>
          <p:nvPr/>
        </p:nvSpPr>
        <p:spPr>
          <a:xfrm>
            <a:off x="640080" y="1188720"/>
            <a:ext cx="7863840" cy="1097280"/>
          </a:xfrm>
          <a:prstGeom prst="rect">
            <a:avLst/>
          </a:prstGeom>
          <a:noFill/>
          <a:ln/>
        </p:spPr>
        <p:txBody>
          <a:bodyPr wrap="square" lIns="0" tIns="0" rIns="0" bIns="0" rtlCol="0" anchor="t"/>
          <a:lstStyle/>
          <a:p>
            <a:pPr>
              <a:lnSpc>
                <a:spcPct val="140000"/>
              </a:lnSpc>
              <a:buSzPct val="100000"/>
            </a:pPr>
            <a:r>
              <a:rPr lang="en-US" sz="1100" b="1" dirty="0" err="1">
                <a:solidFill>
                  <a:srgbClr val="1B2A4A"/>
                </a:solidFill>
                <a:latin typeface="맑은 고딕" pitchFamily="34" charset="0"/>
                <a:ea typeface="맑은 고딕" pitchFamily="34" charset="-122"/>
                <a:cs typeface="맑은 고딕" pitchFamily="34" charset="-120"/>
              </a:rPr>
              <a:t>중증</a:t>
            </a:r>
            <a:r>
              <a:rPr lang="en-US" sz="1100" b="1" dirty="0">
                <a:solidFill>
                  <a:srgbClr val="1B2A4A"/>
                </a:solidFill>
                <a:latin typeface="맑은 고딕" pitchFamily="34" charset="0"/>
                <a:ea typeface="맑은 고딕" pitchFamily="34" charset="-122"/>
                <a:cs typeface="맑은 고딕" pitchFamily="34" charset="-120"/>
              </a:rPr>
              <a:t> 질병 발생 시 리스크: </a:t>
            </a:r>
            <a:r>
              <a:rPr lang="en-US" sz="1100" dirty="0">
                <a:solidFill>
                  <a:srgbClr val="2B2B2B"/>
                </a:solidFill>
                <a:latin typeface="맑은 고딕" pitchFamily="34" charset="0"/>
                <a:ea typeface="맑은 고딕" pitchFamily="34" charset="-122"/>
                <a:cs typeface="맑은 고딕" pitchFamily="34" charset="-120"/>
              </a:rPr>
              <a:t>치료비 + 소득 상실 보전비 = 최소 1억 원 내외 필요 추정 (개인별 상황에 따라 상이)</a:t>
            </a:r>
            <a:endParaRPr lang="en-US" sz="1100" dirty="0"/>
          </a:p>
          <a:p>
            <a:pPr marL="0" indent="0">
              <a:lnSpc>
                <a:spcPct val="140000"/>
              </a:lnSpc>
              <a:buNone/>
            </a:pPr>
            <a:r>
              <a:rPr lang="en-US" sz="1100" b="1" dirty="0">
                <a:solidFill>
                  <a:srgbClr val="1B2A4A"/>
                </a:solidFill>
                <a:latin typeface="맑은 고딕" pitchFamily="34" charset="0"/>
                <a:ea typeface="맑은 고딕" pitchFamily="34" charset="-122"/>
                <a:cs typeface="맑은 고딕" pitchFamily="34" charset="-120"/>
              </a:rPr>
              <a:t>현재 준비액: </a:t>
            </a:r>
            <a:r>
              <a:rPr lang="en-US" sz="1100" dirty="0">
                <a:solidFill>
                  <a:srgbClr val="2B2B2B"/>
                </a:solidFill>
                <a:latin typeface="맑은 고딕" pitchFamily="34" charset="0"/>
                <a:ea typeface="맑은 고딕" pitchFamily="34" charset="-122"/>
                <a:cs typeface="맑은 고딕" pitchFamily="34" charset="-120"/>
              </a:rPr>
              <a:t>0원 (개인 소유 보장 자산 기준, 단체보험 별도 - 단체보험은 실손 위주로 진단비 미미)</a:t>
            </a:r>
            <a:endParaRPr lang="en-US" sz="1100" dirty="0"/>
          </a:p>
          <a:p>
            <a:pPr marL="0" indent="0">
              <a:lnSpc>
                <a:spcPct val="140000"/>
              </a:lnSpc>
              <a:buNone/>
            </a:pPr>
            <a:r>
              <a:rPr lang="en-US" sz="1100" b="1" dirty="0">
                <a:solidFill>
                  <a:srgbClr val="D4382C"/>
                </a:solidFill>
                <a:latin typeface="맑은 고딕" pitchFamily="34" charset="0"/>
                <a:ea typeface="맑은 고딕" pitchFamily="34" charset="-122"/>
                <a:cs typeface="맑은 고딕" pitchFamily="34" charset="-120"/>
              </a:rPr>
              <a:t>보장 갭: 약 -1억 원 수준 추정.</a:t>
            </a:r>
            <a:endParaRPr lang="en-US" sz="1100" dirty="0"/>
          </a:p>
        </p:txBody>
      </p:sp>
      <p:sp>
        <p:nvSpPr>
          <p:cNvPr id="9" name="Shape 7"/>
          <p:cNvSpPr/>
          <p:nvPr/>
        </p:nvSpPr>
        <p:spPr>
          <a:xfrm>
            <a:off x="457200" y="2468880"/>
            <a:ext cx="8229600" cy="16459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0" name="Shape 8"/>
          <p:cNvSpPr/>
          <p:nvPr/>
        </p:nvSpPr>
        <p:spPr>
          <a:xfrm>
            <a:off x="457200" y="2468880"/>
            <a:ext cx="54864" cy="1645920"/>
          </a:xfrm>
          <a:prstGeom prst="rect">
            <a:avLst/>
          </a:prstGeom>
          <a:solidFill>
            <a:srgbClr val="C8962E"/>
          </a:solidFill>
          <a:ln/>
        </p:spPr>
        <p:txBody>
          <a:bodyPr/>
          <a:lstStyle/>
          <a:p>
            <a:endParaRPr lang="ko-KR" altLang="en-US"/>
          </a:p>
        </p:txBody>
      </p:sp>
      <p:sp>
        <p:nvSpPr>
          <p:cNvPr id="11" name="Text 9"/>
          <p:cNvSpPr/>
          <p:nvPr/>
        </p:nvSpPr>
        <p:spPr>
          <a:xfrm>
            <a:off x="640080" y="2542032"/>
            <a:ext cx="7863840" cy="256032"/>
          </a:xfrm>
          <a:prstGeom prst="rect">
            <a:avLst/>
          </a:prstGeom>
          <a:noFill/>
          <a:ln/>
        </p:spPr>
        <p:txBody>
          <a:bodyPr wrap="square" lIns="0" tIns="0" rIns="0" bIns="0" rtlCol="0" anchor="ctr"/>
          <a:lstStyle/>
          <a:p>
            <a:pPr marL="0" indent="0">
              <a:buNone/>
            </a:pPr>
            <a:r>
              <a:rPr lang="en-US" sz="1100" b="1" dirty="0">
                <a:solidFill>
                  <a:srgbClr val="C8962E"/>
                </a:solidFill>
                <a:latin typeface="맑은 고딕" pitchFamily="34" charset="0"/>
                <a:ea typeface="맑은 고딕" pitchFamily="34" charset="-122"/>
                <a:cs typeface="맑은 고딕" pitchFamily="34" charset="-120"/>
              </a:rPr>
              <a:t>전문가 의견</a:t>
            </a:r>
            <a:endParaRPr lang="en-US" sz="1100" dirty="0"/>
          </a:p>
        </p:txBody>
      </p:sp>
      <p:sp>
        <p:nvSpPr>
          <p:cNvPr id="12" name="Text 10"/>
          <p:cNvSpPr/>
          <p:nvPr/>
        </p:nvSpPr>
        <p:spPr>
          <a:xfrm>
            <a:off x="640080" y="2834640"/>
            <a:ext cx="7863840" cy="1188720"/>
          </a:xfrm>
          <a:prstGeom prst="rect">
            <a:avLst/>
          </a:prstGeom>
          <a:noFill/>
          <a:ln/>
        </p:spPr>
        <p:txBody>
          <a:bodyPr wrap="square" lIns="0" tIns="0" rIns="0" bIns="0" rtlCol="0" anchor="t"/>
          <a:lstStyle/>
          <a:p>
            <a:pPr marL="0" indent="0">
              <a:lnSpc>
                <a:spcPct val="140000"/>
              </a:lnSpc>
              <a:buNone/>
            </a:pPr>
            <a:r>
              <a:rPr lang="en-US" sz="1100" i="1" dirty="0">
                <a:solidFill>
                  <a:srgbClr val="2B2B2B"/>
                </a:solidFill>
                <a:latin typeface="맑은 고딕" pitchFamily="34" charset="0"/>
                <a:ea typeface="맑은 고딕" pitchFamily="34" charset="-122"/>
                <a:cs typeface="맑은 고딕" pitchFamily="34" charset="-120"/>
              </a:rPr>
              <a:t>"단체보험은 '우산'과 같습니다. 비가 올 때 잠시 빌려 쓸 수는 있지만, 내 소유가 아닙니다. 회사를 옮기거나 은퇴한 뒤, 즉 진짜 비가 쏟아질 때 나를 지켜줄 '내 소유의 튼튼한 우산'을 지금 가장 맑은 날(건강할 때) 장만해야 합니다."</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09</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Ⅳ. 맞춤형 솔루션 제안 (1/3)</a:t>
            </a:r>
            <a:endParaRPr lang="en-US" sz="16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30대초반 건강한 직장인 | 컨설팅 특급보고서</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9 / 22</a:t>
            </a:r>
            <a:endParaRPr lang="en-US" sz="800" dirty="0"/>
          </a:p>
        </p:txBody>
      </p:sp>
      <p:sp>
        <p:nvSpPr>
          <p:cNvPr id="7" name="Text 5"/>
          <p:cNvSpPr/>
          <p:nvPr/>
        </p:nvSpPr>
        <p:spPr>
          <a:xfrm>
            <a:off x="457200" y="77724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설계 방향 및 원칙</a:t>
            </a:r>
            <a:endParaRPr lang="en-US" sz="1400" dirty="0"/>
          </a:p>
        </p:txBody>
      </p:sp>
      <p:sp>
        <p:nvSpPr>
          <p:cNvPr id="8" name="Text 6"/>
          <p:cNvSpPr/>
          <p:nvPr/>
        </p:nvSpPr>
        <p:spPr>
          <a:xfrm>
            <a:off x="640080" y="1188720"/>
            <a:ext cx="7863840" cy="1463040"/>
          </a:xfrm>
          <a:prstGeom prst="rect">
            <a:avLst/>
          </a:prstGeom>
          <a:noFill/>
          <a:ln/>
        </p:spPr>
        <p:txBody>
          <a:bodyPr wrap="square" lIns="0" tIns="0" rIns="0" bIns="0" rtlCol="0" anchor="t"/>
          <a:lstStyle/>
          <a:p>
            <a:pPr>
              <a:lnSpc>
                <a:spcPct val="135000"/>
              </a:lnSpc>
              <a:buSzPct val="100000"/>
            </a:pPr>
            <a:r>
              <a:rPr lang="en-US" sz="1050" b="1" dirty="0" err="1">
                <a:solidFill>
                  <a:srgbClr val="1B2A4A"/>
                </a:solidFill>
                <a:latin typeface="맑은 고딕" pitchFamily="34" charset="0"/>
                <a:ea typeface="맑은 고딕" pitchFamily="34" charset="-122"/>
                <a:cs typeface="맑은 고딕" pitchFamily="34" charset="-120"/>
              </a:rPr>
              <a:t>원칙</a:t>
            </a:r>
            <a:r>
              <a:rPr lang="en-US" sz="1050" b="1" dirty="0">
                <a:solidFill>
                  <a:srgbClr val="1B2A4A"/>
                </a:solidFill>
                <a:latin typeface="맑은 고딕" pitchFamily="34" charset="0"/>
                <a:ea typeface="맑은 고딕" pitchFamily="34" charset="-122"/>
                <a:cs typeface="맑은 고딕" pitchFamily="34" charset="-120"/>
              </a:rPr>
              <a:t> 1: </a:t>
            </a:r>
            <a:r>
              <a:rPr lang="en-US" sz="1050" dirty="0">
                <a:solidFill>
                  <a:srgbClr val="2B2B2B"/>
                </a:solidFill>
                <a:latin typeface="맑은 고딕" pitchFamily="34" charset="0"/>
                <a:ea typeface="맑은 고딕" pitchFamily="34" charset="-122"/>
                <a:cs typeface="맑은 고딕" pitchFamily="34" charset="-120"/>
              </a:rPr>
              <a:t>진단비·수술비는 평생 보험료가 오르지 않는 '비갱신형'으로 지출의 확정성 </a:t>
            </a:r>
            <a:r>
              <a:rPr lang="en-US" sz="1050" dirty="0" err="1">
                <a:solidFill>
                  <a:srgbClr val="2B2B2B"/>
                </a:solidFill>
                <a:latin typeface="맑은 고딕" pitchFamily="34" charset="0"/>
                <a:ea typeface="맑은 고딕" pitchFamily="34" charset="-122"/>
                <a:cs typeface="맑은 고딕" pitchFamily="34" charset="-120"/>
              </a:rPr>
              <a:t>확보</a:t>
            </a:r>
            <a:r>
              <a:rPr lang="en-US" sz="1050" dirty="0">
                <a:solidFill>
                  <a:srgbClr val="2B2B2B"/>
                </a:solidFill>
                <a:latin typeface="맑은 고딕" pitchFamily="34" charset="0"/>
                <a:ea typeface="맑은 고딕" pitchFamily="34" charset="-122"/>
                <a:cs typeface="맑은 고딕" pitchFamily="34" charset="-120"/>
              </a:rPr>
              <a:t>.</a:t>
            </a:r>
          </a:p>
          <a:p>
            <a:pPr>
              <a:lnSpc>
                <a:spcPct val="135000"/>
              </a:lnSpc>
              <a:buSzPct val="100000"/>
            </a:pPr>
            <a:r>
              <a:rPr lang="en-US" sz="1050" dirty="0">
                <a:solidFill>
                  <a:srgbClr val="2B2B2B"/>
                </a:solidFill>
                <a:latin typeface="맑은 고딕" pitchFamily="34" charset="0"/>
                <a:ea typeface="맑은 고딕" pitchFamily="34" charset="-122"/>
                <a:cs typeface="맑은 고딕" pitchFamily="34" charset="-120"/>
              </a:rPr>
              <a:t>(단, 실손의료비는 갱신형으로 매년 보험료 변동 가능)</a:t>
            </a:r>
            <a:endParaRPr lang="en-US" sz="1050" dirty="0"/>
          </a:p>
          <a:p>
            <a:pPr marL="0" indent="0">
              <a:lnSpc>
                <a:spcPct val="135000"/>
              </a:lnSpc>
              <a:buNone/>
            </a:pPr>
            <a:r>
              <a:rPr lang="en-US" sz="1050" b="1" dirty="0">
                <a:solidFill>
                  <a:srgbClr val="1B2A4A"/>
                </a:solidFill>
                <a:latin typeface="맑은 고딕" pitchFamily="34" charset="0"/>
                <a:ea typeface="맑은 고딕" pitchFamily="34" charset="-122"/>
                <a:cs typeface="맑은 고딕" pitchFamily="34" charset="-120"/>
              </a:rPr>
              <a:t>원칙 2: </a:t>
            </a:r>
            <a:r>
              <a:rPr lang="en-US" sz="1050" dirty="0">
                <a:solidFill>
                  <a:srgbClr val="2B2B2B"/>
                </a:solidFill>
                <a:latin typeface="맑은 고딕" pitchFamily="34" charset="0"/>
                <a:ea typeface="맑은 고딕" pitchFamily="34" charset="-122"/>
                <a:cs typeface="맑은 고딕" pitchFamily="34" charset="-120"/>
              </a:rPr>
              <a:t>가성비를 높이기 위해 납입 기간 중 해지 환급금이 없는 대신 보험료를 낮춘 '무해지환급형' </a:t>
            </a:r>
            <a:r>
              <a:rPr lang="en-US" sz="1050" dirty="0" err="1">
                <a:solidFill>
                  <a:srgbClr val="2B2B2B"/>
                </a:solidFill>
                <a:latin typeface="맑은 고딕" pitchFamily="34" charset="0"/>
                <a:ea typeface="맑은 고딕" pitchFamily="34" charset="-122"/>
                <a:cs typeface="맑은 고딕" pitchFamily="34" charset="-120"/>
              </a:rPr>
              <a:t>선택</a:t>
            </a:r>
            <a:r>
              <a:rPr lang="en-US" sz="1050" dirty="0">
                <a:solidFill>
                  <a:srgbClr val="2B2B2B"/>
                </a:solidFill>
                <a:latin typeface="맑은 고딕" pitchFamily="34" charset="0"/>
                <a:ea typeface="맑은 고딕" pitchFamily="34" charset="-122"/>
                <a:cs typeface="맑은 고딕" pitchFamily="34" charset="-120"/>
              </a:rPr>
              <a:t>.</a:t>
            </a:r>
          </a:p>
          <a:p>
            <a:pPr marL="0" indent="0">
              <a:lnSpc>
                <a:spcPct val="135000"/>
              </a:lnSpc>
              <a:buNone/>
            </a:pPr>
            <a:r>
              <a:rPr lang="en-US" sz="1050" dirty="0">
                <a:solidFill>
                  <a:srgbClr val="2B2B2B"/>
                </a:solidFill>
                <a:latin typeface="맑은 고딕" pitchFamily="34" charset="0"/>
                <a:ea typeface="맑은 고딕" pitchFamily="34" charset="-122"/>
                <a:cs typeface="맑은 고딕" pitchFamily="34" charset="-120"/>
              </a:rPr>
              <a:t>(납입 완료 후에는 일반 상품 대비 약 50~70% 수준의 해약환급금 발생, 상품별 상이)</a:t>
            </a:r>
            <a:endParaRPr lang="en-US" sz="1050" dirty="0"/>
          </a:p>
          <a:p>
            <a:pPr marL="0" indent="0">
              <a:lnSpc>
                <a:spcPct val="135000"/>
              </a:lnSpc>
              <a:buNone/>
            </a:pPr>
            <a:r>
              <a:rPr lang="en-US" sz="1050" b="1" dirty="0">
                <a:solidFill>
                  <a:srgbClr val="1B2A4A"/>
                </a:solidFill>
                <a:latin typeface="맑은 고딕" pitchFamily="34" charset="0"/>
                <a:ea typeface="맑은 고딕" pitchFamily="34" charset="-122"/>
                <a:cs typeface="맑은 고딕" pitchFamily="34" charset="-120"/>
              </a:rPr>
              <a:t>원칙 3: </a:t>
            </a:r>
            <a:r>
              <a:rPr lang="en-US" sz="1050" dirty="0">
                <a:solidFill>
                  <a:srgbClr val="2B2B2B"/>
                </a:solidFill>
                <a:latin typeface="맑은 고딕" pitchFamily="34" charset="0"/>
                <a:ea typeface="맑은 고딕" pitchFamily="34" charset="-122"/>
                <a:cs typeface="맑은 고딕" pitchFamily="34" charset="-120"/>
              </a:rPr>
              <a:t>불필요한 사망 담보는 줄이고 '살아있을 때의 보장'에 집중.</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10</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Ⅳ. 맞춤형 솔루션 제안 (2/3)</a:t>
            </a:r>
            <a:endParaRPr lang="en-US" sz="16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30대초반 건강한 직장인 | 컨설팅 특급보고서</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10 / 22</a:t>
            </a:r>
            <a:endParaRPr lang="en-US" sz="800" dirty="0"/>
          </a:p>
        </p:txBody>
      </p:sp>
      <p:sp>
        <p:nvSpPr>
          <p:cNvPr id="7" name="Text 5"/>
          <p:cNvSpPr/>
          <p:nvPr/>
        </p:nvSpPr>
        <p:spPr>
          <a:xfrm>
            <a:off x="457200" y="77724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최종 제안 설계안 (요약표)</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2192193298"/>
              </p:ext>
            </p:extLst>
          </p:nvPr>
        </p:nvGraphicFramePr>
        <p:xfrm>
          <a:off x="457200" y="1188720"/>
          <a:ext cx="8229600" cy="2011680"/>
        </p:xfrm>
        <a:graphic>
          <a:graphicData uri="http://schemas.openxmlformats.org/drawingml/2006/table">
            <a:tbl>
              <a:tblPr/>
              <a:tblGrid>
                <a:gridCol w="18288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320040">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상품명</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보장 핵심 내용</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보장 금액</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보험료 (예시)</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57200">
                <a:tc>
                  <a:txBody>
                    <a:bodyPr/>
                    <a:lstStyle/>
                    <a:p>
                      <a:pPr marL="0" indent="0">
                        <a:buNone/>
                      </a:pPr>
                      <a:r>
                        <a:rPr lang="en-US" sz="900" b="1" dirty="0">
                          <a:solidFill>
                            <a:srgbClr val="000000"/>
                          </a:solidFill>
                          <a:latin typeface="맑은 고딕" pitchFamily="34" charset="0"/>
                          <a:ea typeface="맑은 고딕" pitchFamily="34" charset="-122"/>
                          <a:cs typeface="맑은 고딕" pitchFamily="34" charset="-120"/>
                        </a:rPr>
                        <a:t>실손의료비 (갱신형)</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맑은 고딕" pitchFamily="34" charset="0"/>
                          <a:ea typeface="맑은 고딕" pitchFamily="34" charset="-122"/>
                          <a:cs typeface="맑은 고딕" pitchFamily="34" charset="-120"/>
                        </a:rPr>
                        <a:t>병원비 실비 보장 (급여/비급여)</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맑은 고딕" pitchFamily="34" charset="0"/>
                          <a:ea typeface="맑은 고딕" pitchFamily="34" charset="-122"/>
                          <a:cs typeface="맑은 고딕" pitchFamily="34" charset="-120"/>
                        </a:rPr>
                        <a:t>약관상 보장 한도 (가입 시점 기준)</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850" dirty="0">
                          <a:solidFill>
                            <a:srgbClr val="000000"/>
                          </a:solidFill>
                          <a:latin typeface="맑은 고딕" pitchFamily="34" charset="0"/>
                          <a:ea typeface="맑은 고딕" pitchFamily="34" charset="-122"/>
                          <a:cs typeface="맑은 고딕" pitchFamily="34" charset="-120"/>
                        </a:rPr>
                        <a:t>약 15,000원 내외 (1년 갱신/15년 재가입, 연령·손해율 따라 변동)</a:t>
                      </a:r>
                      <a:endParaRPr lang="en-US" sz="85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900" b="1" dirty="0">
                          <a:solidFill>
                            <a:srgbClr val="000000"/>
                          </a:solidFill>
                          <a:latin typeface="맑은 고딕" pitchFamily="34" charset="0"/>
                          <a:ea typeface="맑은 고딕" pitchFamily="34" charset="-122"/>
                          <a:cs typeface="맑은 고딕" pitchFamily="34" charset="-120"/>
                        </a:rPr>
                        <a:t>3대 질병 진단비 (비갱신형)</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tc>
                  <a:txBody>
                    <a:bodyPr/>
                    <a:lstStyle/>
                    <a:p>
                      <a:pPr marL="0" indent="0">
                        <a:buNone/>
                      </a:pPr>
                      <a:r>
                        <a:rPr lang="en-US" sz="900" dirty="0">
                          <a:solidFill>
                            <a:srgbClr val="000000"/>
                          </a:solidFill>
                          <a:latin typeface="맑은 고딕" pitchFamily="34" charset="0"/>
                          <a:ea typeface="맑은 고딕" pitchFamily="34" charset="-122"/>
                          <a:cs typeface="맑은 고딕" pitchFamily="34" charset="-120"/>
                        </a:rPr>
                        <a:t>암, 뇌혈관질환(뇌출혈·뇌경색 등 포함), 허혈성심장질환(급성심근경색 등 포함) 진단</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tc>
                  <a:txBody>
                    <a:bodyPr/>
                    <a:lstStyle/>
                    <a:p>
                      <a:pPr marL="0" indent="0">
                        <a:buNone/>
                      </a:pPr>
                      <a:r>
                        <a:rPr lang="en-US" sz="900" dirty="0">
                          <a:solidFill>
                            <a:srgbClr val="000000"/>
                          </a:solidFill>
                          <a:latin typeface="맑은 고딕" pitchFamily="34" charset="0"/>
                          <a:ea typeface="맑은 고딕" pitchFamily="34" charset="-122"/>
                          <a:cs typeface="맑은 고딕" pitchFamily="34" charset="-120"/>
                        </a:rPr>
                        <a:t>각 5,000만 원</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tc>
                  <a:txBody>
                    <a:bodyPr/>
                    <a:lstStyle/>
                    <a:p>
                      <a:pPr marL="0" indent="0">
                        <a:buNone/>
                      </a:pPr>
                      <a:r>
                        <a:rPr lang="en-US" sz="900" dirty="0">
                          <a:solidFill>
                            <a:srgbClr val="000000"/>
                          </a:solidFill>
                          <a:latin typeface="맑은 고딕" pitchFamily="34" charset="0"/>
                          <a:ea typeface="맑은 고딕" pitchFamily="34" charset="-122"/>
                          <a:cs typeface="맑은 고딕" pitchFamily="34" charset="-120"/>
                        </a:rPr>
                        <a:t>약 85,000원 (20년납 100세만기)</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65760">
                <a:tc>
                  <a:txBody>
                    <a:bodyPr/>
                    <a:lstStyle/>
                    <a:p>
                      <a:pPr marL="0" indent="0">
                        <a:buNone/>
                      </a:pPr>
                      <a:r>
                        <a:rPr lang="en-US" sz="900" b="1" dirty="0">
                          <a:solidFill>
                            <a:srgbClr val="000000"/>
                          </a:solidFill>
                          <a:latin typeface="맑은 고딕" pitchFamily="34" charset="0"/>
                          <a:ea typeface="맑은 고딕" pitchFamily="34" charset="-122"/>
                          <a:cs typeface="맑은 고딕" pitchFamily="34" charset="-120"/>
                        </a:rPr>
                        <a:t>수술/후유장해 (비갱신형)</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맑은 고딕" pitchFamily="34" charset="0"/>
                          <a:ea typeface="맑은 고딕" pitchFamily="34" charset="-122"/>
                          <a:cs typeface="맑은 고딕" pitchFamily="34" charset="-120"/>
                        </a:rPr>
                        <a:t>질병/상해 수술비 및 후유장해</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맑은 고딕" pitchFamily="34" charset="0"/>
                          <a:ea typeface="맑은 고딕" pitchFamily="34" charset="-122"/>
                          <a:cs typeface="맑은 고딕" pitchFamily="34" charset="-120"/>
                        </a:rPr>
                        <a:t>각 3,000만 원</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맑은 고딕" pitchFamily="34" charset="0"/>
                          <a:ea typeface="맑은 고딕" pitchFamily="34" charset="-122"/>
                          <a:cs typeface="맑은 고딕" pitchFamily="34" charset="-120"/>
                        </a:rPr>
                        <a:t>약 23,000원 (20년납 100세만기)</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900" b="1" dirty="0">
                          <a:solidFill>
                            <a:srgbClr val="000000"/>
                          </a:solidFill>
                          <a:latin typeface="맑은 고딕" pitchFamily="34" charset="0"/>
                          <a:ea typeface="맑은 고딕" pitchFamily="34" charset="-122"/>
                          <a:cs typeface="맑은 고딕" pitchFamily="34" charset="-120"/>
                        </a:rPr>
                        <a:t>합계 (예시)</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EEF2F7"/>
                    </a:solidFill>
                  </a:tcPr>
                </a:tc>
                <a:tc>
                  <a:txBody>
                    <a:bodyPr/>
                    <a:lstStyle/>
                    <a:p>
                      <a:pPr marL="0" indent="0">
                        <a:buNone/>
                      </a:pPr>
                      <a:r>
                        <a:rPr lang="en-US" sz="900" b="1" dirty="0">
                          <a:solidFill>
                            <a:srgbClr val="000000"/>
                          </a:solidFill>
                          <a:latin typeface="맑은 고딕" pitchFamily="34" charset="0"/>
                          <a:ea typeface="맑은 고딕" pitchFamily="34" charset="-122"/>
                          <a:cs typeface="맑은 고딕" pitchFamily="34" charset="-120"/>
                        </a:rPr>
                        <a:t>핵심 통합 보장 플랜</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EEF2F7"/>
                    </a:solidFill>
                  </a:tcPr>
                </a:tc>
                <a:tc>
                  <a:txBody>
                    <a:bodyPr/>
                    <a:lstStyle/>
                    <a:p>
                      <a:pPr marL="0" indent="0" algn="ctr">
                        <a:buNone/>
                      </a:pPr>
                      <a:r>
                        <a:rPr lang="en-US" sz="900" dirty="0">
                          <a:solidFill>
                            <a:srgbClr val="000000"/>
                          </a:solidFill>
                          <a:latin typeface="맑은 고딕" pitchFamily="34" charset="0"/>
                          <a:ea typeface="맑은 고딕" pitchFamily="34" charset="-122"/>
                          <a:cs typeface="맑은 고딕" pitchFamily="34" charset="-120"/>
                        </a:rPr>
                        <a:t>-</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EEF2F7"/>
                    </a:solidFill>
                  </a:tcPr>
                </a:tc>
                <a:tc>
                  <a:txBody>
                    <a:bodyPr/>
                    <a:lstStyle/>
                    <a:p>
                      <a:pPr marL="0" indent="0">
                        <a:buNone/>
                      </a:pPr>
                      <a:r>
                        <a:rPr lang="en-US" sz="900" b="1" dirty="0">
                          <a:solidFill>
                            <a:srgbClr val="000000"/>
                          </a:solidFill>
                          <a:latin typeface="맑은 고딕" pitchFamily="34" charset="0"/>
                          <a:ea typeface="맑은 고딕" pitchFamily="34" charset="-122"/>
                          <a:cs typeface="맑은 고딕" pitchFamily="34" charset="-120"/>
                        </a:rPr>
                        <a:t>약 123,000원 (실손 변동 시 조정)</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bl>
          </a:graphicData>
        </a:graphic>
      </p:graphicFrame>
      <p:sp>
        <p:nvSpPr>
          <p:cNvPr id="9" name="Shape 6"/>
          <p:cNvSpPr/>
          <p:nvPr/>
        </p:nvSpPr>
        <p:spPr>
          <a:xfrm>
            <a:off x="457200" y="3383280"/>
            <a:ext cx="8229600" cy="8229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0" name="Shape 7"/>
          <p:cNvSpPr/>
          <p:nvPr/>
        </p:nvSpPr>
        <p:spPr>
          <a:xfrm>
            <a:off x="457200" y="3383280"/>
            <a:ext cx="54864" cy="822960"/>
          </a:xfrm>
          <a:prstGeom prst="rect">
            <a:avLst/>
          </a:prstGeom>
          <a:solidFill>
            <a:srgbClr val="3366CC"/>
          </a:solidFill>
          <a:ln/>
        </p:spPr>
        <p:txBody>
          <a:bodyPr/>
          <a:lstStyle/>
          <a:p>
            <a:endParaRPr lang="ko-KR" altLang="en-US"/>
          </a:p>
        </p:txBody>
      </p:sp>
      <p:sp>
        <p:nvSpPr>
          <p:cNvPr id="11" name="Text 8"/>
          <p:cNvSpPr/>
          <p:nvPr/>
        </p:nvSpPr>
        <p:spPr>
          <a:xfrm>
            <a:off x="640080" y="3438144"/>
            <a:ext cx="7863840" cy="228600"/>
          </a:xfrm>
          <a:prstGeom prst="rect">
            <a:avLst/>
          </a:prstGeom>
          <a:noFill/>
          <a:ln/>
        </p:spPr>
        <p:txBody>
          <a:bodyPr wrap="square" lIns="0" tIns="0" rIns="0" bIns="0" rtlCol="0" anchor="ctr"/>
          <a:lstStyle/>
          <a:p>
            <a:pPr marL="0" indent="0">
              <a:buNone/>
            </a:pPr>
            <a:r>
              <a:rPr lang="en-US" sz="1100" b="1" dirty="0">
                <a:solidFill>
                  <a:srgbClr val="2952A3"/>
                </a:solidFill>
                <a:latin typeface="맑은 고딕" pitchFamily="34" charset="0"/>
                <a:ea typeface="맑은 고딕" pitchFamily="34" charset="-122"/>
                <a:cs typeface="맑은 고딕" pitchFamily="34" charset="-120"/>
              </a:rPr>
              <a:t>유의사항</a:t>
            </a:r>
            <a:endParaRPr lang="en-US" sz="1100" dirty="0"/>
          </a:p>
        </p:txBody>
      </p:sp>
      <p:sp>
        <p:nvSpPr>
          <p:cNvPr id="8" name="Text 9"/>
          <p:cNvSpPr/>
          <p:nvPr/>
        </p:nvSpPr>
        <p:spPr>
          <a:xfrm>
            <a:off x="640080" y="3675888"/>
            <a:ext cx="7863840" cy="457200"/>
          </a:xfrm>
          <a:prstGeom prst="rect">
            <a:avLst/>
          </a:prstGeom>
          <a:noFill/>
          <a:ln/>
        </p:spPr>
        <p:txBody>
          <a:bodyPr wrap="square" lIns="0" tIns="0" rIns="0" bIns="0" rtlCol="0" anchor="t"/>
          <a:lstStyle/>
          <a:p>
            <a:pPr marL="0" indent="0">
              <a:lnSpc>
                <a:spcPct val="130000"/>
              </a:lnSpc>
              <a:buNone/>
            </a:pPr>
            <a:r>
              <a:rPr lang="en-US" sz="900" dirty="0">
                <a:solidFill>
                  <a:srgbClr val="2B2B2B"/>
                </a:solidFill>
                <a:latin typeface="맑은 고딕" pitchFamily="34" charset="0"/>
                <a:ea typeface="맑은 고딕" pitchFamily="34" charset="-122"/>
                <a:cs typeface="맑은 고딕" pitchFamily="34" charset="-120"/>
              </a:rPr>
              <a:t>※ 실손의료비는 4세대 기준 1년 갱신 / 15년 재가입 상품으로, 연령 증가 및 손해율에 따라 보험료가 변동됩니다.</a:t>
            </a:r>
            <a:endParaRPr lang="en-US" sz="900" dirty="0"/>
          </a:p>
          <a:p>
            <a:pPr marL="0" indent="0">
              <a:lnSpc>
                <a:spcPct val="130000"/>
              </a:lnSpc>
              <a:buNone/>
            </a:pPr>
            <a:r>
              <a:rPr lang="en-US" sz="900" dirty="0">
                <a:solidFill>
                  <a:srgbClr val="2B2B2B"/>
                </a:solidFill>
                <a:latin typeface="맑은 고딕" pitchFamily="34" charset="0"/>
                <a:ea typeface="맑은 고딕" pitchFamily="34" charset="-122"/>
                <a:cs typeface="맑은 고딕" pitchFamily="34" charset="-120"/>
              </a:rPr>
              <a:t>※ 상기 보험료는 예시이며, 실제 보험료는 보험사, 가입 시점, 담보 구성에 따라 달라질 수 있습니다.</a:t>
            </a:r>
            <a:endParaRPr lang="en-US" sz="900" dirty="0"/>
          </a:p>
        </p:txBody>
      </p:sp>
      <p:sp>
        <p:nvSpPr>
          <p:cNvPr id="13" name="Text 10"/>
          <p:cNvSpPr/>
          <p:nvPr/>
        </p:nvSpPr>
        <p:spPr>
          <a:xfrm>
            <a:off x="457200" y="4389120"/>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맑은 고딕" pitchFamily="34" charset="0"/>
                <a:ea typeface="맑은 고딕" pitchFamily="34" charset="-122"/>
                <a:cs typeface="맑은 고딕" pitchFamily="34" charset="-120"/>
              </a:rPr>
              <a:t>【법적 근거】 금융위원회 고시 「실손의료보험 표준약관」(2021.7.1 시행, 4세대 실손)</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11</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Ⅳ. 맞춤형 솔루션 제안 (3/3)</a:t>
            </a:r>
            <a:endParaRPr lang="en-US" sz="16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30대초반 건강한 직장인 | 컨설팅 특급보고서</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11 / 22</a:t>
            </a:r>
            <a:endParaRPr lang="en-US" sz="800" dirty="0"/>
          </a:p>
        </p:txBody>
      </p:sp>
      <p:sp>
        <p:nvSpPr>
          <p:cNvPr id="7" name="Text 5"/>
          <p:cNvSpPr/>
          <p:nvPr/>
        </p:nvSpPr>
        <p:spPr>
          <a:xfrm>
            <a:off x="457200" y="77724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3. 제안 이유 (Rationale)</a:t>
            </a:r>
            <a:endParaRPr lang="en-US" sz="1400" dirty="0"/>
          </a:p>
        </p:txBody>
      </p:sp>
      <p:sp>
        <p:nvSpPr>
          <p:cNvPr id="8" name="Text 6"/>
          <p:cNvSpPr/>
          <p:nvPr/>
        </p:nvSpPr>
        <p:spPr>
          <a:xfrm>
            <a:off x="640080" y="1188720"/>
            <a:ext cx="7863840" cy="1828800"/>
          </a:xfrm>
          <a:prstGeom prst="rect">
            <a:avLst/>
          </a:prstGeom>
          <a:noFill/>
          <a:ln/>
        </p:spPr>
        <p:txBody>
          <a:bodyPr wrap="square" lIns="0" tIns="0" rIns="0" bIns="0" rtlCol="0" anchor="t"/>
          <a:lstStyle/>
          <a:p>
            <a:pPr>
              <a:lnSpc>
                <a:spcPct val="150000"/>
              </a:lnSpc>
              <a:buSzPct val="100000"/>
            </a:pPr>
            <a:r>
              <a:rPr lang="en-US" sz="1100" b="1" dirty="0">
                <a:solidFill>
                  <a:srgbClr val="1B2A4A"/>
                </a:solidFill>
                <a:latin typeface="맑은 고딕" pitchFamily="34" charset="0"/>
                <a:ea typeface="맑은 고딕" pitchFamily="34" charset="-122"/>
                <a:cs typeface="맑은 고딕" pitchFamily="34" charset="-120"/>
              </a:rPr>
              <a:t>시간 선점: </a:t>
            </a:r>
            <a:r>
              <a:rPr lang="en-US" sz="1100" dirty="0">
                <a:solidFill>
                  <a:srgbClr val="2B2B2B"/>
                </a:solidFill>
                <a:latin typeface="맑은 고딕" pitchFamily="34" charset="0"/>
                <a:ea typeface="맑은 고딕" pitchFamily="34" charset="-122"/>
                <a:cs typeface="맑은 고딕" pitchFamily="34" charset="-120"/>
              </a:rPr>
              <a:t>만 32세 가입 시와 만 42세 가입 시를 비교하면 연령 증가에 따른 보험료 지수가 약 1.3~1.5배 차이가 날 수 있습니다. 오늘 가입하는 것이 상당한 비용 절감 효과를 가져올 수 있습니다. (개인별 건강상태, 보험사별 요율에 따라 </a:t>
            </a:r>
            <a:r>
              <a:rPr lang="en-US" sz="1100" dirty="0" err="1">
                <a:solidFill>
                  <a:srgbClr val="2B2B2B"/>
                </a:solidFill>
                <a:latin typeface="맑은 고딕" pitchFamily="34" charset="0"/>
                <a:ea typeface="맑은 고딕" pitchFamily="34" charset="-122"/>
                <a:cs typeface="맑은 고딕" pitchFamily="34" charset="-120"/>
              </a:rPr>
              <a:t>상이</a:t>
            </a:r>
            <a:r>
              <a:rPr lang="en-US" sz="1100" dirty="0">
                <a:solidFill>
                  <a:srgbClr val="2B2B2B"/>
                </a:solidFill>
                <a:latin typeface="맑은 고딕" pitchFamily="34" charset="0"/>
                <a:ea typeface="맑은 고딕" pitchFamily="34" charset="-122"/>
                <a:cs typeface="맑은 고딕" pitchFamily="34" charset="-120"/>
              </a:rPr>
              <a:t>)</a:t>
            </a:r>
          </a:p>
          <a:p>
            <a:pPr>
              <a:lnSpc>
                <a:spcPct val="150000"/>
              </a:lnSpc>
              <a:buSzPct val="100000"/>
            </a:pPr>
            <a:endParaRPr lang="en-US" sz="1100" dirty="0"/>
          </a:p>
          <a:p>
            <a:pPr marL="0" indent="0">
              <a:lnSpc>
                <a:spcPct val="150000"/>
              </a:lnSpc>
              <a:buNone/>
            </a:pPr>
            <a:r>
              <a:rPr lang="en-US" sz="1100" b="1" dirty="0">
                <a:solidFill>
                  <a:srgbClr val="1B2A4A"/>
                </a:solidFill>
                <a:latin typeface="맑은 고딕" pitchFamily="34" charset="0"/>
                <a:ea typeface="맑은 고딕" pitchFamily="34" charset="-122"/>
                <a:cs typeface="맑은 고딕" pitchFamily="34" charset="-120"/>
              </a:rPr>
              <a:t>건강 자산 활용: </a:t>
            </a:r>
            <a:r>
              <a:rPr lang="en-US" sz="1100" dirty="0">
                <a:solidFill>
                  <a:srgbClr val="2B2B2B"/>
                </a:solidFill>
                <a:latin typeface="맑은 고딕" pitchFamily="34" charset="0"/>
                <a:ea typeface="맑은 고딕" pitchFamily="34" charset="-122"/>
                <a:cs typeface="맑은 고딕" pitchFamily="34" charset="-120"/>
              </a:rPr>
              <a:t>현재 약 복용이나 수술력이 없으므로 가장 유리한 조건(표준체)으로 담보 가입이 가능할 것으로 예상됩니다. (※ 최종 가입 조건은 보험사 심사 결과에 따름)</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12</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Ⅴ. 기대 효과 (1/2)</a:t>
            </a:r>
            <a:endParaRPr lang="en-US" sz="16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30대초반 건강한 직장인 | 컨설팅 특급보고서</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12 / 22</a:t>
            </a:r>
            <a:endParaRPr lang="en-US" sz="800" dirty="0"/>
          </a:p>
        </p:txBody>
      </p:sp>
      <p:sp>
        <p:nvSpPr>
          <p:cNvPr id="7" name="Text 5"/>
          <p:cNvSpPr/>
          <p:nvPr/>
        </p:nvSpPr>
        <p:spPr>
          <a:xfrm>
            <a:off x="457200" y="77724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Before &amp; After 시뮬레이션 (정량적 비교)</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310477691"/>
              </p:ext>
            </p:extLst>
          </p:nvPr>
        </p:nvGraphicFramePr>
        <p:xfrm>
          <a:off x="457200" y="1188720"/>
          <a:ext cx="8229600" cy="1508760"/>
        </p:xfrm>
        <a:graphic>
          <a:graphicData uri="http://schemas.openxmlformats.org/drawingml/2006/table">
            <a:tbl>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20040">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항목</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오늘 (만 32세) 가입</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10년 뒤 (만 42세) 가입</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차이 (예상)</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65760">
                <a:tc>
                  <a:txBody>
                    <a:bodyPr/>
                    <a:lstStyle/>
                    <a:p>
                      <a:pPr marL="0" indent="0">
                        <a:buNone/>
                      </a:pPr>
                      <a:r>
                        <a:rPr lang="en-US" sz="900" b="1" dirty="0">
                          <a:solidFill>
                            <a:srgbClr val="000000"/>
                          </a:solidFill>
                          <a:latin typeface="맑은 고딕" pitchFamily="34" charset="0"/>
                          <a:ea typeface="맑은 고딕" pitchFamily="34" charset="-122"/>
                          <a:cs typeface="맑은 고딕" pitchFamily="34" charset="-120"/>
                        </a:rPr>
                        <a:t>월 보험료 (비갱신 담보 기준)</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맑은 고딕" pitchFamily="34" charset="0"/>
                          <a:ea typeface="맑은 고딕" pitchFamily="34" charset="-122"/>
                          <a:cs typeface="맑은 고딕" pitchFamily="34" charset="-120"/>
                        </a:rPr>
                        <a:t>약 108,000원</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맑은 고딕" pitchFamily="34" charset="0"/>
                          <a:ea typeface="맑은 고딕" pitchFamily="34" charset="-122"/>
                          <a:cs typeface="맑은 고딕" pitchFamily="34" charset="-120"/>
                        </a:rPr>
                        <a:t>약 165,000원 (예상)</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900" dirty="0">
                          <a:solidFill>
                            <a:srgbClr val="D4382C"/>
                          </a:solidFill>
                          <a:latin typeface="맑은 고딕" pitchFamily="34" charset="0"/>
                          <a:ea typeface="맑은 고딕" pitchFamily="34" charset="-122"/>
                          <a:cs typeface="맑은 고딕" pitchFamily="34" charset="-120"/>
                        </a:rPr>
                        <a:t>약 + 57,000원</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900" b="1" dirty="0">
                          <a:solidFill>
                            <a:srgbClr val="000000"/>
                          </a:solidFill>
                          <a:latin typeface="맑은 고딕" pitchFamily="34" charset="0"/>
                          <a:ea typeface="맑은 고딕" pitchFamily="34" charset="-122"/>
                          <a:cs typeface="맑은 고딕" pitchFamily="34" charset="-120"/>
                        </a:rPr>
                        <a:t>총 납입 보험료 (비갱신 담보 기준)</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tc>
                  <a:txBody>
                    <a:bodyPr/>
                    <a:lstStyle/>
                    <a:p>
                      <a:pPr marL="0" indent="0">
                        <a:buNone/>
                      </a:pPr>
                      <a:r>
                        <a:rPr lang="en-US" sz="900" b="1" dirty="0">
                          <a:solidFill>
                            <a:srgbClr val="000000"/>
                          </a:solidFill>
                          <a:latin typeface="맑은 고딕" pitchFamily="34" charset="0"/>
                          <a:ea typeface="맑은 고딕" pitchFamily="34" charset="-122"/>
                          <a:cs typeface="맑은 고딕" pitchFamily="34" charset="-120"/>
                        </a:rPr>
                        <a:t>약 2,592만 원</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tc>
                  <a:txBody>
                    <a:bodyPr/>
                    <a:lstStyle/>
                    <a:p>
                      <a:pPr marL="0" indent="0">
                        <a:buNone/>
                      </a:pPr>
                      <a:r>
                        <a:rPr lang="en-US" sz="900" b="1" dirty="0">
                          <a:solidFill>
                            <a:srgbClr val="000000"/>
                          </a:solidFill>
                          <a:latin typeface="맑은 고딕" pitchFamily="34" charset="0"/>
                          <a:ea typeface="맑은 고딕" pitchFamily="34" charset="-122"/>
                          <a:cs typeface="맑은 고딕" pitchFamily="34" charset="-120"/>
                        </a:rPr>
                        <a:t>약 3,960만 원</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tc>
                  <a:txBody>
                    <a:bodyPr/>
                    <a:lstStyle/>
                    <a:p>
                      <a:pPr marL="0" indent="0">
                        <a:buNone/>
                      </a:pPr>
                      <a:r>
                        <a:rPr lang="en-US" sz="900" b="1" dirty="0">
                          <a:solidFill>
                            <a:srgbClr val="D4382C"/>
                          </a:solidFill>
                          <a:latin typeface="맑은 고딕" pitchFamily="34" charset="0"/>
                          <a:ea typeface="맑은 고딕" pitchFamily="34" charset="-122"/>
                          <a:cs typeface="맑은 고딕" pitchFamily="34" charset="-120"/>
                        </a:rPr>
                        <a:t>약 1,368만 원 추가 지불 예상</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457200">
                <a:tc>
                  <a:txBody>
                    <a:bodyPr/>
                    <a:lstStyle/>
                    <a:p>
                      <a:pPr marL="0" indent="0">
                        <a:buNone/>
                      </a:pPr>
                      <a:r>
                        <a:rPr lang="en-US" sz="900" b="1" dirty="0">
                          <a:solidFill>
                            <a:srgbClr val="000000"/>
                          </a:solidFill>
                          <a:latin typeface="맑은 고딕" pitchFamily="34" charset="0"/>
                          <a:ea typeface="맑은 고딕" pitchFamily="34" charset="-122"/>
                          <a:cs typeface="맑은 고딕" pitchFamily="34" charset="-120"/>
                        </a:rPr>
                        <a:t>가입 조건</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맑은 고딕" pitchFamily="34" charset="0"/>
                          <a:ea typeface="맑은 고딕" pitchFamily="34" charset="-122"/>
                          <a:cs typeface="맑은 고딕" pitchFamily="34" charset="-120"/>
                        </a:rPr>
                        <a:t>인수 기준 내 한도 가입 (업계 기준 준수)</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맑은 고딕" pitchFamily="34" charset="0"/>
                          <a:ea typeface="맑은 고딕" pitchFamily="34" charset="-122"/>
                          <a:cs typeface="맑은 고딕" pitchFamily="34" charset="-120"/>
                        </a:rPr>
                        <a:t>유병력 시 가입 제한/할증 가능성 있음</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900" b="1" dirty="0">
                          <a:solidFill>
                            <a:srgbClr val="D4382C"/>
                          </a:solidFill>
                          <a:latin typeface="맑은 고딕" pitchFamily="34" charset="0"/>
                          <a:ea typeface="맑은 고딕" pitchFamily="34" charset="-122"/>
                          <a:cs typeface="맑은 고딕" pitchFamily="34" charset="-120"/>
                        </a:rPr>
                        <a:t>가입 거절 위험 노출 가능성</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Shape 6"/>
          <p:cNvSpPr/>
          <p:nvPr/>
        </p:nvSpPr>
        <p:spPr>
          <a:xfrm>
            <a:off x="457200" y="2880360"/>
            <a:ext cx="8229600" cy="8229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0" name="Shape 7"/>
          <p:cNvSpPr/>
          <p:nvPr/>
        </p:nvSpPr>
        <p:spPr>
          <a:xfrm>
            <a:off x="457200" y="2880360"/>
            <a:ext cx="54864" cy="822960"/>
          </a:xfrm>
          <a:prstGeom prst="rect">
            <a:avLst/>
          </a:prstGeom>
          <a:solidFill>
            <a:srgbClr val="3366CC"/>
          </a:solidFill>
          <a:ln/>
        </p:spPr>
        <p:txBody>
          <a:bodyPr/>
          <a:lstStyle/>
          <a:p>
            <a:endParaRPr lang="ko-KR" altLang="en-US"/>
          </a:p>
        </p:txBody>
      </p:sp>
      <p:sp>
        <p:nvSpPr>
          <p:cNvPr id="11" name="Text 8"/>
          <p:cNvSpPr/>
          <p:nvPr/>
        </p:nvSpPr>
        <p:spPr>
          <a:xfrm>
            <a:off x="640080" y="2935224"/>
            <a:ext cx="7863840" cy="228600"/>
          </a:xfrm>
          <a:prstGeom prst="rect">
            <a:avLst/>
          </a:prstGeom>
          <a:noFill/>
          <a:ln/>
        </p:spPr>
        <p:txBody>
          <a:bodyPr wrap="square" lIns="0" tIns="0" rIns="0" bIns="0" rtlCol="0" anchor="ctr"/>
          <a:lstStyle/>
          <a:p>
            <a:pPr marL="0" indent="0">
              <a:buNone/>
            </a:pPr>
            <a:r>
              <a:rPr lang="en-US" sz="1100" b="1" dirty="0">
                <a:solidFill>
                  <a:srgbClr val="2952A3"/>
                </a:solidFill>
                <a:latin typeface="맑은 고딕" pitchFamily="34" charset="0"/>
                <a:ea typeface="맑은 고딕" pitchFamily="34" charset="-122"/>
                <a:cs typeface="맑은 고딕" pitchFamily="34" charset="-120"/>
              </a:rPr>
              <a:t>참고사항</a:t>
            </a:r>
            <a:endParaRPr lang="en-US" sz="1100" dirty="0"/>
          </a:p>
        </p:txBody>
      </p:sp>
      <p:sp>
        <p:nvSpPr>
          <p:cNvPr id="12" name="Text 9"/>
          <p:cNvSpPr/>
          <p:nvPr/>
        </p:nvSpPr>
        <p:spPr>
          <a:xfrm>
            <a:off x="640080" y="3172968"/>
            <a:ext cx="7863840" cy="457200"/>
          </a:xfrm>
          <a:prstGeom prst="rect">
            <a:avLst/>
          </a:prstGeom>
          <a:noFill/>
          <a:ln/>
        </p:spPr>
        <p:txBody>
          <a:bodyPr wrap="square" lIns="0" tIns="0" rIns="0" bIns="0" rtlCol="0" anchor="t"/>
          <a:lstStyle/>
          <a:p>
            <a:pPr marL="0" indent="0">
              <a:lnSpc>
                <a:spcPct val="130000"/>
              </a:lnSpc>
              <a:buNone/>
            </a:pPr>
            <a:r>
              <a:rPr lang="en-US" sz="900" dirty="0">
                <a:solidFill>
                  <a:srgbClr val="2B2B2B"/>
                </a:solidFill>
                <a:latin typeface="맑은 고딕" pitchFamily="34" charset="0"/>
                <a:ea typeface="맑은 고딕" pitchFamily="34" charset="-122"/>
                <a:cs typeface="맑은 고딕" pitchFamily="34" charset="-120"/>
              </a:rPr>
              <a:t>※ 실손의료비는 갱신형으로 별도 계산되며, 위 비교는 비갱신 담보(진단비/수술비 등) 기준 예시입니다.</a:t>
            </a:r>
            <a:endParaRPr lang="en-US" sz="900" dirty="0"/>
          </a:p>
          <a:p>
            <a:pPr marL="0" indent="0">
              <a:lnSpc>
                <a:spcPct val="130000"/>
              </a:lnSpc>
              <a:buNone/>
            </a:pPr>
            <a:r>
              <a:rPr lang="en-US" sz="900" dirty="0">
                <a:solidFill>
                  <a:srgbClr val="2B2B2B"/>
                </a:solidFill>
                <a:latin typeface="맑은 고딕" pitchFamily="34" charset="0"/>
                <a:ea typeface="맑은 고딕" pitchFamily="34" charset="-122"/>
                <a:cs typeface="맑은 고딕" pitchFamily="34" charset="-120"/>
              </a:rPr>
              <a:t>※ 실제 보험료는 보험사, 가입 시점, 개인 건강상태에 따라 달라질 수 있으므로 참고용으로만 활용하시기 바랍니다.</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13</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Ⅴ. 기대 효과 (2/2)</a:t>
            </a:r>
            <a:endParaRPr lang="en-US" sz="16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30대초반 건강한 직장인 | 컨설팅 특급보고서</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13 / 22</a:t>
            </a:r>
            <a:endParaRPr lang="en-US" sz="800" dirty="0"/>
          </a:p>
        </p:txBody>
      </p:sp>
      <p:sp>
        <p:nvSpPr>
          <p:cNvPr id="7" name="Text 5"/>
          <p:cNvSpPr/>
          <p:nvPr/>
        </p:nvSpPr>
        <p:spPr>
          <a:xfrm>
            <a:off x="457200" y="77724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가족·심리적 변화</a:t>
            </a:r>
            <a:endParaRPr lang="en-US" sz="1400" dirty="0"/>
          </a:p>
        </p:txBody>
      </p:sp>
      <p:sp>
        <p:nvSpPr>
          <p:cNvPr id="8" name="Shape 6"/>
          <p:cNvSpPr/>
          <p:nvPr/>
        </p:nvSpPr>
        <p:spPr>
          <a:xfrm>
            <a:off x="457200" y="1234440"/>
            <a:ext cx="8229600" cy="6400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457200" y="1234440"/>
            <a:ext cx="54864" cy="640080"/>
          </a:xfrm>
          <a:prstGeom prst="rect">
            <a:avLst/>
          </a:prstGeom>
          <a:solidFill>
            <a:srgbClr val="1A6B4A"/>
          </a:solidFill>
          <a:ln/>
        </p:spPr>
        <p:txBody>
          <a:bodyPr/>
          <a:lstStyle/>
          <a:p>
            <a:endParaRPr lang="ko-KR" altLang="en-US"/>
          </a:p>
        </p:txBody>
      </p:sp>
      <p:sp>
        <p:nvSpPr>
          <p:cNvPr id="10" name="Text 8"/>
          <p:cNvSpPr/>
          <p:nvPr/>
        </p:nvSpPr>
        <p:spPr>
          <a:xfrm>
            <a:off x="640080" y="1344168"/>
            <a:ext cx="7863840" cy="457200"/>
          </a:xfrm>
          <a:prstGeom prst="rect">
            <a:avLst/>
          </a:prstGeom>
          <a:noFill/>
          <a:ln/>
        </p:spPr>
        <p:txBody>
          <a:bodyPr wrap="square" lIns="0" tIns="0" rIns="0" bIns="0" rtlCol="0" anchor="t"/>
          <a:lstStyle/>
          <a:p>
            <a:pPr marL="0" indent="0">
              <a:lnSpc>
                <a:spcPct val="130000"/>
              </a:lnSpc>
              <a:buNone/>
            </a:pPr>
            <a:r>
              <a:rPr lang="en-US" sz="1100" b="1" dirty="0">
                <a:solidFill>
                  <a:srgbClr val="1B2A4A"/>
                </a:solidFill>
                <a:latin typeface="맑은 고딕" pitchFamily="34" charset="0"/>
                <a:ea typeface="맑은 고딕" pitchFamily="34" charset="-122"/>
                <a:cs typeface="맑은 고딕" pitchFamily="34" charset="-120"/>
              </a:rPr>
              <a:t>재무적 안정감: </a:t>
            </a:r>
            <a:r>
              <a:rPr lang="en-US" sz="1100" dirty="0">
                <a:solidFill>
                  <a:srgbClr val="2B2B2B"/>
                </a:solidFill>
                <a:latin typeface="맑은 고딕" pitchFamily="34" charset="0"/>
                <a:ea typeface="맑은 고딕" pitchFamily="34" charset="-122"/>
                <a:cs typeface="맑은 고딕" pitchFamily="34" charset="-120"/>
              </a:rPr>
              <a:t>월 12만 원대의 합리적 비용으로 상당 규모의 잠재적 리스크를 대비했다는 안도감을 얻을 수 있습니다.</a:t>
            </a:r>
            <a:endParaRPr lang="en-US" sz="1100" dirty="0"/>
          </a:p>
        </p:txBody>
      </p:sp>
      <p:sp>
        <p:nvSpPr>
          <p:cNvPr id="11" name="Shape 9"/>
          <p:cNvSpPr/>
          <p:nvPr/>
        </p:nvSpPr>
        <p:spPr>
          <a:xfrm>
            <a:off x="457200" y="2057400"/>
            <a:ext cx="8229600" cy="6400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2" name="Shape 10"/>
          <p:cNvSpPr/>
          <p:nvPr/>
        </p:nvSpPr>
        <p:spPr>
          <a:xfrm>
            <a:off x="457200" y="2057400"/>
            <a:ext cx="54864" cy="640080"/>
          </a:xfrm>
          <a:prstGeom prst="rect">
            <a:avLst/>
          </a:prstGeom>
          <a:solidFill>
            <a:srgbClr val="1A6B4A"/>
          </a:solidFill>
          <a:ln/>
        </p:spPr>
        <p:txBody>
          <a:bodyPr/>
          <a:lstStyle/>
          <a:p>
            <a:endParaRPr lang="ko-KR" altLang="en-US"/>
          </a:p>
        </p:txBody>
      </p:sp>
      <p:sp>
        <p:nvSpPr>
          <p:cNvPr id="13" name="Text 11"/>
          <p:cNvSpPr/>
          <p:nvPr/>
        </p:nvSpPr>
        <p:spPr>
          <a:xfrm>
            <a:off x="640080" y="2167128"/>
            <a:ext cx="7863840" cy="457200"/>
          </a:xfrm>
          <a:prstGeom prst="rect">
            <a:avLst/>
          </a:prstGeom>
          <a:noFill/>
          <a:ln/>
        </p:spPr>
        <p:txBody>
          <a:bodyPr wrap="square" lIns="0" tIns="0" rIns="0" bIns="0" rtlCol="0" anchor="t"/>
          <a:lstStyle/>
          <a:p>
            <a:pPr marL="0" indent="0">
              <a:lnSpc>
                <a:spcPct val="130000"/>
              </a:lnSpc>
              <a:buNone/>
            </a:pPr>
            <a:r>
              <a:rPr lang="en-US" sz="1100" b="1" dirty="0">
                <a:solidFill>
                  <a:srgbClr val="1B2A4A"/>
                </a:solidFill>
                <a:latin typeface="맑은 고딕" pitchFamily="34" charset="0"/>
                <a:ea typeface="맑은 고딕" pitchFamily="34" charset="-122"/>
                <a:cs typeface="맑은 고딕" pitchFamily="34" charset="-120"/>
              </a:rPr>
              <a:t>미래 계획의 탄력성: </a:t>
            </a:r>
            <a:r>
              <a:rPr lang="en-US" sz="1100" dirty="0">
                <a:solidFill>
                  <a:srgbClr val="2B2B2B"/>
                </a:solidFill>
                <a:latin typeface="맑은 고딕" pitchFamily="34" charset="0"/>
                <a:ea typeface="맑은 고딕" pitchFamily="34" charset="-122"/>
                <a:cs typeface="맑은 고딕" pitchFamily="34" charset="-120"/>
              </a:rPr>
              <a:t>향후 결혼 시 배우자 보장만 추가하면 되므로, 가족 재무 설계를 훨씬 수월하게 시작할 수 있습니다.</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14</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Ⅵ. 종합 제언 및 다음 단계</a:t>
            </a:r>
            <a:endParaRPr lang="en-US" sz="16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30대초반 건강한 직장인 | 컨설팅 특급보고서</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14 / 22</a:t>
            </a:r>
            <a:endParaRPr lang="en-US" sz="800" dirty="0"/>
          </a:p>
        </p:txBody>
      </p:sp>
      <p:sp>
        <p:nvSpPr>
          <p:cNvPr id="7" name="Shape 5"/>
          <p:cNvSpPr/>
          <p:nvPr/>
        </p:nvSpPr>
        <p:spPr>
          <a:xfrm>
            <a:off x="457200" y="777240"/>
            <a:ext cx="8229600" cy="1920240"/>
          </a:xfrm>
          <a:prstGeom prst="rect">
            <a:avLst/>
          </a:prstGeom>
          <a:solidFill>
            <a:srgbClr val="1B2A4A"/>
          </a:solidFill>
          <a:ln/>
          <a:effectLst>
            <a:outerShdw blurRad="50800" dist="25400" dir="8100000" algn="bl" rotWithShape="0">
              <a:srgbClr val="000000">
                <a:alpha val="10000"/>
              </a:srgbClr>
            </a:outerShdw>
          </a:effectLst>
        </p:spPr>
        <p:txBody>
          <a:bodyPr/>
          <a:lstStyle/>
          <a:p>
            <a:endParaRPr lang="ko-KR" altLang="en-US"/>
          </a:p>
        </p:txBody>
      </p:sp>
      <p:sp>
        <p:nvSpPr>
          <p:cNvPr id="8" name="Text 6"/>
          <p:cNvSpPr/>
          <p:nvPr/>
        </p:nvSpPr>
        <p:spPr>
          <a:xfrm>
            <a:off x="640080" y="868680"/>
            <a:ext cx="7863840" cy="256032"/>
          </a:xfrm>
          <a:prstGeom prst="rect">
            <a:avLst/>
          </a:prstGeom>
          <a:noFill/>
          <a:ln/>
        </p:spPr>
        <p:txBody>
          <a:bodyPr wrap="square" lIns="0" tIns="0" rIns="0" bIns="0" rtlCol="0" anchor="ctr"/>
          <a:lstStyle/>
          <a:p>
            <a:pPr marL="0" indent="0">
              <a:buNone/>
            </a:pPr>
            <a:r>
              <a:rPr lang="en-US" sz="1100" b="1" dirty="0">
                <a:solidFill>
                  <a:srgbClr val="C8962E"/>
                </a:solidFill>
                <a:latin typeface="맑은 고딕" pitchFamily="34" charset="0"/>
                <a:ea typeface="맑은 고딕" pitchFamily="34" charset="-122"/>
                <a:cs typeface="맑은 고딕" pitchFamily="34" charset="-120"/>
              </a:rPr>
              <a:t>전문가 최종 의견</a:t>
            </a:r>
            <a:endParaRPr lang="en-US" sz="1100" dirty="0"/>
          </a:p>
        </p:txBody>
      </p:sp>
      <p:sp>
        <p:nvSpPr>
          <p:cNvPr id="9" name="Text 7"/>
          <p:cNvSpPr/>
          <p:nvPr/>
        </p:nvSpPr>
        <p:spPr>
          <a:xfrm>
            <a:off x="640080" y="1161288"/>
            <a:ext cx="7863840" cy="1463040"/>
          </a:xfrm>
          <a:prstGeom prst="rect">
            <a:avLst/>
          </a:prstGeom>
          <a:noFill/>
          <a:ln/>
        </p:spPr>
        <p:txBody>
          <a:bodyPr wrap="square" lIns="0" tIns="0" rIns="0" bIns="0" rtlCol="0" anchor="t"/>
          <a:lstStyle/>
          <a:p>
            <a:pPr marL="0" indent="0">
              <a:lnSpc>
                <a:spcPct val="140000"/>
              </a:lnSpc>
              <a:buNone/>
            </a:pPr>
            <a:r>
              <a:rPr lang="en-US" sz="1050" dirty="0">
                <a:solidFill>
                  <a:srgbClr val="FFFFFF"/>
                </a:solidFill>
                <a:latin typeface="맑은 고딕" pitchFamily="34" charset="0"/>
                <a:ea typeface="맑은 고딕" pitchFamily="34" charset="-122"/>
                <a:cs typeface="맑은 고딕" pitchFamily="34" charset="-120"/>
              </a:rPr>
              <a:t>김도훈 고객님, 재테크의 기본은 '버는 것'보다 '지키는 것'입니다. 30대 초반의 건강한 지금이 인생에서 가장 저렴하게 안전장치를 마련할 수 있는 적기입니다. 오늘 이 결정을 미루는 것은 미래의 나에게 더 많은 비용과 리스크를 떠넘기는 것과 같습니다. 현재 고객님의 자산 포트폴리오는 공격수(투자)는 훌륭하지만 골키퍼(보장)가 없는 상태입니다. 합리적인 비용으로 자산을 지키는 헷지(Hedge) 전략을 지금 검토해 보시길 권고합니다.</a:t>
            </a:r>
            <a:endParaRPr lang="en-US" sz="1050" dirty="0"/>
          </a:p>
        </p:txBody>
      </p:sp>
      <p:sp>
        <p:nvSpPr>
          <p:cNvPr id="10" name="Text 8"/>
          <p:cNvSpPr/>
          <p:nvPr/>
        </p:nvSpPr>
        <p:spPr>
          <a:xfrm>
            <a:off x="457200" y="288036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실행 플랜 (Action Plan)</a:t>
            </a:r>
            <a:endParaRPr lang="en-US" sz="1400" dirty="0"/>
          </a:p>
        </p:txBody>
      </p:sp>
      <p:sp>
        <p:nvSpPr>
          <p:cNvPr id="11" name="Text 9"/>
          <p:cNvSpPr/>
          <p:nvPr/>
        </p:nvSpPr>
        <p:spPr>
          <a:xfrm>
            <a:off x="640080" y="3246120"/>
            <a:ext cx="7863840" cy="1371600"/>
          </a:xfrm>
          <a:prstGeom prst="rect">
            <a:avLst/>
          </a:prstGeom>
          <a:noFill/>
          <a:ln/>
        </p:spPr>
        <p:txBody>
          <a:bodyPr wrap="square" lIns="0" tIns="0" rIns="0" bIns="0" rtlCol="0" anchor="t"/>
          <a:lstStyle/>
          <a:p>
            <a:pPr marL="0" indent="0">
              <a:lnSpc>
                <a:spcPct val="150000"/>
              </a:lnSpc>
              <a:buNone/>
            </a:pPr>
            <a:r>
              <a:rPr lang="en-US" sz="1100" b="1" dirty="0">
                <a:solidFill>
                  <a:srgbClr val="1B2A4A"/>
                </a:solidFill>
                <a:latin typeface="맑은 고딕" pitchFamily="34" charset="0"/>
                <a:ea typeface="맑은 고딕" pitchFamily="34" charset="-122"/>
                <a:cs typeface="맑은 고딕" pitchFamily="34" charset="-120"/>
              </a:rPr>
              <a:t>1. 청약 가능 여부 확인: </a:t>
            </a:r>
            <a:r>
              <a:rPr lang="en-US" sz="1050" dirty="0">
                <a:solidFill>
                  <a:srgbClr val="2B2B2B"/>
                </a:solidFill>
                <a:latin typeface="맑은 고딕" pitchFamily="34" charset="0"/>
                <a:ea typeface="맑은 고딕" pitchFamily="34" charset="-122"/>
                <a:cs typeface="맑은 고딕" pitchFamily="34" charset="-120"/>
              </a:rPr>
              <a:t>현재 건강 상태 기반 사전 심사 시스템을 통해 결과 확인 가능 (※ 심사 결과에 따라 소요 시간이 다를 수 있으며, 최종 가입 조건은 보험사 심사 결과에 따름)</a:t>
            </a:r>
            <a:endParaRPr lang="en-US" sz="1100" dirty="0"/>
          </a:p>
          <a:p>
            <a:pPr marL="0" indent="0">
              <a:lnSpc>
                <a:spcPct val="150000"/>
              </a:lnSpc>
              <a:buNone/>
            </a:pPr>
            <a:r>
              <a:rPr lang="en-US" sz="1100" b="1" dirty="0">
                <a:solidFill>
                  <a:srgbClr val="1B2A4A"/>
                </a:solidFill>
                <a:latin typeface="맑은 고딕" pitchFamily="34" charset="0"/>
                <a:ea typeface="맑은 고딕" pitchFamily="34" charset="-122"/>
                <a:cs typeface="맑은 고딕" pitchFamily="34" charset="-120"/>
              </a:rPr>
              <a:t>2. 맞춤 조정: </a:t>
            </a:r>
            <a:r>
              <a:rPr lang="en-US" sz="1050" dirty="0">
                <a:solidFill>
                  <a:srgbClr val="2B2B2B"/>
                </a:solidFill>
                <a:latin typeface="맑은 고딕" pitchFamily="34" charset="0"/>
                <a:ea typeface="맑은 고딕" pitchFamily="34" charset="-122"/>
                <a:cs typeface="맑은 고딕" pitchFamily="34" charset="-120"/>
              </a:rPr>
              <a:t>예산 범위 내 담보 금액 최종 확정.</a:t>
            </a:r>
            <a:endParaRPr lang="en-US" sz="1100" dirty="0"/>
          </a:p>
          <a:p>
            <a:pPr marL="0" indent="0">
              <a:lnSpc>
                <a:spcPct val="150000"/>
              </a:lnSpc>
              <a:buNone/>
            </a:pPr>
            <a:r>
              <a:rPr lang="en-US" sz="1100" b="1" dirty="0">
                <a:solidFill>
                  <a:srgbClr val="1B2A4A"/>
                </a:solidFill>
                <a:latin typeface="맑은 고딕" pitchFamily="34" charset="0"/>
                <a:ea typeface="맑은 고딕" pitchFamily="34" charset="-122"/>
                <a:cs typeface="맑은 고딕" pitchFamily="34" charset="-120"/>
              </a:rPr>
              <a:t>3. 평생 파트너십: </a:t>
            </a:r>
            <a:r>
              <a:rPr lang="en-US" sz="1050" dirty="0">
                <a:solidFill>
                  <a:srgbClr val="2B2B2B"/>
                </a:solidFill>
                <a:latin typeface="맑은 고딕" pitchFamily="34" charset="0"/>
                <a:ea typeface="맑은 고딕" pitchFamily="34" charset="-122"/>
                <a:cs typeface="맑은 고딕" pitchFamily="34" charset="-120"/>
              </a:rPr>
              <a:t>가입 후 매년 보장 자산 리뷰 및 라이프 사이클 변화에 따른 리모델링 지원.</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548640" y="502920"/>
            <a:ext cx="8412480" cy="365760"/>
          </a:xfrm>
          <a:prstGeom prst="rect">
            <a:avLst/>
          </a:prstGeom>
          <a:noFill/>
          <a:ln/>
        </p:spPr>
        <p:txBody>
          <a:bodyPr wrap="square" lIns="0" tIns="0" rIns="0" bIns="0" rtlCol="0" anchor="ctr"/>
          <a:lstStyle/>
          <a:p>
            <a:pPr marL="0" indent="0" algn="l">
              <a:buNone/>
            </a:pPr>
            <a:r>
              <a:rPr lang="en-US" sz="1600" b="1" dirty="0">
                <a:solidFill>
                  <a:srgbClr val="1B2A4A"/>
                </a:solidFill>
                <a:latin typeface="맑은 고딕" pitchFamily="34" charset="0"/>
                <a:ea typeface="맑은 고딕" pitchFamily="34" charset="-122"/>
                <a:cs typeface="맑은 고딕" pitchFamily="34" charset="-120"/>
              </a:rPr>
              <a:t>Ⅶ. 컨설팅 시나리오 (1/3)</a:t>
            </a:r>
            <a:endParaRPr lang="en-US" sz="16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30대초반 건강한 직장인 | 컨설팅 특급보고서</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15 / 22</a:t>
            </a:r>
            <a:endParaRPr lang="en-US" sz="800" dirty="0"/>
          </a:p>
        </p:txBody>
      </p:sp>
      <p:sp>
        <p:nvSpPr>
          <p:cNvPr id="7" name="Text 5"/>
          <p:cNvSpPr/>
          <p:nvPr/>
        </p:nvSpPr>
        <p:spPr>
          <a:xfrm>
            <a:off x="457200" y="1005840"/>
            <a:ext cx="8229600" cy="320040"/>
          </a:xfrm>
          <a:prstGeom prst="rect">
            <a:avLst/>
          </a:prstGeom>
          <a:noFill/>
          <a:ln/>
        </p:spPr>
        <p:txBody>
          <a:bodyPr wrap="square" lIns="0" tIns="0" rIns="0" bIns="0" rtlCol="0" anchor="ctr"/>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상담주제: "내일 사면 더 비싸지는 한정판, 고객님의 건강입니다."</a:t>
            </a:r>
            <a:endParaRPr lang="en-US" sz="1200" dirty="0"/>
          </a:p>
        </p:txBody>
      </p:sp>
      <p:sp>
        <p:nvSpPr>
          <p:cNvPr id="8" name="Shape 6"/>
          <p:cNvSpPr/>
          <p:nvPr/>
        </p:nvSpPr>
        <p:spPr>
          <a:xfrm>
            <a:off x="457200" y="1417320"/>
            <a:ext cx="8229600" cy="7772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457200" y="1417320"/>
            <a:ext cx="54864" cy="777240"/>
          </a:xfrm>
          <a:prstGeom prst="rect">
            <a:avLst/>
          </a:prstGeom>
          <a:solidFill>
            <a:srgbClr val="C8962E"/>
          </a:solidFill>
          <a:ln/>
        </p:spPr>
        <p:txBody>
          <a:bodyPr/>
          <a:lstStyle/>
          <a:p>
            <a:endParaRPr lang="ko-KR" altLang="en-US"/>
          </a:p>
        </p:txBody>
      </p:sp>
      <p:sp>
        <p:nvSpPr>
          <p:cNvPr id="10" name="Text 8"/>
          <p:cNvSpPr/>
          <p:nvPr/>
        </p:nvSpPr>
        <p:spPr>
          <a:xfrm>
            <a:off x="640080" y="1472184"/>
            <a:ext cx="7863840" cy="228600"/>
          </a:xfrm>
          <a:prstGeom prst="rect">
            <a:avLst/>
          </a:prstGeom>
          <a:noFill/>
          <a:ln/>
        </p:spPr>
        <p:txBody>
          <a:bodyPr wrap="square" lIns="0" tIns="0" rIns="0" bIns="0" rtlCol="0" anchor="ctr"/>
          <a:lstStyle/>
          <a:p>
            <a:pPr marL="0" indent="0">
              <a:buNone/>
            </a:pPr>
            <a:r>
              <a:rPr lang="en-US" sz="1000" b="1" dirty="0">
                <a:solidFill>
                  <a:srgbClr val="C8962E"/>
                </a:solidFill>
                <a:latin typeface="맑은 고딕" pitchFamily="34" charset="0"/>
                <a:ea typeface="맑은 고딕" pitchFamily="34" charset="-122"/>
                <a:cs typeface="맑은 고딕" pitchFamily="34" charset="-120"/>
              </a:rPr>
              <a:t>1. 리스크 진단 (As-Is 파악)</a:t>
            </a:r>
            <a:endParaRPr lang="en-US" sz="1000" dirty="0"/>
          </a:p>
        </p:txBody>
      </p:sp>
      <p:sp>
        <p:nvSpPr>
          <p:cNvPr id="11" name="Text 9"/>
          <p:cNvSpPr/>
          <p:nvPr/>
        </p:nvSpPr>
        <p:spPr>
          <a:xfrm>
            <a:off x="640080" y="1709928"/>
            <a:ext cx="7863840" cy="438912"/>
          </a:xfrm>
          <a:prstGeom prst="rect">
            <a:avLst/>
          </a:prstGeom>
          <a:noFill/>
          <a:ln/>
        </p:spPr>
        <p:txBody>
          <a:bodyPr wrap="square" lIns="0" tIns="0" rIns="0" bIns="0" rtlCol="0" anchor="t"/>
          <a:lstStyle/>
          <a:p>
            <a:pPr marL="0" indent="0">
              <a:lnSpc>
                <a:spcPct val="130000"/>
              </a:lnSpc>
              <a:buNone/>
            </a:pPr>
            <a:r>
              <a:rPr lang="en-US" sz="950" dirty="0">
                <a:solidFill>
                  <a:srgbClr val="2B2B2B"/>
                </a:solidFill>
                <a:latin typeface="맑은 고딕" pitchFamily="34" charset="0"/>
                <a:ea typeface="맑은 고딕" pitchFamily="34" charset="-122"/>
                <a:cs typeface="맑은 고딕" pitchFamily="34" charset="-120"/>
              </a:rPr>
              <a:t>"고객님, 지금 투자 공부 열심히 하고 계시죠? 그런데 만약 내일 갑자기 큰 병이 생겨서 6개월간 일을 못 하게 된다면, 지금 모아두신 주식이나 적금은 어떻게 될까요? 아마 병원비로 가장 먼저 깨지게 될 겁니다."</a:t>
            </a:r>
            <a:endParaRPr lang="en-US" sz="950" dirty="0"/>
          </a:p>
        </p:txBody>
      </p:sp>
      <p:sp>
        <p:nvSpPr>
          <p:cNvPr id="12" name="Shape 10"/>
          <p:cNvSpPr/>
          <p:nvPr/>
        </p:nvSpPr>
        <p:spPr>
          <a:xfrm>
            <a:off x="457200" y="2331720"/>
            <a:ext cx="8229600" cy="6858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457200" y="2331720"/>
            <a:ext cx="54864" cy="685800"/>
          </a:xfrm>
          <a:prstGeom prst="rect">
            <a:avLst/>
          </a:prstGeom>
          <a:solidFill>
            <a:srgbClr val="C8962E"/>
          </a:solidFill>
          <a:ln/>
        </p:spPr>
        <p:txBody>
          <a:bodyPr/>
          <a:lstStyle/>
          <a:p>
            <a:endParaRPr lang="ko-KR" altLang="en-US"/>
          </a:p>
        </p:txBody>
      </p:sp>
      <p:sp>
        <p:nvSpPr>
          <p:cNvPr id="14" name="Text 12"/>
          <p:cNvSpPr/>
          <p:nvPr/>
        </p:nvSpPr>
        <p:spPr>
          <a:xfrm>
            <a:off x="640080" y="2386584"/>
            <a:ext cx="7863840" cy="228600"/>
          </a:xfrm>
          <a:prstGeom prst="rect">
            <a:avLst/>
          </a:prstGeom>
          <a:noFill/>
          <a:ln/>
        </p:spPr>
        <p:txBody>
          <a:bodyPr wrap="square" lIns="0" tIns="0" rIns="0" bIns="0" rtlCol="0" anchor="ctr"/>
          <a:lstStyle/>
          <a:p>
            <a:pPr marL="0" indent="0">
              <a:buNone/>
            </a:pPr>
            <a:r>
              <a:rPr lang="en-US" sz="1000" b="1" dirty="0">
                <a:solidFill>
                  <a:srgbClr val="C8962E"/>
                </a:solidFill>
                <a:latin typeface="맑은 고딕" pitchFamily="34" charset="0"/>
                <a:ea typeface="맑은 고딕" pitchFamily="34" charset="-122"/>
                <a:cs typeface="맑은 고딕" pitchFamily="34" charset="-120"/>
              </a:rPr>
              <a:t>2. 전략 제안 (To-Be 플랜)</a:t>
            </a:r>
            <a:endParaRPr lang="en-US" sz="1000" dirty="0"/>
          </a:p>
        </p:txBody>
      </p:sp>
      <p:sp>
        <p:nvSpPr>
          <p:cNvPr id="15" name="Text 13"/>
          <p:cNvSpPr/>
          <p:nvPr/>
        </p:nvSpPr>
        <p:spPr>
          <a:xfrm>
            <a:off x="640080" y="2624328"/>
            <a:ext cx="7863840" cy="347472"/>
          </a:xfrm>
          <a:prstGeom prst="rect">
            <a:avLst/>
          </a:prstGeom>
          <a:noFill/>
          <a:ln/>
        </p:spPr>
        <p:txBody>
          <a:bodyPr wrap="square" lIns="0" tIns="0" rIns="0" bIns="0" rtlCol="0" anchor="t"/>
          <a:lstStyle/>
          <a:p>
            <a:pPr marL="0" indent="0">
              <a:lnSpc>
                <a:spcPct val="130000"/>
              </a:lnSpc>
              <a:buNone/>
            </a:pPr>
            <a:r>
              <a:rPr lang="en-US" sz="950" dirty="0">
                <a:solidFill>
                  <a:srgbClr val="2B2B2B"/>
                </a:solidFill>
                <a:latin typeface="맑은 고딕" pitchFamily="34" charset="0"/>
                <a:ea typeface="맑은 고딕" pitchFamily="34" charset="-122"/>
                <a:cs typeface="맑은 고딕" pitchFamily="34" charset="-120"/>
              </a:rPr>
              <a:t>"그래서 지금처럼 건강할 때 '저렴하게' 보험이라는 수비수를 배치해야 합니다. 나중에 나이 들어서 가입하려면 돈을 더 주고도 가입을 거절당할 수 있거든요."</a:t>
            </a:r>
            <a:endParaRPr lang="en-US" sz="950" dirty="0"/>
          </a:p>
        </p:txBody>
      </p:sp>
      <p:sp>
        <p:nvSpPr>
          <p:cNvPr id="16" name="Shape 14"/>
          <p:cNvSpPr/>
          <p:nvPr/>
        </p:nvSpPr>
        <p:spPr>
          <a:xfrm>
            <a:off x="457200" y="3154680"/>
            <a:ext cx="8229600" cy="6858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7" name="Shape 15"/>
          <p:cNvSpPr/>
          <p:nvPr/>
        </p:nvSpPr>
        <p:spPr>
          <a:xfrm>
            <a:off x="457200" y="3154680"/>
            <a:ext cx="54864" cy="685800"/>
          </a:xfrm>
          <a:prstGeom prst="rect">
            <a:avLst/>
          </a:prstGeom>
          <a:solidFill>
            <a:srgbClr val="C8962E"/>
          </a:solidFill>
          <a:ln/>
        </p:spPr>
        <p:txBody>
          <a:bodyPr/>
          <a:lstStyle/>
          <a:p>
            <a:endParaRPr lang="ko-KR" altLang="en-US"/>
          </a:p>
        </p:txBody>
      </p:sp>
      <p:sp>
        <p:nvSpPr>
          <p:cNvPr id="18" name="Text 16"/>
          <p:cNvSpPr/>
          <p:nvPr/>
        </p:nvSpPr>
        <p:spPr>
          <a:xfrm>
            <a:off x="640080" y="3209544"/>
            <a:ext cx="7863840" cy="228600"/>
          </a:xfrm>
          <a:prstGeom prst="rect">
            <a:avLst/>
          </a:prstGeom>
          <a:noFill/>
          <a:ln/>
        </p:spPr>
        <p:txBody>
          <a:bodyPr wrap="square" lIns="0" tIns="0" rIns="0" bIns="0" rtlCol="0" anchor="ctr"/>
          <a:lstStyle/>
          <a:p>
            <a:pPr marL="0" indent="0">
              <a:buNone/>
            </a:pPr>
            <a:r>
              <a:rPr lang="en-US" sz="1000" b="1" dirty="0">
                <a:solidFill>
                  <a:srgbClr val="C8962E"/>
                </a:solidFill>
                <a:latin typeface="맑은 고딕" pitchFamily="34" charset="0"/>
                <a:ea typeface="맑은 고딕" pitchFamily="34" charset="-122"/>
                <a:cs typeface="맑은 고딕" pitchFamily="34" charset="-120"/>
              </a:rPr>
              <a:t>3. 기대 효과 요약 (ROI 설명)</a:t>
            </a:r>
            <a:endParaRPr lang="en-US" sz="1000" dirty="0"/>
          </a:p>
        </p:txBody>
      </p:sp>
      <p:sp>
        <p:nvSpPr>
          <p:cNvPr id="19" name="Text 17"/>
          <p:cNvSpPr/>
          <p:nvPr/>
        </p:nvSpPr>
        <p:spPr>
          <a:xfrm>
            <a:off x="640080" y="3447288"/>
            <a:ext cx="7863840" cy="347472"/>
          </a:xfrm>
          <a:prstGeom prst="rect">
            <a:avLst/>
          </a:prstGeom>
          <a:noFill/>
          <a:ln/>
        </p:spPr>
        <p:txBody>
          <a:bodyPr wrap="square" lIns="0" tIns="0" rIns="0" bIns="0" rtlCol="0" anchor="t"/>
          <a:lstStyle/>
          <a:p>
            <a:pPr marL="0" indent="0">
              <a:lnSpc>
                <a:spcPct val="130000"/>
              </a:lnSpc>
              <a:buNone/>
            </a:pPr>
            <a:r>
              <a:rPr lang="en-US" sz="950" dirty="0">
                <a:solidFill>
                  <a:srgbClr val="2B2B2B"/>
                </a:solidFill>
                <a:latin typeface="맑은 고딕" pitchFamily="34" charset="0"/>
                <a:ea typeface="맑은 고딕" pitchFamily="34" charset="-122"/>
                <a:cs typeface="맑은 고딕" pitchFamily="34" charset="-120"/>
              </a:rPr>
              <a:t>"지금 시작하시면 10년 뒤보다 상당한 금액을 아낄 수 있을 것으로 예상됩니다. 확정적 비용 절감 효과, 이것은 지출을 방어하는 것이 곧 수익을 내는 것과 같은 이치입니다."</a:t>
            </a:r>
            <a:endParaRPr lang="en-US" sz="950" dirty="0"/>
          </a:p>
        </p:txBody>
      </p:sp>
      <p:sp>
        <p:nvSpPr>
          <p:cNvPr id="20" name="Shape 18"/>
          <p:cNvSpPr/>
          <p:nvPr/>
        </p:nvSpPr>
        <p:spPr>
          <a:xfrm>
            <a:off x="457200" y="3977640"/>
            <a:ext cx="8229600" cy="7772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21" name="Shape 19"/>
          <p:cNvSpPr/>
          <p:nvPr/>
        </p:nvSpPr>
        <p:spPr>
          <a:xfrm>
            <a:off x="457200" y="3977640"/>
            <a:ext cx="54864" cy="777240"/>
          </a:xfrm>
          <a:prstGeom prst="rect">
            <a:avLst/>
          </a:prstGeom>
          <a:solidFill>
            <a:srgbClr val="C8962E"/>
          </a:solidFill>
          <a:ln/>
        </p:spPr>
        <p:txBody>
          <a:bodyPr/>
          <a:lstStyle/>
          <a:p>
            <a:endParaRPr lang="ko-KR" altLang="en-US"/>
          </a:p>
        </p:txBody>
      </p:sp>
      <p:sp>
        <p:nvSpPr>
          <p:cNvPr id="22" name="Text 20"/>
          <p:cNvSpPr/>
          <p:nvPr/>
        </p:nvSpPr>
        <p:spPr>
          <a:xfrm>
            <a:off x="640080" y="4032504"/>
            <a:ext cx="7863840" cy="228600"/>
          </a:xfrm>
          <a:prstGeom prst="rect">
            <a:avLst/>
          </a:prstGeom>
          <a:noFill/>
          <a:ln/>
        </p:spPr>
        <p:txBody>
          <a:bodyPr wrap="square" lIns="0" tIns="0" rIns="0" bIns="0" rtlCol="0" anchor="ctr"/>
          <a:lstStyle/>
          <a:p>
            <a:pPr marL="0" indent="0">
              <a:buNone/>
            </a:pPr>
            <a:r>
              <a:rPr lang="en-US" sz="1000" b="1" dirty="0">
                <a:solidFill>
                  <a:srgbClr val="C8962E"/>
                </a:solidFill>
                <a:latin typeface="맑은 고딕" pitchFamily="34" charset="0"/>
                <a:ea typeface="맑은 고딕" pitchFamily="34" charset="-122"/>
                <a:cs typeface="맑은 고딕" pitchFamily="34" charset="-120"/>
              </a:rPr>
              <a:t>4. 실행 플랜 요약</a:t>
            </a:r>
            <a:endParaRPr lang="en-US" sz="1000" dirty="0"/>
          </a:p>
        </p:txBody>
      </p:sp>
      <p:sp>
        <p:nvSpPr>
          <p:cNvPr id="23" name="Text 21"/>
          <p:cNvSpPr/>
          <p:nvPr/>
        </p:nvSpPr>
        <p:spPr>
          <a:xfrm>
            <a:off x="640080" y="4270248"/>
            <a:ext cx="7863840" cy="438912"/>
          </a:xfrm>
          <a:prstGeom prst="rect">
            <a:avLst/>
          </a:prstGeom>
          <a:noFill/>
          <a:ln/>
        </p:spPr>
        <p:txBody>
          <a:bodyPr wrap="square" lIns="0" tIns="0" rIns="0" bIns="0" rtlCol="0" anchor="t"/>
          <a:lstStyle/>
          <a:p>
            <a:pPr marL="0" indent="0">
              <a:lnSpc>
                <a:spcPct val="130000"/>
              </a:lnSpc>
              <a:buNone/>
            </a:pPr>
            <a:r>
              <a:rPr lang="en-US" sz="950" dirty="0">
                <a:solidFill>
                  <a:srgbClr val="2B2B2B"/>
                </a:solidFill>
                <a:latin typeface="맑은 고딕" pitchFamily="34" charset="0"/>
                <a:ea typeface="맑은 고딕" pitchFamily="34" charset="-122"/>
                <a:cs typeface="맑은 고딕" pitchFamily="34" charset="-120"/>
              </a:rPr>
              <a:t>"가장 핵심적인 3대 진단비(암, 뇌혈관질환, 허혈성심장질환) 위주로, 보험료가 오르지 않는 비갱신형 플랜을 설계해 드리겠습니다. 단, 실손의료비는 갱신형(4세대 기준 1년 갱신/15년 재가입)으로 별도 안내 드립니다."</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548640" y="502920"/>
            <a:ext cx="8412480" cy="365760"/>
          </a:xfrm>
          <a:prstGeom prst="rect">
            <a:avLst/>
          </a:prstGeom>
          <a:noFill/>
          <a:ln/>
        </p:spPr>
        <p:txBody>
          <a:bodyPr wrap="square" lIns="0" tIns="0" rIns="0" bIns="0" rtlCol="0" anchor="ctr"/>
          <a:lstStyle/>
          <a:p>
            <a:pPr marL="0" indent="0" algn="l">
              <a:buNone/>
            </a:pPr>
            <a:r>
              <a:rPr lang="en-US" sz="1600" b="1" dirty="0">
                <a:solidFill>
                  <a:srgbClr val="1B2A4A"/>
                </a:solidFill>
                <a:latin typeface="맑은 고딕" pitchFamily="34" charset="0"/>
                <a:ea typeface="맑은 고딕" pitchFamily="34" charset="-122"/>
                <a:cs typeface="맑은 고딕" pitchFamily="34" charset="-120"/>
              </a:rPr>
              <a:t>Ⅶ. 컨설팅 시나리오 (2/3) — 실무상담 스크립트</a:t>
            </a:r>
            <a:endParaRPr lang="en-US" sz="16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30대초반 건강한 직장인 | 컨설팅 특급보고서</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16 / 22</a:t>
            </a:r>
            <a:endParaRPr lang="en-US" sz="800" dirty="0"/>
          </a:p>
        </p:txBody>
      </p:sp>
      <p:sp>
        <p:nvSpPr>
          <p:cNvPr id="7" name="Shape 5"/>
          <p:cNvSpPr/>
          <p:nvPr/>
        </p:nvSpPr>
        <p:spPr>
          <a:xfrm>
            <a:off x="457200" y="1005840"/>
            <a:ext cx="8229600" cy="6858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8" name="Shape 6"/>
          <p:cNvSpPr/>
          <p:nvPr/>
        </p:nvSpPr>
        <p:spPr>
          <a:xfrm>
            <a:off x="457200" y="1005840"/>
            <a:ext cx="54864" cy="685800"/>
          </a:xfrm>
          <a:prstGeom prst="rect">
            <a:avLst/>
          </a:prstGeom>
          <a:solidFill>
            <a:srgbClr val="1B2A4A"/>
          </a:solidFill>
          <a:ln/>
        </p:spPr>
        <p:txBody>
          <a:bodyPr/>
          <a:lstStyle/>
          <a:p>
            <a:endParaRPr lang="ko-KR" altLang="en-US"/>
          </a:p>
        </p:txBody>
      </p:sp>
      <p:sp>
        <p:nvSpPr>
          <p:cNvPr id="9" name="Text 7"/>
          <p:cNvSpPr/>
          <p:nvPr/>
        </p:nvSpPr>
        <p:spPr>
          <a:xfrm>
            <a:off x="640080" y="1060704"/>
            <a:ext cx="7863840" cy="228600"/>
          </a:xfrm>
          <a:prstGeom prst="rect">
            <a:avLst/>
          </a:prstGeom>
          <a:noFill/>
          <a:ln/>
        </p:spPr>
        <p:txBody>
          <a:bodyPr wrap="square" lIns="0" tIns="0" rIns="0" bIns="0" rtlCol="0" anchor="ctr"/>
          <a:lstStyle/>
          <a:p>
            <a:pPr marL="0" indent="0">
              <a:buNone/>
            </a:pPr>
            <a:r>
              <a:rPr lang="en-US" sz="1000" b="1" dirty="0">
                <a:solidFill>
                  <a:srgbClr val="1B2A4A"/>
                </a:solidFill>
                <a:latin typeface="맑은 고딕" pitchFamily="34" charset="0"/>
                <a:ea typeface="맑은 고딕" pitchFamily="34" charset="-122"/>
                <a:cs typeface="맑은 고딕" pitchFamily="34" charset="-120"/>
              </a:rPr>
              <a:t>[시작]</a:t>
            </a:r>
            <a:endParaRPr lang="en-US" sz="1000" dirty="0"/>
          </a:p>
        </p:txBody>
      </p:sp>
      <p:sp>
        <p:nvSpPr>
          <p:cNvPr id="10" name="Text 8"/>
          <p:cNvSpPr/>
          <p:nvPr/>
        </p:nvSpPr>
        <p:spPr>
          <a:xfrm>
            <a:off x="640080" y="1298448"/>
            <a:ext cx="7863840" cy="347472"/>
          </a:xfrm>
          <a:prstGeom prst="rect">
            <a:avLst/>
          </a:prstGeom>
          <a:noFill/>
          <a:ln/>
        </p:spPr>
        <p:txBody>
          <a:bodyPr wrap="square" lIns="0" tIns="0" rIns="0" bIns="0" rtlCol="0" anchor="t"/>
          <a:lstStyle/>
          <a:p>
            <a:pPr marL="0" indent="0">
              <a:lnSpc>
                <a:spcPct val="130000"/>
              </a:lnSpc>
              <a:buNone/>
            </a:pPr>
            <a:r>
              <a:rPr lang="en-US" sz="950" dirty="0">
                <a:solidFill>
                  <a:srgbClr val="2B2B2B"/>
                </a:solidFill>
                <a:latin typeface="맑은 고딕" pitchFamily="34" charset="0"/>
                <a:ea typeface="맑은 고딕" pitchFamily="34" charset="-122"/>
                <a:cs typeface="맑은 고딕" pitchFamily="34" charset="-120"/>
              </a:rPr>
              <a:t>"도훈님, IT 업계 계시니까 효율성 누구보다 중시하시죠? 보험도 사실 가장 효율적인 가입 타이밍이 있습니다."</a:t>
            </a:r>
            <a:endParaRPr lang="en-US" sz="950" dirty="0"/>
          </a:p>
        </p:txBody>
      </p:sp>
      <p:sp>
        <p:nvSpPr>
          <p:cNvPr id="11" name="Shape 9"/>
          <p:cNvSpPr/>
          <p:nvPr/>
        </p:nvSpPr>
        <p:spPr>
          <a:xfrm>
            <a:off x="457200" y="1828800"/>
            <a:ext cx="8229600" cy="8229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2" name="Shape 10"/>
          <p:cNvSpPr/>
          <p:nvPr/>
        </p:nvSpPr>
        <p:spPr>
          <a:xfrm>
            <a:off x="457200" y="1828800"/>
            <a:ext cx="54864" cy="822960"/>
          </a:xfrm>
          <a:prstGeom prst="rect">
            <a:avLst/>
          </a:prstGeom>
          <a:solidFill>
            <a:srgbClr val="1B2A4A"/>
          </a:solidFill>
          <a:ln/>
        </p:spPr>
        <p:txBody>
          <a:bodyPr/>
          <a:lstStyle/>
          <a:p>
            <a:endParaRPr lang="ko-KR" altLang="en-US"/>
          </a:p>
        </p:txBody>
      </p:sp>
      <p:sp>
        <p:nvSpPr>
          <p:cNvPr id="13" name="Text 11"/>
          <p:cNvSpPr/>
          <p:nvPr/>
        </p:nvSpPr>
        <p:spPr>
          <a:xfrm>
            <a:off x="640080" y="1883664"/>
            <a:ext cx="7863840" cy="228600"/>
          </a:xfrm>
          <a:prstGeom prst="rect">
            <a:avLst/>
          </a:prstGeom>
          <a:noFill/>
          <a:ln/>
        </p:spPr>
        <p:txBody>
          <a:bodyPr wrap="square" lIns="0" tIns="0" rIns="0" bIns="0" rtlCol="0" anchor="ctr"/>
          <a:lstStyle/>
          <a:p>
            <a:pPr marL="0" indent="0">
              <a:buNone/>
            </a:pPr>
            <a:r>
              <a:rPr lang="en-US" sz="1000" b="1" dirty="0">
                <a:solidFill>
                  <a:srgbClr val="1B2A4A"/>
                </a:solidFill>
                <a:latin typeface="맑은 고딕" pitchFamily="34" charset="0"/>
                <a:ea typeface="맑은 고딕" pitchFamily="34" charset="-122"/>
                <a:cs typeface="맑은 고딕" pitchFamily="34" charset="-120"/>
              </a:rPr>
              <a:t>[문제인식]</a:t>
            </a:r>
            <a:endParaRPr lang="en-US" sz="1000" dirty="0"/>
          </a:p>
        </p:txBody>
      </p:sp>
      <p:sp>
        <p:nvSpPr>
          <p:cNvPr id="14" name="Text 12"/>
          <p:cNvSpPr/>
          <p:nvPr/>
        </p:nvSpPr>
        <p:spPr>
          <a:xfrm>
            <a:off x="640080" y="2121408"/>
            <a:ext cx="7863840" cy="484632"/>
          </a:xfrm>
          <a:prstGeom prst="rect">
            <a:avLst/>
          </a:prstGeom>
          <a:noFill/>
          <a:ln/>
        </p:spPr>
        <p:txBody>
          <a:bodyPr wrap="square" lIns="0" tIns="0" rIns="0" bIns="0" rtlCol="0" anchor="t"/>
          <a:lstStyle/>
          <a:p>
            <a:pPr marL="0" indent="0">
              <a:lnSpc>
                <a:spcPct val="130000"/>
              </a:lnSpc>
              <a:buNone/>
            </a:pPr>
            <a:r>
              <a:rPr lang="en-US" sz="950" dirty="0">
                <a:solidFill>
                  <a:srgbClr val="2B2B2B"/>
                </a:solidFill>
                <a:latin typeface="맑은 고딕" pitchFamily="34" charset="0"/>
                <a:ea typeface="맑은 고딕" pitchFamily="34" charset="-122"/>
                <a:cs typeface="맑은 고딕" pitchFamily="34" charset="-120"/>
              </a:rPr>
              <a:t>"많은 분이 아프고 나서 보험을 찾으시는데, 그때는 이미 가격이 '프리미엄'이 붙은 상태예요. 도훈님처럼 건강하고 젊은 지금이 보험사 입장에서는 '우량 고객'이라 가장 유리한 조건으로 가입할 수 있는 시기입니다."</a:t>
            </a:r>
            <a:endParaRPr lang="en-US" sz="950" dirty="0"/>
          </a:p>
        </p:txBody>
      </p:sp>
      <p:sp>
        <p:nvSpPr>
          <p:cNvPr id="15" name="Shape 13"/>
          <p:cNvSpPr/>
          <p:nvPr/>
        </p:nvSpPr>
        <p:spPr>
          <a:xfrm>
            <a:off x="457200" y="2788920"/>
            <a:ext cx="8229600" cy="10058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6" name="Shape 14"/>
          <p:cNvSpPr/>
          <p:nvPr/>
        </p:nvSpPr>
        <p:spPr>
          <a:xfrm>
            <a:off x="457200" y="2788920"/>
            <a:ext cx="54864" cy="1005840"/>
          </a:xfrm>
          <a:prstGeom prst="rect">
            <a:avLst/>
          </a:prstGeom>
          <a:solidFill>
            <a:srgbClr val="1B2A4A"/>
          </a:solidFill>
          <a:ln/>
        </p:spPr>
        <p:txBody>
          <a:bodyPr/>
          <a:lstStyle/>
          <a:p>
            <a:endParaRPr lang="ko-KR" altLang="en-US"/>
          </a:p>
        </p:txBody>
      </p:sp>
      <p:sp>
        <p:nvSpPr>
          <p:cNvPr id="17" name="Text 15"/>
          <p:cNvSpPr/>
          <p:nvPr/>
        </p:nvSpPr>
        <p:spPr>
          <a:xfrm>
            <a:off x="640080" y="2843784"/>
            <a:ext cx="7863840" cy="228600"/>
          </a:xfrm>
          <a:prstGeom prst="rect">
            <a:avLst/>
          </a:prstGeom>
          <a:noFill/>
          <a:ln/>
        </p:spPr>
        <p:txBody>
          <a:bodyPr wrap="square" lIns="0" tIns="0" rIns="0" bIns="0" rtlCol="0" anchor="ctr"/>
          <a:lstStyle/>
          <a:p>
            <a:pPr marL="0" indent="0">
              <a:buNone/>
            </a:pPr>
            <a:r>
              <a:rPr lang="en-US" sz="1000" b="1" dirty="0">
                <a:solidFill>
                  <a:srgbClr val="1B2A4A"/>
                </a:solidFill>
                <a:latin typeface="맑은 고딕" pitchFamily="34" charset="0"/>
                <a:ea typeface="맑은 고딕" pitchFamily="34" charset="-122"/>
                <a:cs typeface="맑은 고딕" pitchFamily="34" charset="-120"/>
              </a:rPr>
              <a:t>[솔루션]</a:t>
            </a:r>
            <a:endParaRPr lang="en-US" sz="1000" dirty="0"/>
          </a:p>
        </p:txBody>
      </p:sp>
      <p:sp>
        <p:nvSpPr>
          <p:cNvPr id="18" name="Text 16"/>
          <p:cNvSpPr/>
          <p:nvPr/>
        </p:nvSpPr>
        <p:spPr>
          <a:xfrm>
            <a:off x="640080" y="3081528"/>
            <a:ext cx="7863840" cy="667512"/>
          </a:xfrm>
          <a:prstGeom prst="rect">
            <a:avLst/>
          </a:prstGeom>
          <a:noFill/>
          <a:ln/>
        </p:spPr>
        <p:txBody>
          <a:bodyPr wrap="square" lIns="0" tIns="0" rIns="0" bIns="0" rtlCol="0" anchor="t"/>
          <a:lstStyle/>
          <a:p>
            <a:pPr marL="0" indent="0">
              <a:lnSpc>
                <a:spcPct val="130000"/>
              </a:lnSpc>
              <a:buNone/>
            </a:pPr>
            <a:r>
              <a:rPr lang="en-US" sz="950" dirty="0">
                <a:solidFill>
                  <a:srgbClr val="2B2B2B"/>
                </a:solidFill>
                <a:latin typeface="맑은 고딕" pitchFamily="34" charset="0"/>
                <a:ea typeface="맑은 고딕" pitchFamily="34" charset="-122"/>
                <a:cs typeface="맑은 고딕" pitchFamily="34" charset="-120"/>
              </a:rPr>
              <a:t>"오늘 제안 드리는 플랜은 도훈님의 진단비/수술비 보험료를 확정 짓는 겁니다. 비갱신형이라 앞으로 20년만 내면 100세까지 해당 담보는 추가 납입 없이 보장받으실 수 있습니다. 단, 실손의료비는 갱신형(4세대 기준 1년 갱신/15년 재가입)이라 매년 보험료가 변동될 수 있는 점은 별도로 안내 드립니다."</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548640" y="502920"/>
            <a:ext cx="8412480" cy="365760"/>
          </a:xfrm>
          <a:prstGeom prst="rect">
            <a:avLst/>
          </a:prstGeom>
          <a:noFill/>
          <a:ln/>
        </p:spPr>
        <p:txBody>
          <a:bodyPr wrap="square" lIns="0" tIns="0" rIns="0" bIns="0" rtlCol="0" anchor="ctr"/>
          <a:lstStyle/>
          <a:p>
            <a:pPr marL="0" indent="0" algn="l">
              <a:buNone/>
            </a:pPr>
            <a:r>
              <a:rPr lang="en-US" sz="1600" b="1" dirty="0">
                <a:solidFill>
                  <a:srgbClr val="1B2A4A"/>
                </a:solidFill>
                <a:latin typeface="맑은 고딕" pitchFamily="34" charset="0"/>
                <a:ea typeface="맑은 고딕" pitchFamily="34" charset="-122"/>
                <a:cs typeface="맑은 고딕" pitchFamily="34" charset="-120"/>
              </a:rPr>
              <a:t>Ⅶ. 컨설팅 시나리오 (3/3) — 실무상담 스크립트</a:t>
            </a:r>
            <a:endParaRPr lang="en-US" sz="16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30대초반 건강한 직장인 | 컨설팅 특급보고서</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17 / 22</a:t>
            </a:r>
            <a:endParaRPr lang="en-US" sz="800" dirty="0"/>
          </a:p>
        </p:txBody>
      </p:sp>
      <p:sp>
        <p:nvSpPr>
          <p:cNvPr id="7" name="Shape 5"/>
          <p:cNvSpPr/>
          <p:nvPr/>
        </p:nvSpPr>
        <p:spPr>
          <a:xfrm>
            <a:off x="457200" y="1005840"/>
            <a:ext cx="8229600" cy="7772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8" name="Shape 6"/>
          <p:cNvSpPr/>
          <p:nvPr/>
        </p:nvSpPr>
        <p:spPr>
          <a:xfrm>
            <a:off x="457200" y="1005840"/>
            <a:ext cx="54864" cy="777240"/>
          </a:xfrm>
          <a:prstGeom prst="rect">
            <a:avLst/>
          </a:prstGeom>
          <a:solidFill>
            <a:srgbClr val="1B2A4A"/>
          </a:solidFill>
          <a:ln/>
        </p:spPr>
        <p:txBody>
          <a:bodyPr/>
          <a:lstStyle/>
          <a:p>
            <a:endParaRPr lang="ko-KR" altLang="en-US"/>
          </a:p>
        </p:txBody>
      </p:sp>
      <p:sp>
        <p:nvSpPr>
          <p:cNvPr id="9" name="Text 7"/>
          <p:cNvSpPr/>
          <p:nvPr/>
        </p:nvSpPr>
        <p:spPr>
          <a:xfrm>
            <a:off x="640080" y="1060704"/>
            <a:ext cx="7863840" cy="228600"/>
          </a:xfrm>
          <a:prstGeom prst="rect">
            <a:avLst/>
          </a:prstGeom>
          <a:noFill/>
          <a:ln/>
        </p:spPr>
        <p:txBody>
          <a:bodyPr wrap="square" lIns="0" tIns="0" rIns="0" bIns="0" rtlCol="0" anchor="ctr"/>
          <a:lstStyle/>
          <a:p>
            <a:pPr marL="0" indent="0">
              <a:buNone/>
            </a:pPr>
            <a:r>
              <a:rPr lang="en-US" sz="1000" b="1" dirty="0">
                <a:solidFill>
                  <a:srgbClr val="1B2A4A"/>
                </a:solidFill>
                <a:latin typeface="맑은 고딕" pitchFamily="34" charset="0"/>
                <a:ea typeface="맑은 고딕" pitchFamily="34" charset="-122"/>
                <a:cs typeface="맑은 고딕" pitchFamily="34" charset="-120"/>
              </a:rPr>
              <a:t>[동의유도]</a:t>
            </a:r>
            <a:endParaRPr lang="en-US" sz="1000" dirty="0"/>
          </a:p>
        </p:txBody>
      </p:sp>
      <p:sp>
        <p:nvSpPr>
          <p:cNvPr id="10" name="Text 8"/>
          <p:cNvSpPr/>
          <p:nvPr/>
        </p:nvSpPr>
        <p:spPr>
          <a:xfrm>
            <a:off x="640080" y="1298448"/>
            <a:ext cx="7863840" cy="438912"/>
          </a:xfrm>
          <a:prstGeom prst="rect">
            <a:avLst/>
          </a:prstGeom>
          <a:noFill/>
          <a:ln/>
        </p:spPr>
        <p:txBody>
          <a:bodyPr wrap="square" lIns="0" tIns="0" rIns="0" bIns="0" rtlCol="0" anchor="t"/>
          <a:lstStyle/>
          <a:p>
            <a:pPr marL="0" indent="0">
              <a:lnSpc>
                <a:spcPct val="130000"/>
              </a:lnSpc>
              <a:buNone/>
            </a:pPr>
            <a:r>
              <a:rPr lang="en-US" sz="950" dirty="0">
                <a:solidFill>
                  <a:srgbClr val="2B2B2B"/>
                </a:solidFill>
                <a:latin typeface="맑은 고딕" pitchFamily="34" charset="0"/>
                <a:ea typeface="맑은 고딕" pitchFamily="34" charset="-122"/>
                <a:cs typeface="맑은 고딕" pitchFamily="34" charset="-120"/>
              </a:rPr>
              <a:t>"자동차 보험은 사고가 안 나도 매년 새로 내야 하지만, 건강보험의 핵심 담보는 젊을 때 선점하는 사람이 유리합니다. 이 기회를 오늘 확정 지으시겠어요?"</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18</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Ⅷ. 부록 (Appendix) (1/3) — 전문용어 설명</a:t>
            </a:r>
            <a:endParaRPr lang="en-US" sz="16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30대초반 건강한 직장인 | 컨설팅 특급보고서</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18 / 22</a:t>
            </a:r>
            <a:endParaRPr lang="en-US" sz="800" dirty="0"/>
          </a:p>
        </p:txBody>
      </p:sp>
      <p:sp>
        <p:nvSpPr>
          <p:cNvPr id="7" name="Text 5"/>
          <p:cNvSpPr/>
          <p:nvPr/>
        </p:nvSpPr>
        <p:spPr>
          <a:xfrm>
            <a:off x="457200" y="77724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전문용어 설명</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075500982"/>
              </p:ext>
            </p:extLst>
          </p:nvPr>
        </p:nvGraphicFramePr>
        <p:xfrm>
          <a:off x="457200" y="1161288"/>
          <a:ext cx="8229600" cy="2395728"/>
        </p:xfrm>
        <a:graphic>
          <a:graphicData uri="http://schemas.openxmlformats.org/drawingml/2006/table">
            <a:tbl>
              <a:tblPr/>
              <a:tblGrid>
                <a:gridCol w="164592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292608">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용어</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1B2A4A"/>
                    </a:solidFill>
                  </a:tcPr>
                </a:tc>
                <a:tc>
                  <a:txBody>
                    <a:bodyP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설명</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11480">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비갱신형</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맑은 고딕" pitchFamily="34" charset="0"/>
                          <a:ea typeface="맑은 고딕" pitchFamily="34" charset="-122"/>
                          <a:cs typeface="맑은 고딕" pitchFamily="34" charset="-120"/>
                        </a:rPr>
                        <a:t>가입 시 정해진 보험료를 납입 기간 동안 동일하게 유지하며, 이후 추가 납입 없이 만기까지 보장받는 방식.</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갱신형</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tc>
                  <a:txBody>
                    <a:bodyPr/>
                    <a:lstStyle/>
                    <a:p>
                      <a:pPr marL="0" indent="0">
                        <a:buNone/>
                      </a:pPr>
                      <a:r>
                        <a:rPr lang="en-US" sz="900" dirty="0">
                          <a:solidFill>
                            <a:srgbClr val="000000"/>
                          </a:solidFill>
                          <a:latin typeface="맑은 고딕" pitchFamily="34" charset="0"/>
                          <a:ea typeface="맑은 고딕" pitchFamily="34" charset="-122"/>
                          <a:cs typeface="맑은 고딕" pitchFamily="34" charset="-120"/>
                        </a:rPr>
                        <a:t>일정 주기(예: 1년)마다 보험료가 재산정되는 방식. 실손의료비는 전 보험사 공통 갱신형(현재 4세대 기준 1년 갱신/15년 재가입)으로 운영됩니다.</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594360">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무해지환급형</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맑은 고딕" pitchFamily="34" charset="0"/>
                          <a:ea typeface="맑은 고딕" pitchFamily="34" charset="-122"/>
                          <a:cs typeface="맑은 고딕" pitchFamily="34" charset="-120"/>
                        </a:rPr>
                        <a:t>보험료 납입 기간 중 해지 시 환급금이 없는 대신, 일반 상품보다 보험료가 저렴한 형태. (납입 완료 후에는 일반 상품 대비 약 50~70% 수준의 해약환급금 발생, 상품별로 상이하므로 약관 확인 필요)</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lgn="ctr">
                        <a:buNone/>
                      </a:pPr>
                      <a:r>
                        <a:rPr lang="en-US" sz="900" b="1" dirty="0">
                          <a:solidFill>
                            <a:srgbClr val="000000"/>
                          </a:solidFill>
                          <a:latin typeface="맑은 고딕" pitchFamily="34" charset="0"/>
                          <a:ea typeface="맑은 고딕" pitchFamily="34" charset="-122"/>
                          <a:cs typeface="맑은 고딕" pitchFamily="34" charset="-120"/>
                        </a:rPr>
                        <a:t>3대 질병</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tc>
                  <a:txBody>
                    <a:bodyPr/>
                    <a:lstStyle/>
                    <a:p>
                      <a:pPr marL="0" indent="0">
                        <a:buNone/>
                      </a:pPr>
                      <a:r>
                        <a:rPr lang="en-US" sz="900" dirty="0">
                          <a:solidFill>
                            <a:srgbClr val="000000"/>
                          </a:solidFill>
                          <a:latin typeface="맑은 고딕" pitchFamily="34" charset="0"/>
                          <a:ea typeface="맑은 고딕" pitchFamily="34" charset="-122"/>
                          <a:cs typeface="맑은 고딕" pitchFamily="34" charset="-120"/>
                        </a:rPr>
                        <a:t>한국인 사망 원인 상위권인 암, 뇌혈관질환(뇌출혈, 뇌경색 등 광범위 포함), 허혈성심장질환(급성심근경색 등 광범위 포함)을 의미함. 본 설계는 범위가 가장 넓은 담보로 구성하였습니다.</a:t>
                      </a:r>
                      <a:endParaRPr lang="en-US" sz="9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19</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Ⅷ. 부록 (Appendix) (2/3) — FAQ</a:t>
            </a:r>
            <a:endParaRPr lang="en-US" sz="16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30대초반 건강한 직장인 | 컨설팅 특급보고서</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19 / 22</a:t>
            </a:r>
            <a:endParaRPr lang="en-US" sz="800" dirty="0"/>
          </a:p>
        </p:txBody>
      </p:sp>
      <p:sp>
        <p:nvSpPr>
          <p:cNvPr id="7" name="Text 5"/>
          <p:cNvSpPr/>
          <p:nvPr/>
        </p:nvSpPr>
        <p:spPr>
          <a:xfrm>
            <a:off x="457200" y="77724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FAQ</a:t>
            </a:r>
            <a:endParaRPr lang="en-US" sz="1400" dirty="0"/>
          </a:p>
        </p:txBody>
      </p:sp>
      <p:sp>
        <p:nvSpPr>
          <p:cNvPr id="8" name="Shape 6"/>
          <p:cNvSpPr/>
          <p:nvPr/>
        </p:nvSpPr>
        <p:spPr>
          <a:xfrm>
            <a:off x="457200" y="1188720"/>
            <a:ext cx="8229600" cy="9601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9" name="Shape 7"/>
          <p:cNvSpPr/>
          <p:nvPr/>
        </p:nvSpPr>
        <p:spPr>
          <a:xfrm>
            <a:off x="457200" y="1188720"/>
            <a:ext cx="54864" cy="960120"/>
          </a:xfrm>
          <a:prstGeom prst="rect">
            <a:avLst/>
          </a:prstGeom>
          <a:solidFill>
            <a:srgbClr val="C8962E"/>
          </a:solidFill>
          <a:ln/>
        </p:spPr>
        <p:txBody>
          <a:bodyPr/>
          <a:lstStyle/>
          <a:p>
            <a:endParaRPr lang="ko-KR" altLang="en-US"/>
          </a:p>
        </p:txBody>
      </p:sp>
      <p:sp>
        <p:nvSpPr>
          <p:cNvPr id="10" name="Text 8"/>
          <p:cNvSpPr/>
          <p:nvPr/>
        </p:nvSpPr>
        <p:spPr>
          <a:xfrm>
            <a:off x="640080" y="1243584"/>
            <a:ext cx="7863840" cy="256032"/>
          </a:xfrm>
          <a:prstGeom prst="rect">
            <a:avLst/>
          </a:prstGeom>
          <a:noFill/>
          <a:ln/>
        </p:spPr>
        <p:txBody>
          <a:bodyPr wrap="square" lIns="0" tIns="0" rIns="0" bIns="0" rtlCol="0" anchor="ctr"/>
          <a:lstStyle/>
          <a:p>
            <a:pPr marL="0" indent="0">
              <a:buNone/>
            </a:pPr>
            <a:r>
              <a:rPr lang="en-US" sz="1000" b="1" dirty="0">
                <a:solidFill>
                  <a:srgbClr val="1B2A4A"/>
                </a:solidFill>
                <a:latin typeface="맑은 고딕" pitchFamily="34" charset="0"/>
                <a:ea typeface="맑은 고딕" pitchFamily="34" charset="-122"/>
                <a:cs typeface="맑은 고딕" pitchFamily="34" charset="-120"/>
              </a:rPr>
              <a:t>Q: 회사 단체보험이 있는데 꼭 개인 보험이 필요할까요?</a:t>
            </a:r>
            <a:endParaRPr lang="en-US" sz="1000" dirty="0"/>
          </a:p>
        </p:txBody>
      </p:sp>
      <p:sp>
        <p:nvSpPr>
          <p:cNvPr id="11" name="Text 9"/>
          <p:cNvSpPr/>
          <p:nvPr/>
        </p:nvSpPr>
        <p:spPr>
          <a:xfrm>
            <a:off x="640080" y="1517904"/>
            <a:ext cx="7863840" cy="548640"/>
          </a:xfrm>
          <a:prstGeom prst="rect">
            <a:avLst/>
          </a:prstGeom>
          <a:noFill/>
          <a:ln/>
        </p:spPr>
        <p:txBody>
          <a:bodyPr wrap="square" lIns="0" tIns="0" rIns="0" bIns="0" rtlCol="0" anchor="t"/>
          <a:lstStyle/>
          <a:p>
            <a:pPr marL="0" indent="0">
              <a:lnSpc>
                <a:spcPct val="130000"/>
              </a:lnSpc>
              <a:buNone/>
            </a:pPr>
            <a:r>
              <a:rPr lang="en-US" sz="950" dirty="0">
                <a:solidFill>
                  <a:srgbClr val="2B2B2B"/>
                </a:solidFill>
                <a:latin typeface="맑은 고딕" pitchFamily="34" charset="0"/>
                <a:ea typeface="맑은 고딕" pitchFamily="34" charset="-122"/>
                <a:cs typeface="맑은 고딕" pitchFamily="34" charset="-120"/>
              </a:rPr>
              <a:t>A: 단체보험은 보장 범위가 좁고 퇴사 시 종료됩니다. (※ 일부 회사는 퇴직 시 개인보험 전환 제도가 있으므로 해당 여부 확인 필요) 나중에 퇴사 후 새로 가입하려면 나이가 들어 보험료가 비싸지거나 건강상의 이유로 가입이 거절될 수 있습니다.</a:t>
            </a:r>
            <a:endParaRPr lang="en-US" sz="950" dirty="0"/>
          </a:p>
        </p:txBody>
      </p:sp>
      <p:sp>
        <p:nvSpPr>
          <p:cNvPr id="12" name="Shape 10"/>
          <p:cNvSpPr/>
          <p:nvPr/>
        </p:nvSpPr>
        <p:spPr>
          <a:xfrm>
            <a:off x="457200" y="2286000"/>
            <a:ext cx="8229600" cy="9601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3" name="Shape 11"/>
          <p:cNvSpPr/>
          <p:nvPr/>
        </p:nvSpPr>
        <p:spPr>
          <a:xfrm>
            <a:off x="457200" y="2286000"/>
            <a:ext cx="54864" cy="960120"/>
          </a:xfrm>
          <a:prstGeom prst="rect">
            <a:avLst/>
          </a:prstGeom>
          <a:solidFill>
            <a:srgbClr val="C8962E"/>
          </a:solidFill>
          <a:ln/>
        </p:spPr>
        <p:txBody>
          <a:bodyPr/>
          <a:lstStyle/>
          <a:p>
            <a:endParaRPr lang="ko-KR" altLang="en-US"/>
          </a:p>
        </p:txBody>
      </p:sp>
      <p:sp>
        <p:nvSpPr>
          <p:cNvPr id="14" name="Text 12"/>
          <p:cNvSpPr/>
          <p:nvPr/>
        </p:nvSpPr>
        <p:spPr>
          <a:xfrm>
            <a:off x="640080" y="2340864"/>
            <a:ext cx="7863840" cy="256032"/>
          </a:xfrm>
          <a:prstGeom prst="rect">
            <a:avLst/>
          </a:prstGeom>
          <a:noFill/>
          <a:ln/>
        </p:spPr>
        <p:txBody>
          <a:bodyPr wrap="square" lIns="0" tIns="0" rIns="0" bIns="0" rtlCol="0" anchor="ctr"/>
          <a:lstStyle/>
          <a:p>
            <a:pPr marL="0" indent="0">
              <a:buNone/>
            </a:pPr>
            <a:r>
              <a:rPr lang="en-US" sz="1000" b="1" dirty="0">
                <a:solidFill>
                  <a:srgbClr val="1B2A4A"/>
                </a:solidFill>
                <a:latin typeface="맑은 고딕" pitchFamily="34" charset="0"/>
                <a:ea typeface="맑은 고딕" pitchFamily="34" charset="-122"/>
                <a:cs typeface="맑은 고딕" pitchFamily="34" charset="-120"/>
              </a:rPr>
              <a:t>Q: 보험료가 아까운데 나중에 돈으로 돌려받나요?</a:t>
            </a:r>
            <a:endParaRPr lang="en-US" sz="1000" dirty="0"/>
          </a:p>
        </p:txBody>
      </p:sp>
      <p:sp>
        <p:nvSpPr>
          <p:cNvPr id="15" name="Text 13"/>
          <p:cNvSpPr/>
          <p:nvPr/>
        </p:nvSpPr>
        <p:spPr>
          <a:xfrm>
            <a:off x="640080" y="2615184"/>
            <a:ext cx="7863840" cy="548640"/>
          </a:xfrm>
          <a:prstGeom prst="rect">
            <a:avLst/>
          </a:prstGeom>
          <a:noFill/>
          <a:ln/>
        </p:spPr>
        <p:txBody>
          <a:bodyPr wrap="square" lIns="0" tIns="0" rIns="0" bIns="0" rtlCol="0" anchor="t"/>
          <a:lstStyle/>
          <a:p>
            <a:pPr marL="0" indent="0">
              <a:lnSpc>
                <a:spcPct val="130000"/>
              </a:lnSpc>
              <a:buNone/>
            </a:pPr>
            <a:r>
              <a:rPr lang="en-US" sz="950" dirty="0">
                <a:solidFill>
                  <a:srgbClr val="2B2B2B"/>
                </a:solidFill>
                <a:latin typeface="맑은 고딕" pitchFamily="34" charset="0"/>
                <a:ea typeface="맑은 고딕" pitchFamily="34" charset="-122"/>
                <a:cs typeface="맑은 고딕" pitchFamily="34" charset="-120"/>
              </a:rPr>
              <a:t>A: 무해지환급형은 납입 기간 중 환급금을 줄여 당장의 보험료를 낮춘 상품입니다. 납입 완료 후에는 일반 상품 대비 약 50~70% 수준의 해약환급금이 발생합니다 (상품별 상이). 보험은 저축이 아닌 '리스크 방어 비용'으로 접근하는 것이 합리적입니다.</a:t>
            </a:r>
            <a:endParaRPr lang="en-US" sz="950" dirty="0"/>
          </a:p>
        </p:txBody>
      </p:sp>
      <p:sp>
        <p:nvSpPr>
          <p:cNvPr id="16" name="Shape 14"/>
          <p:cNvSpPr/>
          <p:nvPr/>
        </p:nvSpPr>
        <p:spPr>
          <a:xfrm>
            <a:off x="457200" y="3383280"/>
            <a:ext cx="8229600" cy="8686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7" name="Shape 15"/>
          <p:cNvSpPr/>
          <p:nvPr/>
        </p:nvSpPr>
        <p:spPr>
          <a:xfrm>
            <a:off x="457200" y="3383280"/>
            <a:ext cx="54864" cy="868680"/>
          </a:xfrm>
          <a:prstGeom prst="rect">
            <a:avLst/>
          </a:prstGeom>
          <a:solidFill>
            <a:srgbClr val="C8962E"/>
          </a:solidFill>
          <a:ln/>
        </p:spPr>
        <p:txBody>
          <a:bodyPr/>
          <a:lstStyle/>
          <a:p>
            <a:endParaRPr lang="ko-KR" altLang="en-US"/>
          </a:p>
        </p:txBody>
      </p:sp>
      <p:sp>
        <p:nvSpPr>
          <p:cNvPr id="18" name="Text 16"/>
          <p:cNvSpPr/>
          <p:nvPr/>
        </p:nvSpPr>
        <p:spPr>
          <a:xfrm>
            <a:off x="640080" y="3438144"/>
            <a:ext cx="7863840" cy="256032"/>
          </a:xfrm>
          <a:prstGeom prst="rect">
            <a:avLst/>
          </a:prstGeom>
          <a:noFill/>
          <a:ln/>
        </p:spPr>
        <p:txBody>
          <a:bodyPr wrap="square" lIns="0" tIns="0" rIns="0" bIns="0" rtlCol="0" anchor="ctr"/>
          <a:lstStyle/>
          <a:p>
            <a:pPr marL="0" indent="0">
              <a:buNone/>
            </a:pPr>
            <a:r>
              <a:rPr lang="en-US" sz="1000" b="1" dirty="0">
                <a:solidFill>
                  <a:srgbClr val="1B2A4A"/>
                </a:solidFill>
                <a:latin typeface="맑은 고딕" pitchFamily="34" charset="0"/>
                <a:ea typeface="맑은 고딕" pitchFamily="34" charset="-122"/>
                <a:cs typeface="맑은 고딕" pitchFamily="34" charset="-120"/>
              </a:rPr>
              <a:t>Q: 실손보험료는 왜 매년 바뀌나요?</a:t>
            </a:r>
            <a:endParaRPr lang="en-US" sz="1000" dirty="0"/>
          </a:p>
        </p:txBody>
      </p:sp>
      <p:sp>
        <p:nvSpPr>
          <p:cNvPr id="19" name="Text 17"/>
          <p:cNvSpPr/>
          <p:nvPr/>
        </p:nvSpPr>
        <p:spPr>
          <a:xfrm>
            <a:off x="640080" y="3712464"/>
            <a:ext cx="7863840" cy="457200"/>
          </a:xfrm>
          <a:prstGeom prst="rect">
            <a:avLst/>
          </a:prstGeom>
          <a:noFill/>
          <a:ln/>
        </p:spPr>
        <p:txBody>
          <a:bodyPr wrap="square" lIns="0" tIns="0" rIns="0" bIns="0" rtlCol="0" anchor="t"/>
          <a:lstStyle/>
          <a:p>
            <a:pPr marL="0" indent="0">
              <a:lnSpc>
                <a:spcPct val="130000"/>
              </a:lnSpc>
              <a:buNone/>
            </a:pPr>
            <a:r>
              <a:rPr lang="en-US" sz="950" dirty="0">
                <a:solidFill>
                  <a:srgbClr val="2B2B2B"/>
                </a:solidFill>
                <a:latin typeface="맑은 고딕" pitchFamily="34" charset="0"/>
                <a:ea typeface="맑은 고딕" pitchFamily="34" charset="-122"/>
                <a:cs typeface="맑은 고딕" pitchFamily="34" charset="-120"/>
              </a:rPr>
              <a:t>A: 실손의료비는 전 보험사 공통으로 갱신형(현재 4세대 기준 1년 갱신/15년 재가입)으로 운영됩니다. 연령 증가와 전체 가입자 손해율에 따라 보험료가 변동되며, 이는 약관에 명시된 사항입니다.</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20</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Ⅷ. 부록 (Appendix) (3/3) — 관련 법규·출처</a:t>
            </a:r>
            <a:endParaRPr lang="en-US" sz="16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30대초반 건강한 직장인 | 컨설팅 특급보고서</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20 / 22</a:t>
            </a:r>
            <a:endParaRPr lang="en-US" sz="800" dirty="0"/>
          </a:p>
        </p:txBody>
      </p:sp>
      <p:sp>
        <p:nvSpPr>
          <p:cNvPr id="7" name="Text 5"/>
          <p:cNvSpPr/>
          <p:nvPr/>
        </p:nvSpPr>
        <p:spPr>
          <a:xfrm>
            <a:off x="457200" y="77724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3. 관련 법규·출처</a:t>
            </a:r>
            <a:endParaRPr lang="en-US" sz="1400" dirty="0"/>
          </a:p>
        </p:txBody>
      </p:sp>
      <p:graphicFrame>
        <p:nvGraphicFramePr>
          <p:cNvPr id="22" name="Table 0"/>
          <p:cNvGraphicFramePr>
            <a:graphicFrameLocks noGrp="1"/>
          </p:cNvGraphicFramePr>
          <p:nvPr>
            <p:extLst>
              <p:ext uri="{D42A27DB-BD31-4B8C-83A1-F6EECF244321}">
                <p14:modId xmlns:p14="http://schemas.microsoft.com/office/powerpoint/2010/main" val="3665693924"/>
              </p:ext>
            </p:extLst>
          </p:nvPr>
        </p:nvGraphicFramePr>
        <p:xfrm>
          <a:off x="457200" y="1161288"/>
          <a:ext cx="8229600" cy="1920240"/>
        </p:xfrm>
        <a:graphic>
          <a:graphicData uri="http://schemas.openxmlformats.org/drawingml/2006/table">
            <a:tbl>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20040">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조항</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내용 요약</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20040">
                <a:tc>
                  <a:txBody>
                    <a:bodyPr/>
                    <a:lstStyle/>
                    <a:p>
                      <a:pPr marL="0" indent="0" algn="ctr">
                        <a:buNone/>
                      </a:pPr>
                      <a:r>
                        <a:rPr lang="en-US" sz="1000" dirty="0">
                          <a:solidFill>
                            <a:srgbClr val="000000"/>
                          </a:solidFill>
                          <a:latin typeface="맑은 고딕" pitchFamily="34" charset="0"/>
                          <a:ea typeface="맑은 고딕" pitchFamily="34" charset="-122"/>
                          <a:cs typeface="맑은 고딕" pitchFamily="34" charset="-120"/>
                        </a:rPr>
                        <a:t>금융소비자보호법 제19조</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설명의무 등 관계 법령 (법제처, 2025년 기준)</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ctr">
                        <a:buNone/>
                      </a:pPr>
                      <a:r>
                        <a:rPr lang="en-US" sz="1000" dirty="0">
                          <a:solidFill>
                            <a:srgbClr val="000000"/>
                          </a:solidFill>
                          <a:latin typeface="맑은 고딕" pitchFamily="34" charset="0"/>
                          <a:ea typeface="맑은 고딕" pitchFamily="34" charset="-122"/>
                          <a:cs typeface="맑은 고딕" pitchFamily="34" charset="-120"/>
                        </a:rPr>
                        <a:t>보험업법 제95조의2</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보험계약 체결 후 설명의무 등 (법제처, 2025년 기준)</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20040">
                <a:tc>
                  <a:txBody>
                    <a:bodyPr/>
                    <a:lstStyle/>
                    <a:p>
                      <a:pPr marL="0" indent="0" algn="ctr">
                        <a:buNone/>
                      </a:pPr>
                      <a:r>
                        <a:rPr lang="en-US" sz="1000" dirty="0">
                          <a:solidFill>
                            <a:srgbClr val="000000"/>
                          </a:solidFill>
                          <a:latin typeface="맑은 고딕" pitchFamily="34" charset="0"/>
                          <a:ea typeface="맑은 고딕" pitchFamily="34" charset="-122"/>
                          <a:cs typeface="맑은 고딕" pitchFamily="34" charset="-120"/>
                        </a:rPr>
                        <a:t>소득세법 제59조의4 제1항</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특별세액공제 - 보장성보험료 (법제처, 2025년 기준)</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ctr">
                        <a:buNone/>
                      </a:pPr>
                      <a:r>
                        <a:rPr lang="en-US" sz="1000" dirty="0">
                          <a:solidFill>
                            <a:srgbClr val="000000"/>
                          </a:solidFill>
                          <a:latin typeface="맑은 고딕" pitchFamily="34" charset="0"/>
                          <a:ea typeface="맑은 고딕" pitchFamily="34" charset="-122"/>
                          <a:cs typeface="맑은 고딕" pitchFamily="34" charset="-120"/>
                        </a:rPr>
                        <a:t>금융위원회 고시</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「실손의료보험 표준약관」 - 4세대 실손 (2021.7.1 시행)</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320040">
                <a:tc>
                  <a:txBody>
                    <a:bodyPr/>
                    <a:lstStyle/>
                    <a:p>
                      <a:pPr marL="0" indent="0" algn="ctr">
                        <a:buNone/>
                      </a:pPr>
                      <a:r>
                        <a:rPr lang="en-US" sz="1000" dirty="0">
                          <a:solidFill>
                            <a:srgbClr val="000000"/>
                          </a:solidFill>
                          <a:latin typeface="맑은 고딕" pitchFamily="34" charset="0"/>
                          <a:ea typeface="맑은 고딕" pitchFamily="34" charset="-122"/>
                          <a:cs typeface="맑은 고딕" pitchFamily="34" charset="-120"/>
                        </a:rPr>
                        <a:t>참고</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맑은 고딕" pitchFamily="34" charset="0"/>
                          <a:ea typeface="맑은 고딕" pitchFamily="34" charset="-122"/>
                          <a:cs typeface="맑은 고딕" pitchFamily="34" charset="-120"/>
                        </a:rPr>
                        <a:t>금융감독원 '금융소비자 정보 포털 파인' - 보장성 보험 가입 시 유의사항</a:t>
                      </a:r>
                      <a:endParaRPr lang="en-US" sz="1000" dirty="0">
                        <a:latin typeface="맑은 고딕" charset="0"/>
                        <a:ea typeface="맑은 고딕" charset="0"/>
                        <a:cs typeface="맑은 고딕" charset="0"/>
                      </a:endParaRPr>
                    </a:p>
                  </a:txBody>
                  <a:tcPr anchor="ctr">
                    <a:lnL w="6350" cap="flat" cmpd="sng" algn="ctr">
                      <a:solidFill>
                        <a:srgbClr val="E0E4E8"/>
                      </a:solidFill>
                      <a:prstDash val="solid"/>
                      <a:round/>
                      <a:headEnd type="none" w="med" len="med"/>
                      <a:tailEnd type="none" w="med" len="med"/>
                    </a:lnL>
                    <a:lnR w="6350" cap="flat" cmpd="sng" algn="ctr">
                      <a:solidFill>
                        <a:srgbClr val="E0E4E8"/>
                      </a:solidFill>
                      <a:prstDash val="solid"/>
                      <a:round/>
                      <a:headEnd type="none" w="med" len="med"/>
                      <a:tailEnd type="none" w="med" len="med"/>
                    </a:lnR>
                    <a:lnT w="6350" cap="flat" cmpd="sng" algn="ctr">
                      <a:solidFill>
                        <a:srgbClr val="E0E4E8"/>
                      </a:solidFill>
                      <a:prstDash val="solid"/>
                      <a:round/>
                      <a:headEnd type="none" w="med" len="med"/>
                      <a:tailEnd type="none" w="med" len="med"/>
                    </a:lnT>
                    <a:lnB w="6350" cap="flat" cmpd="sng" algn="ctr">
                      <a:solidFill>
                        <a:srgbClr val="E0E4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36576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21</a:t>
            </a:r>
            <a:endParaRPr lang="en-US" sz="900" dirty="0"/>
          </a:p>
        </p:txBody>
      </p:sp>
      <p:sp>
        <p:nvSpPr>
          <p:cNvPr id="4" name="Text 2"/>
          <p:cNvSpPr/>
          <p:nvPr/>
        </p:nvSpPr>
        <p:spPr>
          <a:xfrm>
            <a:off x="548640" y="45720"/>
            <a:ext cx="84124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면책 및 유의사항</a:t>
            </a:r>
            <a:endParaRPr lang="en-US" sz="1600" dirty="0"/>
          </a:p>
        </p:txBody>
      </p:sp>
      <p:sp>
        <p:nvSpPr>
          <p:cNvPr id="5" name="Text 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30대초반 건강한 직장인 | 컨설팅 특급보고서</a:t>
            </a:r>
            <a:endParaRPr lang="en-US" sz="800" dirty="0"/>
          </a:p>
        </p:txBody>
      </p:sp>
      <p:sp>
        <p:nvSpPr>
          <p:cNvPr id="6" name="Text 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21 / 22</a:t>
            </a:r>
            <a:endParaRPr lang="en-US" sz="800" dirty="0"/>
          </a:p>
        </p:txBody>
      </p:sp>
      <p:sp>
        <p:nvSpPr>
          <p:cNvPr id="7" name="Text 5"/>
          <p:cNvSpPr/>
          <p:nvPr/>
        </p:nvSpPr>
        <p:spPr>
          <a:xfrm>
            <a:off x="457200" y="777240"/>
            <a:ext cx="8229600" cy="320040"/>
          </a:xfrm>
          <a:prstGeom prst="rect">
            <a:avLst/>
          </a:prstGeom>
          <a:noFill/>
          <a:ln/>
        </p:spPr>
        <p:txBody>
          <a:bodyPr wrap="square" lIns="0" tIns="0" rIns="0" bIns="0"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면책 및 유의사항</a:t>
            </a:r>
            <a:endParaRPr lang="en-US" sz="1400" dirty="0"/>
          </a:p>
        </p:txBody>
      </p:sp>
      <p:sp>
        <p:nvSpPr>
          <p:cNvPr id="8" name="Text 6"/>
          <p:cNvSpPr/>
          <p:nvPr/>
        </p:nvSpPr>
        <p:spPr>
          <a:xfrm>
            <a:off x="457200" y="1188720"/>
            <a:ext cx="8229600" cy="3200400"/>
          </a:xfrm>
          <a:prstGeom prst="rect">
            <a:avLst/>
          </a:prstGeom>
          <a:noFill/>
          <a:ln/>
        </p:spPr>
        <p:txBody>
          <a:bodyPr wrap="square" lIns="0" tIns="0" rIns="0" bIns="0" rtlCol="0" anchor="t"/>
          <a:lstStyle/>
          <a:p>
            <a:pPr marL="0" indent="0">
              <a:lnSpc>
                <a:spcPct val="150000"/>
              </a:lnSpc>
              <a:spcAft>
                <a:spcPts val="600"/>
              </a:spcAft>
              <a:buNone/>
            </a:pPr>
            <a:r>
              <a:rPr lang="en-US" sz="1000" dirty="0">
                <a:solidFill>
                  <a:srgbClr val="4A5568"/>
                </a:solidFill>
                <a:latin typeface="맑은 고딕" pitchFamily="34" charset="0"/>
                <a:ea typeface="맑은 고딕" pitchFamily="34" charset="-122"/>
                <a:cs typeface="맑은 고딕" pitchFamily="34" charset="-120"/>
              </a:rPr>
              <a:t>1. 본 보고서는 '이너서클 멤버십'과 '컨설턴트 홈페이지' 이용회원의 원활한 영업활동을 돕기 위해서 가상의 사례(회사, 개인 등의 정보 등...)를 설정하여 '인공지능'을 통해 제작되었습니다.</a:t>
            </a:r>
            <a:endParaRPr lang="en-US" sz="1000" dirty="0"/>
          </a:p>
          <a:p>
            <a:pPr marL="0" indent="0">
              <a:lnSpc>
                <a:spcPct val="150000"/>
              </a:lnSpc>
              <a:spcAft>
                <a:spcPts val="600"/>
              </a:spcAft>
              <a:buNone/>
            </a:pPr>
            <a:r>
              <a:rPr lang="en-US" sz="1000" dirty="0">
                <a:solidFill>
                  <a:srgbClr val="4A5568"/>
                </a:solidFill>
                <a:latin typeface="맑은 고딕" pitchFamily="34" charset="0"/>
                <a:ea typeface="맑은 고딕" pitchFamily="34" charset="-122"/>
                <a:cs typeface="맑은 고딕" pitchFamily="34" charset="-120"/>
              </a:rPr>
              <a:t>2. 본 자료에 포함된 보험료, 보장 내용, 세제 혜택 등은 모두 예시이며, 실제 적용 시 개인별 상황, 보험사 인수 기준, 관련 법령 개정 여부에 따라 달라질 수 있습니다.</a:t>
            </a:r>
            <a:endParaRPr lang="en-US" sz="1000" dirty="0"/>
          </a:p>
          <a:p>
            <a:pPr marL="0" indent="0">
              <a:lnSpc>
                <a:spcPct val="150000"/>
              </a:lnSpc>
              <a:spcAft>
                <a:spcPts val="600"/>
              </a:spcAft>
              <a:buNone/>
            </a:pPr>
            <a:r>
              <a:rPr lang="en-US" sz="1000" dirty="0">
                <a:solidFill>
                  <a:srgbClr val="4A5568"/>
                </a:solidFill>
                <a:latin typeface="맑은 고딕" pitchFamily="34" charset="0"/>
                <a:ea typeface="맑은 고딕" pitchFamily="34" charset="-122"/>
                <a:cs typeface="맑은 고딕" pitchFamily="34" charset="-120"/>
              </a:rPr>
              <a:t>3. 실무 사용 시 세법을 포함한 모든 규정, 제도들은 반드시 세무사, 변호사, 보험전문가 등 분야별 전문가와 충분히 상담을 하신 후 진행하시기 바랍니다.</a:t>
            </a:r>
            <a:endParaRPr lang="en-US" sz="1000" dirty="0"/>
          </a:p>
          <a:p>
            <a:pPr marL="0" indent="0">
              <a:lnSpc>
                <a:spcPct val="150000"/>
              </a:lnSpc>
              <a:spcAft>
                <a:spcPts val="600"/>
              </a:spcAft>
              <a:buNone/>
            </a:pPr>
            <a:r>
              <a:rPr lang="en-US" sz="1000" dirty="0">
                <a:solidFill>
                  <a:srgbClr val="4A5568"/>
                </a:solidFill>
                <a:latin typeface="맑은 고딕" pitchFamily="34" charset="0"/>
                <a:ea typeface="맑은 고딕" pitchFamily="34" charset="-122"/>
                <a:cs typeface="맑은 고딕" pitchFamily="34" charset="-120"/>
              </a:rPr>
              <a:t>4. AI는 언제든지 오류가 있을 수 있으므로 참고용으로 사용하여 주시고, 사용에 따라 발생되는 문제에 대하여 제작처는 책임이 없음을 알려드립니다.</a:t>
            </a:r>
            <a:endParaRPr lang="en-US" sz="1000" dirty="0"/>
          </a:p>
          <a:p>
            <a:pPr marL="0" indent="0">
              <a:lnSpc>
                <a:spcPct val="150000"/>
              </a:lnSpc>
              <a:spcAft>
                <a:spcPts val="600"/>
              </a:spcAft>
              <a:buNone/>
            </a:pPr>
            <a:r>
              <a:rPr lang="en-US" sz="1000" dirty="0">
                <a:solidFill>
                  <a:srgbClr val="4A5568"/>
                </a:solidFill>
                <a:latin typeface="맑은 고딕" pitchFamily="34" charset="0"/>
                <a:ea typeface="맑은 고딕" pitchFamily="34" charset="-122"/>
                <a:cs typeface="맑은 고딕" pitchFamily="34" charset="-120"/>
              </a:rPr>
              <a:t>5. 본 보고서는 특정 보험상품의 가입을 권유하거나 보장하는 것이 아니며, 최종 의사결정은 고객님께서 직접 판단하시기 바랍니다.</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3077</Words>
  <Application>Microsoft Office PowerPoint</Application>
  <PresentationFormat>화면 슬라이드 쇼(16:9)</PresentationFormat>
  <Paragraphs>299</Paragraphs>
  <Slides>22</Slides>
  <Notes>22</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22</vt:i4>
      </vt:variant>
    </vt:vector>
  </HeadingPairs>
  <TitlesOfParts>
    <vt:vector size="26" baseType="lpstr">
      <vt:lpstr>맑은 고딕</vt:lpstr>
      <vt:lpstr>Arial</vt:lpstr>
      <vt:lpstr>Georgia</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30대초반 건강한 직장인 | 컨설팅 특급보고서</dc:title>
  <dc:subject>PptxGenJS Presentation</dc:subject>
  <dc:creator>KFPC</dc:creator>
  <cp:lastModifiedBy>에프피센터 한국</cp:lastModifiedBy>
  <cp:revision>2</cp:revision>
  <dcterms:created xsi:type="dcterms:W3CDTF">2026-02-23T04:50:11Z</dcterms:created>
  <dcterms:modified xsi:type="dcterms:W3CDTF">2026-02-24T06:42:02Z</dcterms:modified>
</cp:coreProperties>
</file>