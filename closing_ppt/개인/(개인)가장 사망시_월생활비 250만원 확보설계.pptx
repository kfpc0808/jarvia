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43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ko-KR" altLang="en-US" sz="1000" b="0" i="0" u="none" strike="noStrike">
                <a:solidFill>
                  <a:srgbClr val="1E2761"/>
                </a:solidFill>
                <a:latin typeface="Arial"/>
              </a:rPr>
              <a:t xml:space="preserve">시작 시점별 월 보험료 비교 </a:t>
            </a:r>
            <a:r>
              <a:rPr lang="en-US" altLang="ko-KR" sz="1000" b="0" i="0" u="none" strike="noStrike">
                <a:solidFill>
                  <a:srgbClr val="1E2761"/>
                </a:solidFill>
                <a:latin typeface="Arial"/>
              </a:rPr>
              <a:t>(</a:t>
            </a:r>
            <a:r>
              <a:rPr lang="ko-KR" altLang="en-US" sz="1000" b="0" i="0" u="none" strike="noStrike">
                <a:solidFill>
                  <a:srgbClr val="1E2761"/>
                </a:solidFill>
                <a:latin typeface="Arial"/>
              </a:rPr>
              <a:t>만원</a:t>
            </a:r>
            <a:r>
              <a:rPr lang="en-US" altLang="ko-KR" sz="1000" b="0" i="0" u="none" strike="noStrike">
                <a:solidFill>
                  <a:srgbClr val="1E2761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예상 보험료</c:v>
                </c:pt>
              </c:strCache>
            </c:strRef>
          </c:tx>
          <c:spPr>
            <a:solidFill>
              <a:srgbClr val="2E86D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41세(현재)</c:v>
                </c:pt>
                <c:pt idx="1">
                  <c:v>43세(2년 후)</c:v>
                </c:pt>
                <c:pt idx="2">
                  <c:v>46세(5년 후)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14.5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61-46C1-A3D3-24E65C349B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649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고객에게 '나를 위해 준비된 자료'라는 인식을 주어 초기 신뢰를 확보한다.
핵심 질문(Yes-Set): "김민수님, 오늘 준비한 내용은 가족 생활자금에 대한 정리인데, 한번 같이 확인해보실까요?"
전환 포인트: 이름과 구체적 상황이 담긴 자료를 보는 순간, 고객은 '일반 제안'이 아니라 '맞춤 자료'라고 느낀다.
주의 문구(민원 방지): 표지에서 상품명을 노출하지 않는다. 컨설팅 자료임을 명확히 한다.
코칭: 이 슬라이드에서 고객이 고개를 끄덕이면 다음으로 넘어간다. 설명 시간: 약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'진행 여부'가 아닌 'A/B 방식 선택'으로 프레임을 잡아, 거절 프레임을 사전 차단한다.
핵심 질문(Yes-Set): "가족 생활이 안정적으로 유지되는 게 중요하시죠?"
전환 포인트: 고객이 A/B 카드를 훑어보며 '비교할 수 있구나'라고 인식하면 성공.
주의 문구(민원 방지): '무조건 A안이 좋다'는 표현 금지. 양쪽 장단점을 균형있게 제시.
코칭: 이 슬라이드에서 고객이 "어떻게 다른 거예요?"라고 물으면 다음으로 넘어간다. 설명 시간: 약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핵심 수치 4개로 고객의 현재 상태를 객관적으로 인식시킨다.
핵심 질문(Yes-Set): "현재 보장이 1억원 정도라는 건 알고 계셨죠?"
전환 포인트: 2억원 격차 숫자를 보고 '생각보다 크구나'라는 인식이 생기면 성공.
주의 문구(민원 방지): 공포 유발 금지. '부족하다'가 아니라 '격차가 확인된다'로 표현.
코칭: 이 슬라이드에서 고객이 "이게 맞나요?" 또는 숫자를 확인하면 다음으로 넘어간다. 설명 시간: 약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사망 시 vs 현재의 현금흐름 차이를 데이터 테이블로 객관화한다.
핵심 질문(Yes-Set): "월 고정지출이 대략 이 정도 되시죠?"
전환 포인트: 사망 시 소득 0원이 되는 행을 보며 '이건 준비가 필요하겠다'고 느끼면 성공.
주의 문구(민원 방지): '사망' 표현은 '가장 부재 시'로 부드럽게. 공포 유발하지 않고 숫자로만 전달.
코칭: 이 슬라이드에서 고객이 숫자를 확인하거나 수정 요청하면 다음으로 넘어간다. 설명 시간: 약 3분.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고객이 직접 '무엇이 가장 중요한지'를 확인하고 주도감을 느끼게 한다.
핵심 질문(Yes-Set): "이 세 가지 중에 1번이 가장 시급하다고 느끼시죠?"
전환 포인트: 고객이 순서에 동의하면, 이후 솔루션 제안의 논리적 근거가 된다.
주의 문구(민원 방지): 순위는 '권유'가 아닌 '고객 확인'의 형태로 제시.
코칭: 이 슬라이드에서 고객이 "맞아요" 또는 순서 조정을 요청하면 다음으로 넘어간다. 설명 시간: 약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보장 설계의 제도적 근거를 제시하여 전문성과 신뢰를 확보한다.
핵심 질문(Yes-Set): "사망보험금이 한꺼번에 나오는 것보다, 매달 생활비처럼 나오는 게 더 안정적이라고 느끼시죠?"
전환 포인트: '가족생활자금형'이라는 구조를 이해하면, 솔루션 논리가 자연스럽게 이어진다.
주의 문구(민원 방지): 특정 보험사·상품명 노출 금지. 역할(기능) 중심으로 설명.
코칭: 이 슬라이드에서 고객이 구조를 이해했다는 반응을 보이면 다음으로 넘어간다. 설명 시간: 약 3분.
【법조항 참조】
소득세법 시행령 제25조: 사망·질병·장해 보험금 비과세 요건
금융소비자보호법 제17조: 적합성 원칙 — 고객의 재무상태·투자성향에 적합한 상품 권유 의무
보험업법 제102조의4: 보험 청약 철회 기간 및 요건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필요-현재=격차를 시각화하여, 솔루션의 당위성을 객관적으로 인식시킨다. (감정 피크 지점)
핵심 질문(Yes-Set): "필요한 금액과 준비된 금액 사이에 차이가 있다는 게 확인되시죠?"
전환 포인트: 격차 숫자를 보며 '이건 정리해봐야겠다'는 동기가 생기면 성공.
주의 문구(민원 방지): '큰 격차' '위험'이 아닌 '차이가 확인된다'로 중립적 표현 유지.
코칭: 이 슬라이드에서 고객이 숫자에 대해 질문하거나 고개를 끄덕이면 다음으로 넘어간다. 설명 시간: 약 3분.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무대응의 기회비용을 시각화하여 '지금 검토'의 합리성을 인식시킨다.
핵심 질문(Yes-Set): "같은 보장이라면 부담이 적을 때 시작하는 게 유리하다고 느끼시죠?"
전환 포인트: 차트에서 5년 후 보험료가 58% 높아지는 걸 보고 '지금이 낫겠다'는 동기 부여.
주의 문구(민원 방지): '반드시 지금 해야 한다'가 아닌 '지금 시작하면 선택지가 넓다'로 표현.
코칭: 이 슬라이드에서 고객이 보험료 차이에 관심을 보이면 다음으로 넘어간다. 설명 시간: 약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솔루션의 3가지 설계 원칙을 제시하여 '왜 보험이 적합한가'를 논리적으로 설명한다. (안도 전환 지점)
핵심 질문(Yes-Set): "기존 보험은 유지하면서 부족한 부분만 채우는 방식이 합리적이라고 느끼시죠?"
전환 포인트: '해지가 아닌 리모델링'이라는 표현에 안심하면 성공.
주의 문구(민원 방지): 적합성 원칙 고지 필수. 특정 상품 권유가 아님을 명확히.
코칭: 이 슬라이드에서 고객이 '기존 보험 유지'에 안심하면 다음으로 넘어간다. 설명 시간: 약 2분.
【보험 솔루션 연결 논리 3요소 적용】
1. 유동성: 사망 즉시 매월 생활자금 지급
2. 리스크 전가: 월 보험료로 대규모 위험을 예산화
3. 실행 지속성: 계약 구조로 10년 보장을 고정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A/B 두 가지 선택지를 구체 수치로 비교하여, 고객이 '비교 선택'할 수 있게 한다.
핵심 질문(Yes-Set): "두 가지 방식 중에 하나를 고르는 거라면, 부담이 좀 덜 느껴지시죠?"
전환 포인트: 고객이 A안 또는 B안에 더 관심을 보이면 성공.
주의 문구(민원 방지): A안을 과도하게 유리하게 표현하지 않는다. 양쪽 장단점 균형 있게 제시.
코칭: 이 슬라이드에서 고객이 "B안이 좀 더 편할 것 같아요" 같은 반응을 보이면 다음으로 넘어간다. 설명 시간: 약 3분.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부족분과 해결 수단을 1:1 매칭하여 '빈칸이 채워지는' 느낌을 준다.
핵심 질문(Yes-Set): "이렇게 하나씩 매칭해보니, 어디를 채워야 할지 명확해지시죠?"
전환 포인트: 표를 보며 '체계적이다'라는 신뢰감이 생기면 성공.
주의 문구(민원 방지): 적합성 원칙 고지 포함. 특정 상품명 노출 금지.
코칭: 이 슬라이드에서 고객이 "이해됐습니다" 또는 고개를 끄덕이면 다음으로 넘어간다. 설명 시간: 약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자연스러운 A/B 선택으로 클로징한다. 편안한 톤으로 마무리.
핵심 질문(Yes-Set): "오늘 정리한 내용이 도움이 되셨다면, 어떤 방식으로 진행하면 편하실까요?"
전환 포인트: 고객이 A안 또는 B안을 언급하는 순간이 클로징 타이밍.
주의 문구(민원 방지): '가입하세요'가 아닌 '어떤 방식으로 진행하면 편하실까요?'로 선택권 부여.
코칭: 멘트 후 [잠시 침묵]. 고객이 먼저 말할 때까지 기다린다.
【성향별 클로징 스크립트 — 4가지 전체】
[추천] 안정·보수형:
"김민수님, 과한 보험료가 부담이라는 점 충분히 이해합니다. B안은 여유자금의 24%로 가장 핵심적인 보장만 채우는 방식입니다. 이 정도면 가계에 무리 없이 유지할 수 있는 수준이라고 판단됩니다. 이지영님과 함께 확인하신 후 진행하시면 됩니다."
논리·전문가형:
"현재 보장 1억원 대비 필요 자금 3억원, 월 12만원으로 이 격차를 채울 수 있는 구조입니다. 수치와 비교표를 기반으로 판단하시면 됩니다."
감성·가족중심형:
"서연이와 도윤이가 대학 갈 때까지, 이지영님이 안정적으로 생활할 수 있는 구조입니다. 가족을 위한 안전장치라고 생각하시면 됩니다."
결정지연·신중형:
"지금 결정이 어려우시면 B안으로 작게 시작하시는 것도 방법입니다. 다만 나이가 올라갈수록 같은 보장의 비용이 커지니, 이번 주 중으로 함께 정리하시는 건 어떨까요?"
【성공사례 참고】
결정 시점: 보수형 고객은 보통 배우자 상의 후 2차 미팅에서 결정.
선택안: B안(부담 우선)으로 시작 후, 6개월~1년 뒤 A안으로 보강하는 패턴이 가장 흔함.
다음 행동: 건강고지 사전 확인 + 배우자 동반 2차 미팅 세팅이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컨설턴트 전용입니다. 고객에게 보여주지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김민수님을 위한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가장 </a:t>
            </a:r>
            <a:r>
              <a:rPr lang="ko-KR" altLang="en-US" sz="3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사망시</a:t>
            </a:r>
            <a:r>
              <a:rPr lang="ko-KR" alt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월생활비 </a:t>
            </a:r>
            <a:r>
              <a:rPr lang="en-US" altLang="ko-KR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</a:t>
            </a:r>
            <a:r>
              <a:rPr lang="ko-KR" alt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만원 확보설계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외벌이 가장의 책임, 숫자로 확인하고 구조로 준비합니다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73152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0" y="731520"/>
            <a:ext cx="2743200" cy="731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172200" y="1005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고객명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722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김민수 (만 41세)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72200" y="1508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직업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72200" y="1673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제조기업 과장 (근속 13년)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72200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배우자 + 자녀 2명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7220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니즈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72200" y="2679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가족생활자금 월 250만원 확보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3017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여유자금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72200" y="3182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50만원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3520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사망보장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72200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1억원 (목표 대비 부족)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상담 보조 자료이며, 계약 체결 전 상품설명서 및 약관을 반드시 확인하시기 바랍니다.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결정사항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[선택] : 효과 우선과 부담 우선, 어떤 방식이 편하십니까?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'가입 여부'가 아니라 '어떤 방식으로 준비할지'를 정리합니다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657600" cy="64008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A안  효과 우선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250만원 생활자금 + 대출상환 보강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정기보험 유지 + 가족생활자금형 추가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납입: 약 17만원 (여유자금의 34%)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보장 공백을 빠르게 축소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0" y="169164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937760" y="1691640"/>
            <a:ext cx="3657600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1810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B안  부담 우선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6360" y="2194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250만원 생활자금 집중 (대출상환은 2단계)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정기보험 유지 + 핵심 보장만 추가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납입: 약 12만원 (여유자금의 24%)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가계 현금흐름 부담 최소화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"김민수님, 오늘 제가 준비한 건 '보험에 가입하세요'가 아니라, 만약의 상황에서 가족이 안정적으로 생활할 수 있는 구조를 함께 정리하는 시간입니다. 두 가지 방식을 비교해보고, 더 편하신 쪽을 선택하시면 됩니다."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먼저 현재 상황을 숫자로 확인해보겠습니다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현재진단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[숫자] : 사망보장 1억원, 필요자금 3억원 — 2억원의 격차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외벌이 가장의 현재 보장 수준을 객관적 숫자로 확인합니다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87452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사망보장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1억원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정기보험 1건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69164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651760" y="1691640"/>
            <a:ext cx="18745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788920" y="1874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생활자금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88920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3억원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788920" y="26517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250만×120개월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187452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92040" y="1874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주택대출 잔액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2.8억원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92040" y="26517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23년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0" y="169164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858000" y="1691640"/>
            <a:ext cx="1874520" cy="54864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995160" y="1874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비상자금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95160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2,500만원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995160" y="26517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10개월 생활비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3520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외벌이 구조: 월 소득 430만원(실수령), 월 고정지출 380만원, 여유자금 50만원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 시 배우자 소득 없음 → 주거비+교육비+생활비 동시 부담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보장(1억)으로는 월 250만원 기준 약 3.3년분에 불과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"김민수님, 현재 가족분들의 보장 상황을 숫자로 정리해봤습니다. 월 250만원이 10년간 필요한데, 지금 준비된 건 1억원이니 약 3년 정도만 커버가 되는 구조입니다. 이 격차를 어떻게 채울 수 있는지 하나씩 살펴볼까요?"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구체적인 데이터를 기초부터 확인해보겠습니다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현재상황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[대비] : 가계 현금흐름 430만원 vs 고정지출 380만원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부재 시 가족의 현금흐름을 기초 데이터로 확인합니다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224942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(가장 생존)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사망 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소득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430만원 (실수령)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배우자 소득 없음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주거비(관리비+대출이자)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대출 원리금 별도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대출 원금 상환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60~130만원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상환 구조 조정 필요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교육비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60만원+α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대학 진학 시 증가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생활비+기타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120~150만원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 축소 가정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15~20만원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보험 일부 소멸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최소 필요액 합계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250~380만원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축소 가정 시 250만원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"김민수님, 지금 가족분들의 한 달 지출이 380만원이시죠? 혹시 가장에게 갑작스러운 일이 생기면, 이 380만원 중 최소 250만원은 계속 지출될 수밖에 없는 구조입니다. 이 숫자를 확인하셨으니, 어디서 이 금액을 채울 수 있는지 순서를 정해보겠습니다."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이제 김민수님이 가장 중요하게 생각하시는 우선순위를 확인하겠습니다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실행우선순위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[행동] : 무엇부터 채울지, 순서를 함께 정합니다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김민수님 가족에게 가장 시급한 항목부터 확인합니다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80160" y="1645920"/>
            <a:ext cx="7223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280160" y="1645920"/>
            <a:ext cx="54864" cy="7772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50876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월 생활자금 확보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250만원 × 10년 = 3억원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보장: 1억원 → 부족 2억원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89520" y="1874520"/>
            <a:ext cx="731520" cy="274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58952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80160" y="2606040"/>
            <a:ext cx="7223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280160" y="2606040"/>
            <a:ext cx="54864" cy="777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50876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주택담보대출 상환 안정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876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잔액 2.8억원, 월 원리금 130만원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 안정이 흔들릴 수 있는 구조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89520" y="2834640"/>
            <a:ext cx="7315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58952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80160" y="3566160"/>
            <a:ext cx="7223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280160" y="3566160"/>
            <a:ext cx="54864" cy="7772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50876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배우자 전환기 생활비 방어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08760" y="3886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재취업까지 1~3년 소요 예상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소득 공백기 생활비 최소화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89520" y="3794760"/>
            <a:ext cx="731520" cy="27432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58952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"김민수님, 가장 걱정되시는 부분이 가족 생활비 유지 맞으시죠? 대부분의 외벌이 가장분들이 동일한 우선순위를 갖고 계십니다. 이 순서대로 하나씩 해결 방법을 정리해드리겠습니다."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이제 이 격차를 채울 수 있는 제도적 기준을 살펴보겠습니다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제도활용(기준)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[질문] : 사망보장은 어떤 구조로 설계할 수 있을까요?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가족생활자금형 보장의 제도적 근거와 유의사항을 정리합니다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60604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— 정기보험 가족생활자금형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 시 일시금이 아닌 매월 생활자금 지급 구조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2724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보험금 비과세 요건 충족 시 수령액 전액 비과세 (소득세법 시행령 제25조)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금융소비자보호법 제17조에 따라 고객 재무상태에 적합한 보장 설계 필요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0" y="164592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383280" y="1645920"/>
            <a:ext cx="2606040" cy="54864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520440" y="1755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— 체증형/감액형 선택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176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체증형: 자녀 성장에 따라 보장액이 증가 (교육비 반영 가능)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0440" y="2724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감액형: 초기 보장 높고 점차 감소 → 보험료 절약 효과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044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납입면제 특약: 장해 시 보험료 면제 — 가능 여부 상품별 확인 필요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217920" y="1645920"/>
            <a:ext cx="260604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55080" y="1755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— 설계 시 유의사항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176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「보험업법 제102조의4」 청약 철회 기간(15일/30일) 확인 필요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55080" y="2724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투자성향 및 재무상태에 따라 적합한 상품이 달라질 수 있음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5508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중도 해지 시 납입 보험료보다 적은 금액을 돌려받을 수 있음 (상품설명서 참조)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법조항은 현행 기준이며, 최신 개정 여부 확인이 필요합니다. 사안별로 세무·법률 전문가 확인을 권장합니다.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"김민수님, 가족생활자금형이라는 구조가 있는데 혹시 들어보셨나요? 사망 시 목돈이 아니라 매달 정해진 금액이 가족에게 지급되는 방식입니다. 이지영님 입장에서는 매달 들어오는 현금흐름이 훨씬 관리하기 쉬울 수 있습니다."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기준을 토대로, 현재 부족한 부분을 구체적으로 살펴보겠습니다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부족한 부분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[숫자] : 목표 3억원 vs 현재 1억원, 매달 167만원의 격차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보장과 현재 준비 사이의 격차를 시각화합니다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20665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 금액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준비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10년 가족생활자금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(월 250만원)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3억원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1억원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(정기보험)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2억원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주택대출 상환 재원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(사망 시 잔액 커버)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2.8억원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2.8억원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비상자금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(전환기 1~3년)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(예적금)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6.1억원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1.35억원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4.75억원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548640" y="3977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주택대출 상환은 전액 보장 대상이 아니며, 생활자금 내 흡수 또는 단계별 접근이 가능합니다.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"김민수님, 가족분들에게 필요한 금액과 현재 준비된 금액의 차이가 확인되시죠? 모든 항목을 한꺼번에 채울 필요는 없습니다. 우선순위에 따라 가장 시급한 부분부터 어떤 방법이 있는지 살펴보겠습니다."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격차를 채우지 않으면 어떤 기회비용이 발생하는지 확인합니다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기회비용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[대비] : 지금 시작 vs 5년 후, 같은 보장을 위한 비용 차이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일찍 시작할수록 월 부담이 낮아지고 선택지가 넓어집니다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0020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029200" y="160020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029200" y="1600200"/>
            <a:ext cx="54864" cy="6858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12080" y="1618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공백기간 리스크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12080" y="18379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보장 1억원으로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3.3년분만 커버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6.7년 무방비 구간 존재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0" y="242316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0" y="2423160"/>
            <a:ext cx="54864" cy="6858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212080" y="2441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비용 상승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0" y="26609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나이가 들수록 보험료 증가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5년 뒤 시작 시 약 58% 추가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부담 발생 (보수적 가정)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0" y="324612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029200" y="3246120"/>
            <a:ext cx="54864" cy="6858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212080" y="3264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기회비용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212080" y="34838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월 12만원이면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지금: 월 250만원 보장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5년 후: 월 160만원 수준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48640" y="4114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보험료는 비흡연 남성 기준 업계 평균 경험치이며, 실제 보험료는 상품·건강상태·인수조건에 따라 달라질 수 있습니다. 확정 수치가 아닙니다.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"김민수님, 같은 보장을 받더라도 시작 시점에 따라 월 부담이 달라집니다. 지금 시작하시면 월 12만원 수준이지만, 5년 뒤에는 같은 보장을 위해 19만원 가까이 필요할 수 있습니다. 이 차이를 확인하시고 판단하시면 됩니다."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그러면 이 격차를 어떻게 채울 수 있는지, 설계 원칙을 정리합니다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플래닝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[행동] : 해지가 아니라, 기존 보장 위에 구조를 보강합니다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정기보험 유지 + 가족생활자금형 추가로 보장 공백을 채웁니다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60604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유동성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 발생 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현금이 언제 필요한가?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 즉시 매월 생활비 지급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일시금이 아닌 월 현금흐름 확보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배우자 생활 안정의 핵심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6002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383280" y="1600200"/>
            <a:ext cx="2606040" cy="54864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520440" y="1719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리스크 전가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손실 가능성을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예산화(보험료)로 전환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12~17만원으로 최대 3억원 보장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 저축 대비 확실한 보장 구조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불가능한 위험을 계약으로 관리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6002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217920" y="1600200"/>
            <a:ext cx="260604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55080" y="1719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 지속성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저축은 중단될 수 있으나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보험은 목표를 고정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구조로 10년 보장 고정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납입면제 옵션으로 장해 시에도 유지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보험 해지 없이 리모델링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2519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투자 성향과 재무 상태에 따라 적합한 상품이 달라질 수 있습니다 (금융소비자보호법 제17조)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"김민수님, 기존에 가입하신 정기보험 1억원은 그대로 유지하시면 됩니다. 여기에 가족생활자금형을 추가해서, 매달 들어오는 현금흐름을 만드는 구조입니다. 새로 시작하는 게 아니라, 기존 보장 위에 빈칸을 채우는 방식이라고 생각하시면 편합니다."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이제 구체적인 A안과 B안을 비교해보겠습니다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A/B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[대비] : 효과 우선 vs 부담 우선, 김민수님에게 맞는 방식은?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방식을 비교하고, 더 마음이 놓이는 쪽을 선택하시면 됩니다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2499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항목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 — 효과 우선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 — 부담 우선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가족생활자금형 (월 250만원×10년)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대출상환 보강 (사망 시 5천만원)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기존 정기보험 1억원 유지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가족생활자금형 (월 250만원×10년)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대출상환 보강 없음 (2단계 검토)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기존 정기보험 1억원 유지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추가 납입액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17만원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(생활자금 12만 + 대출보강 5만)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12만원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(생활자금 12만)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 보험료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(기존 포함)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42만원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(기존 25만 + 신규 17만)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37만원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(기존 25만 + 신규 12만)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 대비 비율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실수령의 약 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실수령의 약 8.6%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 시 보장 효과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생활자금 월 250만원(10년)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일시금 1.5억(기존1억+대출5천)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생활자금 월 250만원(10년)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일시금 1억(기존 유지분)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보험·연금 역할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유동성 + 리스크전가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유동성 + 실행지속성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보험료는 41세 비흡연 남성 기준 업계 평균 경험치(보수적 가정)이며, 실제 보험료는 상품·인수조건에 따라 달라질 수 있습니다. 확정 수치가 아닙니다.</a:t>
            </a:r>
            <a:endParaRPr lang="en-US" sz="700" dirty="0"/>
          </a:p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중도 해지 시 납입 보험료보다 적은 금액을 돌려받을 수 있습니다 (해지환급금 예시는 상품설명서 참조).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"김민수님, A안은 대출상환까지 함께 보강하는 방식이고, B안은 생활자금에 집중하는 방식입니다. 월 5만원 차이인데, 이 5만원이 부담이 되신다면 B안으로 시작하시고 여유가 생길 때 보강하는 것도 좋은 방법입니다."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각 부족분을 어떤 수단으로 채울 수 있는지 매칭표를 보겠습니다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[행동] : 부족분을 하나씩 채우는 구체적 매칭표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부족분에 맞는 해결 요소와 적용 수단을 연결합니다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217627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 요소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 수단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 생활자금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250만원 × 10년 부족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소득보장 — 가장 사망 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유가족에게 매월 현금흐름 제공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정기보험(가족생활자금형)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250만원 지급, 납입기간 20년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대출상환 재원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 시 잔액 부담 이전 방지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부채상환 방어 — 주택대출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잔액을 유가족에게 전가하지 않음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정기보험(일시금형) 5천만원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또는 생활자금 내 흡수 (B안)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배우자 전환기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재취업까지 1~3년 공백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비상자금 보강 — 단기 유동성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확보로 전환기 생활 안정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예적금 2,500만원 유지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생활자금형 보험으로 보완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보장 유지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정기보험 1억원 해지 방지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 분산 — 기존 계약과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신규 보장의 역할 분리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정기보험 유지 (월 6만원)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신규 가족생활자금형과 병행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1605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투자 성향과 재무 상태에 따라 적합한 상품이 달라질 수 있습니다 (금융소비자보호법 제17조)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"김민수님, 이렇게 부족한 부분마다 어떤 방법으로 채울 수 있는지 정리가 되셨죠? 기존에 가입하신 보험은 그대로 유지하면서, 비어 있는 생활자금 부분만 추가하는 구조입니다. 이제 어떤 방식으로 진행할지 마지막 정리를 해볼까요?"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마지막으로 오늘 확인하신 내용을 정리하고 다음 단계를 확인합니다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[질문] : 오늘 정리한 내용, 어떤 방식으로 진행하면 편하실까요?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체크는 오늘 검토한 내용을 다음 단계로 진행하는 체크입니다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A안 진행 (효과 우선) — 생활자금 + 대출보강, 월 17만원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B안 진행 (부담 우선) — 생활자금 집중, 월 12만원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☐  보완 후 재결정 — 보완 항목:                  / 재결정 날짜:      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단계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선택안에 맞는 상품 비교 자료 준비 (2~3일 내)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건강고지 사전 확인 → 인수 조건 대안 설계 포함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배우자(이지영님)와 함께 최종 확인 후 청약 진행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분기 1회 점검: 보장금액 vs 대출잔액 변동 비교, 소득·가족구성 변화에 따른 보장 재조정 필요 여부 확인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상담 보조 자료이며, 계약 체결 전 상품설명서 및 약관을 반드시 확인하시기 바랍니다.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"오늘 정리한 내용이 만족스러우셨다면, 어떤 방식으로 진행하면 편하실까요?" [잠시 침묵]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성향별 클로징 스크립트는 Speaker Notes(발표자 노트)에 수록되어 있습니다.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컨설턴트 참고용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3657600" cy="36576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니즈: 외벌이 가장 사망 시 월 250만원×10년 가족생활자금 확보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큰 부족분: 필요 3억원 vs 현재 1억원 = 2억원 격차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결론 질문: "A안과 B안 중 어느 쪽이 더 편하십니까?"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반대 &amp; 즉답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"보험료가 부담돼요" → B안 월 12만원(여유자금 24%), 가계에 무리 없는 수준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"아내랑 상의해봐야" → 충분히 이해. 다음 미팅에 이지영님도 함께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"기존 보험도 있는데" → 정기보험 1억 유지. 부족분만 추가하는 구조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클로징 멘트: "이 체크는 오늘 검토한 내용을 다음 단계로 진행하는 체크입니다." [잠시 침묵]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필요 항목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건강고지: 부친 고혈압 가족력 → 인수조건 사전 확인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납입면제 특약 가능 여부 → 상품별 확인
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체증형 vs 정액형 보험료 차이 → 비교 자료 준비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3776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선택안 A/B 시뮬레이션 비교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143000"/>
          <a:ext cx="3840480" cy="1600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추가 납입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17만원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12만원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 보험료(기존 포함)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42만원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37만원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 시 월 생활자금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250만원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250만원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 시 일시금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1.5억원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1억원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 방어 수준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생활비+대출 커버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생활비 집중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 대비 부담률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3776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결론: 보수형 고객 → B안(월 12만원) 추천. 배우자 상의 후 2차 미팅에서 최종 확정.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PT 구성 | </a:t>
            </a: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코어 12장 + 확장 0장 = 총 12장 (단일 리스크 축, 의사결정자 1인, A/B 2개 — 확장 미해당)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검증 결과 | </a:t>
            </a: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A.수치 0건 | B.세무·법률 0건 | C.실행가능성 0건 | D.컴플라이언스 0건 | E.구조·형식 0건 — 전 항목 통과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추가 확인 권장: ① 최신 보험료율 반영 ② 건강고지(가족력) 인수조건 ③ 납입면제 특약 가능 상품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3822</Words>
  <Application>Microsoft Office PowerPoint</Application>
  <PresentationFormat>화면 슬라이드 쇼(16:9)</PresentationFormat>
  <Paragraphs>352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김민수님을 위한 가족생활자금 설계 컨설팅</dc:title>
  <dc:subject>PptxGenJS Presentation</dc:subject>
  <dc:creator>KFPC Financial Consulting</dc:creator>
  <cp:lastModifiedBy>광호 이</cp:lastModifiedBy>
  <cp:revision>2</cp:revision>
  <dcterms:created xsi:type="dcterms:W3CDTF">2026-02-06T08:51:11Z</dcterms:created>
  <dcterms:modified xsi:type="dcterms:W3CDTF">2026-02-06T09:08:50Z</dcterms:modified>
</cp:coreProperties>
</file>