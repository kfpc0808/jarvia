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인정이자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즉시 시작</c:v>
                  </c:pt>
                  <c:pt idx="1">
                    <c:v>1년 후</c:v>
                  </c:pt>
                  <c:pt idx="2">
                    <c:v>2년 후</c:v>
                  </c:pt>
                  <c:pt idx="3">
                    <c:v>3년 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1600</c:v>
                </c:pt>
                <c:pt idx="1">
                  <c:v>4850</c:v>
                </c:pt>
                <c:pt idx="2">
                  <c:v>8100</c:v>
                </c:pt>
                <c:pt idx="3">
                  <c:v>11350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상여처분 추가세부담(예상)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즉시 시작</c:v>
                  </c:pt>
                  <c:pt idx="1">
                    <c:v>1년 후</c:v>
                  </c:pt>
                  <c:pt idx="2">
                    <c:v>2년 후</c:v>
                  </c:pt>
                  <c:pt idx="3">
                    <c:v>3년 후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1500</c:v>
                </c:pt>
                <c:pt idx="2">
                  <c:v>3500</c:v>
                </c:pt>
                <c:pt idx="3">
                  <c:v>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121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고객에게 "이 자료는 나만을 위해 준비되었다"는 인상을 주어 집중도를 높인다.
핵심 질문(Yes-Set): "대표님, 가지급금 문제가 가장 시급한 과제라고 느끼신다고 들었는데, 맞으시죠?"
전환 포인트: "이 자리에서 가장 안전하고 효율적인 정리 방식을 함께 확인하겠습니다."
주의 문구(민원 방지): 고객 프로필은 상담 전 확인한 정보 기반으로, 실제와 다를 경우 수정 필요.
코칭: 고객이 프로필을 확인하고 고개를 끄덕이면 다음으로 넘어간다. 이 슬라이드 설명 시간: 약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"진행 여부"가 아닌 "A/B 적용 방식" 선택 프레이밍을 고정한다.
핵심 질문(Yes-Set): "가지급금이 계속 쌓이면 불편하시다는 점, 동의하시죠?"
전환 포인트: "진행 여부가 아니라 방법을 고르는 것이므로 부담 없이 비교만 해보시죠."
주의 문구(민원 방지): 구체적 실행은 세무사·회계사 검토 후 확정. 오늘은 방향 비교만 하는 자리.
코칭: 고객이 A/B 구조에 동의하면 다음 슬라이드로 넘어간다.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가지급금 현황을 객관적 숫자로 보여주어 문제의 크기를 인식시킨다.
핵심 질문(Yes-Set): "매년 3,250만원이 인정이자로 발생한다는 점, 부담스러우시죠?"
전환 포인트: "이 비용은 정리를 시작하는 순간부터 줄어드는 구조입니다."
주의 문구(민원 방지): 인정이자 수치는 시가이자율 기준 추정치이며, 실제 금액은 세무사 확인 필요.
코칭: 고객이 숫자에 놀라거나 고개를 끄덕이면 다음으로 넘어간다.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4가지 리스크의 연쇄 관계를 시각화하여 가지급금 정리의 파급효과를 인식시킨다.
핵심 질문(Yes-Set): "이 4가지가 서로 연결되어 있다는 점, 느끼셨죠?"
전환 포인트: "하나를 정리하면 나머지도 개선되므로, 가지급금 정리가 출발점입니다."
주의 문구(민원 방지): 리스크 연결 관계는 일반적 구조이며, 법인별 상황에 따라 구체적 검토 필요.
코칭: 고객이 리스크 연쇄를 이해하고 끄덕이면 다음으로.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가지급금의 원인을 분해하여 각각의 정리 방법이 다름을 인식시킨다.
핵심 질문(Yes-Set): "가지급금이 한 덩어리가 아니라 3가지 원인으로 나뉜다는 점, 확인되시죠?"
전환 포인트: "원인별로 정리 방법이 다르기 때문에 이 분류가 출발점입니다."
주의 문구(민원 방지): 금액은 추정치이며 세무사·회계사의 정밀 분석이 필요합니다.
코칭: 고객이 3가지 원인 분류에 동의하면 다음으로 넘어간다. 이 슬라이드 설명 시간: 약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실행 순서를 명확히 하여 고객이 '다 한꺼번에 해야 하나' 불안을 해소한다.
핵심 질문(Yes-Set): "방어(소명)가 먼저고, 회수는 그 다음이라는 순서, 맞으시죠?"
전환 포인트: "순서대로 하면 오히려 부담이 분산되고 효과는 커집니다."
주의 문구(민원 방지): 우선순위는 법인 상황에 따라 조정될 수 있으며, 세무 전문가와 협의 필수.
코칭: 고객이 순서에 동의하면 다음으로 넘어간다.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가지급금 정리의 법적·세무적 근거를 제시하여 전문성과 신뢰를 확보한다.
핵심 질문(Yes-Set): "제도적 도구가 이미 있다는 점, 다소 안심이 되시죠?"
전환 포인트: "도구가 있으니 이제 '어떻게 조합할지'를 정하면 됩니다."
주의 문구(민원 방지): 모든 법조항은 현행 기준이며, 최신 개정 여부 확인 및 세무사·회계사 사전 검토 필수.
코칭: 고객이 법적 근거에 안심하면 다음으로 넘어간다. 이 슬라이드 설명 시간: 약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목표 회수액 대비 현재 재원의 격차를 시각화하여 실행 동기를 부여한다. (감정 곡선: 긴장 피크)
핵심 질문(Yes-Set): "현재 준비된 것만으로는 부족하다는 점, 확인되셨죠?"
전환 포인트: "부족하다는 것은 '아직 방법이 더 있다'는 의미입니다."
주의 문구(민원 방지): 금액은 보수적 가정 기반 추정치이며, 세무사·회계사의 정밀 산정 필요.
코칭: 고객이 격차 수치에 집중하면 다음 슬라이드(기회비용)로 넘어간다. 이 슬라이드 설명 시간: 약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가지급금 정리를 미루는 것의 구체적 비용을 시각화하여 실행 동기를 강화한다.
핵심 질문(Yes-Set): "미루면 비용이 더 커진다는 점, 부담스러우시죠?"
전환 포인트: "반대로 지금 시작하면 가장 효율적이라는 뜻이기도 합니다."
주의 문구(민원 방지): 수치는 보수적 가정(시가이자율 4.6%) 기반이며, 실제와 달라질 수 있음.
코칭: 고객이 기회비용에 동의하면 안도 전환(설계 원칙)으로 넘어간다.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긴장(부족분/기회비용) 후 안도 전환. "해결 구조가 있다"는 확신을 심어준다.
핵심 질문(Yes-Set): "한꺼번에 정리하는 게 아니라 구조를 바꾸는 것이라면, 부담이 덜하시죠?"
전환 포인트: "3축이 동시에 움직이면 가지급금 정리의 속도와 안전성이 모두 확보됩니다."
주의 문구(민원 방지): 보험은 요건 충족 시 역할이 달라지며, 상품 선택은 적합성 원칙에 따라 결정. 손금산입 가능 여부는 세무 전문가 확인 필요.
코칭: 고객이 3축 구조에 동의하면 A/B 비교로 넘어간다.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법인과 개인의 설계 역할을 분리하여 각각의 목적과 효과를 명확히 한다.
핵심 질문(Yes-Set): "법인과 개인을 분리해서 설계하는 게 더 명확하시죠?"
전환 포인트: "각각의 역할이 정해지면, 전체 구조가 훨씬 간결해집니다."
주의 문구(민원 방지): 손금산입·세액공제는 요건별로 확인 필요. 보험 가입은 적합성 원칙 적용.
코칭: 법인/개인 분리에 동의하면 A/B 비교로 넘어간다.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A안과 B안을 객관적 숫자로 비교하여 고객의 선택을 돕는다. 감정 곡선: 확신.
핵심 질문(Yes-Set): "두 안의 차이가 명확하게 보이시죠?"
전환 포인트: "어느 쪽이든 핵심은 동일합니다 — 소명체계 구축 + 가지급금 단계적 회수."
주의 문구(민원 방지): 모든 수치는 시뮬레이션이며, 세무·법률 전문가 확정 필요. 보험 해지 시 환급금 유의.
코칭: 고객이 A/B 중 기울어지는 방향이 보이면 다음(해결 연결)으로 넘어간다. 이 슬라이드 설명 시간: 약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부족분 → 해결요소 → 적용수단의 매칭을 통해 "빈칸이 채워지는" 안도감을 준다.
핵심 질문(Yes-Set): "하나하나 대응 수단이 있다는 점, 정리가 되시죠?"
전환 포인트: "이제 속도(A/B)만 정하면 실행 구조가 완성됩니다."
주의 문구(민원 방지): 적용수단은 요건별 검토 필요. 보험 상품은 적합성 원칙 적용.
코칭: 고객이 매칭 구조에 동의하면 마지막(진행 확정)으로 넘어간다. 이 슬라이드 설명 시간: 약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편안한 착지. "체크만 하면 끝"이라는 가벼운 마무리. 감정 곡선: 편안.
핵심 질문(Yes-Set): "오늘 정리한 내용, 방향은 맞으시죠?"
전환 포인트: "이 체크는 오늘 검토한 내용을 다음 단계로 진행하는 체크입니다."
주의 문구(민원 방지): 본 자료는 상담 보조 자료. 계약 전 상품설명서·약관 확인 필수.
코칭: 체크 후 침묵. 고객이 먼저 말할 때까지 기다린다. 이 슬라이드 설명 시간: 약 2분.
【4가지 성향별 클로징 스크립트】
[추천] 1. 논리·전문가형 (김도현 대표 추천)
"대표님, 시나리오별 세후 결과를 비교해 보셨는데, A안과 B안 중 숫자가 더 합리적으로 보이는 쪽은 어느 쪽이셨습니까? 세무사·회계사 미팅에서 정밀 시뮬레이션을 한 번 더 확인하면 확신이 드실 텐데, 그 미팅을 다음 주로 잡아볼까요?" [잠시 침묵]
2. 감성·가족중심형
"대표님, 15년간 만드신 회사가 안전하게 유지되고, 가족에게도 안정적인 구조를 남기는 것이 오늘 설계의 핵심이었습니다. A안과 B안 중 가족 입장에서 더 마음이 놓이는 쪽은 어느 쪽이셨나요?" [잠시 침묵]
3. 안정·보수형
"대표님, 두 안 모두 보수적 가정으로 설계되어 있고, 단계별로 진행할 수 있는 구조입니다. 시작 규모를 작게 잡고 분기마다 점검하면서 조정하는 방식이면 부담이 적으실 텐데, 어떻게 생각하시나요?" [잠시 침묵]
4. 결정지연·신중형
"대표님, 결정을 서두르실 필요는 없습니다. 다만 확인하신 것처럼, 매월 약 270만원의 인정이자가 계속 발생하고 있습니다. 소명체계 구축만이라도 다음 주에 시작하면, 나머지는 점검하면서 순서대로 진행할 수 있습니다. 소명체계 착수부터 시작해 볼까요?" [잠시 침묵]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김도현 대표님을 위한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가지급금 정리 전략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· 상여처분 · 소명체계 · 세후현금흐름 최적화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2468880" cy="29260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914400"/>
            <a:ext cx="246888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143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2376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22376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김도현 (47세)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2376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전자부품 유통·가공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2376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80억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22376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2376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24개월 내 4.0억+ 정리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결정사항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[가지급금] : 정리 방식을 선택하는 자리입니다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'할지 말지'가 아니라, '어떤 방식으로 정리할지' A/B 중 선택하는 시간입니다.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374904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A안 — 효과 우선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24개월 내 4.0억 이상 집중 정리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배당+급여 조합으로 빠른 회수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보험을 활용한 리스크 재원 확보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920240"/>
            <a:ext cx="374904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B안 — 부담 우선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36개월 단계적 정리 (분기별 실행)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실효세율 급등 방지 우선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비용으로 소명체계 우선 구축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가지급금을 빨리 정리해야 한다는 점은 공감하고 계시죠? 오늘은 '얼마나 빠르게, 어떤 구조로' 하느냐를 함께 비교해 보겠습니다."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먼저 현재 상황을 객관적으로 진단해 보겠습니다.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현재진단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[숫자형] : 가지급금 6.5억, 매년 약 3,250만원의 보이지 않는 비용이 발생 중입니다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장기 누적 → 인정이자 부담 + 상여처분 리스크 + 금융기관 신용평가 악화가 동시에 진행 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83080"/>
            <a:ext cx="192024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잔액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누적 15년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5176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1783080"/>
            <a:ext cx="192024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인정이자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~3,250만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법인세법 제52조 기준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783080"/>
            <a:ext cx="192024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상여처분 리스크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높음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소명 미비 구간 존재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5800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783080"/>
            <a:ext cx="192024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14억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4944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 재원 활용 가능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발생 원인: 개인카드·경비 혼재, 임원 대여금 누적, 접대비 증빙 미흡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대출(시설 12억+운전 10억) 유지 중 → 재무비율·신용평가에 가지급금이 부정적 영향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 보험·키맨 보험 미가입 → 대표 유고 시 법인·채권자 대응 재원 부재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매년 약 3,250만원이 보이지 않게 빠져나가고 있다는 점, 확인이 되셨을 텐데요. 이 비용은 정리를 시작하는 순간부터 줄어들 수 있는 구조입니다."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이 숫자들의 배경이 되는 상세 데이터를 정리해 보겠습니다.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[선택]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리스크 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[대비형] : 4가지 리스크가 연쇄적으로 법인과 대표 개인에 영향을 줍니다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세무·법률·승계·대표 리스크가 가지급금을 중심으로 서로 연결되어 있습니다.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8308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세무 리스크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인정이자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상여처분 → 소득세·4대보험↑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소명자료 미비 → 세무조사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783080"/>
            <a:ext cx="54864" cy="10972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법률 리스크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미정비(5년)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배당·상여 부인 가능성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주주(투자자 20%) 이해 조율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063240"/>
            <a:ext cx="54864" cy="10972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승계 리스크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지분 70% 집중(대표)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상속재원 미확보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경영권 분쟁 대비 부재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63240"/>
            <a:ext cx="54864" cy="10972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대표 리스크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경영인보험 없음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유고시 채권자 대응 재원 없음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보증부담(대출 22억)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0" y="2468880"/>
            <a:ext cx="1371600" cy="731520"/>
          </a:xfrm>
          <a:prstGeom prst="ellipse">
            <a:avLst/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가지급금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4가지 리스크가 가지급금을 중심으로 연결되어 있습니다. 하나를 정리하면 나머지도 함께 개선되는 구조입니다."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각 리스크의 구체적인 데이터를 확인하겠습니다.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현재상황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[행동형] : 가지급금 원인을 분해하고 회수 가능 구간을 확인합니다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6.5억의 원인을 분해하면, 정리 방법과 속도가 달라집니다.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31089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추정 금액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소명 상태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상여처분 위험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정리 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개인카드·경비 혼재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일부 미흡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증빙 보완 + 일부 상여처분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임원 대여금 누적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계약서 미비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대여금 계약 정비 + 분할상환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접대비 증빙 미흡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소명자료 복원 + 단계적 회수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복합 접근 필요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재무: 자본금 3억 / 이익잉여금 18억 / 부채 22억 / 월 현금흐름 여유 약 800만원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주주구성: 대표 70% · 배우자 10% · 초기투자자 20% → 배당 시 주주 합의 필요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정관: 임원퇴직금 배수 3배, 최근 5년 미정비 → 현행 세법 한도 검토 필요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가지급금 6.5억이 한 덩어리가 아니라 3가지 원인으로 나뉜다는 점, 확인이 되시죠? 원인별로 정리 방법이 다르기 때문에 이 분류가 중요합니다."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그럼 이 중 어느 것부터 정리해야 효과가 큰지, 우선순위를 정해 보겠습니다.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실행우선순위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[질문형] : 가지급금 정리, 어디부터 시작하면 가장 안전할까요?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소명체계 구축 → 인정이자 축소 → 회수 시나리오 실행 → 대표 리스크 방어 순서로 진행합니다.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1783080"/>
            <a:ext cx="7406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소명체계 구축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증빙·규정·계약서 정비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세무조사 대응력 강화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2441448"/>
            <a:ext cx="7406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24414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인정이자 축소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4414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일부 회수 시작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시가이자 부담 감소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0" y="244144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1~3개월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3099816"/>
            <a:ext cx="7406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09981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회수 시나리오 실행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0998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배당·급여·상환 조합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세후 최소화 구조 설계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0" y="309981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3~12개월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88720" y="3758184"/>
            <a:ext cx="7406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71600" y="37581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대표 리스크 방어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7581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경영인보험·키맨 보험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유고시 법인 보호 장치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0" y="37581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병행(선택)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가장 시급한 것은 소명체계를 먼저 갖추는 것이라고 보시는 게 맞으시죠? 방어가 먼저, 공격은 그 다음입니다."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그럼 각 단계에서 활용할 수 있는 제도적 근거를 확인하겠습니다.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제도활용(기준)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[은유형] : 가지급금 정리는 '지뢰 제거'와 같습니다 — 제도라는 도구가 있습니다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→ 예외 → 주의사항 구조로 제도적 근거를 정리합니다.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45920"/>
            <a:ext cx="2651760" cy="457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인정이자: 시가이자율 적용, 부당행위계산 부인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「법인세법 제52조, 시행령 제89조」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상여처분: 소명 실패 시 대표 근로소득 가산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「소득세법 제20조」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손금산입: 업무관련성 입증 시 경비 인정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「법인세법 시행령 제19조」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0" y="16459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645920"/>
            <a:ext cx="26517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예외·활용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1031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배당소득: 법인잉여금 배당 시 15.4% 원천징수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「소득세법 제17조, 제127조」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퇴직금 정관 활용: 배수 한도 내 퇴직금 설계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「소득세법 시행령 제42조의2」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대여금 계약 정비: 이자율·상환조건 명시 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상여처분 회피 근거 확보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645920"/>
            <a:ext cx="2651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주의사항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031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배당 시 금융소득 2천만원 초과 → 종합과세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「소득세법 제14조」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임원퇴직금 한도 초과 시 → 근로소득 과세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최근 개정 여부 확인 필요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(현행 기준, 세무 전문가 사전 검토 필수)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제도적으로 활용할 수 있는 도구가 이미 있다는 점, 확인이 되셨죠? 이 도구들을 어떻게 조합하느냐가 핵심입니다."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이 제도를 적용했을 때 현재 부족한 부분이 어디인지 확인하겠습니다.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부족한 부분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[숫자형] : 목표 4.0억 회수까지, 지금 준비된 재원과 격차를 확인합니다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24개월 목표 회수액 4.0억 vs 현재 가용 재원 → 격차 분석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210312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01752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회수 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24개월 가용액(세후)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세부 조건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 활용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주주 합의 필요, 종합과세 주의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조율 필요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급여 조정(점진적)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실효세율·4대보험 상승분 고려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대여금 분할상환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계약서 정비 후 월 상환 구조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정비 후 가능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소명 성공(경비 인정)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증빙 복원 가능 구간만 해당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일부 가능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 (보수적 추정)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~2.8억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 4.0억 대비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 ~1.2억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격차 ~1.2억: 퇴직금 정비(정관 활용), 경영인보험 환급금 활용, 추가 배당 등으로 보완 가능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소명체계 미구축 시: 상여처분 구간 확대 → 대표 소득세+4대보험 부담 급증 가능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보험(키맨): 유고 시 채권자 대응+가지급금 일시 상계 재원으로 활용 가능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현재 준비된 재원만으로는 목표에 약 1.2억 부족합니다. 이 격차를 어떻게 채울지가 오늘의 핵심 포인트입니다."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이 격차를 방치하면 시간이 지날수록 어떻게 변하는지 확인하겠습니다.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[대비형] : 지금 시작 vs 2년 미룸 — 같은 가지급금, 다른 비용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정리를 미루는 매 1년마다 약 3,250만원+α의 추가 비용이 누적됩니다.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4592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852160" y="16459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645920"/>
            <a:ext cx="4572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공백기간 리스크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소명체계 미비 → 세무조사 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대응 불가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51460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52160" y="2514600"/>
            <a:ext cx="45720" cy="731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비용 상승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매년 ~3,250만원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상여처분 시 소득세·4대보험 급증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52160" y="338328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52160" y="3383280"/>
            <a:ext cx="45720" cy="7315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기회비용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35040" y="3657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6.5억 정리에 드는 총비용이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2년 후엔 약 6,500만원 이상 추가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48640" y="4160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차트 수치는 시가이자율 4.6%(보수적 가정), 정리 진행 중 가지급금 평균잔액 기준 시뮬레이션이며, 실제 금액은 시장 상황·세법 변경·개인 조건에 따라 달라질 수 있습니다. 확정 수익을 의미하지 않습니다.</a:t>
            </a:r>
            <a:endParaRPr lang="en-US" sz="600" dirty="0"/>
          </a:p>
          <a:p>
            <a:pPr indent="0" marL="0">
              <a:buNone/>
            </a:pPr>
            <a:r>
              <a:rPr lang="en-US" sz="6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(산출 근거: 즉시 시작 시 1년차 평균잔액 약 3.5억 가정, 미정리 시 6.5억 전액 유지 가정)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48640" y="44805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시간이 지날수록 같은 가지급금을 정리하는 데 드는 비용이 커진다는 점, 확인이 되셨죠?"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8640" y="46634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해결 방법은 이미 있습니다. 설계 원칙을 확인하겠습니다.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플래닝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[행동형] : 3가지 원칙으로 가지급금 정리 구조를 설계합니다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'해지·일시정리'가 아니라, 세후현금흐름 최적화 + 법인리스크 방어 + 소명체계의 3축 설계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2697480" cy="457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세후현금흐름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최적화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배당·급여·상환 비율 조합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실효세율 시뮬레이션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4대보험 영향 최소화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「소득세법 제17조, 제20조」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69164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691640"/>
            <a:ext cx="269748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법인 리스크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3774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경영인보험(키맨) 설계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유고 시 채권자 대응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일시상계 재원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유동성·리스크전가 구조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691640"/>
            <a:ext cx="269748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소명체계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3774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증빙·규정·계약서 정비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업무관련성 소명 프로세스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내부통제 시스템 구축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점검(세무·정관·승계)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보험·연금이 맡는 역할: 유동성(유고 시 즉시 현금) + 리스크 전가(큰 손실을 보험료로 예산화) + 실행 지속성(계약 구조로 목표 고정)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해지나 일시정리가 아니라 '구조를 바꾸는 것'이라고 보시면 됩니다. 이 3축이 동시에 움직여야 효과가 납니다."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구체적인 A안과 B안을 비교해 보겠습니다.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9-2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[선택]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법인·개인 분리 설계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[대비형] : 법인과 대표 개인, 각각의 역할을 분리하면 효과가 극대화됩니다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법인: 리스크 방어 + 가지급금 상계 재원 / 개인: 세후현금흐름 + 은퇴보완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00200"/>
            <a:ext cx="384048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법인 설계 (월 ~80만원 이내)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경영인정기보험(키맨): 대표 유고 시 법인 보호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사망보험금 법인 수취 → 가지급금 상계 재원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법인세법 시행령 제19조 기준 손금산입 검토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정비: 정관 배수 재검토(현행 3배)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소득세법 시행령 제42조의2 한도 확인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내부통제: 가지급금 발생 방지 시스템 구축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00200"/>
            <a:ext cx="3840480" cy="457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개인 설계 (월 ~50만원, 선택)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05740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신규 개설 + 연금저축 재개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조세특례제한법 제86조의2 세액공제 활용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연간 최대 148.5만원 절세 효과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건강보험 보완: 3대진단 보강(현재 암 3천만 수준)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고지혈증 소견 고려, 가입 시기 중요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국민연금 예상 120만 → 부족분 개인연금으로 보완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요건 충족 시 손금산입 가능 여부를 세무 전문가와 확인하시기 바랍니다.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"법인과 개인을 분리하면, 각각의 역할이 명확해집니다. 이제 구체적인 A/B안을 비교해 보시겠습니다."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A안(효과 우선)과 B안(부담 우선)을 비교합니다.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A/B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[숫자형] : 24개월 집중 정리 vs 36개월 단계적 정리, 세후 비교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안 모두 소명체계 구축은 공통. 차이는 '속도'와 '부담 분산'입니다.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A안: 효과 우선 (24개월)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B안: 부담 우선 (36개월)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 회수액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4.5억 (전체 69%)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4.0억 (전체 62%)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법인 부담(보험 포함)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배당+급여 조정 + 보험 80만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급여 소폭 조정 + 보험 60만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개인 부담(선택)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IRP+연금저축 50만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연금저축 재개 30만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절세 효과(예상)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~450만원 (보험손금+세액공제)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~280만원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인정이자 절감(24개월)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~4,500만원 절감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~2,800만원 절감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실효세율 영향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일시적 상승 가능 → 점진 하락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영향 최소화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 방어(키맨보험)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5억 + 법인 보호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3억 + 법인 보호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보험·연금 역할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 + 리스크전가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리스크전가 + 실행지속성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보수적 가정(시가이자율 4.6%, 연복리 3%) 기반 시뮬레이션이며, 실제 수령액은 시장 상황·세법 변경·개인 조건에 따라 달라질 수 있습니다. 확정 수익을 의미하지 않습니다.</a:t>
            </a:r>
            <a:endParaRPr lang="en-US" sz="650" dirty="0"/>
          </a:p>
          <a:p>
            <a:pPr indent="0" marL="0">
              <a:buNone/>
            </a:pPr>
            <a:r>
              <a:rPr lang="en-US" sz="6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중도 해지 시 납입 보험료보다 적은 금액을 돌려받을 수 있습니다(해지환급금 예시는 상품설명서 참조).</a:t>
            </a:r>
            <a:endParaRPr lang="en-US" sz="650" dirty="0"/>
          </a:p>
          <a:p>
            <a:pPr indent="0" marL="0">
              <a:buNone/>
            </a:pPr>
            <a:r>
              <a:rPr lang="en-US" sz="6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대표 개인의 기존 부채상환(주택대출·신용대출) 부담이 있으므로, 가계 현금흐름 점검 후 개인 부담 금액을 조정하시기 바랍니다.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A안은 빠르게 정리되지만 일시적 부담이 있고, B안은 부담은 적지만 시간이 더 걸립니다. 어느 쪽이 더 마음이 놓이시나요?"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각 구성요소가 부족분을 어떻게 채우는지 구체적으로 연결하겠습니다.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[행동형] : 부족분을 하나씩 채우는 구체적인 매칭 구조입니다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부족분에 대응하는 해결요소와 적용수단을 3열로 매칭합니다.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5146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해결요소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적용수단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회수 재원 부족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(격차 ~1.2억)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정비 + 추가 배당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경영인보험 환급금 활용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정비 + 배당정책 합의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경영인정기보험(법인)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소명체계 미비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(세무조사 대응력 취약)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증빙 복원 + 내부규정 수립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대여금 계약서 정비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세무사·회계사 협업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내부통제 프로세스 구축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유고 시 법인 보호 부재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유고 시 즉시 현금 확보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(유동성 + 리스크 전가)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경영인정기보험(키맨)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수익자 설계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은퇴 현금흐름 부족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(국민연금 120만/월만)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연금 보완 + 세액공제 활용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(실행 지속성 확보)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 + 연금저축 재개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(개인, 선택)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건강 리스크 보장 공백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(3대진단 보강 필요)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진단자금 확보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(치료비·소득공백 방어)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건강보험 리모델링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(개인, 선택 옵션)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이렇게 부족분 하나하나에 대응하는 수단이 정해지면, 실행이 훨씬 명확해집니다. A안과 B안 중 어떤 속도로 채워나갈지만 정하면 됩니다."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마지막으로, 다음 단계를 확인하겠습니다.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㈜에이원테크 · 기업재무 컨설팅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[질문형] : 오늘 정리한 내용이 만족스러우셨다면, 어떤 방식으로 진행하면 편하실까요?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체크는 오늘 검토한 내용을 다음 단계로 진행하는 체크입니다.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45720" cy="4114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4173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A안 진행(효과 우선) — 24개월 집중 정리, 월 법인 80만 + 개인 50만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20240"/>
            <a:ext cx="45720" cy="411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202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B안 진행(부담 우선) — 36개월 단계적 정리, 월 법인 60만 + 개인 30만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423160"/>
            <a:ext cx="45720" cy="41148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4231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보완 후 재결정 — 보완 항목:___________ / 재결정 날짜:___________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337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세무사·회계사 합동 미팅 (소명체계·정관 정비 착수) — 2주 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가지급금 회수 시나리오 확정 (배당·급여·상환 비율) — 1개월 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8862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경영인보험 설계 확정 및 계약 (법인 리스크 방어) — 1개월 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4단계: 분기별 진행 점검 (가지급금 잔액·인정이자 변동·소명진행률·보험유지 상태 확인) + 세무·정관·승계 정기 리뷰 — 매 분기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3017520"/>
            <a:ext cx="3566160" cy="8229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유사 사례 결정 흐름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3246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시점: 첫 미팅 후 1주 내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선택안: A안(효과 우선) 선택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행동: 세무사 미팅 → 2주 내 소명체계 착수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체결 전 상품설명서 및 약관을 반드시 확인하시기 바랍니다.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오늘 정리한 내용이 만족스러우셨다면, 어떤 방식으로 진행하면 편하실까요?" [잠시 침묵]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/ 16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컨설턴트 참고용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고객에게 노출하지 않는 페이지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요약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니즈: 가지급금 6.5억 세후 최소화 정리 + 세무조사 대응력 확보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부족분: 회수 재원 격차 ~1.2억 + 소명체계 전무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결론 질문: '24개월 집중(A) vs 36개월 단계(B), 어느 속도가 편하십니까?'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예상 반대 3가지 + 즉답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 반대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"배당하면 주주(투자자)가 반대할 텐데"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투자자 지분 20%에 대한 배당도 함께 설계하면 합의 가능. 가지급금 방치가 기업가치를 더 훼손한다는 점을 수치로 공유하는 것이 핵심.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"보험까지 추가하면 부담이 크다"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경영인보험은 법인 부담이고, 요건 충족 시 손금산입 가능성을 세무사와 확인. 유고 시 가지급금 일시 상계 재원이므로 '비용'이 아닌 '방어 장치'.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"세무조사가 올지도 모르는데 미리 할 필요 있나"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소명체계 구축은 세무조사 유무와 무관하게 대출 연장·외부감사·금융기관 실사에서 유리. 사후 정비는 비용이 3~5배.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비교 요약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총 부담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~130만(법인80+개인50)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~90만(법인60+개인30)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24개월 누적 절감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인정이자 ~4,500만+절세 ~900만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인정이자 ~2,800만+절세 ~560만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줄 결론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 정리, 일시 부담 감수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느린 정리, 부담 최소화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PT는 코어 12장 + 확장 3장 = 총 15장 + 컨설턴트 참고 1장으로 구성됨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(확장 사유: A1-리스크 축 4개, B2-법인+개인 동시 설계, 전문가형 고객 시나리오별 비교 선호)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㈜에이원테크 김도현 대표님을 위한 가지급금 정리 전략</dc:title>
  <dc:subject>PptxGenJS Presentation</dc:subject>
  <dc:creator>Financial Consulting</dc:creator>
  <cp:lastModifiedBy>Financial Consulting</cp:lastModifiedBy>
  <cp:revision>1</cp:revision>
  <dcterms:created xsi:type="dcterms:W3CDTF">2026-02-06T10:02:50Z</dcterms:created>
  <dcterms:modified xsi:type="dcterms:W3CDTF">2026-02-06T10:02:50Z</dcterms:modified>
</cp:coreProperties>
</file>