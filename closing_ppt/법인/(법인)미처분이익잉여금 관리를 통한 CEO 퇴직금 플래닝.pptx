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가지급금 잔액</c:v>
                </c:pt>
              </c:strCache>
            </c:strRef>
          </c:tx>
          <c:spPr>
            <a:solidFill>
              <a:srgbClr val="E67E2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현재</c:v>
                  </c:pt>
                  <c:pt idx="1">
                    <c:v>2025말</c:v>
                  </c:pt>
                  <c:pt idx="2">
                    <c:v>2026말</c:v>
                  </c:pt>
                  <c:pt idx="3">
                    <c:v>2027말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1.6</c:v>
                </c:pt>
                <c:pt idx="2">
                  <c:v>0.8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3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지금 시작(52세)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퇴직금재원(55세)</c:v>
                  </c:pt>
                  <c:pt idx="1">
                    <c:v>퇴직금재원(60세)</c:v>
                  </c:pt>
                  <c:pt idx="2">
                    <c:v>세액공제누적(만)</c:v>
                  </c:pt>
                  <c:pt idx="3">
                    <c:v>인정이자절감(만)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4.2</c:v>
                </c:pt>
                <c:pt idx="1">
                  <c:v>10.5</c:v>
                </c:pt>
                <c:pt idx="2">
                  <c:v>1080</c:v>
                </c:pt>
                <c:pt idx="3">
                  <c:v>1500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3년 후(55세)</c:v>
                </c:pt>
              </c:strCache>
            </c:strRef>
          </c:tx>
          <c:spPr>
            <a:solidFill>
              <a:srgbClr val="9999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D3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퇴직금재원(55세)</c:v>
                  </c:pt>
                  <c:pt idx="1">
                    <c:v>퇴직금재원(60세)</c:v>
                  </c:pt>
                  <c:pt idx="2">
                    <c:v>세액공제누적(만)</c:v>
                  </c:pt>
                  <c:pt idx="3">
                    <c:v>인정이자절감(만)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</c:v>
                </c:pt>
                <c:pt idx="1">
                  <c:v>7.2</c:v>
                </c:pt>
                <c:pt idx="2">
                  <c:v>720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D3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36E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'나만을 위한 맞춤 자료' 인식
[Yes-Set] "법인 이익이 쌓이는 만큼 개인 은퇴 준비도 확인해 보신 적 있으시죠?"
[전환] 오늘 40분이면 MRE→퇴직금→연금화 구조 정리
[주의] 표지는 관계 형성 집중, 수치 과장 금지
[코칭] "네, 신경 쓰이긴 했어요" → 다음으로
설명 시간: 약 1분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A or B 프레이밍. 진행여부가 아닌 방식 선택.
[Yes-Set] "법인에 쌓인 이익을 합리적으로 정리하고 싶으시죠?"
[전환] 오늘 확인할 것은 '할지 말지'가 아니라 '어떻게'
[주의] 단정·압박 금지
[코칭] "두 개 다 한번 보겠습니다" → 성공
설명 시간: 약 2분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법인 vs 개인 '불균형' 숫자로 인식
[Yes-Set] "법인에 이익이 쌓이는 만큼, 개인 은퇴 준비도 확인 필요하시죠?"
[전환] 38억 쌓여있으나 개인 연금은 월 170만 — 이 격차가 핵심
[주의] '부족'이 아니라 '구조 미완성'
[코칭] "그러게요, 신경을 못 썼네" → 다음으로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전체 현황 1장에 객관적 배치
[Yes-Set] "한눈에 정리하니 전체 그림이 보이시죠?"
[전환] 법인 여유 1,200만/월을 어디에 쓰느냐가 핵심
[주의] 숫자 나열에 치우치지 말 것. 고객이 관심 보이는 항목에 집중
[코칭] "이쪽이 신경 쓰이네요" → 해당 항목 중심으로 05번 연결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고객 주도감 부여
[Yes-Set] "급한 것부터 정리하는 게 효율적이시죠?"
[전환] 1번은 비용 0원, 가장 먼저 실행 가능
[코칭] "1번이 먼저겠네" → 성공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법적 근거로 전문성·신뢰 확보
[Yes-Set] "퇴직금 세무 인정에 규정·결의 필수, 동의하시죠?"
[전환] 규정 정비는 비용 0원, 효과는 수억
[주의] 법조항에 '현행기준,확인필요' 병기
설명 시간: 약 4분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격차를 숫자로 → '긴장' 최고점
[Yes-Set] "법인이익이 개인은퇴와 연결되지 않으면 격차가 벌어진다, 동의하시죠?"
[전환] 38억 법인에 있지만 개인 연결은 8,500만뿐
[주의] '부족'→'격차 확인'으로 중립화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가지급금 해소 구체적 경로 → 실행 가능성 확인
[Yes-Set] "가지급금 정리하면 인정이자 부담이 사라진다, 좋으시죠?"
[전환] 3단계 로드맵이면 연간 8,000만씩 정리 가능
[주의] 해소 방법은 세무사 확인 필수 — 확정적 표현 금지
[코칭] "이 정도면 정리 가능하겠네" → 성공
설명 시간: 약 2분(선택)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미루는 비용을 숫자로, 공포 아닌 기회비용 프레임
[Yes-Set] "일찍 시작할수록 부담이 낮다, 동의하시죠?"
[주의] 재앙/유일한 금지. 기회비용/선택지 언어만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안도 전환 — 해결방향 존재
[Yes-Set] "해지가 아니라 재배치라면 부담이 적으시죠?"
[전환] 법인이익→퇴직금→연금화 흐름이 설계원칙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A/B 한눈 비교→확신
[Yes-Set] "두 안을 비교하니 차이가 명확하시죠?"
[전환] B안은 부담↓, A안은 속도↑. 더 안심이 되는 쪽?
[주의] 확정수익 금지. 예상/시뮬레이션 표현
설명 시간: 약 4분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빈칸 채워짐→정리·안도
[Yes-Set] "부족분마다 해결수단이 연결되니 구조가 보이시죠?"
[전환] 보험·연금은 6항목 중 2개에서 핵심 역할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[목적] 편안한 착지 — 체크만 하면 끝
[Yes-Set] "오늘 정리한 내용이 만족스러우셨다면, 어떤 방식으로 진행하면 편하실까요?"
[전환] 이 체크는 오늘 검토한 내용을 다음 단계로 진행하는 체크입니다.
[주의] 공포유도 금지. 중립화.
[코칭] 체크 후 [잠시 침묵]. 선택하면 성공.
[4가지 성향별 클로징 스크립트 상세]
1.[추천] 논리·전문가형: "규정 정합성과 세무 근거가 확보되면 실행에 문제가 없습니다. 숫자로 확인하셨으니 어느 안이 더 합리적이신지요?" [잠시 침묵]
2. 감성·가족중심형: "은퇴 후 가족의 안정을 위해 지금 구조를 잡아두는 것이 가장 효율적입니다. A안과 B안 중 더 마음이 놓이는 쪽은?" [잠시 침묵]
3. 안정·보수형: "B안처럼 비용 0원부터 시작하면 부담 없이 첫 단계를 밟을 수 있습니다. 우선 규정 정비부터?" [잠시 침묵]
4. 결정지연·신중형: "규정 정비는 비용이 들지 않습니다. 이것만 먼저 진행해도 선택지가 넓어집니다." [잠시 침묵]
설명 시간: 약 3분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김도현 대표님을 위한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141732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미처분이익잉여금(MRE) 관리를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통한 CEO 퇴직금 플래닝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한빛정밀(주) | 맞춤 컨설팅 자료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943600" y="731520"/>
            <a:ext cx="2926080" cy="3474720"/>
          </a:xfrm>
          <a:prstGeom prst="rect">
            <a:avLst/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91440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126480" y="1600200"/>
            <a:ext cx="2560320" cy="2377440"/>
          </a:xfrm>
          <a:prstGeom prst="rect">
            <a:avLst/>
          </a:prstGeom>
          <a:noFill/>
          <a:ln/>
        </p:spPr>
        <p:txBody>
          <a:bodyPr wrap="square" lIns="0" tIns="63500" rIns="6350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김도현 대표 (52세)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한빛정밀(주) · 정밀부품 제조업
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180억 · 영업이익 12억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임직원 38명 · 업력 18년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지분: 대표 72% / 배우자 8%
</a:t>
            </a:r>
            <a:endParaRPr lang="en-US" sz="14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이익잉여금 48억 / MRE 38억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2.4억 잔존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의사결정 전 세무·법률 전문가와의 사전 확인을 권장합니다.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결정사항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[MRE 출구전략] : 효과 우선 vs 단계 적용, 어느 쪽이 더 안심이 되십니까?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확인할 것: '진행 여부'가 아니라 '적용 방식(A/B)' — 대표님 상황에 맞는 경로를 선택합니다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64592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645920"/>
            <a:ext cx="384048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A안: 효과 우선형
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규정 정비 + MRE 분산을
조기에 실행하여 55세 퇴임 시
8~12억 퇴직금 재원 확보
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월 150만원 + 개인 월 40만원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846320" y="1645920"/>
            <a:ext cx="384048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645920"/>
            <a:ext cx="3840480" cy="54864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783080"/>
            <a:ext cx="3474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B안: 단계 적용형
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1단계 규정 정비(비용 0원)부터
시작, 현금흐름 여력 확보 후
단계적으로 재원 확대
</a:t>
            </a:r>
            <a:endParaRPr lang="en-US" sz="14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</a:rPr>
              <a:t>
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월 95만원(기존) + 추가 점진 확대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2377440"/>
            <a:ext cx="411480" cy="41148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법인에 쌓인 이익을 개인 은퇴 자금으로 연결하는 구조, 관심이 있으시죠? 오늘은 두 가지 경로를 비교해 보고, 더 안심이 되는 쪽을 선택하시면 됩니다."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현재 법인과 대표 개인의 재무 현황을 객관적으로 진단합니다.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현재진단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[숫자로 확인] : 법인 48억 이익잉여금, 대표 개인 은퇴 재원은 얼마인가요?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법인은 이익이 쌓이고 있으나, 대표 개인의 은퇴 현금흐름 구조는 아직 미완성 상태입니다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54480"/>
            <a:ext cx="1920240" cy="54864"/>
          </a:xfrm>
          <a:prstGeom prst="rect">
            <a:avLst/>
          </a:prstGeom>
          <a:solidFill>
            <a:srgbClr val="E67E2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274320" cy="2743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01168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미처분이익잉여금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48640" y="22402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38억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548640" y="2560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출구전략 미수립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256032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560320" y="1554480"/>
            <a:ext cx="192024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4" name="Text 11"/>
          <p:cNvSpPr/>
          <p:nvPr/>
        </p:nvSpPr>
        <p:spPr>
          <a:xfrm>
            <a:off x="265176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잔액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265176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2.4억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2651760" y="2560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필요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66344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663440" y="1554480"/>
            <a:ext cx="192024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9" name="Text 16"/>
          <p:cNvSpPr/>
          <p:nvPr/>
        </p:nvSpPr>
        <p:spPr>
          <a:xfrm>
            <a:off x="475488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예상 연금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475488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E86D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월 170만</a:t>
            </a: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4754880" y="2560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국민연금 단독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6766560" y="1554480"/>
            <a:ext cx="192024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766560" y="1554480"/>
            <a:ext cx="1920240" cy="54864"/>
          </a:xfrm>
          <a:prstGeom prst="rect">
            <a:avLst/>
          </a:prstGeom>
          <a:solidFill>
            <a:srgbClr val="636E72"/>
          </a:solidFill>
          <a:ln/>
        </p:spPr>
      </p:sp>
      <p:sp>
        <p:nvSpPr>
          <p:cNvPr id="24" name="Text 21"/>
          <p:cNvSpPr/>
          <p:nvPr/>
        </p:nvSpPr>
        <p:spPr>
          <a:xfrm>
            <a:off x="6858000" y="169164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퇴직연금(DC)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858000" y="19202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36E7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6,000만</a:t>
            </a:r>
            <a:endParaRPr lang="en-US" sz="2400" dirty="0"/>
          </a:p>
        </p:txBody>
      </p:sp>
      <p:sp>
        <p:nvSpPr>
          <p:cNvPr id="26" name="Text 23"/>
          <p:cNvSpPr/>
          <p:nvPr/>
        </p:nvSpPr>
        <p:spPr>
          <a:xfrm>
            <a:off x="6858000" y="256032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추가 적립 불규칙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457200" y="30632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법인: 이익잉여금 48억 중 MRE 38억 — 배당·퇴직금·상여 등 출구전략 부재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2.4억 잔존 — 인정이자 부담 및 세무조사 시 부인 리스크 (「법인세법 제52조」)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임원퇴직금 규정: 배수 3배 명시, 세부 산정기준·결의 절차 미정비 → 상여처분 위험
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개인: 월 실수령 600만 vs 월 지출 780만 — 현금흐름 역마진 구간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"대표님, 법인 이익은 매년 쌓이고 계시죠? 이 이익이 대표님 개인 노후로 연결되는 구조가 있는지 확인해 보신 적 있으신가요?"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법인과 개인의 기초 데이터를 좀 더 자세히 살펴보겠습니다.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현재상황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[데이터 정리] : 법인 재무제표와 대표 개인 자산·부채·보험 현황 일람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숫자로 정리하면, 법인과 개인 모두에서 '다음 단계'를 설계할 근거가 명확해집니다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2011680"/>
                <a:gridCol w="2560320"/>
                <a:gridCol w="29260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수치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자본금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이익잉여금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MRE 38억 포함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인정이자 발생 중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부채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운전8+시설14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현금흐름 여유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신규 집행 가용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월95만/HV 8,500만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해지환급금 누적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연간 급여(세전)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9,600만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실수령~600만/월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부동산(아파트)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시가12억(대출3.8억)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금리 4.2%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금융자산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예적금+주식펀드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보험료 합계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41만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종신28+실손10+운전3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 적립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120만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세액공제 미활용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"전체 그림이 보이시니, 어느 부분이 가장 신경 쓰이시는지요?"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이 중 무엇부터 정리할지 우선순위를 정해 보겠습니다.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실행우선순위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[선택과 집중] : 대표님이 가장 먼저 해결하고 싶은 항목은 무엇입니까?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핵심 과제 중 우선순위를 정하면, 실행 순서와 예산 배분이 명확해집니다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411480" cy="41148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508760"/>
            <a:ext cx="7589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508760"/>
            <a:ext cx="54864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0" name="Text 8"/>
          <p:cNvSpPr/>
          <p:nvPr/>
        </p:nvSpPr>
        <p:spPr>
          <a:xfrm>
            <a:off x="1280160" y="1508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임원퇴직금 규정·결의 정비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50876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세무상 부인 리스크 차단, 비용 0원 → 가장 먼저 실행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2240280"/>
            <a:ext cx="7589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2240280"/>
            <a:ext cx="54864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6" name="Text 14"/>
          <p:cNvSpPr/>
          <p:nvPr/>
        </p:nvSpPr>
        <p:spPr>
          <a:xfrm>
            <a:off x="1280160" y="224028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 출구전략 수립 (퇴직금 재원화)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0" y="22402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38억 MRE를 퇴직금·배당·재투자로 분산 로드맵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017520"/>
            <a:ext cx="411480" cy="411480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0175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097280" y="2971800"/>
            <a:ext cx="7589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097280" y="2971800"/>
            <a:ext cx="54864" cy="54864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2" name="Text 20"/>
          <p:cNvSpPr/>
          <p:nvPr/>
        </p:nvSpPr>
        <p:spPr>
          <a:xfrm>
            <a:off x="1280160" y="2971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2.4억 정리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0" y="29718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인정이자 부담 해소 + 세무조사 리스크 감소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3749040"/>
            <a:ext cx="411480" cy="411480"/>
          </a:xfrm>
          <a:prstGeom prst="ellipse">
            <a:avLst/>
          </a:prstGeom>
          <a:solidFill>
            <a:srgbClr val="2E86DE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7490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97280" y="3703320"/>
            <a:ext cx="7589520" cy="548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097280" y="3703320"/>
            <a:ext cx="54864" cy="54864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8" name="Text 26"/>
          <p:cNvSpPr/>
          <p:nvPr/>
        </p:nvSpPr>
        <p:spPr>
          <a:xfrm>
            <a:off x="1280160" y="37033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개인 연금화·보장 보완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370332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IRP·연금저축 세액공제 활용 + 소득보장 공백 점검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"네 가지 중 가장 먼저 정리하고 싶은 항목이 있으시죠? 1번 규정 정비는 비용이 들지 않아 먼저 진행하시는 분이 많습니다."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이 과제들의 법·제도적 근거를 확인해 보겠습니다.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제도활용(기준)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[법·제도 근거] : 퇴직금 손금산입, MRE 분산, 가지급금 정리의 법적 기준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제도적 근거가 있어야 실행이 안전합니다 — 원칙→예외→주의사항 순서로 정리합니다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651760" cy="54864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6184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원칙: 임원 퇴직금 손금산입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201168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「소득세법 시행령 제42조의2」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 직전 3년 평균급여 × 근속연수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배수(정관) 한도 내 손금산입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배수 상한: 현행 기준 확인 필요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66928" y="32461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정관·이사회/주총 결의 미비 시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전액 상여처분 가능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91840" y="15087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16184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예외: MRE 출구 — 배당 vs 퇴직금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01568" y="201168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「법인세법 제55조」 법인세 후 배분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「상법 제341조」 자기주식 취득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(배당가능이익 한도)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「소득세법 제17조」 배당소득 15.4%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01568" y="32461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배당정책 미수립 시 주주 간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분쟁 가능 → 사전 합의 필수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508760"/>
            <a:ext cx="2651760" cy="54864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8" name="Text 16"/>
          <p:cNvSpPr/>
          <p:nvPr/>
        </p:nvSpPr>
        <p:spPr>
          <a:xfrm>
            <a:off x="6236208" y="1618488"/>
            <a:ext cx="2432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주의: 가지급금 인정이자·세무 리스크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236208" y="2011680"/>
            <a:ext cx="243230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「법인세법 제52조, 시행령 제89조」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특수관계인 가지급금 인정이자 가산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세무조사 시 부당행위계산부인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가능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36208" y="324612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가지급금 해소 시</a:t>
            </a:r>
            <a:endParaRPr lang="en-US" sz="750" dirty="0"/>
          </a:p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세무사 사전 검토 필수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법조항은 현행 기준이며, 최신 개정 여부 확인이 필요합니다. 사안별 세무·법률 전문가 사전 확인을 권장합니다.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"퇴직금이 세무상 인정받으려면 정관과 결의 절차가 정비되어 있어야 한다는 점, 이미 알고 계시죠?"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이 기준으로 현재 부족한 부분이 얼마인지 숫자로 확인합니다.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부족한 부분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[격차 시각화] : 목표 8~12억, 현재 준비된 재원은 얼마입니까?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퇴직금 재원 대비 현재 준비 수준의 격차를 확인하면, 채워야 할 방향이 보입니다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194560"/>
                <a:gridCol w="2011680"/>
                <a:gridCol w="2011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목표(55~60세)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 준비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재원(법인)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8~12억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8,500만(HV)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7.2~11.2억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국민연금(월)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목표생활비 400만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170만/월(63세~)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230만/월 부족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퇴직연금(DC)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추가적립 목표1.2억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개인연금(IRP+저축)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900만 납입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120만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780만 미활용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2.4억 잔존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2.4억 해소 필요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규정 정비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결의 완료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산정기준 미비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정비 필요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퇴직금 재원 목표 8~12억은 「소득세법 시행령 §42조의2」 기준 보수적 추정치이며, 실제 금액은 퇴임 시점 급여·근속에 따라 달라질 수 있습니다.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"법인에 38억이 쌓여 있지만, 대표님 개인 은퇴 재원으로 연결된 금액은 크지 않습니다. 이 격차를 어떻게 채울 것인지가 오늘의 핵심입니다."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이 격차를 방치하면 어떤 기회비용이 발생하는지 확인합니다.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046720" y="137160"/>
            <a:ext cx="731520" cy="228600"/>
          </a:xfrm>
          <a:prstGeom prst="rect">
            <a:avLst/>
          </a:prstGeom>
          <a:solidFill>
            <a:srgbClr val="999999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[선택]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가지급금 해소 로드맵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[연도별 정리] : 2.4억 가지급금을 3단계로 해소하는 구체적 경로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가지급금은 MRE 출구전략과 동시에 정리해야 세무 효율이 높아집니다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2011680"/>
                <a:gridCol w="1097280"/>
                <a:gridCol w="914400"/>
                <a:gridCol w="237744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방법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금액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잔액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근거 법령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1단계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하반기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급여 상계(정산)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법인세법 시행령 §89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2단계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상여금 지급+원천징수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소득세법 §20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3단계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잔액 상계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법인세법 §52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28803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가지급금 해소 방법은 개별 법인의 세무 상황에 따라 적용 가능 여부가 달라지므로, 세무사·회계사 사전 검토가 필수입니다.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57200" y="3200400"/>
          <a:ext cx="4114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/>
          <p:nvPr/>
        </p:nvSpPr>
        <p:spPr>
          <a:xfrm>
            <a:off x="4846320" y="32918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가지급금 인정이자(「법인세법 §52」)는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매년 누적되므로 조기 정리가 유리합니다.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정리 완료 시 연간 인정이자 부담 약 500만원 해소.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475488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 코어: 격차를 방치하면 어떤 기회비용이 발생하는지 확인합니다.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기회비용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[시간의 가치] : 지금 시작하면 월 부담이 낮고, 3년 미루면 같은 효과에 비용이 커집니다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일찍 시작할수록 월 부담이 낮아지고 선택지가 넓어집니다</a:t>
            </a:r>
            <a:endParaRPr lang="en-US" sz="12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1508760"/>
          <a:ext cx="50292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508760"/>
            <a:ext cx="3017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760720" y="150876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0" y="155448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3년 미루면 추가 비용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943600" y="17373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+월 35만원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43600" y="1965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퇴직금 재원 확보에 필요한 추가 납입</a:t>
            </a:r>
            <a:endParaRPr lang="en-US" sz="700" dirty="0"/>
          </a:p>
        </p:txBody>
      </p:sp>
      <p:sp>
        <p:nvSpPr>
          <p:cNvPr id="12" name="Shape 9"/>
          <p:cNvSpPr/>
          <p:nvPr/>
        </p:nvSpPr>
        <p:spPr>
          <a:xfrm>
            <a:off x="5760720" y="2286000"/>
            <a:ext cx="3017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760720" y="2286000"/>
            <a:ext cx="54864" cy="6400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4" name="Text 11"/>
          <p:cNvSpPr/>
          <p:nvPr/>
        </p:nvSpPr>
        <p:spPr>
          <a:xfrm>
            <a:off x="5943600" y="2331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세액공제 미활용 누적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943600" y="2514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360만원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0" y="274320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IRP+연금저축 연 900만 미활용 시 3년간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5760720" y="3063240"/>
            <a:ext cx="30175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063240"/>
            <a:ext cx="54864" cy="6400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10896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가지급금 인정이자 3년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943600" y="32918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약 1,500만원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943600" y="352044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 4.6% 인정이자 기준 3년 누적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457200" y="39776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보수적 가정(연복리 3%, 인정이자율 4.6%) 기반 시뮬레이션이며, 실제 금액은 시장 상황·세법 변경·개인 조건에 따라 달라질 수 있습니다. 확정 수익을 의미하지 않습니다.</a:t>
            </a:r>
            <a:endParaRPr lang="en-US" sz="700" dirty="0"/>
          </a:p>
        </p:txBody>
      </p:sp>
      <p:sp>
        <p:nvSpPr>
          <p:cNvPr id="23" name="Text 2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"시간이 지날수록 같은 효과를 위한 비용이 커진다는 점, 숫자로 확인이 되시죠?"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457200" y="45720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이 격차를 채우는 설계 원칙을 정리합니다.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플래닝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[설계 원칙] : 해지가 아니라 재배치 — 법인·개인 현금흐름 구조를 설계합니다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3가지 원칙으로 법인의 이익을 대표 개인의 은퇴 재원으로 안전하게 연결합니다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2651760" cy="54864"/>
          </a:xfrm>
          <a:prstGeom prst="rect">
            <a:avLst/>
          </a:prstGeom>
          <a:solidFill>
            <a:srgbClr val="2E86D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69164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0584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유동성 확보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94360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재원을 해지환급금 형태로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확보, 퇴임 시점 즉시 유동화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가능한 구조 설계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사건 발생 시 현금이 언제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필요한가를 기준으로 설계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91840" y="15087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1508760"/>
            <a:ext cx="2651760" cy="54864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69164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리스크 전가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29000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유고 시 법인→유족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현금흐름을 보험 구조로 전가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큰 손실 가능성을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예산화(보험료)로 전환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리밸런싱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6126480" y="1508760"/>
            <a:ext cx="265176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508760"/>
            <a:ext cx="2651760" cy="54864"/>
          </a:xfrm>
          <a:prstGeom prst="rect">
            <a:avLst/>
          </a:prstGeom>
          <a:solidFill>
            <a:srgbClr val="27AE6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691640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675120" y="169164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지속성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63640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저축·투자는 중단 가능하나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연금·보험은 계약 구조로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납입을 유지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IRP·연금저축 자동이체 설정으로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목표를 고정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457200" y="39776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있습니다.</a:t>
            </a:r>
            <a:endParaRPr lang="en-US" sz="750" dirty="0"/>
          </a:p>
        </p:txBody>
      </p:sp>
      <p:sp>
        <p:nvSpPr>
          <p:cNvPr id="22" name="Text 1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"해지가 아니라 재배치입니다. 유동성·리스크 전가·지속성, 이 세 원칙이면 충분합니다."</a:t>
            </a:r>
            <a:endParaRPr lang="en-US" sz="800" dirty="0"/>
          </a:p>
        </p:txBody>
      </p:sp>
      <p:sp>
        <p:nvSpPr>
          <p:cNvPr id="23" name="Text 18"/>
          <p:cNvSpPr/>
          <p:nvPr/>
        </p:nvSpPr>
        <p:spPr>
          <a:xfrm>
            <a:off x="457200" y="45720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이 원칙을 A안과 B안으로 구체화합니다.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A/B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[비교하니 명확] : 효과 우선 vs 단계 적용, 대표님께 맞는 경로를 선택합니다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안 모두 목표 달성이 가능합니다 — 차이는 속도와 월 부담의 균형입니다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항목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A안: 효과 우선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86D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B안: 단계 적용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규정 정비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 정비(이사회·주총 결의)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즉시 정비(이사회·주총 결의)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리밸런싱: 월 150만(법인)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기존 유지: 월 95만(법인)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개인연금(IRP+저축)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월 40만(연480만→세액공제)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1단계 월15만→2년차 확대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 병행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연 2~3천만 소규모 시행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규정 정비 후 3년차 검토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2년 내 완료 목표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3년 단계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 월 부담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95만원(기존)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 월 부담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645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총 월 부담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E86D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110만원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55세 예상 퇴직금 재원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4.2억(HV기준)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2.8억(HV기준)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60세 예상 퇴직금 재원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10.5억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약 8.2억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보험·연금 역할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유동성+리스크전가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실행지속성+유동성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상기 수치는 보수적 가정(연복리3%,현행세율) 기반 시뮬레이션이며, 실제 수령액은 시장 상황·세법 변경·개인 조건에 따라 달라질 수 있습니다. 확정 수익을 의미하지 않습니다.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중도 해지 시 납입 보험료보다 적은 금액을 돌려받을 수 있습니다(해지환급금 예시는 상품설명서 참조).</a:t>
            </a:r>
            <a:endParaRPr lang="en-US" sz="700" dirty="0"/>
          </a:p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A안 선택 시 개인 월 현금흐름이 타이트하므로, 가계 현금흐름 점검 후 납입액 조정이 필요할 수 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솔루션 2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[빈칸 채우기] : 부족분 → 해결 요소 → 적용 수단을 하나씩 연결합니다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부족분에 맞는 해결 요소와 구체적 적용 수단을 매칭하면 실행 계획이 완성됩니다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71800"/>
                <a:gridCol w="297180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해결 요소(기능·역할)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적용 수단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규정 미비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절차 정합성 확보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개정+이사회·주총 결의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퇴직금 재원 부족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(격차 7.2~11.2억)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법인자금의 안전한 적립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+유동성 확보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 리밸런싱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(해지환급금 기반 재원 확보)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개인 연금 공백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(월 230만 부족)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노후 현금흐름 구축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+세액공제 활용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IRP·연금저축 납입 확대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(「조특법 §86조의2」)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2.4억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세무리스크 해소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+인정이자 절감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3단계 상계·상여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(세무사 협의)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MRE 38억 누적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합리적 출구전략 수립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배당+퇴직금+재투자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분산 로드맵 수립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대표 유고 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유동성 공백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리스크 전가 구조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경영인정기보험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(기존 유지+보장 점검)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5720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고객의 투자 성향과 재무 상태에 따라 적합한 상품이 달라질 수 있습니다.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다음: 오늘 정리한 내용을 다음 단계로 진행하는 체크입니다.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8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[오늘 정리 완료] : 체크 하나로 다음 단계가 시작됩니다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오늘 검토한 내용이 만족스러우셨다면, 어떤 방식으로 진행하면 편하실까요?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55448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4864" cy="50292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A안 진행 (효과 우선)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06240" y="155448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경영인정기보험 리밸런싱+IRP·연금저축 즉시 납입+배당 검토 시작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31520" y="219456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" y="2194560"/>
            <a:ext cx="54864" cy="50292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19456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B안 진행 (단계 적용)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06240" y="219456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규정 정비 우선+기존 보험 유지+연금 소액 시작→점진 확대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31520" y="2834640"/>
            <a:ext cx="768096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834640"/>
            <a:ext cx="54864" cy="5029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8346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☐ 보완 후 재결정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06240" y="2834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보완 항목: _______________ / 재결정 날짜: ___월 ___일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3520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749040"/>
            <a:ext cx="5029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정관·퇴직금 규정 검토 → 세무사·변호사 사전 확인 (1~2주)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이사회·주총 결의 일정 협의 (2~4주)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경영인정기보험 리밸런싱 설계서 제출 (선택 시)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IRP·연금저축 계좌 개설 및 자동이체 설정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가지급금 정리 1단계 세무사 협의 착수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94360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성향별 클로징 안내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943600" y="3657600"/>
            <a:ext cx="2926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[추천] 전문가형
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"규정 정합성과 세무 근거가 확보되면 실행에 문제가 없습니다. 어느 안이 더 합리적이신지요?"
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감성·가족형
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"은퇴 후 가족의 안정을 위해 지금 구조를 잡아두는 것이 가장 효율적입니다."
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안정·보수형
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"B안처럼 비용 0원부터 시작하면 부담 없이 첫 단계를 밟을 수 있습니다."
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결정지연·신중형
</a:t>
            </a:r>
            <a:endParaRPr lang="en-US" sz="7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"규정 정비는 비용이 들지 않습니다. 이것만 먼저 진행해도 선택지가 넓어집니다."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57200" y="4663440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결정 시점: 오늘 / 선택안: A 또는 B / 다음 행동: 정관·규정 검토 착수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본 자료는 상담 보조 자료이며, 계약 체결 전 상품설명서 및 약관을 꼭 확인하시기 바랍니다.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— 고객 비공개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상담 전 체크리스트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한빛정밀(주) 김도현 대표 — 상담 준비 사항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전 준비물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최신 재무제표 (B/S, P/L) 확보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정관 사본 및 임원퇴직금 규정 확인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세무사·회계사 연락처 확인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경영인정기보험 증권 사본 (HV 확인)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대표 건강정보 (고혈압 전단계→인수심사)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주주명부 최신본 (배우자8%,기타15%)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□ 명함·계산기·태블릿 준비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84632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니즈 요약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371600"/>
            <a:ext cx="39319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목표: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MRE→퇴직금 재원화+규정 정비
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최대 부족분: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퇴직금 재원 격차 7.2~11.2억
</a:t>
            </a:r>
            <a:endParaRPr lang="en-US" sz="9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9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질문: </a:t>
            </a:r>
            <a:pPr indent="0" marL="0">
              <a:lnSpc>
                <a:spcPct val="150000"/>
              </a:lnSpc>
              <a:buNone/>
            </a:pPr>
            <a:r>
              <a:rPr lang="en-US" sz="9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"A(효과우선) vs B(단계적용) 어느 경로?"
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846320" y="2560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고객별 맞춤 준비사항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834640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고혈압 전단계→보험 인수심사 사전 확인(거절 시 대안)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월 현금흐름 타이트(70만 여유)→B안 비용0원 강조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전문가형→숫자·법조항 근거 중심, 감정 호소 최소화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기타주주15% 존재→배당 시 주주합의 절차 사전 언급</a:t>
            </a:r>
            <a:endParaRPr lang="en-US" sz="8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교육비 2~3년 내 감소→이후 연금증액 여력 포인트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36E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 구성: 코어12장+확장1장(가지급금로드맵)=총13장. 컨설턴트 참고용 5장 별도. (확장사유: 가지급금2.4억→EXT-A3 트리거)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— 고객 비공개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예상 반대 처리 스크립트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가능성 높은 반대 5가지 — 공감→전환→근거→행동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914400" cy="18288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9728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비용 반대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365760" y="129844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"보험료 더 늘리기엔 현금흐름이 빠듯..."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17520" y="1097280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공감: 현금흐름 타이트, 충분히 이해.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전환: B안 1단계는 비용 0원(규정 정비).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교육비 감소 시점 연금 증액 전환.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행동: "비용 0원인 규정 정비부터 먼저?"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65760" y="1847088"/>
            <a:ext cx="914400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47088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세무 리스크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65760" y="20482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"퇴직금 규정 건드리면 세무조사?"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017520" y="1847088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공감: 세무 리스크 우려 당연.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전환: 오히려 규정 미비가 더 불리.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「소득세법 시행령 §42조의2」 충족 시 적법.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행동: "세무사와 정관·결의 사전 검토가 첫 단계."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596896"/>
            <a:ext cx="914400" cy="1828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365760" y="2596896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지연 반대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365760" y="2798064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"좀 더 생각해보고 연락드릴게요"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017520" y="2596896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공감: 신중한 검토, 좋은 접근.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전환: 규정 정비는 비용없고, 미루면 인정이자만 누적.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3년 미루면 월 35만 추가 부담.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행동: "규정 정비 1건만 먼저 세무사와 확인?"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346704"/>
            <a:ext cx="914400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346704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제3자 반대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365760" y="354787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"회계사랑 한번 얘기해봐야..."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017520" y="3346704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공감: 전문가 의견 확인, 아주 좋은 판단.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전환: 실제로 규정 정비는 세무사와 함께.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오늘 자료를 회계사에게 공유하시면 빠름.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행동: "다음 주 회계사 미팅에 자료 함께?"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914400" cy="1828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096512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비교 반대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65760" y="429768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"다른 곳에서도 제안을 받아보려고..."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017520" y="4096512"/>
            <a:ext cx="5852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공감: 비교 검토 당연.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전환: 핵심은 상품이 아니라 규정·절차 정합성.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근거: 어떤 상품이든 규정 정비가 선행 필요.</a:t>
            </a:r>
            <a:endParaRPr lang="en-US" sz="7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행동: "규정 정비는 어디서든 필요, 이것만 먼저?"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65760" y="4892040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핵심 포인트: 전문가형→숫자·절차·법조항 근거로 설득. "규정 정비=비용 0원"이 최강 설득 포인트.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— 고객 비공개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시간 배분 &amp; 분기 시나리오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40분 기준 — 슬라이드별 배분+고객 반응별 분기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51560"/>
          <a:ext cx="502920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1234440"/>
                <a:gridCol w="502920"/>
                <a:gridCol w="1280160"/>
                <a:gridCol w="41148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슬라이드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핵심 포인트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생략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표지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관계 형성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결정사항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A/B 프레이밍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현재진단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인식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현재상황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데이터 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실행우선순위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고객 선택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제도활용(기준)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법적 근거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부족한 부분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격차(피크)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07-2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가지급금 로드맵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해소 경로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기회비용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시간가치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플래닝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안도 전환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솔루션 A/B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비교 확신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솔루션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매칭 정리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체크 착지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577840" y="10515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 반응별 분기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577840" y="141732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77840" y="1417320"/>
            <a:ext cx="4572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0" name="Text 7"/>
          <p:cNvSpPr/>
          <p:nvPr/>
        </p:nvSpPr>
        <p:spPr>
          <a:xfrm>
            <a:off x="5715000" y="141732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긍정 →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6903720" y="141732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슬라이드 정상 진행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577840" y="192024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77840" y="1920240"/>
            <a:ext cx="45720" cy="411480"/>
          </a:xfrm>
          <a:prstGeom prst="rect">
            <a:avLst/>
          </a:prstGeom>
          <a:solidFill>
            <a:srgbClr val="2E86DE"/>
          </a:solidFill>
          <a:ln/>
        </p:spPr>
      </p:sp>
      <p:sp>
        <p:nvSpPr>
          <p:cNvPr id="14" name="Text 11"/>
          <p:cNvSpPr/>
          <p:nvPr/>
        </p:nvSpPr>
        <p:spPr>
          <a:xfrm>
            <a:off x="5715000" y="192024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질문 많음 →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903720" y="192024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해당 심화, 뒤쪽 축소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5577840" y="242316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77840" y="2423160"/>
            <a:ext cx="45720" cy="4114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8" name="Text 15"/>
          <p:cNvSpPr/>
          <p:nvPr/>
        </p:nvSpPr>
        <p:spPr>
          <a:xfrm>
            <a:off x="5715000" y="242316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부정/보류 →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903720" y="242316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05번(우선순위) 재확인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5577840" y="2926080"/>
            <a:ext cx="3291840" cy="411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577840" y="2926080"/>
            <a:ext cx="45720" cy="411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19"/>
          <p:cNvSpPr/>
          <p:nvPr/>
        </p:nvSpPr>
        <p:spPr>
          <a:xfrm>
            <a:off x="5715000" y="29260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조기 동의 →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6903720" y="2926080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10번(A/B)으로 바로 이동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5577840" y="352044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전환 시그널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5577840" y="374904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 "MRE 많이 쌓였네" → 성공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 "규정부터 해야겠네" → 06 이동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 "격차가 크네" → 긴장 피크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 "B안이 현실적" → 거의 클로징</a:t>
            </a:r>
            <a:endParaRPr lang="en-US" sz="8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80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12: 체크 후 [침묵] → 성공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— 고객 비공개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A/B 시뮬레이션 상세 비교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보수적(3%)/기본(4%)/낙관적(5%) + 해지환급금 추이 + What-if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시나리오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 55세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A안 60세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 55세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B안 60세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보수적(3%)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기본(4%)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낙관적(5%)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14.0억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11.0억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14884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보수적: 연복리3%·현행세율 기준 / 기본: 연복리4% 가정 / 낙관적: 연복리5% 가정. 각 시나리오는 납입기간 8년(55세)·16년(60세) 기준 시뮬레이션.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365760" y="235915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64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해지환급금 추이 (경영인정기보험 A안 기준)</a:t>
            </a:r>
            <a:endParaRPr lang="en-US" sz="9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87752"/>
          <a:ext cx="45720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914400"/>
                <a:gridCol w="914400"/>
                <a:gridCol w="914400"/>
                <a:gridCol w="914400"/>
              </a:tblGrid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1년차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3년차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5년차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8년차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납입 누적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5,400만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9,000만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1.44억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해지환급금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7,800만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1.35억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환급률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212080" y="1097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"만약 ~라면?" 시나리오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212080" y="1417320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5349240" y="1463040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 건강 악화→보험 인수 불가?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5349240" y="1737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기존 보험 유지+IRP 중심 전략. 무심사 연금저축 활용.</a:t>
            </a:r>
            <a:endParaRPr lang="en-US" sz="750" dirty="0"/>
          </a:p>
        </p:txBody>
      </p:sp>
      <p:sp>
        <p:nvSpPr>
          <p:cNvPr id="14" name="Shape 10"/>
          <p:cNvSpPr/>
          <p:nvPr/>
        </p:nvSpPr>
        <p:spPr>
          <a:xfrm>
            <a:off x="5212080" y="2221992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5349240" y="22677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기타주주가 배당 요구?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5349240" y="254203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소규모 배당 시행+배당정책 수립으로 선제 대응.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5212080" y="3026664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5349240" y="3072384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세법 개정→퇴직금 배수 한도 변경?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5349240" y="3346704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현행 기준 사전 정비 완료가 유리. 개정 시 재조정.</a:t>
            </a:r>
            <a:endParaRPr lang="en-US" sz="750" dirty="0"/>
          </a:p>
        </p:txBody>
      </p:sp>
      <p:sp>
        <p:nvSpPr>
          <p:cNvPr id="20" name="Shape 16"/>
          <p:cNvSpPr/>
          <p:nvPr/>
        </p:nvSpPr>
        <p:spPr>
          <a:xfrm>
            <a:off x="5212080" y="3831336"/>
            <a:ext cx="365760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7"/>
          <p:cNvSpPr/>
          <p:nvPr/>
        </p:nvSpPr>
        <p:spPr>
          <a:xfrm>
            <a:off x="5349240" y="3877056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법인 현금흐름 악화?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349240" y="4151376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B안 1단계 유지+보험 감액납입 전환 검토.</a:t>
            </a:r>
            <a:endParaRPr lang="en-US" sz="750" dirty="0"/>
          </a:p>
        </p:txBody>
      </p:sp>
      <p:sp>
        <p:nvSpPr>
          <p:cNvPr id="23" name="Text 19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※ 모든 수치는 보수적 가정 기반이며, 확정 수익이 아닙니다. 중도 해지 시 납입 보험료보다 적은 금액을 돌려받을 수 있습니다.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0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컨설턴트 참고용 — 고객 비공개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3645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후속 미팅 계획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후→계약 완료 타임라인+후속 메시지 템플릿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914400"/>
                <a:gridCol w="3657600"/>
                <a:gridCol w="31089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단계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시기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컨설턴트 액션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필요 서류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45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상담 당일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감사 문자+A/B 선택 확인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PT 자료 PDF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1주 내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세무사·회계사 연결→정관 검토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정관 사본, 규정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2~3주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이사회·주총 결의 일정 협의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결의서, 의사록 양식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4~6주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보험 설계서+인수심사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설계서, 건강진단서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8주~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계약 체결+IRP 계좌 개설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청약서, 신분증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정기점검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반기 1회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납입현황·HV추이·세법변경 점검+리밸런싱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2D343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점검 체크리스트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7F7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29260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메시지 템플릿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5760" y="3246120"/>
            <a:ext cx="84124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029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상담 직후 감사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219456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김도현 대표님, 오늘 귀한 시간 감사합니다. 정관·퇴직금 규정 정비 자료 정리하여 보내드리겠습니다. 궁금하신 점은 언제든 연락 주십시오.</a:t>
            </a:r>
            <a:endParaRPr lang="en-US" sz="750" dirty="0"/>
          </a:p>
        </p:txBody>
      </p:sp>
      <p:sp>
        <p:nvSpPr>
          <p:cNvPr id="11" name="Shape 8"/>
          <p:cNvSpPr/>
          <p:nvPr/>
        </p:nvSpPr>
        <p:spPr>
          <a:xfrm>
            <a:off x="365760" y="3703320"/>
            <a:ext cx="84124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" y="37033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1주 후 팔로업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2194560" y="3703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대표님, 지난주 상담 관련 세무사 검토 일정이 잡히셨는지 확인드립니다. 필요시 세무사 미팅에 동석 도와드리겠습니다.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365760" y="4160520"/>
            <a:ext cx="8412480" cy="365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0292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서류 요청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2194560" y="41605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2D3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다음 단계를 위해 정관 사본, 최신 재무제표, 경영인정기보험 증권 사본이 필요합니다. 편하신 방법으로 보내주시면 감사하겠습니다.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미처분이익잉여금(MRE) 관리를 통한 CEO 퇴직금 플래닝</dc:title>
  <dc:subject>PptxGenJS Presentation</dc:subject>
  <dc:creator>Financial Consulting Expert</dc:creator>
  <cp:lastModifiedBy>Financial Consulting Expert</cp:lastModifiedBy>
  <cp:revision>1</cp:revision>
  <dcterms:created xsi:type="dcterms:W3CDTF">2026-02-06T15:35:12Z</dcterms:created>
  <dcterms:modified xsi:type="dcterms:W3CDTF">2026-02-06T15:35:12Z</dcterms:modified>
</cp:coreProperties>
</file>