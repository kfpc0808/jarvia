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2" autoAdjust="0"/>
    <p:restoredTop sz="94610"/>
  </p:normalViewPr>
  <p:slideViewPr>
    <p:cSldViewPr snapToGrid="0" snapToObjects="1">
      <p:cViewPr>
        <p:scale>
          <a:sx n="119" d="100"/>
          <a:sy n="119" d="100"/>
        </p:scale>
        <p:origin x="66" y="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누적 기회비용(만원)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6454F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1년후</c:v>
                </c:pt>
                <c:pt idx="1">
                  <c:v>3년후</c:v>
                </c:pt>
                <c:pt idx="2">
                  <c:v>5년후</c:v>
                </c:pt>
                <c:pt idx="3">
                  <c:v>10년후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4600</c:v>
                </c:pt>
                <c:pt idx="1">
                  <c:v>13800</c:v>
                </c:pt>
                <c:pt idx="2">
                  <c:v>23000</c:v>
                </c:pt>
                <c:pt idx="3">
                  <c:v>46000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F1-4986-966B-B2FBAFDD2E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8352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목적: 신뢰확보.
Yes-Set: 세후효율 궁금하셨죠?
전환: 프로필카드 숫자.
주의: 확정수익 금지.
코칭: 고개끄덕이면 다음.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목적: 오늘의 결론이 Yes/No가 아니라 A/B 선택임을 명확히 한다.
핵심 질문(Yes-Set): 법인에서 가져가시는 금액의 효율을 높이고 싶으시죠?
전환 포인트: 두 안 모두 지금보다 나은 구조임을 확인하는 순간.
주의 문구: 확정 절세액 단정 금지, 세무사 확인 필요 병기.
코칭: 고객이 '둘다 괜찮아 보이네'라고 하면 성공, 다음으로.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목적: 현재 상태의 비효율을 객관적 숫자로 인식시킨다.
핵심 질문(Yes-Set): 현재 가져가시는 금액의 세후 효율이 궁금하셨죠?
전환 포인트: KPI 카드의 세후 실수령과 이익잉여금 격차를 보는 순간.
주의 문구: 비효율이라는 표현은 사용하되 손해라는 단정은 피한다.
코칭: 고객이 '이렇게 적었나?'라고 하면 다음으로.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목적: 기초 데이터를 객관적으로 제시하여 현재 구조의 비효율을 인식시킨다.
핵심 질문(Yes-Set): 이익잉여금이 28억인데 연 1.16억만 인출하고 계시죠?
전환 포인트: 가지급금 인정이자와 이익잉여금 누적을 동시에 보는 순간.
주의 문구: 문제가 아니라 현황으로 표현.
코칭: 고객이 구체적 항목에 대해 질문하면 관심 신호.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목적: 고객이 직접 우선순위를 정하게 하여 주도감을 부여한다.
핵심 질문(Yes-Set): 이 4가지 중 가장 먼저 정리하고 싶으신 게 어떤 건가요?
전환 포인트: 고객이 순서를 직접 말하는 순간 주도권을 느낀다.
주의 문구: 특정 순서를 강요하지 않는다.
코칭: 고객이 '1번이 급하죠'라고 하면 성공.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목적: 제도적 근거를 제시하여 전문가 신뢰를 확보한다.
핵심 질문(Yes-Set): 같은 금액도 어떻게 가져가느냐에 따라 세금이 다르다는 건 아시죠?
전환 포인트: 세율 차이 숫자를 확인하는 순간.
주의 문구: 요건충족시를 반드시 병기. 확정절세 금지.
코칭: 고객이 '어떤 비율이 좋은 거냐'고 물으면 다음으로.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목적: 인출 방법별 세후효율 차이를 시각적으로 비교하여 최적조합 필요성 인식.
핵심 질문: 같은 1억이라도 방법에 따라 세후가 이렇게 다르다면 조합을 바꿔볼 의향이 있으시죠?
전환 포인트: 퇴직금 분리과세의 세후효과 숫자.
주의 문구: 세율은 추정치이며 개별상황에 따라 다름.
코칭: 고객이 관심표현 시 다음으로.
이 슬라이드 설명시간: 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목적: 목표와 현재의 격차를 숫자로 시각화하여 긴장감을 높인다(피크).
핵심 질문(Yes-Set): 매년 3,200만원의 차이가 있다는 건 확인되셨죠?
전환 포인트: 부족분 테이블의 빨간 숫자를 보는 순간.
주의 문구: 손해가 아니라 기회비용/격차로 표현.
코칭: 고객이 '줄이려면 어떻게?'라고 물으면 성공.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목적: 가지급금 해소의 구체적 방법과 로드맵을 제시한다.
핵심 질문: 여러 방법을 섞으면 세율을 분산할 수 있다는 점이 확인되셨죠?
전환 포인트: 혼합해소로 세율분산 효과를 인식하는 순간.
주의 문구: 세무사 사전검토 필수를 반드시 언급.
코칭: 고객이 방법에 대해 질문하면 관심신호.
이 슬라이드 설명시간: 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목적: 무대응시 누적 기회비용을 시각화하여 행동 동기를 부여한다.
핵심 질문(Yes-Set): 1년만 유지해도 4,600만원 차이라면 빨리 정리하시는 게 유리하시죠?
전환 포인트: 10년후 4.6억 누적 차이 숫자.
주의 문구: 손해가 아니라 기회비용. 보수적 가정 명시.
코칭: 고객이 '빨리 시작해야겠네'라고 하면 성공.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목적: 해결 원칙을 제시하여 방법이 있다는 안도감을 준다(전환점).
핵심 질문(Yes-Set): 기존 구조를 재배치하는 것만으로 효과가 있다면 검토해볼 의향이 있으시죠?
전환 포인트: 새 부담이 아니라 재배치라는 프레이밍.
주의 문구: 적합성 원칙 고지 포함.
코칭: 고객이 '구체적으로 어떻게?'라고 물으면 성공.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목적: A/B를 나란히 비교하여 어느 쪽이 맞는지 선택을 유도한다.
핵심 질문(Yes-Set): A안과 B안 중 어느 쪽이 더 마음이 놓이십니까?
전환 포인트: 두 안 모두 현재보다 나은 구조임을 확인하는 순간.
주의 문구: 시뮬레이션 면책+해지환급금 고지 포함.
코칭: 고객이 'A가 좋긴 한데' 또는 'B부터 해볼까'라고 하면 성공.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목적: 부족분이 하나씩 채워지는 구조를 보여줘 정리된 느낌을 준다.
핵심 질문(Yes-Set): 이렇게 매칭되면 빠진 부분 없이 채워지는 거 맞죠?
전환 포인트: 3열 표에서 모든 빈칸이 채워진 걸 확인하는 순간.
주의 문구: 적합성 원칙 고지+손금산입 확인 필요.
코칭: 고객이 '깔끔하게 정리됐네'라고 하면 성공.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[성향별 클로징 4가지]
[추천] 1. 논리·전문가형(박성진대표 추천)
"오늘 숫자를 정리하면 세후8,800만→A안1.2억, 연3,200만 개선. 세무사님 교차검증후 진행하셔도 좋고 오늘 방향만 체크하시면 다음미팅에서 구체설계 바로 시작합니다."
[잠시침묵]
2. 감성·가족중심형
"19년간 쌓아오신 자산이 가장 효율적으로 전달되는 구조를 정리했습니다. 편하신 쪽에 체크해주시면 함께 준비하겠습니다."
[잠시침묵]
3. 안정·보수형
"두 안 모두 현재보다 안정적. B안은 부담적고 단계적용되니 리스크 낮습니다."
[잠시침묵]
4. 결정지연·신중형
"현재 구조 1년유지시 기회비용 약4,600만. B안 월200만부터 시작하시면 부담없이 효과 확인가능합니다."
[잠시침묵]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CCCCC"/>
                </a:solidFill>
              </a:rPr>
              <a:t>박성진 대표님을 위한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CEO 세후소득 극대화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전략 포트폴리오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697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017"/>
                </a:solidFill>
              </a:rPr>
              <a:t>급여·상여·배당 최적 조합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731520"/>
            <a:ext cx="2743200" cy="329184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9144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0" y="1554480"/>
            <a:ext cx="237744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</a:rPr>
              <a:t>(주)성진테크 대표이사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1E1E1E"/>
                </a:solidFill>
              </a:rPr>
              <a:t>박성진 (53세)
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
매출 85억 / 영업이익 9억
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주주: 대표80% 배우자15% 장남5%
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이익잉여금 28억 / 가지급금 3.2억
</a:t>
            </a:r>
            <a:endParaRPr lang="en-US" sz="1100" dirty="0"/>
          </a:p>
          <a:p>
            <a:pPr marL="0" indent="0">
              <a:buNone/>
            </a:pPr>
            <a:r>
              <a:rPr lang="en-US" sz="900" b="1" dirty="0">
                <a:solidFill>
                  <a:srgbClr val="D4A017"/>
                </a:solidFill>
              </a:rPr>
              <a:t>현재 세후 실수령: 연 8,800만원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999999"/>
                </a:solidFill>
              </a:rPr>
              <a:t>본 자료는 AI를 활용하여 생성되었으며, 검증과정을 거쳤으나 참고용으로 사용하시기 바랍니다.</a:t>
            </a:r>
            <a:endParaRPr lang="en-US" sz="700" dirty="0"/>
          </a:p>
          <a:p>
            <a:pPr marL="0" indent="0" algn="l">
              <a:buNone/>
            </a:pPr>
            <a:r>
              <a:rPr lang="en-US" sz="700" i="1" dirty="0">
                <a:solidFill>
                  <a:srgbClr val="999999"/>
                </a:solidFill>
              </a:rPr>
              <a:t>실무 적용 시에는 분야별 전문가와 반드시 협의 후 사용하시기 바랍니다.(본 자료의 사용에 따라 발생하는 모든 책임은 사용자에게 있음을 알려드립니다.)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결정사항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017"/>
                </a:solidFill>
              </a:rPr>
              <a:t>[세후소득] 급여·배당 조합을 바꾸면 연 3,200만원 차이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</a:rPr>
              <a:t>오늘 정리할 것은 'A/B 중 어느 방식이 더 맞는지'입니다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37490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374904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1755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</a:rPr>
              <a:t>A안 — 효과 우선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0574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1E1E"/>
                </a:solidFill>
              </a:rPr>
              <a:t>급여인상+배당최적화+퇴직금재원 동시설계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1E1E"/>
                </a:solidFill>
              </a:rPr>
              <a:t>세후 실수령 연 1.2억+ / 가지급금 2년해소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1E1E"/>
                </a:solidFill>
              </a:rPr>
              <a:t>법인보험 월300만 + 개인 월75만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645920"/>
            <a:ext cx="37490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846320" y="1645920"/>
            <a:ext cx="3749040" cy="54864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29200" y="1755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</a:rPr>
              <a:t>B안 — 부담 우선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20574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1E1E"/>
                </a:solidFill>
              </a:rPr>
              <a:t>급여 소폭인상 + 배당 조정 우선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1E1E"/>
                </a:solidFill>
              </a:rPr>
              <a:t>세후 실수령 연 1억 / 가지급금 3년해소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1E1E"/>
                </a:solidFill>
              </a:rPr>
              <a:t>법인보험 월200만, 개인 추후검토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703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</a:rPr>
              <a:t>오늘 결정: 급여·배당 비율 + 가지급금 해소속도 + 퇴직금 재원 외부적립 여부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</a:rPr>
              <a:t>두 안 모두 현행 세법 기준, 세무사 확인 후 최종 적용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</a:rPr>
              <a:t>"대표님, 법인에서 가져가시는 금액의 세후효율을 높이고 싶으신 거죠? 오늘은 두 가지 방식 중 더 맞는 쪽을 골라보시는 시간입니다."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4773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A017"/>
                </a:solidFill>
              </a:rPr>
              <a:t>▶ 먼저 현재 상황을 숫자로 정리합니다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현재진단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017"/>
                </a:solidFill>
              </a:rPr>
              <a:t>[급여800만·배당2천만] 세후 실수령 8,800만원의 구조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</a:rPr>
              <a:t>현재 인출 구조는 법인 이익 대비 세후 효율이 낮은 상태입니다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8745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1874520" cy="54864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연간 총 수령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19019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</a:rPr>
              <a:t>1.16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</a:rPr>
              <a:t>억원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급여9,600만+배당2,000만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606040" y="1554480"/>
            <a:ext cx="18745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606040" y="1554480"/>
            <a:ext cx="187452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697480" y="16916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세후 실수령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97480" y="19019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7E22"/>
                </a:solidFill>
              </a:rPr>
              <a:t>8,800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794760" y="2011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7E22"/>
                </a:solidFill>
              </a:rPr>
              <a:t>만원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실효세율 약 24%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1554480"/>
            <a:ext cx="18745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663440" y="1554480"/>
            <a:ext cx="187452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754880" y="16916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미처분이익잉여금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0" y="19019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4C3C"/>
                </a:solidFill>
              </a:rPr>
              <a:t>22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852160" y="2011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4C3C"/>
                </a:solidFill>
              </a:rPr>
              <a:t>억원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비효율적 법인내 누적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720840" y="1554480"/>
            <a:ext cx="18745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720840" y="1554480"/>
            <a:ext cx="187452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812280" y="16916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가지급금 잔액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12280" y="19019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4C3C"/>
                </a:solidFill>
              </a:rPr>
              <a:t>3.2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909560" y="2011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4C3C"/>
                </a:solidFill>
              </a:rPr>
              <a:t>억원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1228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인정이자 연~1,400만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</a:rPr>
              <a:t>급여 월800만 — 동종업계 대비 낮음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</a:rPr>
              <a:t>배당 연2,000만 — 이익잉여금 대비 극소배당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</a:rPr>
              <a:t>가지급금 3.2억 → 인정이자(법인세법 제52조) 매년 발생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</a:rPr>
              <a:t>퇴직금 내부충당 → 퇴직시 현금흐름 압박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</a:rPr>
              <a:t>"현재 연 1억1,600만원을 가져가고 계시죠? 세후 8,800만원인데, 구조만 바꿔도 효율이 달라질 수 있습니다."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8640" y="4773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A017"/>
                </a:solidFill>
              </a:rPr>
              <a:t>▶ 구체적 숫자를 확인합니다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현재상황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017"/>
                </a:solidFill>
              </a:rPr>
              <a:t>[데이터] 급여·배당·가지급금·퇴직금 현황 정리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</a:rPr>
              <a:t>법인과 개인의 자금 흐름을 한눈에 확인합니다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현재 현황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대표 급여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월800만(연9,600만)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동종업계 대비 낮음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배당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연2,000만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종합과세 미진입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가지급금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3.2억(2021년)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인정이자 연~1,400만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미처분이익잉여금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22억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인출전략 미수립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이익잉여금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28억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자본금 대비 과다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배우자 급여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월300만(등기이사)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적정성 검토필요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퇴직금 적립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내부충당금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퇴직연금 미도입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정관 배수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2배수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개정미실시(확인필요)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경영인정기보험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없음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유고시 유동성공백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개인연금/IRP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없음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세액공제 미활용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</a:rPr>
              <a:t>"이익잉여금 28억인데 연간 인출이 1.16억이면, 법인에 묶인 자금이 상당하시죠?"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8640" y="4773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A017"/>
                </a:solidFill>
              </a:rPr>
              <a:t>▶ 가장 먼저 정리할 순서를 정합니다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실행우선순위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017"/>
                </a:solidFill>
              </a:rPr>
              <a:t>[선택] 가장 먼저 정리하고 싶은 것은 무엇입니까?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</a:rPr>
              <a:t>4가지 과제 중 우선순위를 정하면 실행 속도가 달라집니다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3840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64008" cy="12344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365760" cy="365760"/>
          </a:xfrm>
          <a:prstGeom prst="lin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152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</a:rPr>
              <a:t>세후소득 극대화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1965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급여·상여·배당 최적비율 재설계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→ 연 3,200만원+ 세후개선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0" y="1508760"/>
            <a:ext cx="3840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754880" y="1508760"/>
            <a:ext cx="64008" cy="12344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937760" y="1645920"/>
            <a:ext cx="365760" cy="365760"/>
          </a:xfrm>
          <a:prstGeom prst="lin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93776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9496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</a:rPr>
              <a:t>가지급금 해소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1965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3.2억 단계정리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→ 인정이자 연1,400만 절감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2926080"/>
            <a:ext cx="3840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48640" y="2926080"/>
            <a:ext cx="64008" cy="123444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31520" y="3063240"/>
            <a:ext cx="365760" cy="365760"/>
          </a:xfrm>
          <a:prstGeom prst="lin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152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</a:rPr>
              <a:t>퇴직금 외부적립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내부충당→보험적립 전환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→ 법인 현금흐름 안정화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0" y="2926080"/>
            <a:ext cx="3840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754880" y="2926080"/>
            <a:ext cx="64008" cy="123444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937760" y="3063240"/>
            <a:ext cx="365760" cy="365760"/>
          </a:xfrm>
          <a:prstGeom prst="lin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93776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</a:rPr>
              <a:t>개인 세액공제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9496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IRP·연금저축 미가입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→ 연 최대 148.5만 공제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</a:rPr>
              <a:t>"이 4가지 중 어떤 것이 가장 시급하십니까? 대부분 1번부터 정리하시는데, 대표님 생각은?"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8640" y="4773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A017"/>
                </a:solidFill>
              </a:rPr>
              <a:t>▶ 제도적 근거를 확인합니다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제도활용(기준)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017"/>
                </a:solidFill>
              </a:rPr>
              <a:t>[법·세무] 급여·배당·퇴직금 세후효율을 결정하는 기준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</a:rPr>
              <a:t>세후소득 극대화의 핵심은 각 소득유형의 세율 구조입니다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265176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6454F"/>
                </a:solidFill>
              </a:rPr>
              <a:t>원칙: 소득유형별 세율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1E1E"/>
                </a:solidFill>
              </a:rPr>
              <a:t>• 근로소득: 누진세6~45%(소득세법§55)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1E1E"/>
                </a:solidFill>
              </a:rPr>
              <a:t>• 배당소득: 15.4%, 2천만초과 종합과세(소득세법§17)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1E1E"/>
                </a:solidFill>
              </a:rPr>
              <a:t>• 퇴직소득: 근속연수공제후 분리과세(소득세법§48)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383280" y="155448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383280" y="1554480"/>
            <a:ext cx="2651760" cy="54864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474720" y="1664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6454F"/>
                </a:solidFill>
              </a:rPr>
              <a:t>예외: 절세 활용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196596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1E1E"/>
                </a:solidFill>
              </a:rPr>
              <a:t>• 임원퇴직금: 정관배수내 손금산입(소득세법시행령§42의2)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1E1E"/>
                </a:solidFill>
              </a:rPr>
              <a:t>• IRP·연금저축: 연900만 한도(조특법§86의2)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1E1E"/>
                </a:solidFill>
              </a:rPr>
              <a:t>• 법인보험: 요건충족시 손금산입(법인세법시행령§19)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217920" y="1554480"/>
            <a:ext cx="265176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309360" y="1664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6454F"/>
                </a:solidFill>
              </a:rPr>
              <a:t>주의: 리스크 관리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196596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1E1E"/>
                </a:solidFill>
              </a:rPr>
              <a:t>• 가지급금 인정이자: 부당행위부인(법인세법§52)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1E1E"/>
                </a:solidFill>
              </a:rPr>
              <a:t>• 배우자급여 적정성: 세무조사 리스크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1E1E"/>
                </a:solidFill>
              </a:rPr>
              <a:t>• 퇴직금배수 한도: 개정여부 확인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</a:rPr>
              <a:t>급여·배당·퇴직금 세율차이 활용으로 세후소득 극대화 가능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</a:rPr>
              <a:t>모든 수치 현행기준, 세무전문가 사전검토 필수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</a:rPr>
              <a:t>"같은 1억도 급여냐 배당이냐 퇴직금이냐에 따라 세후금액이 크게 다르죠? 이 차이를 활용합니다."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4773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A017"/>
                </a:solidFill>
              </a:rPr>
              <a:t>▶ 부족한 부분을 확인합니다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046720" y="1097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E86DE"/>
                </a:solidFill>
              </a:rPr>
              <a:t>[선택]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제도활용(상세)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017"/>
                </a:solidFill>
              </a:rPr>
              <a:t>[비교] 인출 방법별 세후효율 비교표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0972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</a:rPr>
              <a:t>급여·배당·퇴직금 — 각 방법의 세후 효과를 비교합니다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인출방법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연1억 인출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예상세율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세후추정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근거법조항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급여(근로소득)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1억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약33%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약6,700만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소득세법§55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배당(금융소득)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1억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약38%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약6,200만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소득세법§17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퇴직금(분리과세)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1억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약10~15%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약8,500~9,000만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소득세법§48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급여+배당혼합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1억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약25~28%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약7,200~7,500만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복합적용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74320" y="30175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AAAAAA"/>
                </a:solidFill>
              </a:rPr>
              <a:t>※ 현행세법·보수적가정 시뮬레이션. 실제세율은 개인조건·세법변경에 따라 다름. 확정수익 아님.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48640" y="33375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</a:rPr>
              <a:t>퇴직금 분리과세 효과 최대, 급여+배당 혼합이 즉시 적용 가능한 현실적 방법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</a:rPr>
              <a:t>세무사 확인후 최종적용 (현행기준, 확인필요)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</a:rPr>
              <a:t>"같은 1억이라도 방법에 따라 세후 6,200만~9,000만까지 차이납니다."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48640" y="4773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A017"/>
                </a:solidFill>
              </a:rPr>
              <a:t>▶ 부족한 부분을 확인합니다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부족한 부분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017"/>
                </a:solidFill>
              </a:rPr>
              <a:t>[격차] 목표 1.2억 vs 현재 8,800만 — 연 3,200만원 차이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</a:rPr>
              <a:t>현재 구조 유지시 매년 3,200만원의 기회를 놓치고 있습니다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필요(목표)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현재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부족분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세후 연간 실수령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1억2,000만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8,800만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▲3,200만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가지급금 잔액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0원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3.2억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▲3.2억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퇴직금 외부적립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적립진행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미적립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67E22"/>
                          </a:solidFill>
                        </a:rPr>
                        <a:t>미설정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개인 세액공제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연900만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0원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▲900만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경영인정기보험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5~10억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없음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67E22"/>
                          </a:solidFill>
                        </a:rPr>
                        <a:t>미가입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4747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</a:rPr>
              <a:t>가지급금 미해소 → 인정이자(법인세법§52) 연~1,400만 지속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</a:rPr>
              <a:t>IRP·연금저축 미활용 → 연148.5만 세액공제 미사용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</a:rPr>
              <a:t>경영인정기보험 미가입 → 유고시 유동성공백</a:t>
            </a:r>
            <a:endParaRPr lang="en-US" sz="1000" dirty="0"/>
          </a:p>
        </p:txBody>
      </p:sp>
      <p:sp>
        <p:nvSpPr>
          <p:cNvPr id="7" name="Text 6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</a:rPr>
              <a:t>"현재 구조 유지시 매년 약3,200만원 차이. 10년이면 3억 넘는 차이인데, 이 격차를 줄이는 방법을 보시겠습니까?"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4773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A017"/>
                </a:solidFill>
              </a:rPr>
              <a:t>▶ 기회비용을 확인합니다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046720" y="1097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E86DE"/>
                </a:solidFill>
              </a:rPr>
              <a:t>[선택]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가지급금 해소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017"/>
                </a:solidFill>
              </a:rPr>
              <a:t>[로드맵] 3.2억을 3년 내 해소하는 방법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0972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</a:rPr>
              <a:t>해소 방법별 세후비용 비교로 최적경로 선택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해소방법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방식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세후비용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장단점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급여인상 상환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월급여↑→상환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소득세+4대보험↑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즉시가능/보험료↑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상여금 지급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연1~2회→상환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소득세 누진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탄력적용/세율주의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배당후 상환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배당→법인상환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배당소득세15.4%~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종합과세 주의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퇴직금 정산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중간정산→상환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분리과세(저율)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요건충족시 유리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74320" y="292608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AAAAAA"/>
                </a:solidFill>
              </a:rPr>
              <a:t>※ 개별법인 세무상황에 따라 다름. 세무사·회계사 사전검토 필수. 법인세법§52(현행기준, 확인필요)</a:t>
            </a:r>
            <a:endParaRPr lang="en-US" sz="700" dirty="0"/>
          </a:p>
        </p:txBody>
      </p:sp>
      <p:sp>
        <p:nvSpPr>
          <p:cNvPr id="8" name="Text 7"/>
          <p:cNvSpPr/>
          <p:nvPr/>
        </p:nvSpPr>
        <p:spPr>
          <a:xfrm>
            <a:off x="548640" y="3246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</a:rPr>
              <a:t>추천: 급여+상여+배당 혼합→세율분산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</a:rPr>
              <a:t>목표: 1년차1.2억/2년차1.2억/3년차0.8억→3년 해소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</a:rPr>
              <a:t>해소시 인정이자 연~1,400만 절감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</a:rPr>
              <a:t>"한가지 방법만으로 갚으면 세금부담이 커집니다. 여러 방법을 섞어 세율을 분산합니다."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48640" y="4773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A017"/>
                </a:solidFill>
              </a:rPr>
              <a:t>▶ 기회비용을 확인합니다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기회비용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017"/>
                </a:solidFill>
              </a:rPr>
              <a:t>[시간] 지금 시작하면 월 부담이 낮고 선택지가 넓어집니다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</a:rPr>
              <a:t>현재 구조 1년 유지시 누적되는 기회비용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1463040"/>
          <a:ext cx="45720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394960" y="1463040"/>
            <a:ext cx="32004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394960" y="1463040"/>
            <a:ext cx="54864" cy="7772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577840" y="15361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6454F"/>
                </a:solidFill>
              </a:rPr>
              <a:t>세후소득 격차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577840" y="17373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</a:rPr>
              <a:t>연 3,200만원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577840" y="198424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비율 미조정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394960" y="2377440"/>
            <a:ext cx="32004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394960" y="2377440"/>
            <a:ext cx="54864" cy="7772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577840" y="24505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6454F"/>
                </a:solidFill>
              </a:rPr>
              <a:t>인정이자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577840" y="26517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</a:rPr>
              <a:t>연 ~1,400만원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577840" y="289864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가지급금 미해소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394960" y="3291840"/>
            <a:ext cx="32004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5394960" y="3291840"/>
            <a:ext cx="54864" cy="7772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5577840" y="33649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6454F"/>
                </a:solidFill>
              </a:rPr>
              <a:t>세액공제 미활용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577840" y="35661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</a:rPr>
              <a:t>연 ~148만원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577840" y="381304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IRP 0원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74320" y="41605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AAAAAA"/>
                </a:solidFill>
              </a:rPr>
              <a:t>※ 보수적가정(연3%) 시뮬레이션. 실제금액은 세법·시장·개인조건에 따라 다름. 확정수익 아님.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</a:rPr>
              <a:t>"1년만 유지해도 약4,600만원의 기회비용. 시간이 지날수록 차이가 커집니다."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48640" y="4773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A017"/>
                </a:solidFill>
              </a:rPr>
              <a:t>▶ 설계 원칙을 보겠습니다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플래닝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017"/>
                </a:solidFill>
              </a:rPr>
              <a:t>[설계] 재배치로 급여·배당·퇴직금 구조를 새로 짭니다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</a:rPr>
              <a:t>현재 자원 재배치 3원칙으로 세후소득 극대화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265176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6454F"/>
                </a:solidFill>
              </a:rPr>
              <a:t>원칙1: 급여·배당 최적조합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1E1E"/>
                </a:solidFill>
              </a:rPr>
              <a:t>급여 인상(동종업계 수준)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1E1E"/>
                </a:solidFill>
              </a:rPr>
              <a:t>4대보험 증가분은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1E1E"/>
                </a:solidFill>
              </a:rPr>
              <a:t>배당 조정으로 균형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4A017"/>
                </a:solidFill>
              </a:rPr>
              <a:t>보험·연금: 실행지속성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383280" y="15087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383280" y="1508760"/>
            <a:ext cx="2651760" cy="54864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47472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6454F"/>
                </a:solidFill>
              </a:rPr>
              <a:t>원칙2: 퇴직금 외부적립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20116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1E1E"/>
                </a:solidFill>
              </a:rPr>
              <a:t>내부충당→경영인정기보험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1E1E"/>
                </a:solidFill>
              </a:rPr>
              <a:t>법인 현금흐름 안정화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1E1E"/>
                </a:solidFill>
              </a:rPr>
              <a:t>분리과세 효과 극대화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74720" y="3291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4A017"/>
                </a:solidFill>
              </a:rPr>
              <a:t>보험·연금: 유동성+리스크전가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217920" y="15087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217920" y="1508760"/>
            <a:ext cx="2651760" cy="54864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30936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6454F"/>
                </a:solidFill>
              </a:rPr>
              <a:t>원칙3: 개인 세액공제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20116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1E1E"/>
                </a:solidFill>
              </a:rPr>
              <a:t>IRP+연금저축 연900만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1E1E"/>
                </a:solidFill>
              </a:rPr>
              <a:t>세액공제+노후 현금흐름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1E1E"/>
                </a:solidFill>
              </a:rPr>
              <a:t>(조특법§86의2)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09360" y="3291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4A017"/>
                </a:solidFill>
              </a:rPr>
              <a:t>보험·연금: 지속성+절세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48640" y="39319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</a:rPr>
              <a:t>고객의 투자성향·재무상태에 따라 적합한 상품이 달라질 수 있습니다(금융소비자보호법§17)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</a:rPr>
              <a:t>"기존 자원을 재배치하는 것만으로 세후소득이 달라집니다. 새 부담이 아니라 효율을 높이는 겁니다."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4773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A017"/>
                </a:solidFill>
              </a:rPr>
              <a:t>▶ A안과 B안을 비교합니다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솔루션 A/B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017"/>
                </a:solidFill>
              </a:rPr>
              <a:t>[비교] 효과우선 vs 부담우선 — 어느 쪽이 마음이 놓이십니까?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</a:rPr>
              <a:t>두 안 모두 현재보다 세후소득이 개선됩니다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A안(효과우선)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B안(부담우선)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급여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월1,200만(연1.44억)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월1,000만(연1.2억)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배당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연3,000만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연2,000만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가지급금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2년 내 해소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3년 내 해소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법인보험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월300만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월200만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개인 IRP+연금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월75만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추후검토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총 부담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월375만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월200만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세후 실수령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4A017"/>
                          </a:solidFill>
                        </a:rPr>
                        <a:t>연1.2억+(+3,200만)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</a:rPr>
                        <a:t>연1억+(+1,200만)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보험·연금 역할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유동성+리스크전가+지속성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유동성+지속성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388620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AAAAAA"/>
                </a:solidFill>
              </a:rPr>
              <a:t>※ 현행세법 시뮬레이션. 확정수익 아님. 중도해지시 납입보험료보다 적은 금액을 돌려받을 수 있습니다(상품설명서 참조).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</a:rPr>
              <a:t>"A안은 효과가 빠르고 B안은 부담이 적습니다. 어느 쪽이 더 마음이 놓이십니까?"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4773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A017"/>
                </a:solidFill>
              </a:rPr>
              <a:t>▶ 부족분 매칭표를 확인합니다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솔루션 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017"/>
                </a:solidFill>
              </a:rPr>
              <a:t>[매칭] 부족분→해결요소→적용수단 연결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</a:rPr>
              <a:t>각 부족분이 어떤 수단으로 채워지는지 확인합니다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부족분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해결요소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적용수단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세후소득 격차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급여·배당 최적화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급여인상+배당조정(세무사확인)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가지급금 3.2억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혼합해소전략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급여·상여·배당 조합상환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퇴직금 미적립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외부적립 전환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경영인정기보험(법인)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유고시 유동성공백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유동성 확보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CEO종신보험(법인)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세액공제 미활용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개인 절세구조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IRP+연금저축(개인)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노후 현금흐름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연금수령 구조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연금저축+IRP 전환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657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</a:rPr>
              <a:t>적합한 상품은 투자성향·재무상태에 따라 다름(금소법§17)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</a:rPr>
              <a:t>법인보험 손금산입은 세무전문가 확인 필요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</a:rPr>
              <a:t>보험 부적합 항목은 세무컨설팅으로 보완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</a:rPr>
              <a:t>"부족분마다 매칭되면 빈칸없이 채워집니다. 실행순서만 정하시면 됩니다."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4773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A017"/>
                </a:solidFill>
              </a:rPr>
              <a:t>▶ 마지막으로 체크합니다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017"/>
                </a:solidFill>
              </a:rPr>
              <a:t>[실행] 만족스러우셨다면 체크만 하시면 됩니다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</a:rPr>
              <a:t>이 체크는 오늘 검토한 내용을 다음 단계로 진행하는 체크입니다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64008" cy="64008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77240" y="15087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</a:rPr>
              <a:t>☐  A안 진행 (효과 우선)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급여1,200만+배당3,000만+법인보험월300만+IRP월75만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64008" cy="64008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</a:rPr>
              <a:t>☐  B안 진행 (부담 우선)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6060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급여1,000만+배당2,000만+법인보험월200만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64008" cy="64008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77240" y="30632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</a:rPr>
              <a:t>☐  보완 후 재결정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3832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보완항목:                    / 재결정날짜:       월      일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8640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6454F"/>
                </a:solidFill>
              </a:rPr>
              <a:t>다음 단계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0690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E1E1E"/>
                </a:solidFill>
              </a:rPr>
              <a:t>1. 세무사 협의(급여·배당+가지급금 확정)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E1E1E"/>
                </a:solidFill>
              </a:rPr>
              <a:t>2. 보험 인수심사(고혈압 고지)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E1E1E"/>
                </a:solidFill>
              </a:rPr>
              <a:t>3. 정관 퇴직금 규정 최신화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E1E1E"/>
                </a:solidFill>
              </a:rPr>
              <a:t>4. IRP·연금저축 계좌개설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E1E1E"/>
                </a:solidFill>
              </a:rPr>
              <a:t>5. 분기1회 정기점검(세후소득 변동, 가지급금 잔액, 보험계약 유지현황, 세법개정사항 리뷰)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74320" y="47548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AAAAAA"/>
                </a:solidFill>
              </a:rPr>
              <a:t>본 자료는 상담 보조 자료이며, 계약 체결 전 상품설명서 및 약관을 반드시 확인하시기 바랍니다.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컨설턴트 참고용 — 고객 비공개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</a:rPr>
              <a:t>상담 전 체크리스트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</a:rPr>
              <a:t>준비물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1E1E"/>
                </a:solidFill>
              </a:rPr>
              <a:t>□ 최신 재무제표 확인(이익잉여금28억,가지급금3.2억)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1E1E"/>
                </a:solidFill>
              </a:rPr>
              <a:t>□ 정관사본(퇴직금2배수→개정필요여부)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1E1E"/>
                </a:solidFill>
              </a:rPr>
              <a:t>□ 세무사·회계사 연락처(교차검증용)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1E1E"/>
                </a:solidFill>
              </a:rPr>
              <a:t>□ 보험인수심사 사전확인(고혈압5년→제한가능)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1E1E"/>
                </a:solidFill>
              </a:rPr>
              <a:t>□ 가지급금 상환이력(2021년이후)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1E1E"/>
                </a:solidFill>
              </a:rPr>
              <a:t>□ 명함·태블릿·계산기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754880" y="9144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DE"/>
                </a:solidFill>
              </a:rPr>
              <a:t>확인사항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11430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1E1E"/>
                </a:solidFill>
              </a:rPr>
              <a:t>• 의사결정자: 대표단독(배우자 동석여부 확인)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1E1E"/>
                </a:solidFill>
              </a:rPr>
              <a:t>• 상담시간: 40분(전문가형→60분확보)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1E1E"/>
                </a:solidFill>
              </a:rPr>
              <a:t>• 사전우려: 세무조사, 4대보험↑, 보험가입가능여부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54880" y="19659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</a:rPr>
              <a:t>핵심니즈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21945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1E1E"/>
                </a:solidFill>
              </a:rPr>
              <a:t>• 목표: 세후8,800만→1.2억+ 개선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1E1E"/>
                </a:solidFill>
              </a:rPr>
              <a:t>• 부족분: 급여·배당 비효율+가지급금3.2억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1E1E"/>
                </a:solidFill>
              </a:rPr>
              <a:t>• 결론질문: A안vs B안 어느쪽?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</a:rPr>
              <a:t>맞춤 준비사항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154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1E1E"/>
                </a:solidFill>
              </a:rPr>
              <a:t>1. 고혈압(5년)→인수심사: 정기보험가능, 체증형종신 부담보/할증 가능→대안2~3개 준비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1E1E"/>
                </a:solidFill>
              </a:rPr>
              <a:t>2. 전문가형→숫자·비교표·법조항 위주. '세무사 교차검증' 강조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1E1E"/>
                </a:solidFill>
              </a:rPr>
              <a:t>3. 배우자급여300만→동종업계 등기이사 급여근거 사전준비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88888"/>
                </a:solidFill>
              </a:rPr>
              <a:t>본 PT: 코어12장+확장3장=고객용 총15장 (확장사유: 인출방법3가지A2, 법인+개인B2, 가지급금)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컨설턴트 참고용 — 고객 비공개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</a:rPr>
              <a:t>예상 반대 처리 스크립트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C0000"/>
                </a:solidFill>
              </a:rPr>
              <a:t>신뢰반대[최우선]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033272"/>
            <a:ext cx="2560320" cy="603504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"급여올리면 세무조사?"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108960" y="1033272"/>
            <a:ext cx="557784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200400" y="1051560"/>
            <a:ext cx="53949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1E1E"/>
                </a:solidFill>
              </a:rPr>
              <a:t>공감: 세무리스크 먼저 생각하시는게 당연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1E1E"/>
                </a:solidFill>
              </a:rPr>
              <a:t>전환: 동종업계 대표급여 기준 적정범위 확인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1E1E"/>
                </a:solidFill>
              </a:rPr>
              <a:t>근거: 매출80~100억 제조업 대표 평균1,200~1,500만. 현재800만은 낮은편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1E1E"/>
                </a:solidFill>
              </a:rPr>
              <a:t>포인트: 세무사 사전검토→적정범위내 인상은 리스크아님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1728216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6454F"/>
                </a:solidFill>
              </a:rPr>
              <a:t>비용반대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1892808"/>
            <a:ext cx="2560320" cy="512064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1911096"/>
            <a:ext cx="23774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"보험료 월300만 부담"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108960" y="1892808"/>
            <a:ext cx="5577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00400" y="1911096"/>
            <a:ext cx="53949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1E1E"/>
                </a:solidFill>
              </a:rPr>
              <a:t>공감: 적은 금액은 아님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1E1E"/>
                </a:solidFill>
              </a:rPr>
              <a:t>전환: 법인비용 처리시 실질부담 변화 확인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1E1E"/>
                </a:solidFill>
              </a:rPr>
              <a:t>근거: 월여유3,500만 중 300만(8.6%). 인정이자 절감분 상쇄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1E1E"/>
                </a:solidFill>
              </a:rPr>
              <a:t>포인트: B안(200만)부터 시작 가능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57200" y="249631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6454F"/>
                </a:solidFill>
              </a:rPr>
              <a:t>제3자반대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2660904"/>
            <a:ext cx="2560320" cy="512064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8640" y="2679192"/>
            <a:ext cx="23774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"세무사와 상의해봐야"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108960" y="2660904"/>
            <a:ext cx="5577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200400" y="2679192"/>
            <a:ext cx="53949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1E1E"/>
                </a:solidFill>
              </a:rPr>
              <a:t>공감: 당연합니다. 전문가형이신 대표님다우십니다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1E1E"/>
                </a:solidFill>
              </a:rPr>
              <a:t>전환: 오늘 방향만 정하고 이 자료로 세무사 검토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1E1E"/>
                </a:solidFill>
              </a:rPr>
              <a:t>포인트: '교차검증용 자료'로 포지셔닝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57200" y="32644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6454F"/>
                </a:solidFill>
              </a:rPr>
              <a:t>지연반대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2560320" cy="512064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48640" y="3447288"/>
            <a:ext cx="23774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"좀 더 생각할게요"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108960" y="3429000"/>
            <a:ext cx="5577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200400" y="3447288"/>
            <a:ext cx="53949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1E1E"/>
                </a:solidFill>
              </a:rPr>
              <a:t>공감: 충분히 검토후 결정이 맞습니다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1E1E"/>
                </a:solidFill>
              </a:rPr>
              <a:t>전환: 1년유지시 기회비용 4,600만. 재결정날짜만 잡아두기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1E1E"/>
                </a:solidFill>
              </a:rPr>
              <a:t>포인트: ☐보완후 재결정에 날짜 써넣기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7200" y="4032504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6454F"/>
                </a:solidFill>
              </a:rPr>
              <a:t>비교반대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4197096"/>
            <a:ext cx="2560320" cy="512064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48640" y="4215384"/>
            <a:ext cx="23774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"다른데서도 받아볼게요"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108960" y="4197096"/>
            <a:ext cx="5577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200400" y="4215384"/>
            <a:ext cx="53949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1E1E"/>
                </a:solidFill>
              </a:rPr>
              <a:t>공감: 비교는 좋은 판단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1E1E"/>
                </a:solidFill>
              </a:rPr>
              <a:t>전환: 세후실수령 기준 비교가 정확. 이 자료의 시뮬기준 공유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1E1E"/>
                </a:solidFill>
              </a:rPr>
              <a:t>포인트: 비교기준 세팅→경쟁우위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컨설턴트 참고용 — 고객 비공개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</a:rPr>
              <a:t>시간 배분 &amp; 분기 시나리오 (40분)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9144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No.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슬라이드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시간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핵심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생략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01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표지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1분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프로필확인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X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02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결정사항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2분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A/B프레이밍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X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03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현재진단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3분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KPI인식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X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04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현재상황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3분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데이터확인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△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05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우선순위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2분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순서선택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X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06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제도기준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3분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세율차이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X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06-2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제도상세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2분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방법비교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O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07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부족분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3분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격차시각화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X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07-2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가지급금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2분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해소로드맵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O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08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기회비용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3분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누적차트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X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09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플래닝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3분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3원칙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X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10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A/B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4분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비교표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X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11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솔루션2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3분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매칭표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X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12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Next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4분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체크+클로징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1E1E"/>
                          </a:solidFill>
                        </a:rPr>
                        <a:t>X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3891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1E1E"/>
                </a:solidFill>
              </a:rPr>
              <a:t>분기: 긍정→순서대로 | 질문多→심화 | 부정→08점프 | 조기동의→10이동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74320" y="46177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7AE60"/>
                </a:solidFill>
              </a:rPr>
              <a:t>전환포인트: 03'이렇게적었나?'→관심 | 07'줄이려면?'→욕구 | 08'빨리해야'→동기 | 10'A가낫긴해'→선택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컨설턴트 참고용 — 고객 비공개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</a:rPr>
              <a:t>A/B 시뮬레이션 상세 + 시나리오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현재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88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A안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B안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</a:rPr>
                        <a:t>급여(월/연)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</a:rPr>
                        <a:t>800만/9,600만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</a:rPr>
                        <a:t>1,200만/1.44억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</a:rPr>
                        <a:t>1,000만/1.2억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</a:rPr>
                        <a:t>상여(연)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</a:rPr>
                        <a:t>없음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</a:rPr>
                        <a:t>1,000만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</a:rPr>
                        <a:t>없음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</a:rPr>
                        <a:t>배당(연)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</a:rPr>
                        <a:t>2,000만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</a:rPr>
                        <a:t>3,000만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</a:rPr>
                        <a:t>2,000만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</a:rPr>
                        <a:t>총인출(세전)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</a:rPr>
                        <a:t>1.16억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</a:rPr>
                        <a:t>1.87억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</a:rPr>
                        <a:t>1.4억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1E1E"/>
                          </a:solidFill>
                        </a:rPr>
                        <a:t>세후실수령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1E1E"/>
                          </a:solidFill>
                        </a:rPr>
                        <a:t>약8,800만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1E1E"/>
                          </a:solidFill>
                        </a:rPr>
                        <a:t>약1.32억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1E1E"/>
                          </a:solidFill>
                        </a:rPr>
                        <a:t>약1.02억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1E1E"/>
                          </a:solidFill>
                        </a:rPr>
                        <a:t>실수령증가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1E1E"/>
                          </a:solidFill>
                        </a:rPr>
                        <a:t>-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1E1E"/>
                          </a:solidFill>
                        </a:rPr>
                        <a:t>+4,400만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1E1E"/>
                          </a:solidFill>
                        </a:rPr>
                        <a:t>+1,400만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</a:rPr>
                        <a:t>법인보험(월)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</a:rPr>
                        <a:t>0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</a:rPr>
                        <a:t>300만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</a:rPr>
                        <a:t>200만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</a:rPr>
                        <a:t>개인IRP(월)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</a:rPr>
                        <a:t>0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</a:rPr>
                        <a:t>75만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</a:rPr>
                        <a:t>추후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</a:rPr>
                        <a:t>가지급금해소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</a:rPr>
                        <a:t>미해소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</a:rPr>
                        <a:t>2년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</a:rPr>
                        <a:t>3년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320040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88888"/>
                </a:solidFill>
              </a:rPr>
              <a:t>※ 보수적가정. 확정수익아님.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274320" y="3429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</a:rPr>
              <a:t>"만약~라면?" 시나리오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" y="365760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1E1E"/>
                </a:solidFill>
              </a:rPr>
              <a:t>• 건강악화→인수불가시: 정기보험(무심사)대안+저축성전환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1E1E"/>
                </a:solidFill>
              </a:rPr>
              <a:t>• 장남 지분매각요구: 자기주식취득(상법§341)+소각 or 종류주식 검토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1E1E"/>
                </a:solidFill>
              </a:rPr>
              <a:t>• 세법개정→퇴직금배수변경: 현행기준 적립후 개정맞춰 조정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1E1E"/>
                </a:solidFill>
              </a:rPr>
              <a:t>• 배우자급여 부당행위부인: 등기이사급여근거+업무내역 문서화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1E1E"/>
                </a:solidFill>
              </a:rPr>
              <a:t>• 가지급금해소중 세무조사: 해소계획서+세무사의견서 선제준비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컨설턴트 참고용 — 고객 비공개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</a:rPr>
              <a:t>후속 미팅 계획 &amp; 메시지 템플릿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액션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서류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E1E1E"/>
                          </a:solidFill>
                        </a:rPr>
                        <a:t>Step1(당일)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</a:rPr>
                        <a:t>A/B체크+세무사미팅일정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88888"/>
                          </a:solidFill>
                        </a:rPr>
                        <a:t>PT자료공유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E1E1E"/>
                          </a:solidFill>
                        </a:rPr>
                        <a:t>Step2(1주차)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</a:rPr>
                        <a:t>세무사 교차검증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88888"/>
                          </a:solidFill>
                        </a:rPr>
                        <a:t>재무제표,정관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E1E1E"/>
                          </a:solidFill>
                        </a:rPr>
                        <a:t>Step3(2주차)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</a:rPr>
                        <a:t>보험인수심사(고혈압고지)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88888"/>
                          </a:solidFill>
                        </a:rPr>
                        <a:t>건강진단서,투약이력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E1E1E"/>
                          </a:solidFill>
                        </a:rPr>
                        <a:t>Step4(3~4주)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</a:rPr>
                        <a:t>최종설계확정미팅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88888"/>
                          </a:solidFill>
                        </a:rPr>
                        <a:t>수정시뮬레이션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E1E1E"/>
                          </a:solidFill>
                        </a:rPr>
                        <a:t>Step5(4~5주)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</a:rPr>
                        <a:t>계약+IRP개설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88888"/>
                          </a:solidFill>
                        </a:rPr>
                        <a:t>청약서,신분증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7432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</a:rPr>
              <a:t>후속 메시지 템플릿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74320" y="3017520"/>
            <a:ext cx="274320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274320" y="3017520"/>
            <a:ext cx="2743200" cy="36576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65760" y="30906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</a:rPr>
              <a:t>상담직후(당일)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65760" y="3310128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1E1E"/>
                </a:solidFill>
              </a:rPr>
              <a:t>대표님, 오늘 시간 감사합니다. 세무사검토후 다음미팅 일정 잡겠습니다. 자료 별도 발송드립니다.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200400" y="3017520"/>
            <a:ext cx="274320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3291840" y="30906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</a:rPr>
              <a:t>1주후 팔로업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291840" y="3310128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1E1E"/>
                </a:solidFill>
              </a:rPr>
              <a:t>지난주 세무사 검토 진행상황이 궁금합니다. 추가자료 필요시 바로 준비드립니다.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6126480" y="3017520"/>
            <a:ext cx="274320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6126480" y="3017520"/>
            <a:ext cx="2743200" cy="36576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6217920" y="30906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</a:rPr>
              <a:t>서류요청(2주차)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217920" y="3310128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1E1E"/>
                </a:solidFill>
              </a:rPr>
              <a:t>보험인수심사 서류: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1E1E"/>
                </a:solidFill>
              </a:rPr>
              <a:t>1) 최근건강검진결과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1E1E"/>
                </a:solidFill>
              </a:rPr>
              <a:t>2) 투약확인서(고혈압)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1E1E"/>
                </a:solidFill>
              </a:rPr>
              <a:t>준비되시면 말씀 부탁드립니다.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3549</Words>
  <Application>Microsoft Office PowerPoint</Application>
  <PresentationFormat>화면 슬라이드 쇼(16:9)</PresentationFormat>
  <Paragraphs>582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Arial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CEO 세후소득 극대화 전략 포트폴리오</dc:title>
  <dc:subject>PptxGenJS Presentation</dc:subject>
  <dc:creator>KFPC</dc:creator>
  <cp:lastModifiedBy>광호 이</cp:lastModifiedBy>
  <cp:revision>2</cp:revision>
  <dcterms:created xsi:type="dcterms:W3CDTF">2026-02-09T11:37:18Z</dcterms:created>
  <dcterms:modified xsi:type="dcterms:W3CDTF">2026-02-09T11:40:08Z</dcterms:modified>
</cp:coreProperties>
</file>