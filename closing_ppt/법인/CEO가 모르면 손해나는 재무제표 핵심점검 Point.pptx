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66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잔액(만원)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2026상반기</c:v>
                </c:pt>
                <c:pt idx="2">
                  <c:v>2026하반기</c:v>
                </c:pt>
                <c:pt idx="3">
                  <c:v>2027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</c:v>
                </c:pt>
                <c:pt idx="1">
                  <c:v>18000</c:v>
                </c:pt>
                <c:pt idx="2">
                  <c:v>9000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8-4AC2-AB10-69D01B8DE6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총비용(만원)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2026시작</c:v>
                </c:pt>
                <c:pt idx="1">
                  <c:v>2029시작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4800</c:v>
                </c:pt>
                <c:pt idx="1">
                  <c:v>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F-4CDF-A401-DF046C294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김도현 대표의 신뢰 확보, PT 방향(A/B 선택) 제시
핵심 질문(Yes-Set): "재무제표 숫자 변화가 법인 비용에 어떤 영향을 주는지 궁금하셨던 적 있으시죠?"
전환 포인트: '보험 판매가 아니라 재무제표 점검'이라는 포지셔닝
주의 문구: 과장·단정 금지
코칭: 프로필 카드에 시선을 두고 고개를 끄덕이면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의사결정 프레임을 'Yes/No'가 아닌 'A/B'로 세팅
핵심 질문: "정리 시점을 고민해 보신 적 있으시죠?"
전환 포인트: 두 카드를 비교하는 순간
주의 문구: '반드시 A안' 단정 금지
코칭: 한쪽을 더 오래 바라보면 성향 힌트. 10번에서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핵심 4대 리스크를 KPI로 한눈에 보여줌
핵심 질문: "가지급금이 쌓이면서 생기는 비용을 체크해 보신 적?"
전환 포인트: '0원' 유고 재원에 반응하는 순간
주의 문구: 공포유발 금지
코칭: '가지급금이 그렇게 많았나?' 반응하면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법인+개인 데이터 객관적 나열 → 숫자 기반 대화 토대
핵심 질문: "이 숫자들 중 가장 먼저 손대고 싶은 항목?"
코칭: 특정 항목 질문 시 05번으로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고객이 '내가 우선순위를 정한다'는 주도권 인식
핵심 질문: "어떤 항목이 가장 신경 쓰이시나요?"
코칭: 순위를 지정하면 '대표님 판단이 맞습니다'로 긍정.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법·세무 근거 제시 → '감이 아니라 제도 기준'으로 판단
핵심 질문: "정리 방법이 여러 가지인데, 어떤 기준으로 선택해야 할지?"
주의 문구: '전액 비용 처리 가능' 절대 금지.
코칭: 설명 시간 약 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부족분 숫자로 시각화 → 정리 이유 객관적 인식 (긴장 최고점)
핵심 질문: "이 격차 중 어떤 항목이 가장 빨리 해결되면 좋겠나요?"
주의 문구: '큰일' '재앙' 공포 표현 금지.
코칭: 설명 시간 약 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목적: 가지급금 해소 방법·비용 비교</a:t>
            </a:r>
          </a:p>
          <a:p>
            <a:r>
              <a:t>핵심 질문: "세 가지 방법 중 어떤 게 가장 현실적으로 느껴지시나요?"</a:t>
            </a:r>
          </a:p>
          <a:p>
            <a:r>
              <a:t>전환 포인트: 자기주식(이익소각)의 법인 자본 정리 효과에 관심</a:t>
            </a:r>
          </a:p>
          <a:p>
            <a:r>
              <a:t>주의 문구: '전액 비용 처리 가능' 금지. '세무사 확인 필요' 병기.</a:t>
            </a:r>
          </a:p>
          <a:p>
            <a:r>
              <a:t>코칭: 이 슬라이드 설명 시간 약 2분. 건너뛸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목적: '미루는 비용'을 숫자로 보여줌</a:t>
            </a:r>
          </a:p>
          <a:p>
            <a:r>
              <a:t>핵심 질문: "같은 효과를 위해 나중에 더 큰 비용을 쓸지, 지금 시작할지?"</a:t>
            </a:r>
          </a:p>
          <a:p>
            <a:r>
              <a:t>전환 포인트: 1,600만원 추가 비용 수치에 반응</a:t>
            </a:r>
          </a:p>
          <a:p>
            <a:r>
              <a:t>주의 문구: '재앙' '마지막 기회' 금지. '기회비용'으로만.</a:t>
            </a:r>
          </a:p>
          <a:p>
            <a:r>
              <a:t>코칭: '빨리 하는 게 낫겠네'라고 말하면 09번으로.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목적: '해지·교체'가 아닌 '재배치·추가' → 안도 전환</a:t>
            </a:r>
          </a:p>
          <a:p>
            <a:r>
              <a:t>핵심 질문: "기존 보험 유지하면서 부족한 부분만 채우는 방향이 편하시죠?"</a:t>
            </a:r>
          </a:p>
          <a:p>
            <a:r>
              <a:t>전환 포인트: '해지 안 해도 된다'에 안도하는 순간</a:t>
            </a:r>
          </a:p>
          <a:p>
            <a:r>
              <a:t>주의 문구: 보험 솔루션 연결 시 유동성/리스크전가/실행지속성 명시</a:t>
            </a:r>
          </a:p>
          <a:p>
            <a:r>
              <a:t>코칭: '지금 거 유지하면 되는 거죠?'라고 물으면 '맞습니다'.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목적: A/B 구체 비교 → 고객 스스로 판단</a:t>
            </a:r>
          </a:p>
          <a:p>
            <a:r>
              <a:t>핵심 질문: "A안과 B안 중 더 마음이 놓이는 쪽은?"</a:t>
            </a:r>
          </a:p>
          <a:p>
            <a:r>
              <a:t>전환 포인트: 한쪽 안을 선택하거나 질문하는 순간</a:t>
            </a:r>
          </a:p>
          <a:p>
            <a:r>
              <a:t>주의 문구: '반드시 A안' 단정 금지</a:t>
            </a:r>
          </a:p>
          <a:p>
            <a:r>
              <a:t>코칭: B안 선호 시 '현금흐름 보호가 우선이시군요. 좋은 판단입니다.' 설명 약 4분.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목적: 부족분→해결수단 1:1 매칭 → 안도감</a:t>
            </a:r>
          </a:p>
          <a:p>
            <a:r>
              <a:t>핵심 질문: "빠진 부분 없이 정리되었는지 확인해 주시겠습니까?"</a:t>
            </a:r>
          </a:p>
          <a:p>
            <a:r>
              <a:t>전환 포인트: 표를 훑으며 고개를 끄덕이는 순간</a:t>
            </a:r>
          </a:p>
          <a:p>
            <a:r>
              <a:t>주의 문구: 보험 부적합 시 '보완 옵션' 추가. 상품명 앞세우기 금지.</a:t>
            </a:r>
          </a:p>
          <a:p>
            <a:r>
              <a:t>코칭: '다 맞는 것 같다'면 12번으로.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목적: 편안한 착지. 체크만 하면 끝이라는 심리적 부담 최소화</a:t>
            </a:r>
          </a:p>
          <a:p>
            <a:r>
              <a:t>핵심 질문: "어떤 방식으로 진행하면 편하실까요?"</a:t>
            </a:r>
          </a:p>
          <a:p>
            <a:r>
              <a:t>전환 포인트: 고객이 펜을 잡거나 한쪽을 가리키는 순간</a:t>
            </a:r>
          </a:p>
          <a:p>
            <a:r>
              <a:t>주의 문구: '반드시 해야 합니다' 금지. '체크'라는 가벼운 표현.</a:t>
            </a:r>
          </a:p>
          <a:p>
            <a:r>
              <a:t>코칭: 침묵 유지. 고객이 말할 때까지 기다린다.</a:t>
            </a:r>
          </a:p>
          <a:p>
            <a:endParaRPr/>
          </a:p>
          <a:p>
            <a:r>
              <a:t>=== 4가지 성향별 클로징 스크립트 ===</a:t>
            </a:r>
          </a:p>
          <a:p>
            <a:endParaRPr/>
          </a:p>
          <a:p>
            <a:r>
              <a:t>[추천] 1. 논리·전문가형 (김도현 대표 추천)</a:t>
            </a:r>
          </a:p>
          <a:p>
            <a:r>
              <a:t>"대표님, 오늘 확인하신 숫자 — 가지급금 인정이자 연 1,200만원, 유고 재원 0원, 퇴직재원 격차 3.4억원입니다. 이 세 가지를 법이 정한 기준 안에서 가장 비용 효율적으로 정리하는 경로가 A안과 B안입니다. 어느 쪽이 대표님의 현금흐름에 맞는지 체크해 주시겠습니까?" [잠시 침묵]</a:t>
            </a:r>
          </a:p>
          <a:p>
            <a:endParaRPr/>
          </a:p>
          <a:p>
            <a:r>
              <a:t>2. 감성·가족중심형</a:t>
            </a:r>
          </a:p>
          <a:p>
            <a:r>
              <a:t>"대표님, 22명 직원과 가족의 생활이 대표님 한 분에게 달려 있는 구조입니다. 오늘 준비한 안전장치는 건강하게 사업을 이끌 때도, 혹시 쉬어야 할 때도 회사와 가족이 안정적으로 유지되는 구조입니다." [잠시 침묵]</a:t>
            </a:r>
          </a:p>
          <a:p>
            <a:endParaRPr/>
          </a:p>
          <a:p>
            <a:r>
              <a:t>3. 안정·보수형</a:t>
            </a:r>
          </a:p>
          <a:p>
            <a:r>
              <a:t>"대표님, B안은 현재 현금흐름을 거의 건드리지 않으면서 시작할 수 있습니다. 월 50만원으로 시작하고, 가지급금 정리가 진행되면 여유가 생길 때 단계적으로 확대하는 구조입니다." [잠시 침묵]</a:t>
            </a:r>
          </a:p>
          <a:p>
            <a:endParaRPr/>
          </a:p>
          <a:p>
            <a:r>
              <a:t>4. 결정지연·신중형</a:t>
            </a:r>
          </a:p>
          <a:p>
            <a:r>
              <a:t>"대표님, 오늘 바로 결정하지 않으셔도 됩니다. 다만 인정이자는 매일 쌓이고, 보험료는 나이가 올라갈수록 높아집니다. 2주 안에 세무사 미팅 한 번 잡아두시면 어떨까요?" [잠시 침묵]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457200"/>
            <a:ext cx="347472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CEO가 모르면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손해나는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재무제표 핵심 점검 포인트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김도현 대표님을 위한 맞춤 컨설팅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685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김도현 (48세)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577840" y="17373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83680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(주)한빛테크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2103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전자부품 제조·유통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77840" y="24688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업력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0" y="2468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14년 (2012 설립)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77840" y="28346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83680" y="28346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85억원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004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0" y="3200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22명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AI를 활용하여 생성되었으며, 검증과정을 거쳤으나 참고용으로 사용하시기 바랍니다. 실무 적용 시에는 분야별 전문가와 반드시 협의 후 사용하시기 바랍니다.(본 자료의 사용에 따라 발생하는 모든 책임은 사용자에게 있음을 알려드립니다.)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결정사항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3대 리스크, 어떤 순서로 정리할까요?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'할지 말지'가 아니라 '어떤 방식으로 정리할지' 선택합니다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6304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40080" y="1463040"/>
            <a:ext cx="36576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1572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A안: 효과 우선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19202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2.6억 1.5~2년 가속 정리 (세율 분산)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즉시 가입 (유고 리스크 차단)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임원퇴직금 정관 정비 + 재원 분리 착수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 80만원 + 개인 월 40만원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429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리스크 제거 → 절세 효과를 높일 수 있습니다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146304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846320" y="1463040"/>
            <a:ext cx="365760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029200" y="1572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B안: 부담 우선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0" y="19202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2년 단계 정리 (현금흐름 보호)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소규모 시작 → 단계 증액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퇴직재원·IRP는 세무사 협의 후 2단계 적용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 50만원 → 점진 확대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3429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 안정 → 단계적 리스크 정리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가지급금이나 이익잉여금 정리 시점을 고민해 보신 적 있으시죠? 오늘은 어떤 순서가 가장 효율적인지 함께 확인해 보겠습니다."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먼저 현재 재무제표의 핵심 숫자부터 함께 보시겠습니다.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현재진단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재무제표에서 확인된 4가지 핵심 지표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보는 (주)한빛테크 — 매출은 성장, 리스크는 누적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148132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" y="1810512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30352" y="1975104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2.6억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30352" y="257860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연 약 1,200만 추산
(가지급금 2.6억 × 인정이자율 가정, 현행 기준)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2606040" y="1371600"/>
            <a:ext cx="192024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4813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79192" y="1810512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679192" y="1975104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8.4억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679192" y="257860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배당·활용 미계획 누적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754880" y="1371600"/>
            <a:ext cx="192024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148132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28032" y="1810512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유고 재원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828032" y="1975104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0원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828032" y="257860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미가입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6903720" y="1371600"/>
            <a:ext cx="192024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148132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76872" y="1810512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 재원분리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976872" y="1975104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미분리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6976872" y="257860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적립률 낮음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548640" y="2971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매출 85억·영업이익 6억, 외형은 건전하나 재무제표 이면 리스크 누적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인정이자(법인세법 제52조)는 이중 과세 부담 발생 가능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유고 시 운전자금·대출상환·경영 공백 동시 커버 안전장치 부재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매출이나 이익은 매년 확인하시지만, 가지급금이 쌓이면서 생기는 비용은 체크해 보신 적 있으신가요?"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4가지 항목의 구체적 숫자를 함께 확인하겠습니다.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현재상황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(주)한빛테크 법인·대표 재무 데이터 일람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법인과 대표 개인의 자산·부채·현금흐름을 한 장에 정리합니다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법인 재무 현황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금액/내용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이익잉여금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미처분이익잉여금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부채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현금흐름 여유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450만원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84632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대표 개인 현황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금액/내용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연소득(세전)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아파트(시가)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금융자산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주택담보대출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실수령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720만원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지출 합계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725만원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여유자금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75만원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법인 월 여유 450만원, 개인 75만원 수준입니다. 가지급금 인정이자까지 포함하면 실제 여유는 더 줄어들 수 있습니다."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중 가장 먼저 정리하고 싶은 항목을 확인하겠습니다.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실행우선순위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리스크 중 어디부터 정리할지 순서를 잡습니다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것을 한 번에 할 수 없다면, 가장 급한 것부터 확인합니다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384048" cy="384048"/>
          </a:xfrm>
          <a:prstGeom prst="lin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가지급금 정리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60934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인정이자·가산세 리스크가 매년 누적 → 가장 먼저 정리해야 비용 흐름 개선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2167128"/>
            <a:ext cx="384048" cy="384048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5156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대표 유고 재원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235915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 공백 시 운전자금·대출상환 안전장치 → 건강 이슈 감안 인수심사 시점 관리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" y="2916936"/>
            <a:ext cx="384048" cy="384048"/>
          </a:xfrm>
          <a:prstGeom prst="lin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051560" y="287121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미처분이익잉여금 활용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31089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8.4억 누적 → 배당·퇴직금·자기주식 등 계획적 활용 검토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" y="3666744"/>
            <a:ext cx="384048" cy="384048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4864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051560" y="36210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퇴직재원 분리·연금 설계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1560" y="385876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적립률 개선 + IRP·연금저축 → 대표 은퇴(60세) 대비 설계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이 4가지 중 어떤 항목이 가장 신경 쓰이시나요? 대표님이 급하다고 느끼시는 순서대로 정리하겠습니다. (세무사·회계사 사전 검토 후 실행)"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1순위 가지급금 관련 법·세무 기준을 먼저 확인하겠습니다.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제도활용(기준)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가지급금·이익잉여금·퇴직금 관련 핵심 세무 기준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법과 제도가 정한 기준을 먼저 확인해야, 가장 효율적인 경로가 보입니다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97480" cy="457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14630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원칙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7373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인정이자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제52조」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특수관계인 가지급금에 인정이자 가산 (현행 기준, 확인 필요)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임원퇴직금 한도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「소득세법 시행령 제42조의2」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근속연수×직전3년 평균급여×배수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자기주식 취득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「상법 제341조」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배당가능이익 한도 내에서만 취득 가능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37560" y="137160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69748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429000" y="14630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예외·활용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29000" y="17373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미처분이익잉여금: 배당·상여·퇴직금·자기주식 등 복수 경로 활용 가능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경로별 세율 차이 검토 필요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손금산입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시행령 제19조」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요건 충족 시 손금산입 가능 여부를 세무 전문가와 확인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217920" y="137160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217920" y="1371600"/>
            <a:ext cx="269748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309360" y="14630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주의사항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17373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해소 시 세무조사 촉발 가능성 → 방법·시기를 세무사와 사전 협의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임원퇴직금 배수·정관 규정 → 최근 개정 이력 확인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이익소각 시 정관·주주총회 결의 등 법률 요건 충족 여부 별도 확인 필요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법이 정한 기준 안에서 가장 비용이 적은 경로를 찾는 게 핵심입니다."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기준을 바탕으로, 부족한 부분이 구체적으로 얼마인지 확인하겠습니다.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부족한 부분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대비 현재 준비 상태의 격차가 확인됩니다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재원과 현재 준비된 금액 사이의 차이를 정리합니다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수준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준비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해소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해소 계획 없음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유고 시 긴급자금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5억원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임원퇴직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3.8억원 추산
(근속14년×평균급여, 정관 확인 필요)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3,500만원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3.4억원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은퇴 후 월 생활비 격차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300만원(목표)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국민연금 170만원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130만원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소득보장(질병·장해)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소득 70% 이상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종신 1억(사망만)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질병·장해 공백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794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현재 입력 정보 기반 추산이며, 실제 금액은 세무·법률 검토 후 달라질 수 있습니다. 확정 수익을 의미하지 않습니다.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가장 큰 격차는 '유고 시 긴급자금 5억원'과 '가지급금 2.6억원 해소'입니다. 이 두 가지를 먼저 다루면 나머지 부담이 줄어듭니다."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격차를 방치하면 시간이 지날수록 비용이 어떻게 달라지는지 확인하겠습니다.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가지급금 해소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2.6억원 단계별 정리 계획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1097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[선택]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해소 방법별 비용 차이를 비교하고, 연도별 잔액 추이를 확인합니다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해소 방법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단점/주의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세부담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 인상 상계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자연스러운 방법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소득세/4대보험/건보료 인상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실효 약 38%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 상계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4대보험 없음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배당소득세+종합과세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실효 약 30~38%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자기주식 취득(이익소각)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의제배당 과세, 법인 자본 정리 효과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정관·주총 결의 필요, 배당가능이익 한도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실효 약 15~27% (확인 필요)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457200" y="3017520"/>
          <a:ext cx="43891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512064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세무사/회계사 사전 검토 필수 (현행 기준, 확인 필요). 단기간 대규모 인출 시 세무조사 대상이 될 수 있으므로 연도별 분산 정리가 권장됩니다.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57200" y="427939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보수적 가정 기반 시뮬레이션. 확정 수익 아님.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기회비용을 확인하겠습니다.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7-2 / 18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시작 vs 3년 후, 결과 차이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일찍 시작할수록 월 부담이 낮아지고 선택지가 넓어집니다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9748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66928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공백기간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6928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유고 재원 0원 상태 지속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3337560" y="1371600"/>
            <a:ext cx="269748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447288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비용 상승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47288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+15~20%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447288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48세에서 51세 보험료 상승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17920" y="137160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217920" y="1371600"/>
            <a:ext cx="269748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327648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27648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3,600만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27648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3년 누적(보수적)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57200" y="3200400"/>
          <a:ext cx="411480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4846320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지연 시 약 1,600만원 추가 비용 추산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7200" y="3977639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보수적 가정(연복리 3%) 기반. 확정 수익 아님.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정리하면 매년 약 1,200만원 인정이자를 멈출 수 있습니다 (현행 기준, 확인 필요).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설계 방향을 보시겠습니다.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플래닝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해지가 아니라 재배치, 3가지 원칙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자산을 무너뜨리지 않으면서 부족한 부분을 채웁니다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97480" cy="457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5087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1965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유동성 확보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2221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현금이 언제 필요한가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31520" y="2715768"/>
            <a:ext cx="2148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48640" y="2788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경영인정기보험으로 즉시 현금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337560" y="13716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3337560" y="1371600"/>
            <a:ext cx="269748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1965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 전가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429000" y="2221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손실을 예산화(보험료)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11880" y="2715768"/>
            <a:ext cx="2148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3429000" y="2788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80만원으로 5억 재원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217920" y="13716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217920" y="1371600"/>
            <a:ext cx="2697480" cy="457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5087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09360" y="1965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지속성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309360" y="2221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계약으로 목표 고정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92240" y="2715768"/>
            <a:ext cx="2148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6309360" y="2788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퇴직연금+IRP로 은퇴 대비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457200" y="391363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성향과 재무 상태에 따라 적합한 상품이 달라질 수 있습니다.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종신/실손은 유지, 부족한 법인 리스크와 퇴직 재원만 추가합니다.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A안과 B안을 비교하겠습니다.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A/B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 80만 vs 50만, 두 가지 경로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우선(A)과 부담 우선(B), 어느 쪽이 편하시나요?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 (효과 우선)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 (부담 우선)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월 보험료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80만원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50만원(점진 확대)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월 보험료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40만원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20만원(단계 증액)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5억+장해, 즉시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3억, 소규모 시작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정리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1.5~2년 가속 (세율 분산)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2년 단계 정리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퇴직재원/IRP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재원분리+IRP 월30만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세무사 협의 후 2단계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기대 효과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 차단+유고5억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현금흐름 보호+단계축소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보험/연금 역할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유동성+리스크전가+지속성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유동성+리스크전가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7673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보수적 가정. 중도 해지 시 납입보험료보다 적은 금액 수령 가능(상품설명서 참조). A안 개인 납입(월40만) 시 가계 현금흐름 점검 후 조정이 필요할 수 있습니다. 가지급금 정리 과정에서 급여·배당 증가로 개인 여유자금 확보 후 가입을 권장합니다.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A안은 속도, B안은 안정성. 어느 쪽이 더 마음이 놓이시나요? (경영인정기보험은 보장성 요건 충족 시 손금산입 가능하나, 해약환급금 적립률에 따라 비용 인정이 부인될 수 있으므로 세무사 사전 협의 필수)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구성요소 매칭을 확인합니다.</a:t>
            </a:r>
            <a:endParaRPr lang="en-US" sz="750" dirty="0"/>
          </a:p>
        </p:txBody>
      </p:sp>
      <p:sp>
        <p:nvSpPr>
          <p:cNvPr id="8" name="Text 8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부족분 → 해결요소 → 적용수단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격차를 어떤 도구로 채울 수 있는지 정리합니다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 요소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수단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2.6억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급여+배당 상계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세무로드맵(법인세법 제52조)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유고 긴급자금 5억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 현금(유동성+전가)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경영인정기보험(법인)
(보장성 요건 충족 시 손금, 해약환급금 관리 필요)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임원퇴직 3.4억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재원분리+정관정비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법인플랜+DC개선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은퇴 월130만 격차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연금 현금흐름(지속성)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IRP+연금저축(조특법86조의2)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소득보장 공백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소득중단 방어(전가)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소득보장보험(개인)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931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성향과 재무 상태에 따라 적합한 상품이 달라질 수 있습니다.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572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부족분 중 보험/연금이 4개 역할합니다.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44348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단계를 확정하겠습니다.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검토한 내용을 다음 단계로 진행합니다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방식으로 시작할지 체크합니다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288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258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54864" cy="56692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134416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☐ A안 진행 (효과 우선)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6002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월80만+개인40만 / 가지급금 1.5~2년 가속 정리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98424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1984248"/>
            <a:ext cx="54864" cy="56692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0080" y="20025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☐ B안 진행 (부담 우선)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25856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월50만(단계확대) / 가지급금 2년 정리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64261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457200" y="2642616"/>
            <a:ext cx="54864" cy="566928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0080" y="26609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☐ 보완 후 재결정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91693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 항목: __________ / 재결정 날짜: __월__일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566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0. 가지급금 정리 방식 확정 → 급여/배당 증가 → 개인 여유자금 확인
Step 1. 세무사와 가지급금 해소 확정 (2주)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정관 퇴직금 배수 확인 (1주)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경영인정기보험 인수심사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4. 2차 미팅 - 확정 설계안 검토
(이후 분기 1회 점검: 가지급금 잔액·보험 유지·세법 개정 확인)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114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방식으로 진행하면 편하실까요? [잠시 침묵]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46177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전 상품설명서/약관을 확인하시기 바랍니다.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- 고객 비공개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상담 전 체크리스트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재무제표 최신본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정관 사본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세무사 연락처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인수심사 사전확인(혈압/간수치)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가지급금 내역서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명함/태블릿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가지급금 정리 + 유고 방화벽, 유고 5억(현재 0), 전문가형/숫자 중심
☐ 고용세액공제 수혜 여부 확인 (인건비 조정 시 공제 영향 검토)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/ 18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- 고객 비공개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예상 반대 처리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0525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세무조사 우려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247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방치가 더 불리. 계획적 정리는 정상 처리.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80만 부담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93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B안 월50만. 인정이자 절감으로 여유 발생.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회계사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73405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확인할 3가지: 정관 배수/해소법/손금산입.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3192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좀 더 생각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5387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매일 3.3만 누적. 2주후 세무사 미팅만.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12394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곳 비교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포인트: 손금산입/인수심사/정관세무 연동.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/ 18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- 고객 비공개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시간 배분 (40분)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신뢰 구축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결정사항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프레임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현재진단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4개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현재상황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우선순위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선택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제도활용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법조항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부족한 부분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 테이블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해소 방법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기회비용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미루는 비용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플래닝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3원칙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솔루션A/B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3열 매칭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클로징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분기: 긍정-&gt;다음 | 질문多-&gt;심화 | 부정-&gt;05번 | 조기동의-&gt;10번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/ 18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- 고객 비공개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시뮬레이션 상세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사망5억+장해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사망3억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2억+장해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2027~2028 목표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2028완료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인정이자절감(2년)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약2,400만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약1,800만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약600만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만약 시나리오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3218688"/>
            <a:ext cx="8046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 악화로 인수 불가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혈압/간수치 경계. 시간 경과 시 조건부여/거절 가능.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57200" y="370332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48640" y="3721608"/>
            <a:ext cx="8046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세법 개정 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38862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현행 기준 적립분은 보호 가능성 높음(확인필요).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57200" y="420624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48640" y="4224528"/>
            <a:ext cx="8046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공동창업자 지분 요구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8640" y="43891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 활용 또는 자기주식 취득(상법341조).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57200" y="464515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보수적 가정(연복리 3%) 기반.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/ 18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- 고객 비공개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후속 미팅 계획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274320" cy="2743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6070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문자 + A/B 확인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274320" cy="2743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914400" y="126187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40817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세무사 미팅 + 정관 확보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1627632"/>
            <a:ext cx="274320" cy="2743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1627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914400" y="160934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75564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확정 + 인수심사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1975104"/>
            <a:ext cx="274320" cy="2743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914400" y="195681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10312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인수심사 결과 + 2차 미팅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322576"/>
            <a:ext cx="274320" cy="2743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2322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914400" y="2304288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4505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체결 + 정관 정비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914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후속 메시지 템플릿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937760" y="1216152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직후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대표님, 귀한 시간 감사합니다. 세부 시뮬레이션을 다음 주까지 보내드리겠습니다.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37760" y="2084832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 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세무사 미팅 일정 잡히셨나요? 인수심사 서류도 준비하겠습니다.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46320" y="283464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937760" y="2862072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 요청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3776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서류: 1.건강검진(1년) 2.정관사본 3.재무제표(2개년)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코어12장+확장1장=고객13장+참고5장=총18장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/ 18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3286</Words>
  <Application>Microsoft Office PowerPoint</Application>
  <PresentationFormat>화면 슬라이드 쇼(16:9)</PresentationFormat>
  <Paragraphs>517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재무제표 핵심 점검</dc:title>
  <dc:subject>PptxGenJS Presentation</dc:subject>
  <dc:creator>KFPC</dc:creator>
  <cp:lastModifiedBy>광호 이</cp:lastModifiedBy>
  <cp:revision>2</cp:revision>
  <dcterms:created xsi:type="dcterms:W3CDTF">2026-02-10T10:22:00Z</dcterms:created>
  <dcterms:modified xsi:type="dcterms:W3CDTF">2026-02-10T10:44:11Z</dcterms:modified>
</cp:coreProperties>
</file>