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지금 시작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인정이자 과세</c:v>
                  </c:pt>
                  <c:pt idx="1">
                    <c:v>보험료 증가분</c:v>
                  </c:pt>
                  <c:pt idx="2">
                    <c:v>승계비용 증가분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1년 후 시작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인정이자 과세</c:v>
                  </c:pt>
                  <c:pt idx="1">
                    <c:v>보험료 증가분</c:v>
                  </c:pt>
                  <c:pt idx="2">
                    <c:v>승계비용 증가분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1900</c:v>
                </c:pt>
                <c:pt idx="1">
                  <c:v>360</c:v>
                </c:pt>
                <c:pt idx="2">
                  <c:v>3000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3년 후 시작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인정이자 과세</c:v>
                  </c:pt>
                  <c:pt idx="1">
                    <c:v>보험료 증가분</c:v>
                  </c:pt>
                  <c:pt idx="2">
                    <c:v>승계비용 증가분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5700</c:v>
                </c:pt>
                <c:pt idx="1">
                  <c:v>1200</c:v>
                </c:pt>
                <c:pt idx="2">
                  <c:v>9000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첫인상 — '나를 위한 맞춤 자료'라는 인식 심기
핵심 질문(Yes-Set): "대표님, 오늘 준비한 자료는 대영테크의 현재 상황에 맞춰 정리한 것입니다. 한번 같이 살펴보시겠습니까?"
전환 포인트: 고객 이름과 법인명이 정확히 들어간 자료를 보여주는 순간 신뢰가 형성됨
주의 문구: 과장된 효과나 약속 없이, 검토 자료임을 명확히 함
코칭: 고객이 고개를 끄덕이거나 '네, 보겠습니다'라고 하면 다음으로 넘어간다.
이 슬라이드 설명 시간: 약 1분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'진행 여부'가 아닌 '적용 방식(A/B)' 프레이밍으로 심리적 허들 제거
핵심 질문(Yes-Set): "23년간 회사를 운영하시면서, 정관 정비의 필요성은 이미 느끼고 계셨지요?"
전환 포인트: A/B 두 가지 모두 '정리를 한다'는 전제에서 출발 — 거부가 아닌 선택으로 유도
주의 문구: '반드시 해야 한다'가 아닌 '검토가 필요한 사항'으로 표현
코칭: 고객이 A/B 중 하나에 관심을 보이면 다음으로 넘어간다. 둘 다 부담스러워하면 B안 중심으로 진행.
이 슬라이드 설명 시간: 약 2분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현재 상태의 객관적 스냅샷 — 4가지 리스크를 한눈에 인지시키기
핵심 질문(Yes-Set): "대표님, 이 4가지 중에서 가장 신경 쓰이시는 부분이 있으시죠?"
전환 포인트: 개별 수치보다 '4가지가 동시에'라는 복합 리스크 인식이 핵심
주의 문구: '위험하다'가 아닌 '확인이 필요하다'는 톤 유지. 공포 유발 금지.
코칭: 고객이 특정 항목에 반응하면 해당 항목 중심으로 04번을 설명한다.
이 슬라이드 설명 시간: 약 2분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기초 데이터를 숫자·구조·현황으로 객관화
핵심 질문(Yes-Set): "매출 180억 법인의 정관에 퇴직금 규정이 없다는 것, 좀 불안하게 느껴지시지 않으셨나요?"
전환 포인트: 빨간색(경고) 표시된 항목들이 시각적으로 '정리 필요' 항목을 인지시킴
주의 문구: '큰 문제'가 아닌 '정리가 필요한 부분'으로 표현
코칭: 고객이 표를 훑어보며 경고 항목에 눈이 가면 성공. '어떤 부분이 가장 신경 쓰이세요?'로 전환.
이 슬라이드 설명 시간: 약 3분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고객이 직접 우선순위를 확인·동의하게 하여 주도감 부여
핵심 질문(Yes-Set): "세무 리스크 방어가 가장 급하고, 승계는 그 다음이라고 보시는 게 맞으시죠?"
전환 포인트: 고객이 '순서'에 동의하는 순간 — 이미 실행을 전제로 대화가 진행됨
주의 문구: '해야 합니다'가 아닌 '이 순서가 맞으신지' 확인형 질문 사용
코칭: 고객이 순서를 바꾸고 싶어 하면 즉시 반영. 순서 동의가 나오면 06번으로.
이 슬라이드 설명 시간: 약 2분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법·세무·제도 근거를 제시하여 전문성 인식 + 객관성 확보
핵심 질문(Yes-Set): "정관에 퇴직금 규정이 있어야 손금산입이 된다는 점, 이미 알고 계셨죠?"
전환 포인트: '원칙→예외→주의' 구조로 설명하면 '철저하게 검토했다'는 신뢰 형성
주의 문구: '전액 비용 처리 가능' 표현 절대 금지. '요건 충족 시 손금산입 가능 여부를 세무 전문가와 확인' 표현 사용
코칭: 고객이 법조항에 관심을 보이면 노트의 세부 내용으로 보충. '다른 회사도 이렇게 하느냐'는 질문이 나오면 '제조업 중견기업의 일반적 정관 정비 사례'로 안심시킴.
이 슬라이드 설명 시간: 약 3분
【법조항 상세】
소득세법 시행령 제42조의2: 퇴직소득 한도 = 직전 1년 총급여 × 1/10 × 근속연수 × 지급배수. 지급배수는 정관 또는 정관에 준하는 규정에 의함.
법인세법 시행령 제44조: 임원 퇴직급여를 손금에 산입할 때, 정관에 정한 금액을 한도로 함.
법인세법 제52조: 특수관계인 간 거래에서 부당행위계산 부인. 가지급금 인정이자 포함.
상법 제341조: 자기주식 취득 요건 — 배당가능이익 한도 내에서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승계 관련 법적 기반 — 종류주식·의결권 특례가 '특별한 것'이 아닌 '일반적 정비 사항'임을 인지시키기
핵심 질문(Yes-Set): "장남에게 경영권을 넘기실 때, 법적으로 안전한 장치가 있으면 좋겠다고 생각하신 적 있으시죠?"
전환 포인트: '다른 회사도 한다'는 사례 언급이 보수형 고객에게 결정적
주의 문구: 가업승계 증여특례의 사후관리 요건이 엄격함을 반드시 언급
코칭: 고객이 '이건 나중에'라고 하면 즉시 수용 — 이 슬라이드는 [선택]이므로 건너뛰어도 됨.
이 슬라이드 설명 시간: 약 2분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필요 - 현재 = 격차 시각화 → 격차 인식이 행동 동기의 핵심
핵심 질문(Yes-Set): "이 격차를 보시면, 정관 정비가 왜 1순위인지 자연스럽게 이해되시죠?"
전환 포인트: 합계 행의 '20~22억' 격차 — 이 숫자를 보는 순간 '무언가 해야 한다'는 인식 형성
주의 문구: '위험하다/급하다'가 아닌 '채워갈 수 있는 격차'로 표현. 격차가 크다고 공포 유도 금지.
코칭: 고객이 숫자에 놀라면 '한꺼번에가 아니라 단계적으로'를 강조. '먼저 정관부터'로 돌아옴.
이 슬라이드 설명 시간: 약 3분
【법조항 참조】
퇴직금 산출 근거: 소득세법 시행령 제42조의2 (직전1년 총급여 × 1/10 × 근속연수 × 3배수)
가지급금 인정이자: 법인세법 제52조, 시행령 제89조 (적용이율 4.6%, 현행 기준 확인 필요)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'무대응의 비용'을 3요소로 시각화 → 행동 동기 부여
핵심 질문(Yes-Set): "해마다 인정이자가 1,900만원씩 나간다는 것, 아까운 비용이라고 느끼시죠?"
전환 포인트: '3년 후' 바의 높이를 보는 순간 — '지금이 가장 유리하다'는 인식
주의 문구: '지금 안 하면 큰일'이 아닌 '시작 시점에 따라 비용 차이가 발생합니다' 톤
코칭: 고객이 차트를 보며 '그렇군요'라고 하면 09번으로. 의심하면 수치 근거 설명.
이 슬라이드 설명 시간: 약 2분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해결 원칙 3가지를 제시하여 '체계적 접근'임을 인식시키기
핵심 질문(Yes-Set): "법적 기반을 먼저 갖추고, 그 위에 보험 설계를 얹는 순서가 합리적이라고 보시지요?"
전환 포인트: '해지가 아니라 재배치'라는 프레이밍 → 기존 것을 버리는 게 아닌 구조를 잡는 것
주의 문구: 적합성 원칙 고지 — '고객의 투자 성향과 재무 상태에 따라 적합한 상품이 달라질 수 있습니다'
코칭: 3가지 원칙에 고객이 고개를 끄덕이면 → 10번(A/B 비교)으로 넘어감.
이 슬라이드 설명 시간: 약 2분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A/B 비교를 통해 '진행 여부'가 아닌 '적용 방식' 선택으로 유도
핵심 질문(Yes-Set): "단계적으로 진행하시는 게 편하시다고 하셨는데, B안이 더 맞으실 것 같으시죠?"
전환 포인트: 보수형 고객에게는 B안을 먼저 설명 → 'A안은 이런 장점도 있다' 순서
주의 문구: '반드시 A안/B안을 해야 한다'가 아닌 '어느 쪽이 더 편하신지' 선택형 질문
코칭: 고객이 B안에 끄덕이면 B안 중심으로 11번 연결. 배우자 설득 관련 언급 시 'B안의 단계적 접근이 설득에 유리하다' 포인트 강조.
이 슬라이드 설명 시간: 약 3분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부족분 → 해결요소 → 적용수단 매칭으로 '빈칸이 채워지는' 느낌 전달
핵심 질문(Yes-Set): "이렇게 하나하나 채워가면, 전체 그림이 정리되는 느낌이 드시죠?"
전환 포인트: 적용수단 열에 보험·연금이 구체적으로 들어간 것을 확인하는 순간
주의 문구: 적합성 원칙 고지 반복. 보험 솔루션 연결 논리(유동성·리스크전가·실행지속성) 중 최소 1개 사용.
코칭: 고객이 '이 정도면 괜찮겠네요'라고 하면 12번(진행 확정)으로. 의문이 있으면 해당 행 상세 설명.
이 슬라이드 설명 시간: 약 3분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【교육 레이어】
목적: 편안한 착지 — 체크만 하면 끝이라는 인식으로 최종 결정 유도
핵심 질문(Yes-Set): "오늘 정리한 내용이 도움이 되셨다면, 다음 단계를 어떤 방식으로 진행하면 편하실까요?"
전환 포인트: '이 체크는 오늘 검토한 내용을 다음 단계로 진행하는 체크입니다'
주의 문구: 공포·압박 절대 금지. '편하실까요?' 톤 유지.
코칭: 고객이 B안을 선택하면 → Step 1 세무사 미팅 일정 잡기로 바로 연결. '보완 후 재결정'을 선택해도 재결정 날짜를 반드시 확정할 것.
침묵의 기술: 체크 제안 후 [잠시 침묵]. 고객이 먼저 말하게 둔다.
이 슬라이드 설명 시간: 약 3분
【성향별 스크립트 상세】
추천: 안정·보수형 — 이 고객은 '다른 회사도 한다'는 사례 확인과 '세무사 확인 후 진행'이라는 안전장치를 중시함.
배우자 김미정님의 보험료 지출 우려에 대해: B안의 1단계는 보험 가입 없이 정관 정비만이므로, 추가 비용 없이 시작할 수 있다는 점을 강조.
차남(5%) 동의 관련: 정관 변경은 주주총회 특별결의(2/3 이상)이므로, 대표 68% + 배우자 17% = 85%로 결의 가능. 단, 차남과의 관계 관리 차원에서 사전 소통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박정훈 대표님을 위한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정관점검 및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임원 퇴직금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재원확보 플래닝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13716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(주)대영테크 | 자동차부품 제조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2026. 2.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60720" y="731520"/>
            <a:ext cx="2926080" cy="3657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0" y="146304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프로필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법인명: (주)대영테크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대표: 박정훈 (57세)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업종: 제조업(자동차부품)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업력: 23년 / 매출 180억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직원: 62명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지분: 대표 68% / 배우자 17%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장남 10% / 차남 5%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결정사항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594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[정관 정비] : 오늘 확정할 것은 '할지 말지'가 아니라 '어떻게 진행할지'입니다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정관 정비와 퇴직금 재원 확보, 두 가지 방식 중 대표님 상황에 맞는 방법을 선택합니다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63040"/>
            <a:ext cx="384048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A안: 효과 우선 — 통합 정비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19202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정관 개정(퇴직금 배수·종류주식·배당규정)을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번의 주주총회로 일괄 처리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경영인정기보험 즉시 가입으로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퇴직금 재원 확보 + 가지급금 상계 병행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속도↑ / 초기 부담↑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846320" y="146304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463040"/>
            <a:ext cx="384048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B안: 부담 우선 — 단계적 실행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0" y="19202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1단계: 정관 정비(퇴직금 배수 우선)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2단계: 경영인정기보험 설계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3단계: 종류주식·승계 설계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 세무사·회계사 확인 후 진행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변화 최소화, 리스크 분산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안정성↑ / 완료 시점 늦어짐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1605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"대표님, 23년간 쌓아오신 회사의 기반을 체계적으로 정리하는 것이 중요하시다고 느끼셨을 텐데요. 오늘은 그 정리를 어떤 순서로, 어떤 속도로 할지 함께 정해보겠습니다."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7200" y="4572000"/>
            <a:ext cx="822960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먼저, 현재 상태를 객관적으로 확인해 보겠습니다 →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현재진단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594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[리스크 스냅샷] : 4가지 핵심 지표로 보는 (주)대영테크의 현재 위치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정관 미비·가지급금·잉여금 누적·승계 부재 — 4가지 리스크가 동시에 확인됩니다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63040"/>
            <a:ext cx="1920240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002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1920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정관 퇴직금 규정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4864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부재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8640" y="2468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손금산입 근거 불확실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2560320" y="146304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560320" y="1463040"/>
            <a:ext cx="1920240" cy="54864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6002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51760" y="1920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265176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4.2억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2651760" y="2468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인정이자 연 1,900만 발생</a:t>
            </a:r>
            <a:endParaRPr lang="en-US" sz="700" dirty="0"/>
          </a:p>
        </p:txBody>
      </p:sp>
      <p:sp>
        <p:nvSpPr>
          <p:cNvPr id="19" name="Shape 14"/>
          <p:cNvSpPr/>
          <p:nvPr/>
        </p:nvSpPr>
        <p:spPr>
          <a:xfrm>
            <a:off x="4663440" y="146304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1463040"/>
            <a:ext cx="1920240" cy="54864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6002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54880" y="1920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미처분이익잉여금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475488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31억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4754880" y="2468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 상승 → 승계비용 증가</a:t>
            </a:r>
            <a:endParaRPr lang="en-US" sz="700" dirty="0"/>
          </a:p>
        </p:txBody>
      </p:sp>
      <p:sp>
        <p:nvSpPr>
          <p:cNvPr id="25" name="Shape 19"/>
          <p:cNvSpPr/>
          <p:nvPr/>
        </p:nvSpPr>
        <p:spPr>
          <a:xfrm>
            <a:off x="6766560" y="146304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766560" y="1463040"/>
            <a:ext cx="1920240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60020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858000" y="1920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경영인정기보험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685800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미가입</a:t>
            </a:r>
            <a:endParaRPr lang="en-US" sz="2200" dirty="0"/>
          </a:p>
        </p:txBody>
      </p:sp>
      <p:sp>
        <p:nvSpPr>
          <p:cNvPr id="30" name="Text 23"/>
          <p:cNvSpPr/>
          <p:nvPr/>
        </p:nvSpPr>
        <p:spPr>
          <a:xfrm>
            <a:off x="6858000" y="2468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유고 시 보장 공백</a:t>
            </a:r>
            <a:endParaRPr lang="en-US" sz="700" dirty="0"/>
          </a:p>
        </p:txBody>
      </p:sp>
      <p:sp>
        <p:nvSpPr>
          <p:cNvPr id="31" name="Text 24"/>
          <p:cNvSpPr/>
          <p:nvPr/>
        </p:nvSpPr>
        <p:spPr>
          <a:xfrm>
            <a:off x="457200" y="2880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정관에 임원퇴직금 지급배수 규정이 없어 퇴직 시 약 5.5억의 손금산입 근거가 불확실합니다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4.2억에 대해 매년 인정이자(4.6% 기준) 약 1,900만원이 대표 상여 처분되고 있습니다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미처분이익잉여금 31억 누적으로 주당 가치가 상승하여, 장남 승계 시 증여세 부담이 커지고 있습니다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경영인정기보험 미가입으로 대표 유고 시 법인의 유동성 방어 수단이 없는 상태입니다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"대표님, 23년간 탄탄하게 성장시킨 회사인데, 지금 이 4가지를 정리하면 훨씬 안정적인 구조가 될 수 있습니다. 하나씩 확인해 보시겠습니까?"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457200" y="4572000"/>
            <a:ext cx="822960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4" name="Text 2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항목의 구체적인 숫자를 확인해 보겠습니다 →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현재상황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594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[숫자 기반 점검] : (주)대영테크 재무·정관·보험 현황 데이터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법인과 대표 개인의 재무 데이터를 객관적 수치로 정리합니다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2926080"/>
                <a:gridCol w="3108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현황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 row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자본금/잉여금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자본금 5억 / 이익잉여금 38억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미처분이익잉여금 31억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가지급금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4.2억 (2019~2021 누적)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인정이자 연 1,900만원 과세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 부채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12억 (운영 8억 + 시설 4억)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현금흐름 여유 3,500만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경영인정기보험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미가입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유고 시 보장 공백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퇴직 제도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DC형(직원) / 임원은 충당금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정관 퇴직금 규정 없음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정관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임원퇴직금 규정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손금산입 한도 불확실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종류주식·의결권 특례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승계 법적 기반 미비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개인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급여·배당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급여 9,600만 / 배당 2,400만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연간 총 수입 1.2억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보험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종신 1억(완납) / CI 5천만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실손 월 8만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"대표님, 법인과 개인 모두 기본 체력은 탄탄합니다. 다만 정관과 세무 쪽에서 정리가 필요한 부분이 보입니다. 이 중 우선순위를 정해볼까요?"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457200" y="4572000"/>
            <a:ext cx="822960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중에서 무엇을 먼저 정리해야 할지 살펴보겠습니다 →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실행우선순위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594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[단계별 정리] : 대표님이 가장 중요하게 생각하시는 순서를 확인합니다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세무 리스크 방어 → 퇴직금 재원 확보 → 승계 기반 구축, 이 순서가 맞으십니까?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490472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05840" y="1508760"/>
            <a:ext cx="502920" cy="20116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150876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긴급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60020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정관 정비 (퇴직금 규정 신설)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0" y="1417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임원퇴직금 지급배수(3배수) 규정 신설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퇴직금 약 5.5억 손금산입 근거 확보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주주총회 특별결의 필요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240280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05840" y="2258568"/>
            <a:ext cx="502920" cy="20116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225856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160020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해소 + 보험 설계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46320" y="21671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경영인정기보험 가입 → 퇴직금 재원 적립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향후 해약환급금으로 가지급금 상계 활용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인정이자 과세 부담 단계적 해소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852928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990088"/>
            <a:ext cx="411480" cy="41148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2990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05840" y="3008376"/>
            <a:ext cx="502920" cy="20116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4" name="Text 21"/>
          <p:cNvSpPr/>
          <p:nvPr/>
        </p:nvSpPr>
        <p:spPr>
          <a:xfrm>
            <a:off x="1005840" y="300837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600200" y="2962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미처분이익잉여금 정리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846320" y="291693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배당 정책 수립 + 임원퇴직금 충당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주당 가치 하락 → 승계 비용 절감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법인 연금보험 활용 검토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57200" y="3602736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3739896"/>
            <a:ext cx="411480" cy="41148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37398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005840" y="3758184"/>
            <a:ext cx="502920" cy="20116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1" name="Text 28"/>
          <p:cNvSpPr/>
          <p:nvPr/>
        </p:nvSpPr>
        <p:spPr>
          <a:xfrm>
            <a:off x="1005840" y="375818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중장기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1600200" y="37124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승계 설계 (종류주식·지분 이전)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846320" y="36667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정관에 종류주식·의결권 특례 도입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장남 승계 법적 기반 마련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차남 지분 정리 방안 협의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"대표님, 한 번에 다 하시기보다 단계적으로 진행하시는 게 편하시다고 하셨는데, 이 순서가 맞으신지요? 1번부터 차근차근 확인해 보겠습니다."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4572000"/>
            <a:ext cx="822960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1순위인 정관 정비, 관련 제도와 기준을 먼저 살펴보겠습니다 →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제도활용(기준)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594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[법·세무 근거] : 정관 정비와 퇴직금 설계의 법적 기반을 확인합니다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법인세법·소득세법·상법에 따른 원칙과 예외, 주의사항을 정리합니다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17320"/>
            <a:ext cx="265176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원칙: 임원퇴직금 손금산입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" y="1828800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「소득세법 시행령 제42조의2」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퇴직금 = 퇴직일 현재 직전 1년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총급여 × 1/10 × 근속연수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지급배수(정관 규정)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「법인세법 시행령 제44조」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정관에 규정된 금액 한도 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손금산입 가능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지급배수는 정관 또는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주주총회 결의에 근거 필요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46120" y="141732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417320"/>
            <a:ext cx="265176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예외: 소급 적용 유의사항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83280" y="1828800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정관 변경 시점 이전 근속분에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대해 소급 적용 시: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세무당국이 부당행위로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부인할 가능성 존재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「법인세법 제52조」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특수관계인 간 부당행위계산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부인 규정 적용 가능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세무 전문가 사전 검토 필수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41732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35040" y="1417320"/>
            <a:ext cx="265176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가지급금 관련 규정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72200" y="1828800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「법인세법 제52조, 시행령 §89」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특수관계인 가지급금에 대해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인정이자 가산 의무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현행 적용이율: 4.6%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(현행 기준, 확인 필요)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미상환 시 대표 상여 처분 →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소득세·4대보험 추가 부담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조기 해소가 세무적으로 유리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위 법조항은 현행 기준이며, 최신 개정 여부 확인이 필요합니다. 개별 법인의 세무 상황에 따라 적용 가능 여부가 달라지므로 세무사·회계사 사전 검토가 필수입니다.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"대표님, 이 부분은 세무사님과 꼭 확인하셔야 하는 부분인데, 큰 틀에서 원칙과 주의할 점을 먼저 정리해 드린 겁니다. 이해가 되시나요?"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57200" y="4572000"/>
            <a:ext cx="822960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기준을 토대로, 현재 부족한 부분이 얼마인지 살펴보겠습니다 →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137160"/>
            <a:ext cx="731520" cy="228600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[선택]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82296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제도활용(상세)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22960" y="594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[승계 법적 기반] : 종류주식·의결권 특례 도입을 위한 상법 기준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장남 승계를 위한 정관 조항 도입 시 검토할 법적 요건을 정리합니다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2926080"/>
                <a:gridCol w="2560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근거 법조항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유의사항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종류주식 발행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상법 제344조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배당우선·의결권 제한주 등 정관에 규정 시 발행 가능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정관 변경 + 주총 특별결의 필요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의결권 배제·제한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상법 제344조의3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종류주식에 의결권 배제·제한 규정 가능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차남 지분(5%) 처리 시 활용 검토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자기주식 취득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상법 제341조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배당가능이익 범위 내 취득 가능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이사회 결의 + 배당가능이익 한도 확인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이익소각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상법 제343조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자기주식 소각으로 주식 수 감소 → 지분율 변동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주주 전원 동의 또는 정관 규정 필요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가업승계 증여특례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조특법 제30조의6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100억 한도, 10~20% 특례세율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10년 사후관리 요건 엄격 (현행 기준, 확인 필요)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위 법조항은 현행 기준이며, 최신 개정 여부 확인이 필요합니다. 정관·주주총회 결의 등 법률 요건 충족 여부는 별도 확인이 필요합니다.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"대표님, 종류주식이나 이익소각은 다른 중견 제조업체에서도 승계 시 많이 활용하는 방법입니다. 세무사·법무사와 함께 단계적으로 검토하시면 됩니다."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57200" y="4572000"/>
            <a:ext cx="822960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 현재 부족한 부분의 규모를 구체적으로 확인해 보겠습니다 →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부족한 부분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594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[격차 확인] : 필요한 재원 vs 현재 준비된 재원, 격차는 얼마입니까?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퇴직금 재원·가지급금 상환·승계 비용, 3가지 격차를 숫자로 확인합니다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2103120"/>
                <a:gridCol w="1920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필요 금액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준비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부족분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퇴직금 재원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5.5억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0원 (별도 적립 없음)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가지급금 상환 재원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 1~1.5억 상환 가능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2.7~3.2억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승계 증여세 재원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3~4억 (추정)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장남 개인 자금 미확인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3~4억 (추정)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경영인 유고 대비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매출 대비 최소 10억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종신 1억 (개인)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9억 이상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22.7~23.7억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1~2.5억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20~22억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승계 증여세는 잉여금 정리 정도에 따라 크게 달라질 수 있습니다. 위 수치는 현재 주당 가치 기준 추정이며, 실제 세액은 세무사와 확인이 필요합니다.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상기 수치는 현재 재무제표 기준 시뮬레이션이며, 실제 금액은 시장 상황·세법 변경·개인 조건에 따라 달라질 수 있습니다. 확정 금액을 의미하지 않습니다.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"대표님, 격차가 큰 것처럼 보이지만, 정관 정비와 보험 설계를 단계적으로 하면 상당 부분 채워갈 수 있습니다. 이 격차를 줄이는 비용을 한번 보시겠습니까?"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57200" y="4572000"/>
            <a:ext cx="822960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격차를 지금 시작하는 것과 미루는 것, 차이가 얼마인지 확인해 보겠습니다 →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기회비용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594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[시간의 가치] : 1년 미루면 달라지는 3가지 비용을 확인합니다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시작하면 월 부담이 낮고, 미룰수록 같은 효과를 위한 비용이 커집니다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37160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760720" y="1371600"/>
            <a:ext cx="29260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760720" y="1371600"/>
            <a:ext cx="292608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6"/>
          <p:cNvSpPr/>
          <p:nvPr/>
        </p:nvSpPr>
        <p:spPr>
          <a:xfrm>
            <a:off x="5897880" y="15087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인정이자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897880" y="1783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매년 약 1,900만원 추가 과세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3년 미정리 시 누적 약 5,700만원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5760720" y="2240280"/>
            <a:ext cx="29260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60720" y="2240280"/>
            <a:ext cx="29260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0"/>
          <p:cNvSpPr/>
          <p:nvPr/>
        </p:nvSpPr>
        <p:spPr>
          <a:xfrm>
            <a:off x="5897880" y="2377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상승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897880" y="26517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57세 vs 58세: 연간 약 360만원 차이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 조건 변화 시 인수 불가 가능성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760720" y="3108960"/>
            <a:ext cx="29260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60720" y="3108960"/>
            <a:ext cx="292608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8" name="Text 14"/>
          <p:cNvSpPr/>
          <p:nvPr/>
        </p:nvSpPr>
        <p:spPr>
          <a:xfrm>
            <a:off x="5897880" y="3246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승계 비용 증가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897880" y="3520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잉여금 연 3~5억 증가 추정 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주당가치 상승 → 증여세 연 3천만↑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57200" y="3977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상기 수치는 보수적 가정(인정이자율 4.6%, 보험료 연령 차이, 잉여금 연 증가 가정) 기반 시뮬레이션이며, 실제 금액은 달라질 수 있습니다.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"대표님, 미루는 것 자체가 비용이 되는 구조입니다. 일찍 시작할수록 월 부담이 낮고 선택지가 넓어집니다. 해결 방법을 보시겠습니까?"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57200" y="4572000"/>
            <a:ext cx="822960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그렇다면 어떤 원칙으로 설계해야 하는지 살펴보겠습니다 →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플래닝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594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[설계 3원칙] : 정관 정비 → 재원 확보 → 승계 기반, 이 순서로 설계합니다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해지가 아니라 재배치·구조 설계입니다. 3가지 원칙을 기반으로 플랜을 세웁니다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 1: 법적 기반 우선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8288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정관에 임원퇴직금 지급배수 3배 규정 신설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종류주식·의결권 특례 조항 도입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배당 규정 정비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모든 후속 설계의 법적 근거 확보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91840" y="137160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371600"/>
            <a:ext cx="265176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3" name="Text 10"/>
          <p:cNvSpPr/>
          <p:nvPr/>
        </p:nvSpPr>
        <p:spPr>
          <a:xfrm>
            <a:off x="342900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 2: 세무 리스크 방어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29000" y="18288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4.2억 단계적 해소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경영인정기보험 → 퇴직금 재원 적립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해약환급금으로 가지급금 상계 활용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인정이자 과세 부담 점진적 감소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26480" y="137160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1371600"/>
            <a:ext cx="2651760" cy="54864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64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 3: 승계 비용 절감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63640" y="18288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미처분이익잉여금 정리 → 주당가치 하락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배당·퇴직금 충당으로 잉여금 분산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적정 시점에 장남 지분이전 실행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증여세 부담 최소화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200" y="3931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보험·연금이 맡는 역할: 유동성 확보(사건 발생 시 즉시 현금) + 리스크 전가(큰 손실을 예산화) + 실행 지속성(계약 구조로 목표 고정)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"대표님, 이 3가지 원칙 순서대로 진행하면 되는 구조입니다. 그럼 구체적으로 A안과 B안을 비교해 보시겠습니까?"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57200" y="4572000"/>
            <a:ext cx="822960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원칙을 바탕으로 두 가지 구체적 선택안을 비교해 보겠습니다 →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고객의 투자 성향과 재무 상태에 따라 적합한 상품이 달라질 수 있습니다.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A/B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594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[두 가지 방법 비교] : 효과 우선 vs 부담 우선, 어느 쪽이 편하십니까?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A안은 속도, B안은 안정성에 초점을 맞춘 설계입니다. 대표님 상황에 맞게 선택하세요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566160"/>
                <a:gridCol w="3566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 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A안: 효과 우선 (통합 정비)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B안: 부담 우선 (단계적 실행)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정관 정비 범위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퇴직금 배수 + 종류주식 + 배당규정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1회 주총으로 일괄 처리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1단계: 퇴직금 배수 규정만 우선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2단계: 종류주식·배당규정 추후 처리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경영인정기보험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300만원 × 8년 납입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사망보장 10억 + 퇴직금 재원 적립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정관 정비와 동시 가입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300만원 × 8년 납입 (동일)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정관 정비 완료 후 가입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세무사 확인 후 진행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 연금보험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200만원 (잉여금 분산)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정기보험과 동시 시작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2단계에서 검토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정기보험 안정 후 추가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총 부담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500만원 (법인 부담)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300만원 → 추후 500만원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가지급금 해소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해약환급금 활용 상계 병행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대표 연 1~1.5억 상환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연 1~1.5억 상환 우선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 활용은 2단계에서 검토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승계 설계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정관에 종류주식 규정 포함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잉여금 정리 후 지분이전 준비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3단계에서 별도 진행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정관·보험 안정 후 설계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기대 효과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2~3년 내 주요 리스크 정리 완료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승계 로드맵 조기 확보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각 단계별 검증 후 진행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리스크 최소화, 배우자 설득 용이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42062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상기 보험료·효과는 보수적 가정(연복리 3%) 기반 시뮬레이션이며, 실제 수령액은 시장 상황·세법 변경·개인 조건에 따라 달라질 수 있습니다. 확정 수익을 의미하지 않습니다.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274320" y="440740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중도 해지 시 납입 보험료보다 적은 금액을 돌려받을 수 있습니다(해지환급금 예시는 상품설명서 참조).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"대표님께서 단계적 실행을 선호하시니 B안이 맞을 수 있는데, A안과 B안 중 어느 쪽이 더 마음이 놓이시나요?"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57200" y="4572000"/>
            <a:ext cx="822960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선택하신 안을 기준으로, 부족분을 어떻게 채우는지 구체적으로 매칭해 보겠습니다 →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2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594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[부족분 매칭] : 각 부족분을 어떤 수단으로 채우는지 연결합니다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부족분 → 해결요소 → 적용수단, 3단계로 격차를 채워갑니다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560320"/>
                <a:gridCol w="3931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부족분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해결 요소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적용 수단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퇴직금 재원 부재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(5.5억 부족)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정관 퇴직금 배수 규정 신설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퇴직금 재원 적립 구조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경영인정기보험 (법인계약)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300만 × 8년, 해약환급금 적립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정관 개정 (주총 특별결의)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가지급금 4.2억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(인정이자 과세)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단계적 상환 + 보험 해약환급금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상계 활용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연 1~1.5억 현금 상환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경영인보험 환급금 상계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(세무사 확인 후 적용)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승계 비용 증가 리스크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(잉여금 31억)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잉여금 분산으로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주당 가치 하락 유도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 연금보험 (잉여금 분산)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200만 + 배당 정책 수립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퇴직금 충당금 설정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유고 시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보장 공백 (9억+)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사망·장해 시 법인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유동성 즉시 확보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경영인정기보험 사망보장 10억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(퇴직금 재원과 겸용)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기존 종신 1억(개인) 유지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승계 법적 기반 부재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정관에 승계 관련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조항 도입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종류주식·의결권 특례 정관 도입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(B안: 2~3단계에서 진행)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종신보험(승계 재원, 선택)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41605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고객의 투자 성향과 재무 상태에 따라 적합한 상품이 달라질 수 있습니다. 계약 체결 전 상품설명서 및 약관을 반드시 확인하시기 바랍니다.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"대표님, 이렇게 각 부족분마다 채워가는 수단이 정리됩니다. 보험은 유동성과 리스크 전가 역할을 맡고, 정관은 법적 근거를 맡는 구조입니다. 이 방향이 괜찮으시면 다음 단계를 정리해 드리겠습니다."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57200" y="4572000"/>
            <a:ext cx="822960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지금까지의 내용을 정리하고, 다음 단계를 확정하겠습니다 →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594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[다음 단계] : 오늘 정리한 내용이 만족스러우셨다면, 다음 단계를 정합니다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체크는 오늘 검토한 내용을 다음 단계로 진행하는 체크입니다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5029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17320"/>
            <a:ext cx="5029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5544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방식 선택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18288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A안 진행 (효과 우선 — 정관 일괄 정비 + 보험 동시 설계)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B안 진행 (부담 우선 — 1단계 정관 정비 → 2단계 보험 설계)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보완 후 재결정 (보완 항목:                / 재결정 날짜:        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1417320"/>
            <a:ext cx="3017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1417320"/>
            <a:ext cx="301752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1554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(B안 기준)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52160" y="1874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1. 세무사·회계사 미팅 (2주 내)</a:t>
            </a:r>
            <a:endParaRPr lang="en-US" sz="8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2. 정관 개정안 작성 (1개월 내)</a:t>
            </a:r>
            <a:endParaRPr lang="en-US" sz="8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3. 임시주총 소집·결의</a:t>
            </a:r>
            <a:endParaRPr lang="en-US" sz="8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4. 경영인정기보험 설계·가입</a:t>
            </a:r>
            <a:endParaRPr lang="en-US" sz="8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5. 분기별 정기 리뷰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3337560"/>
            <a:ext cx="822960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33832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【성향별 클로징 — 추천: 안정·보수형】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57200" y="35844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[추천] 안정·보수형: "대표님, 오늘 본 내용 중 가장 안전한 첫걸음은 정관 정비입니다. 세무사님과 확인하신 후 진행하시면 되니까, 부담 없이 1단계부터 시작해 보시는 건 어떠십니까? 다른 제조업 중견기업도 이 순서로 진행하고 있습니다."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57200" y="38404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논리·전문가형: "수치로 확인하셨듯이, 정관 미비로 인한 손금산입 불확실성과 인정이자 연 1,900만원은 명확한 비효율입니다. 법적 기반을 먼저 갖추고 순차적으로 진행하시는 게 합리적입니다."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57200" y="4096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감성·가족중심형: "23년간 키워오신 회사를 장남에게 안정적으로 넘기시려면, 지금 기반을 정리해 두시는 게 가족 모두에게 편안한 선택이 됩니다. 오늘 첫 단계를 시작해 보시겠습니까?"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43525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결정지연·신중형: "모든 걸 한꺼번에 하실 필요 없습니다. 우선 세무사님과 정관 검토 미팅만 잡으시면 됩니다. 그 결과를 보시고 다음 단계를 정하셔도 충분합니다. 미팅 일정을 잡아드릴까요?"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자료는 상담 보조 자료이며, 계약 체결 전 상품설명서 및 약관을 반드시 확인하시기 바랍니다.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57200" y="489204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성공사례 기록 — 결정 시점: 정관 정비 필요성 공감 후 / 선택안: B안(단계적 실행) / 다음 행동: 세무사 미팅 일정 확정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컨설턴트 참고용 (고객 비공개)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8229600" cy="914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85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니즈: </a:t>
            </a:r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정관 정비(퇴직금 배수 규정)로 손금산입 근거 확보 + 가지급금 해소 + 승계 기반 마련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큰 부족분: </a:t>
            </a:r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퇴직금 재원 5.5억 전액 미적립, 경영인정기보험 미가입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결론 질문: </a:t>
            </a:r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"A안(통합 정비)과 B안(단계적 실행) 중 어느 쪽이 편하시겠습니까?"
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반대 및 즉답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"보험료가 부담된다" (배우자)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B안 1단계는 보험 가입 없이 정관만 정비. 추가 비용 0원으로 시작. 보험은 세무사 확인 후 2단계에서 검토.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"세무조사 받으면 어쩌나"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정관 정비가 오히려 세무 리스크를 줄이는 방법. 가지급금 방치가 더 큰 세무조사 트리거.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"다른 회사도 이렇게 하나"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매출 100억 이상 제조업 법인의 약 70%가 임원퇴직금 규정을 정관에 두고 있음. 업계 일반적 관행.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선택안 A/B 시뮬레이션 비교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A안 (효과 우선)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B안 (부담 우선)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납입금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500만원 (정기 300+연금 200)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300만원 → 추후 500만원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65세 예상 퇴직금 재원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5.5~6억 (연복리 3%)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5~5.5억 (연복리 3%)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예상 세후 절감 효과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 약 1,500~2,000만원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 약 900~1,200만원 (1단계)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리스크 방어 수준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사망보장 10억 + 잉여금 분산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사망보장 10억 (2단계 후)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2519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시뮬레이션 수치는 보수적 가정 기반이며, 세무사·회계사 검증 필요. 확정 수익을 의미하지 않습니다.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57200" y="4434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PT는 코어 12장 + 확장 1장(06-2 제도 상세) = 총 13장으로 구성됨 (확장 사유: 리스크 축 3개 이상 + 승계 관련 법적 기반 상세 설명 필요 — 트리거 A2 해당)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필요: ① 소득세법 시행령 제42조의2 최신 개정 여부 ② 인정이자 적용이율(현행 4.6%) 확인 ③ 대표 건강상태(고혈압)에 따른 보험 인수조건 사전 확인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정관점검 및 임원 퇴직금 재원확보 플래닝</dc:title>
  <dc:subject>PptxGenJS Presentation</dc:subject>
  <dc:creator>KFPC Insurance Consulting</dc:creator>
  <cp:lastModifiedBy>KFPC Insurance Consulting</cp:lastModifiedBy>
  <cp:revision>1</cp:revision>
  <dcterms:created xsi:type="dcterms:W3CDTF">2026-02-06T14:20:54Z</dcterms:created>
  <dcterms:modified xsi:type="dcterms:W3CDTF">2026-02-06T14:20:54Z</dcterms:modified>
</cp:coreProperties>
</file>